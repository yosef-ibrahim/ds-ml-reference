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jUBg+9z+wWE5Q7mTcpv3N2IL0V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customschemas.google.com/relationships/presentationmetadata" Target="metadata"/><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34" Type="http://schemas.openxmlformats.org/officeDocument/2006/relationships/slide" Target="slides/slide30.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error</c:v>
                </c:pt>
              </c:strCache>
            </c:strRef>
          </c:tx>
          <c:spPr>
            <a:solidFill>
              <a:srgbClr val="6B5B95"/>
            </a:solidFill>
            <a:ln w="38100" cap="flat">
              <a:solidFill>
                <a:srgbClr val="6B5B9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5B95"/>
              </a:solidFill>
              <a:ln w="9525" cap="flat">
                <a:solidFill>
                  <a:srgbClr val="6B5B95"/>
                </a:solidFill>
                <a:prstDash val="solid"/>
                <a:round/>
              </a:ln>
              <a:effectLst/>
            </c:spPr>
          </c:marker>
          <c:cat>
            <c:multiLvlStrRef>
              <c:f>Sheet1!$A$2:$A$42</c:f>
              <c:multiLvlStrCache>
                <c:ptCount val="41"/>
                <c:lvl>
                  <c:pt idx="0">
                    <c:v>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lvl>
              </c:multiLvlStrCache>
            </c:multiLvlStrRef>
          </c:cat>
          <c:val>
            <c:numRef>
              <c:f>Sheet1!$B$2:$B$42</c:f>
              <c:numCache>
                <c:formatCode>General</c:formatCode>
                <c:ptCount val="41"/>
                <c:pt idx="0">
                  <c:v>1.02</c:v>
                </c:pt>
                <c:pt idx="1">
                  <c:v>0.8818</c:v>
                </c:pt>
                <c:pt idx="2">
                  <c:v>0.7649</c:v>
                </c:pt>
                <c:pt idx="3">
                  <c:v>0.6659</c:v>
                </c:pt>
                <c:pt idx="4">
                  <c:v>0.5821</c:v>
                </c:pt>
                <c:pt idx="5">
                  <c:v>0.5111</c:v>
                </c:pt>
                <c:pt idx="6">
                  <c:v>0.4511</c:v>
                </c:pt>
                <c:pt idx="7">
                  <c:v>0.4003</c:v>
                </c:pt>
                <c:pt idx="8">
                  <c:v>0.3572</c:v>
                </c:pt>
                <c:pt idx="9">
                  <c:v>0.3208</c:v>
                </c:pt>
                <c:pt idx="10">
                  <c:v>0.29</c:v>
                </c:pt>
                <c:pt idx="11">
                  <c:v>0.2639</c:v>
                </c:pt>
                <c:pt idx="12">
                  <c:v>0.2418</c:v>
                </c:pt>
                <c:pt idx="13">
                  <c:v>0.2231</c:v>
                </c:pt>
                <c:pt idx="14">
                  <c:v>0.2073</c:v>
                </c:pt>
                <c:pt idx="15">
                  <c:v>0.1939</c:v>
                </c:pt>
                <c:pt idx="16">
                  <c:v>0.1825</c:v>
                </c:pt>
                <c:pt idx="17">
                  <c:v>0.1729</c:v>
                </c:pt>
                <c:pt idx="18">
                  <c:v>0.1648</c:v>
                </c:pt>
                <c:pt idx="19">
                  <c:v>0.1579</c:v>
                </c:pt>
                <c:pt idx="20">
                  <c:v>0.1521</c:v>
                </c:pt>
                <c:pt idx="21">
                  <c:v>0.1472</c:v>
                </c:pt>
                <c:pt idx="22">
                  <c:v>0.143</c:v>
                </c:pt>
                <c:pt idx="23">
                  <c:v>0.1395</c:v>
                </c:pt>
                <c:pt idx="24">
                  <c:v>0.1365</c:v>
                </c:pt>
                <c:pt idx="25">
                  <c:v>0.134</c:v>
                </c:pt>
                <c:pt idx="26">
                  <c:v>0.1318</c:v>
                </c:pt>
                <c:pt idx="27">
                  <c:v>0.13</c:v>
                </c:pt>
                <c:pt idx="28">
                  <c:v>0.1285</c:v>
                </c:pt>
                <c:pt idx="29">
                  <c:v>0.1272</c:v>
                </c:pt>
                <c:pt idx="30">
                  <c:v>0.1261</c:v>
                </c:pt>
                <c:pt idx="31">
                  <c:v>0.1251</c:v>
                </c:pt>
                <c:pt idx="32">
                  <c:v>0.1243</c:v>
                </c:pt>
                <c:pt idx="33">
                  <c:v>0.1237</c:v>
                </c:pt>
                <c:pt idx="34">
                  <c:v>0.1231</c:v>
                </c:pt>
                <c:pt idx="35">
                  <c:v>0.1226</c:v>
                </c:pt>
                <c:pt idx="36">
                  <c:v>0.1222</c:v>
                </c:pt>
                <c:pt idx="37">
                  <c:v>0.1219</c:v>
                </c:pt>
                <c:pt idx="38">
                  <c:v>0.1216</c:v>
                </c:pt>
                <c:pt idx="39">
                  <c:v>0.1214</c:v>
                </c:pt>
                <c:pt idx="40">
                  <c:v>0.1211</c:v>
                </c:pt>
              </c:numCache>
            </c:numRef>
          </c:val>
          <c:smooth val="0"/>
        </c:ser>
        <c:ser>
          <c:idx val="1"/>
          <c:order val="1"/>
          <c:tx>
            <c:strRef>
              <c:f>Sheet1!$C$1</c:f>
              <c:strCache>
                <c:ptCount val="1"/>
                <c:pt idx="0">
                  <c:v>Generalization error</c:v>
                </c:pt>
              </c:strCache>
            </c:strRef>
          </c:tx>
          <c:spPr>
            <a:solidFill>
              <a:srgbClr val="E8833A"/>
            </a:solidFill>
            <a:ln w="38100" cap="flat">
              <a:solidFill>
                <a:srgbClr val="E883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833A"/>
              </a:solidFill>
              <a:ln w="9525" cap="flat">
                <a:solidFill>
                  <a:srgbClr val="E8833A"/>
                </a:solidFill>
                <a:prstDash val="solid"/>
                <a:round/>
              </a:ln>
              <a:effectLst/>
            </c:spPr>
          </c:marker>
          <c:cat>
            <c:multiLvlStrRef>
              <c:f>Sheet1!$A$2:$A$42</c:f>
              <c:multiLvlStrCache>
                <c:ptCount val="41"/>
                <c:lvl>
                  <c:pt idx="0">
                    <c:v>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lvl>
              </c:multiLvlStrCache>
            </c:multiLvlStrRef>
          </c:cat>
          <c:val>
            <c:numRef>
              <c:f>Sheet1!$C$2:$C$42</c:f>
              <c:numCache>
                <c:formatCode>General</c:formatCode>
                <c:ptCount val="41"/>
                <c:pt idx="0">
                  <c:v>1.04</c:v>
                </c:pt>
                <c:pt idx="1">
                  <c:v>0.9022</c:v>
                </c:pt>
                <c:pt idx="2">
                  <c:v>0.7863</c:v>
                </c:pt>
                <c:pt idx="3">
                  <c:v>0.6888</c:v>
                </c:pt>
                <c:pt idx="4">
                  <c:v>0.6069</c:v>
                </c:pt>
                <c:pt idx="5">
                  <c:v>0.5384</c:v>
                </c:pt>
                <c:pt idx="6">
                  <c:v>0.4812</c:v>
                </c:pt>
                <c:pt idx="7">
                  <c:v>0.4335</c:v>
                </c:pt>
                <c:pt idx="8">
                  <c:v>0.3941</c:v>
                </c:pt>
                <c:pt idx="9">
                  <c:v>0.3617</c:v>
                </c:pt>
                <c:pt idx="10">
                  <c:v>0.3352</c:v>
                </c:pt>
                <c:pt idx="11">
                  <c:v>0.3139</c:v>
                </c:pt>
                <c:pt idx="12">
                  <c:v>0.2968</c:v>
                </c:pt>
                <c:pt idx="13">
                  <c:v>0.2836</c:v>
                </c:pt>
                <c:pt idx="14">
                  <c:v>0.2735</c:v>
                </c:pt>
                <c:pt idx="15">
                  <c:v>0.2662</c:v>
                </c:pt>
                <c:pt idx="16">
                  <c:v>0.2613</c:v>
                </c:pt>
                <c:pt idx="17">
                  <c:v>0.2585</c:v>
                </c:pt>
                <c:pt idx="18">
                  <c:v>0.2575</c:v>
                </c:pt>
                <c:pt idx="19">
                  <c:v>0.2581</c:v>
                </c:pt>
                <c:pt idx="20">
                  <c:v>0.26</c:v>
                </c:pt>
                <c:pt idx="21">
                  <c:v>0.2631</c:v>
                </c:pt>
                <c:pt idx="22">
                  <c:v>0.2673</c:v>
                </c:pt>
                <c:pt idx="23">
                  <c:v>0.2725</c:v>
                </c:pt>
                <c:pt idx="24">
                  <c:v>0.2785</c:v>
                </c:pt>
                <c:pt idx="25">
                  <c:v>0.2853</c:v>
                </c:pt>
                <c:pt idx="26">
                  <c:v>0.2927</c:v>
                </c:pt>
                <c:pt idx="27">
                  <c:v>0.3008</c:v>
                </c:pt>
                <c:pt idx="28">
                  <c:v>0.3095</c:v>
                </c:pt>
                <c:pt idx="29">
                  <c:v>0.3187</c:v>
                </c:pt>
                <c:pt idx="30">
                  <c:v>0.3284</c:v>
                </c:pt>
                <c:pt idx="31">
                  <c:v>0.3386</c:v>
                </c:pt>
                <c:pt idx="32">
                  <c:v>0.3491</c:v>
                </c:pt>
                <c:pt idx="33">
                  <c:v>0.3601</c:v>
                </c:pt>
                <c:pt idx="34">
                  <c:v>0.3715</c:v>
                </c:pt>
                <c:pt idx="35">
                  <c:v>0.3833</c:v>
                </c:pt>
                <c:pt idx="36">
                  <c:v>0.3954</c:v>
                </c:pt>
                <c:pt idx="37">
                  <c:v>0.4079</c:v>
                </c:pt>
                <c:pt idx="38">
                  <c:v>0.4206</c:v>
                </c:pt>
                <c:pt idx="39">
                  <c:v>0.4338</c:v>
                </c:pt>
                <c:pt idx="40">
                  <c:v>0.4472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41C2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D1B4E"/>
                </a:solidFill>
                <a:latin typeface="Cambria"/>
              </a:defRPr>
            </a:pPr>
            <a:r>
              <a:rPr sz="1300" b="0" i="0" u="none" strike="noStrike">
                <a:solidFill>
                  <a:srgbClr val="2D1B4E"/>
                </a:solidFill>
                <a:latin typeface="Cambria"/>
              </a:rPr>
              <a:t>Sigmoid output with a target of 1</a:t>
            </a:r>
          </a:p>
        </c:rich>
      </c:tx>
      <c:layout/>
      <c:overlay val="0"/>
    </c:title>
    <c:autoTitleDeleted val="0"/>
    <c:plotArea>
      <c:layout/>
      <c:lineChart>
        <c:varyColors val="0"/>
        <c:ser>
          <c:idx val="0"/>
          <c:order val="0"/>
          <c:tx>
            <c:strRef>
              <c:f>Sheet1!$B$1</c:f>
              <c:strCache>
                <c:ptCount val="1"/>
                <c:pt idx="0">
                  <c:v>σ(z)</c:v>
                </c:pt>
              </c:strCache>
            </c:strRef>
          </c:tx>
          <c:spPr>
            <a:solidFill>
              <a:srgbClr val="6B5B95"/>
            </a:solidFill>
            <a:ln w="38100" cap="flat">
              <a:solidFill>
                <a:srgbClr val="6B5B9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5B95"/>
              </a:solidFill>
              <a:ln w="9525" cap="flat">
                <a:solidFill>
                  <a:srgbClr val="6B5B95"/>
                </a:solidFill>
                <a:prstDash val="solid"/>
                <a:round/>
              </a:ln>
              <a:effectLst/>
            </c:spPr>
          </c:marker>
          <c:cat>
            <c:multiLvlStrRef>
              <c:f>Sheet1!$A$2:$A$62</c:f>
              <c:multiLvlStrCache>
                <c:ptCount val="61"/>
                <c:lvl>
                  <c:pt idx="0">
                    <c:v>-3</c:v>
                  </c:pt>
                  <c:pt idx="1">
                    <c:v/>
                  </c:pt>
                  <c:pt idx="2">
                    <c:v/>
                  </c:pt>
                  <c:pt idx="3">
                    <c:v/>
                  </c:pt>
                  <c:pt idx="4">
                    <c:v/>
                  </c:pt>
                  <c:pt idx="5">
                    <c:v/>
                  </c:pt>
                  <c:pt idx="6">
                    <c:v/>
                  </c:pt>
                  <c:pt idx="7">
                    <c:v/>
                  </c:pt>
                  <c:pt idx="8">
                    <c:v/>
                  </c:pt>
                  <c:pt idx="9">
                    <c:v/>
                  </c:pt>
                  <c:pt idx="10">
                    <c:v>-2</c:v>
                  </c:pt>
                  <c:pt idx="11">
                    <c:v/>
                  </c:pt>
                  <c:pt idx="12">
                    <c:v/>
                  </c:pt>
                  <c:pt idx="13">
                    <c:v/>
                  </c:pt>
                  <c:pt idx="14">
                    <c:v/>
                  </c:pt>
                  <c:pt idx="15">
                    <c:v/>
                  </c:pt>
                  <c:pt idx="16">
                    <c:v/>
                  </c:pt>
                  <c:pt idx="17">
                    <c:v/>
                  </c:pt>
                  <c:pt idx="18">
                    <c:v/>
                  </c:pt>
                  <c:pt idx="19">
                    <c:v/>
                  </c:pt>
                  <c:pt idx="20">
                    <c:v>-1</c:v>
                  </c:pt>
                  <c:pt idx="21">
                    <c:v/>
                  </c:pt>
                  <c:pt idx="22">
                    <c:v/>
                  </c:pt>
                  <c:pt idx="23">
                    <c:v/>
                  </c:pt>
                  <c:pt idx="24">
                    <c:v/>
                  </c:pt>
                  <c:pt idx="25">
                    <c:v/>
                  </c:pt>
                  <c:pt idx="26">
                    <c:v/>
                  </c:pt>
                  <c:pt idx="27">
                    <c:v/>
                  </c:pt>
                  <c:pt idx="28">
                    <c:v/>
                  </c:pt>
                  <c:pt idx="29">
                    <c:v/>
                  </c:pt>
                  <c:pt idx="30">
                    <c:v>0</c:v>
                  </c:pt>
                  <c:pt idx="31">
                    <c:v/>
                  </c:pt>
                  <c:pt idx="32">
                    <c:v/>
                  </c:pt>
                  <c:pt idx="33">
                    <c:v/>
                  </c:pt>
                  <c:pt idx="34">
                    <c:v/>
                  </c:pt>
                  <c:pt idx="35">
                    <c:v/>
                  </c:pt>
                  <c:pt idx="36">
                    <c:v/>
                  </c:pt>
                  <c:pt idx="37">
                    <c:v/>
                  </c:pt>
                  <c:pt idx="38">
                    <c:v/>
                  </c:pt>
                  <c:pt idx="39">
                    <c:v/>
                  </c:pt>
                  <c:pt idx="40">
                    <c:v>1</c:v>
                  </c:pt>
                  <c:pt idx="41">
                    <c:v/>
                  </c:pt>
                  <c:pt idx="42">
                    <c:v/>
                  </c:pt>
                  <c:pt idx="43">
                    <c:v/>
                  </c:pt>
                  <c:pt idx="44">
                    <c:v/>
                  </c:pt>
                  <c:pt idx="45">
                    <c:v/>
                  </c:pt>
                  <c:pt idx="46">
                    <c:v/>
                  </c:pt>
                  <c:pt idx="47">
                    <c:v/>
                  </c:pt>
                  <c:pt idx="48">
                    <c:v/>
                  </c:pt>
                  <c:pt idx="49">
                    <c:v/>
                  </c:pt>
                  <c:pt idx="50">
                    <c:v>2</c:v>
                  </c:pt>
                  <c:pt idx="51">
                    <c:v/>
                  </c:pt>
                  <c:pt idx="52">
                    <c:v/>
                  </c:pt>
                  <c:pt idx="53">
                    <c:v/>
                  </c:pt>
                  <c:pt idx="54">
                    <c:v/>
                  </c:pt>
                  <c:pt idx="55">
                    <c:v/>
                  </c:pt>
                  <c:pt idx="56">
                    <c:v/>
                  </c:pt>
                  <c:pt idx="57">
                    <c:v/>
                  </c:pt>
                  <c:pt idx="58">
                    <c:v/>
                  </c:pt>
                  <c:pt idx="59">
                    <c:v/>
                  </c:pt>
                  <c:pt idx="60">
                    <c:v>3</c:v>
                  </c:pt>
                </c:lvl>
              </c:multiLvlStrCache>
            </c:multiLvlStrRef>
          </c:cat>
          <c:val>
            <c:numRef>
              <c:f>Sheet1!$B$2:$B$62</c:f>
              <c:numCache>
                <c:formatCode>General</c:formatCode>
                <c:ptCount val="61"/>
                <c:pt idx="0">
                  <c:v>0.0474</c:v>
                </c:pt>
                <c:pt idx="1">
                  <c:v>0.0522</c:v>
                </c:pt>
                <c:pt idx="2">
                  <c:v>0.0573</c:v>
                </c:pt>
                <c:pt idx="3">
                  <c:v>0.063</c:v>
                </c:pt>
                <c:pt idx="4">
                  <c:v>0.0691</c:v>
                </c:pt>
                <c:pt idx="5">
                  <c:v>0.0759</c:v>
                </c:pt>
                <c:pt idx="6">
                  <c:v>0.0832</c:v>
                </c:pt>
                <c:pt idx="7">
                  <c:v>0.0911</c:v>
                </c:pt>
                <c:pt idx="8">
                  <c:v>0.0998</c:v>
                </c:pt>
                <c:pt idx="9">
                  <c:v>0.1091</c:v>
                </c:pt>
                <c:pt idx="10">
                  <c:v>0.1192</c:v>
                </c:pt>
                <c:pt idx="11">
                  <c:v>0.1301</c:v>
                </c:pt>
                <c:pt idx="12">
                  <c:v>0.1419</c:v>
                </c:pt>
                <c:pt idx="13">
                  <c:v>0.1545</c:v>
                </c:pt>
                <c:pt idx="14">
                  <c:v>0.168</c:v>
                </c:pt>
                <c:pt idx="15">
                  <c:v>0.1824</c:v>
                </c:pt>
                <c:pt idx="16">
                  <c:v>0.1978</c:v>
                </c:pt>
                <c:pt idx="17">
                  <c:v>0.2142</c:v>
                </c:pt>
                <c:pt idx="18">
                  <c:v>0.2315</c:v>
                </c:pt>
                <c:pt idx="19">
                  <c:v>0.2497</c:v>
                </c:pt>
                <c:pt idx="20">
                  <c:v>0.2689</c:v>
                </c:pt>
                <c:pt idx="21">
                  <c:v>0.2891</c:v>
                </c:pt>
                <c:pt idx="22">
                  <c:v>0.31</c:v>
                </c:pt>
                <c:pt idx="23">
                  <c:v>0.3318</c:v>
                </c:pt>
                <c:pt idx="24">
                  <c:v>0.3543</c:v>
                </c:pt>
                <c:pt idx="25">
                  <c:v>0.3775</c:v>
                </c:pt>
                <c:pt idx="26">
                  <c:v>0.4013</c:v>
                </c:pt>
                <c:pt idx="27">
                  <c:v>0.4256</c:v>
                </c:pt>
                <c:pt idx="28">
                  <c:v>0.4502</c:v>
                </c:pt>
                <c:pt idx="29">
                  <c:v>0.475</c:v>
                </c:pt>
                <c:pt idx="30">
                  <c:v>0.5</c:v>
                </c:pt>
                <c:pt idx="31">
                  <c:v>0.525</c:v>
                </c:pt>
                <c:pt idx="32">
                  <c:v>0.5498</c:v>
                </c:pt>
                <c:pt idx="33">
                  <c:v>0.5744</c:v>
                </c:pt>
                <c:pt idx="34">
                  <c:v>0.5987</c:v>
                </c:pt>
                <c:pt idx="35">
                  <c:v>0.6225</c:v>
                </c:pt>
                <c:pt idx="36">
                  <c:v>0.6457</c:v>
                </c:pt>
                <c:pt idx="37">
                  <c:v>0.6682</c:v>
                </c:pt>
                <c:pt idx="38">
                  <c:v>0.69</c:v>
                </c:pt>
                <c:pt idx="39">
                  <c:v>0.7109</c:v>
                </c:pt>
                <c:pt idx="40">
                  <c:v>0.7311</c:v>
                </c:pt>
                <c:pt idx="41">
                  <c:v>0.7503</c:v>
                </c:pt>
                <c:pt idx="42">
                  <c:v>0.7685</c:v>
                </c:pt>
                <c:pt idx="43">
                  <c:v>0.7858</c:v>
                </c:pt>
                <c:pt idx="44">
                  <c:v>0.8022</c:v>
                </c:pt>
                <c:pt idx="45">
                  <c:v>0.8176</c:v>
                </c:pt>
                <c:pt idx="46">
                  <c:v>0.832</c:v>
                </c:pt>
                <c:pt idx="47">
                  <c:v>0.8455</c:v>
                </c:pt>
                <c:pt idx="48">
                  <c:v>0.8581</c:v>
                </c:pt>
                <c:pt idx="49">
                  <c:v>0.8699</c:v>
                </c:pt>
                <c:pt idx="50">
                  <c:v>0.8808</c:v>
                </c:pt>
                <c:pt idx="51">
                  <c:v>0.8909</c:v>
                </c:pt>
                <c:pt idx="52">
                  <c:v>0.9002</c:v>
                </c:pt>
                <c:pt idx="53">
                  <c:v>0.9089</c:v>
                </c:pt>
                <c:pt idx="54">
                  <c:v>0.9168</c:v>
                </c:pt>
                <c:pt idx="55">
                  <c:v>0.9241</c:v>
                </c:pt>
                <c:pt idx="56">
                  <c:v>0.9309</c:v>
                </c:pt>
                <c:pt idx="57">
                  <c:v>0.937</c:v>
                </c:pt>
                <c:pt idx="58">
                  <c:v>0.9427</c:v>
                </c:pt>
                <c:pt idx="59">
                  <c:v>0.9478</c:v>
                </c:pt>
                <c:pt idx="60">
                  <c:v>0.9526</c:v>
                </c:pt>
              </c:numCache>
            </c:numRef>
          </c:val>
          <c:smooth val="0"/>
        </c:ser>
        <c:ser>
          <c:idx val="1"/>
          <c:order val="1"/>
          <c:tx>
            <c:strRef>
              <c:f>Sheet1!$C$1</c:f>
              <c:strCache>
                <c:ptCount val="1"/>
                <c:pt idx="0">
                  <c:v>Cross-entropy loss</c:v>
                </c:pt>
              </c:strCache>
            </c:strRef>
          </c:tx>
          <c:spPr>
            <a:solidFill>
              <a:srgbClr val="E8833A"/>
            </a:solidFill>
            <a:ln w="38100" cap="flat">
              <a:solidFill>
                <a:srgbClr val="E883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833A"/>
              </a:solidFill>
              <a:ln w="9525" cap="flat">
                <a:solidFill>
                  <a:srgbClr val="E8833A"/>
                </a:solidFill>
                <a:prstDash val="solid"/>
                <a:round/>
              </a:ln>
              <a:effectLst/>
            </c:spPr>
          </c:marker>
          <c:cat>
            <c:multiLvlStrRef>
              <c:f>Sheet1!$A$2:$A$62</c:f>
              <c:multiLvlStrCache>
                <c:ptCount val="61"/>
                <c:lvl>
                  <c:pt idx="0">
                    <c:v>-3</c:v>
                  </c:pt>
                  <c:pt idx="1">
                    <c:v/>
                  </c:pt>
                  <c:pt idx="2">
                    <c:v/>
                  </c:pt>
                  <c:pt idx="3">
                    <c:v/>
                  </c:pt>
                  <c:pt idx="4">
                    <c:v/>
                  </c:pt>
                  <c:pt idx="5">
                    <c:v/>
                  </c:pt>
                  <c:pt idx="6">
                    <c:v/>
                  </c:pt>
                  <c:pt idx="7">
                    <c:v/>
                  </c:pt>
                  <c:pt idx="8">
                    <c:v/>
                  </c:pt>
                  <c:pt idx="9">
                    <c:v/>
                  </c:pt>
                  <c:pt idx="10">
                    <c:v>-2</c:v>
                  </c:pt>
                  <c:pt idx="11">
                    <c:v/>
                  </c:pt>
                  <c:pt idx="12">
                    <c:v/>
                  </c:pt>
                  <c:pt idx="13">
                    <c:v/>
                  </c:pt>
                  <c:pt idx="14">
                    <c:v/>
                  </c:pt>
                  <c:pt idx="15">
                    <c:v/>
                  </c:pt>
                  <c:pt idx="16">
                    <c:v/>
                  </c:pt>
                  <c:pt idx="17">
                    <c:v/>
                  </c:pt>
                  <c:pt idx="18">
                    <c:v/>
                  </c:pt>
                  <c:pt idx="19">
                    <c:v/>
                  </c:pt>
                  <c:pt idx="20">
                    <c:v>-1</c:v>
                  </c:pt>
                  <c:pt idx="21">
                    <c:v/>
                  </c:pt>
                  <c:pt idx="22">
                    <c:v/>
                  </c:pt>
                  <c:pt idx="23">
                    <c:v/>
                  </c:pt>
                  <c:pt idx="24">
                    <c:v/>
                  </c:pt>
                  <c:pt idx="25">
                    <c:v/>
                  </c:pt>
                  <c:pt idx="26">
                    <c:v/>
                  </c:pt>
                  <c:pt idx="27">
                    <c:v/>
                  </c:pt>
                  <c:pt idx="28">
                    <c:v/>
                  </c:pt>
                  <c:pt idx="29">
                    <c:v/>
                  </c:pt>
                  <c:pt idx="30">
                    <c:v>0</c:v>
                  </c:pt>
                  <c:pt idx="31">
                    <c:v/>
                  </c:pt>
                  <c:pt idx="32">
                    <c:v/>
                  </c:pt>
                  <c:pt idx="33">
                    <c:v/>
                  </c:pt>
                  <c:pt idx="34">
                    <c:v/>
                  </c:pt>
                  <c:pt idx="35">
                    <c:v/>
                  </c:pt>
                  <c:pt idx="36">
                    <c:v/>
                  </c:pt>
                  <c:pt idx="37">
                    <c:v/>
                  </c:pt>
                  <c:pt idx="38">
                    <c:v/>
                  </c:pt>
                  <c:pt idx="39">
                    <c:v/>
                  </c:pt>
                  <c:pt idx="40">
                    <c:v>1</c:v>
                  </c:pt>
                  <c:pt idx="41">
                    <c:v/>
                  </c:pt>
                  <c:pt idx="42">
                    <c:v/>
                  </c:pt>
                  <c:pt idx="43">
                    <c:v/>
                  </c:pt>
                  <c:pt idx="44">
                    <c:v/>
                  </c:pt>
                  <c:pt idx="45">
                    <c:v/>
                  </c:pt>
                  <c:pt idx="46">
                    <c:v/>
                  </c:pt>
                  <c:pt idx="47">
                    <c:v/>
                  </c:pt>
                  <c:pt idx="48">
                    <c:v/>
                  </c:pt>
                  <c:pt idx="49">
                    <c:v/>
                  </c:pt>
                  <c:pt idx="50">
                    <c:v>2</c:v>
                  </c:pt>
                  <c:pt idx="51">
                    <c:v/>
                  </c:pt>
                  <c:pt idx="52">
                    <c:v/>
                  </c:pt>
                  <c:pt idx="53">
                    <c:v/>
                  </c:pt>
                  <c:pt idx="54">
                    <c:v/>
                  </c:pt>
                  <c:pt idx="55">
                    <c:v/>
                  </c:pt>
                  <c:pt idx="56">
                    <c:v/>
                  </c:pt>
                  <c:pt idx="57">
                    <c:v/>
                  </c:pt>
                  <c:pt idx="58">
                    <c:v/>
                  </c:pt>
                  <c:pt idx="59">
                    <c:v/>
                  </c:pt>
                  <c:pt idx="60">
                    <c:v>3</c:v>
                  </c:pt>
                </c:lvl>
              </c:multiLvlStrCache>
            </c:multiLvlStrRef>
          </c:cat>
          <c:val>
            <c:numRef>
              <c:f>Sheet1!$C$2:$C$62</c:f>
              <c:numCache>
                <c:formatCode>General</c:formatCode>
                <c:ptCount val="61"/>
                <c:pt idx="0">
                  <c:v>3.0486</c:v>
                </c:pt>
                <c:pt idx="1">
                  <c:v>2.9536</c:v>
                </c:pt>
                <c:pt idx="2">
                  <c:v>2.859</c:v>
                </c:pt>
                <c:pt idx="3">
                  <c:v>2.765</c:v>
                </c:pt>
                <c:pt idx="4">
                  <c:v>2.6716</c:v>
                </c:pt>
                <c:pt idx="5">
                  <c:v>2.5789</c:v>
                </c:pt>
                <c:pt idx="6">
                  <c:v>2.4868</c:v>
                </c:pt>
                <c:pt idx="7">
                  <c:v>2.3955</c:v>
                </c:pt>
                <c:pt idx="8">
                  <c:v>2.3051</c:v>
                </c:pt>
                <c:pt idx="9">
                  <c:v>2.2155</c:v>
                </c:pt>
                <c:pt idx="10">
                  <c:v>2.1269</c:v>
                </c:pt>
                <c:pt idx="11">
                  <c:v>2.0394</c:v>
                </c:pt>
                <c:pt idx="12">
                  <c:v>1.953</c:v>
                </c:pt>
                <c:pt idx="13">
                  <c:v>1.8678</c:v>
                </c:pt>
                <c:pt idx="14">
                  <c:v>1.7839</c:v>
                </c:pt>
                <c:pt idx="15">
                  <c:v>1.7014</c:v>
                </c:pt>
                <c:pt idx="16">
                  <c:v>1.6204</c:v>
                </c:pt>
                <c:pt idx="17">
                  <c:v>1.541</c:v>
                </c:pt>
                <c:pt idx="18">
                  <c:v>1.4633</c:v>
                </c:pt>
                <c:pt idx="19">
                  <c:v>1.3873</c:v>
                </c:pt>
                <c:pt idx="20">
                  <c:v>1.3133</c:v>
                </c:pt>
                <c:pt idx="21">
                  <c:v>1.2412</c:v>
                </c:pt>
                <c:pt idx="22">
                  <c:v>1.1711</c:v>
                </c:pt>
                <c:pt idx="23">
                  <c:v>1.1032</c:v>
                </c:pt>
                <c:pt idx="24">
                  <c:v>1.0375</c:v>
                </c:pt>
                <c:pt idx="25">
                  <c:v>0.9741</c:v>
                </c:pt>
                <c:pt idx="26">
                  <c:v>0.913</c:v>
                </c:pt>
                <c:pt idx="27">
                  <c:v>0.8544</c:v>
                </c:pt>
                <c:pt idx="28">
                  <c:v>0.7981</c:v>
                </c:pt>
                <c:pt idx="29">
                  <c:v>0.7444</c:v>
                </c:pt>
                <c:pt idx="30">
                  <c:v>0.6931</c:v>
                </c:pt>
                <c:pt idx="31">
                  <c:v>0.6444</c:v>
                </c:pt>
                <c:pt idx="32">
                  <c:v>0.5981</c:v>
                </c:pt>
                <c:pt idx="33">
                  <c:v>0.5544</c:v>
                </c:pt>
                <c:pt idx="34">
                  <c:v>0.513</c:v>
                </c:pt>
                <c:pt idx="35">
                  <c:v>0.4741</c:v>
                </c:pt>
                <c:pt idx="36">
                  <c:v>0.4375</c:v>
                </c:pt>
                <c:pt idx="37">
                  <c:v>0.4032</c:v>
                </c:pt>
                <c:pt idx="38">
                  <c:v>0.3711</c:v>
                </c:pt>
                <c:pt idx="39">
                  <c:v>0.3412</c:v>
                </c:pt>
                <c:pt idx="40">
                  <c:v>0.3133</c:v>
                </c:pt>
                <c:pt idx="41">
                  <c:v>0.2873</c:v>
                </c:pt>
                <c:pt idx="42">
                  <c:v>0.2633</c:v>
                </c:pt>
                <c:pt idx="43">
                  <c:v>0.241</c:v>
                </c:pt>
                <c:pt idx="44">
                  <c:v>0.2204</c:v>
                </c:pt>
                <c:pt idx="45">
                  <c:v>0.2014</c:v>
                </c:pt>
                <c:pt idx="46">
                  <c:v>0.1839</c:v>
                </c:pt>
                <c:pt idx="47">
                  <c:v>0.1678</c:v>
                </c:pt>
                <c:pt idx="48">
                  <c:v>0.153</c:v>
                </c:pt>
                <c:pt idx="49">
                  <c:v>0.1394</c:v>
                </c:pt>
                <c:pt idx="50">
                  <c:v>0.1269</c:v>
                </c:pt>
                <c:pt idx="51">
                  <c:v>0.1155</c:v>
                </c:pt>
                <c:pt idx="52">
                  <c:v>0.1051</c:v>
                </c:pt>
                <c:pt idx="53">
                  <c:v>0.0955</c:v>
                </c:pt>
                <c:pt idx="54">
                  <c:v>0.0868</c:v>
                </c:pt>
                <c:pt idx="55">
                  <c:v>0.0789</c:v>
                </c:pt>
                <c:pt idx="56">
                  <c:v>0.0716</c:v>
                </c:pt>
                <c:pt idx="57">
                  <c:v>0.065</c:v>
                </c:pt>
                <c:pt idx="58">
                  <c:v>0.059</c:v>
                </c:pt>
                <c:pt idx="59">
                  <c:v>0.0536</c:v>
                </c:pt>
                <c:pt idx="60">
                  <c:v>0.0486</c:v>
                </c:pt>
              </c:numCache>
            </c:numRef>
          </c:val>
          <c:smooth val="0"/>
        </c:ser>
        <c:ser>
          <c:idx val="2"/>
          <c:order val="2"/>
          <c:tx>
            <c:strRef>
              <c:f>Sheet1!$D$1</c:f>
              <c:strCache>
                <c:ptCount val="1"/>
                <c:pt idx="0">
                  <c:v>MSE loss</c:v>
                </c:pt>
              </c:strCache>
            </c:strRef>
          </c:tx>
          <c:spPr>
            <a:solidFill>
              <a:srgbClr val="1F8A7D"/>
            </a:solidFill>
            <a:ln w="38100" cap="flat">
              <a:solidFill>
                <a:srgbClr val="1F8A7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7D"/>
              </a:solidFill>
              <a:ln w="9525" cap="flat">
                <a:solidFill>
                  <a:srgbClr val="1F8A7D"/>
                </a:solidFill>
                <a:prstDash val="solid"/>
                <a:round/>
              </a:ln>
              <a:effectLst/>
            </c:spPr>
          </c:marker>
          <c:cat>
            <c:multiLvlStrRef>
              <c:f>Sheet1!$A$2:$A$62</c:f>
              <c:multiLvlStrCache>
                <c:ptCount val="61"/>
                <c:lvl>
                  <c:pt idx="0">
                    <c:v>-3</c:v>
                  </c:pt>
                  <c:pt idx="1">
                    <c:v/>
                  </c:pt>
                  <c:pt idx="2">
                    <c:v/>
                  </c:pt>
                  <c:pt idx="3">
                    <c:v/>
                  </c:pt>
                  <c:pt idx="4">
                    <c:v/>
                  </c:pt>
                  <c:pt idx="5">
                    <c:v/>
                  </c:pt>
                  <c:pt idx="6">
                    <c:v/>
                  </c:pt>
                  <c:pt idx="7">
                    <c:v/>
                  </c:pt>
                  <c:pt idx="8">
                    <c:v/>
                  </c:pt>
                  <c:pt idx="9">
                    <c:v/>
                  </c:pt>
                  <c:pt idx="10">
                    <c:v>-2</c:v>
                  </c:pt>
                  <c:pt idx="11">
                    <c:v/>
                  </c:pt>
                  <c:pt idx="12">
                    <c:v/>
                  </c:pt>
                  <c:pt idx="13">
                    <c:v/>
                  </c:pt>
                  <c:pt idx="14">
                    <c:v/>
                  </c:pt>
                  <c:pt idx="15">
                    <c:v/>
                  </c:pt>
                  <c:pt idx="16">
                    <c:v/>
                  </c:pt>
                  <c:pt idx="17">
                    <c:v/>
                  </c:pt>
                  <c:pt idx="18">
                    <c:v/>
                  </c:pt>
                  <c:pt idx="19">
                    <c:v/>
                  </c:pt>
                  <c:pt idx="20">
                    <c:v>-1</c:v>
                  </c:pt>
                  <c:pt idx="21">
                    <c:v/>
                  </c:pt>
                  <c:pt idx="22">
                    <c:v/>
                  </c:pt>
                  <c:pt idx="23">
                    <c:v/>
                  </c:pt>
                  <c:pt idx="24">
                    <c:v/>
                  </c:pt>
                  <c:pt idx="25">
                    <c:v/>
                  </c:pt>
                  <c:pt idx="26">
                    <c:v/>
                  </c:pt>
                  <c:pt idx="27">
                    <c:v/>
                  </c:pt>
                  <c:pt idx="28">
                    <c:v/>
                  </c:pt>
                  <c:pt idx="29">
                    <c:v/>
                  </c:pt>
                  <c:pt idx="30">
                    <c:v>0</c:v>
                  </c:pt>
                  <c:pt idx="31">
                    <c:v/>
                  </c:pt>
                  <c:pt idx="32">
                    <c:v/>
                  </c:pt>
                  <c:pt idx="33">
                    <c:v/>
                  </c:pt>
                  <c:pt idx="34">
                    <c:v/>
                  </c:pt>
                  <c:pt idx="35">
                    <c:v/>
                  </c:pt>
                  <c:pt idx="36">
                    <c:v/>
                  </c:pt>
                  <c:pt idx="37">
                    <c:v/>
                  </c:pt>
                  <c:pt idx="38">
                    <c:v/>
                  </c:pt>
                  <c:pt idx="39">
                    <c:v/>
                  </c:pt>
                  <c:pt idx="40">
                    <c:v>1</c:v>
                  </c:pt>
                  <c:pt idx="41">
                    <c:v/>
                  </c:pt>
                  <c:pt idx="42">
                    <c:v/>
                  </c:pt>
                  <c:pt idx="43">
                    <c:v/>
                  </c:pt>
                  <c:pt idx="44">
                    <c:v/>
                  </c:pt>
                  <c:pt idx="45">
                    <c:v/>
                  </c:pt>
                  <c:pt idx="46">
                    <c:v/>
                  </c:pt>
                  <c:pt idx="47">
                    <c:v/>
                  </c:pt>
                  <c:pt idx="48">
                    <c:v/>
                  </c:pt>
                  <c:pt idx="49">
                    <c:v/>
                  </c:pt>
                  <c:pt idx="50">
                    <c:v>2</c:v>
                  </c:pt>
                  <c:pt idx="51">
                    <c:v/>
                  </c:pt>
                  <c:pt idx="52">
                    <c:v/>
                  </c:pt>
                  <c:pt idx="53">
                    <c:v/>
                  </c:pt>
                  <c:pt idx="54">
                    <c:v/>
                  </c:pt>
                  <c:pt idx="55">
                    <c:v/>
                  </c:pt>
                  <c:pt idx="56">
                    <c:v/>
                  </c:pt>
                  <c:pt idx="57">
                    <c:v/>
                  </c:pt>
                  <c:pt idx="58">
                    <c:v/>
                  </c:pt>
                  <c:pt idx="59">
                    <c:v/>
                  </c:pt>
                  <c:pt idx="60">
                    <c:v>3</c:v>
                  </c:pt>
                </c:lvl>
              </c:multiLvlStrCache>
            </c:multiLvlStrRef>
          </c:cat>
          <c:val>
            <c:numRef>
              <c:f>Sheet1!$D$2:$D$62</c:f>
              <c:numCache>
                <c:formatCode>General</c:formatCode>
                <c:ptCount val="61"/>
                <c:pt idx="0">
                  <c:v>0.9074</c:v>
                </c:pt>
                <c:pt idx="1">
                  <c:v>0.8984</c:v>
                </c:pt>
                <c:pt idx="2">
                  <c:v>0.8886</c:v>
                </c:pt>
                <c:pt idx="3">
                  <c:v>0.878</c:v>
                </c:pt>
                <c:pt idx="4">
                  <c:v>0.8665</c:v>
                </c:pt>
                <c:pt idx="5">
                  <c:v>0.854</c:v>
                </c:pt>
                <c:pt idx="6">
                  <c:v>0.8406</c:v>
                </c:pt>
                <c:pt idx="7">
                  <c:v>0.8261</c:v>
                </c:pt>
                <c:pt idx="8">
                  <c:v>0.8104</c:v>
                </c:pt>
                <c:pt idx="9">
                  <c:v>0.7937</c:v>
                </c:pt>
                <c:pt idx="10">
                  <c:v>0.7758</c:v>
                </c:pt>
                <c:pt idx="11">
                  <c:v>0.7567</c:v>
                </c:pt>
                <c:pt idx="12">
                  <c:v>0.7364</c:v>
                </c:pt>
                <c:pt idx="13">
                  <c:v>0.7149</c:v>
                </c:pt>
                <c:pt idx="14">
                  <c:v>0.6923</c:v>
                </c:pt>
                <c:pt idx="15">
                  <c:v>0.6684</c:v>
                </c:pt>
                <c:pt idx="16">
                  <c:v>0.6435</c:v>
                </c:pt>
                <c:pt idx="17">
                  <c:v>0.6175</c:v>
                </c:pt>
                <c:pt idx="18">
                  <c:v>0.5906</c:v>
                </c:pt>
                <c:pt idx="19">
                  <c:v>0.5629</c:v>
                </c:pt>
                <c:pt idx="20">
                  <c:v>0.5344</c:v>
                </c:pt>
                <c:pt idx="21">
                  <c:v>0.5054</c:v>
                </c:pt>
                <c:pt idx="22">
                  <c:v>0.4761</c:v>
                </c:pt>
                <c:pt idx="23">
                  <c:v>0.4465</c:v>
                </c:pt>
                <c:pt idx="24">
                  <c:v>0.4169</c:v>
                </c:pt>
                <c:pt idx="25">
                  <c:v>0.3875</c:v>
                </c:pt>
                <c:pt idx="26">
                  <c:v>0.3584</c:v>
                </c:pt>
                <c:pt idx="27">
                  <c:v>0.33</c:v>
                </c:pt>
                <c:pt idx="28">
                  <c:v>0.3023</c:v>
                </c:pt>
                <c:pt idx="29">
                  <c:v>0.2756</c:v>
                </c:pt>
                <c:pt idx="30">
                  <c:v>0.25</c:v>
                </c:pt>
                <c:pt idx="31">
                  <c:v>0.2256</c:v>
                </c:pt>
                <c:pt idx="32">
                  <c:v>0.2026</c:v>
                </c:pt>
                <c:pt idx="33">
                  <c:v>0.1811</c:v>
                </c:pt>
                <c:pt idx="34">
                  <c:v>0.1611</c:v>
                </c:pt>
                <c:pt idx="35">
                  <c:v>0.1425</c:v>
                </c:pt>
                <c:pt idx="36">
                  <c:v>0.1256</c:v>
                </c:pt>
                <c:pt idx="37">
                  <c:v>0.1101</c:v>
                </c:pt>
                <c:pt idx="38">
                  <c:v>0.0961</c:v>
                </c:pt>
                <c:pt idx="39">
                  <c:v>0.0836</c:v>
                </c:pt>
                <c:pt idx="40">
                  <c:v>0.0723</c:v>
                </c:pt>
                <c:pt idx="41">
                  <c:v>0.0624</c:v>
                </c:pt>
                <c:pt idx="42">
                  <c:v>0.0536</c:v>
                </c:pt>
                <c:pt idx="43">
                  <c:v>0.0459</c:v>
                </c:pt>
                <c:pt idx="44">
                  <c:v>0.0391</c:v>
                </c:pt>
                <c:pt idx="45">
                  <c:v>0.0333</c:v>
                </c:pt>
                <c:pt idx="46">
                  <c:v>0.0282</c:v>
                </c:pt>
                <c:pt idx="47">
                  <c:v>0.0239</c:v>
                </c:pt>
                <c:pt idx="48">
                  <c:v>0.0201</c:v>
                </c:pt>
                <c:pt idx="49">
                  <c:v>0.0169</c:v>
                </c:pt>
                <c:pt idx="50">
                  <c:v>0.0142</c:v>
                </c:pt>
                <c:pt idx="51">
                  <c:v>0.0119</c:v>
                </c:pt>
                <c:pt idx="52">
                  <c:v>0.01</c:v>
                </c:pt>
                <c:pt idx="53">
                  <c:v>0.0083</c:v>
                </c:pt>
                <c:pt idx="54">
                  <c:v>0.0069</c:v>
                </c:pt>
                <c:pt idx="55">
                  <c:v>0.0058</c:v>
                </c:pt>
                <c:pt idx="56">
                  <c:v>0.0048</c:v>
                </c:pt>
                <c:pt idx="57">
                  <c:v>0.004</c:v>
                </c:pt>
                <c:pt idx="58">
                  <c:v>0.0033</c:v>
                </c:pt>
                <c:pt idx="59">
                  <c:v>0.0027</c:v>
                </c:pt>
                <c:pt idx="60">
                  <c:v>0.0022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88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D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8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41C2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set loss</c:v>
                </c:pt>
              </c:strCache>
            </c:strRef>
          </c:tx>
          <c:spPr>
            <a:solidFill>
              <a:srgbClr val="6B5B95"/>
            </a:solidFill>
            <a:ln w="31750" cap="flat">
              <a:solidFill>
                <a:srgbClr val="6B5B9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5B95"/>
              </a:solidFill>
              <a:ln w="9525" cap="flat">
                <a:solidFill>
                  <a:srgbClr val="6B5B95"/>
                </a:solidFill>
                <a:prstDash val="solid"/>
                <a:round/>
              </a:ln>
              <a:effectLst/>
            </c:spPr>
          </c:marker>
          <c:cat>
            <c:multiLvlStrRef>
              <c:f>Sheet1!$A$2:$A$47</c:f>
              <c:multiLvlStrCache>
                <c:ptCount val="46"/>
                <c:lvl>
                  <c:pt idx="0">
                    <c:v>0</c:v>
                  </c:pt>
                  <c:pt idx="1">
                    <c:v/>
                  </c:pt>
                  <c:pt idx="2">
                    <c:v/>
                  </c:pt>
                  <c:pt idx="3">
                    <c:v/>
                  </c:pt>
                  <c:pt idx="4">
                    <c:v/>
                  </c:pt>
                  <c:pt idx="5">
                    <c:v/>
                  </c:pt>
                  <c:pt idx="6">
                    <c:v/>
                  </c:pt>
                  <c:pt idx="7">
                    <c:v/>
                  </c:pt>
                  <c:pt idx="8">
                    <c:v/>
                  </c:pt>
                  <c:pt idx="9">
                    <c:v/>
                  </c:pt>
                  <c:pt idx="10">
                    <c:v>50</c:v>
                  </c:pt>
                  <c:pt idx="11">
                    <c:v/>
                  </c:pt>
                  <c:pt idx="12">
                    <c:v/>
                  </c:pt>
                  <c:pt idx="13">
                    <c:v/>
                  </c:pt>
                  <c:pt idx="14">
                    <c:v/>
                  </c:pt>
                  <c:pt idx="15">
                    <c:v/>
                  </c:pt>
                  <c:pt idx="16">
                    <c:v/>
                  </c:pt>
                  <c:pt idx="17">
                    <c:v/>
                  </c:pt>
                  <c:pt idx="18">
                    <c:v/>
                  </c:pt>
                  <c:pt idx="19">
                    <c:v/>
                  </c:pt>
                  <c:pt idx="20">
                    <c:v>100</c:v>
                  </c:pt>
                  <c:pt idx="21">
                    <c:v/>
                  </c:pt>
                  <c:pt idx="22">
                    <c:v/>
                  </c:pt>
                  <c:pt idx="23">
                    <c:v/>
                  </c:pt>
                  <c:pt idx="24">
                    <c:v/>
                  </c:pt>
                  <c:pt idx="25">
                    <c:v/>
                  </c:pt>
                  <c:pt idx="26">
                    <c:v/>
                  </c:pt>
                  <c:pt idx="27">
                    <c:v/>
                  </c:pt>
                  <c:pt idx="28">
                    <c:v/>
                  </c:pt>
                  <c:pt idx="29">
                    <c:v/>
                  </c:pt>
                  <c:pt idx="30">
                    <c:v>150</c:v>
                  </c:pt>
                  <c:pt idx="31">
                    <c:v/>
                  </c:pt>
                  <c:pt idx="32">
                    <c:v/>
                  </c:pt>
                  <c:pt idx="33">
                    <c:v/>
                  </c:pt>
                  <c:pt idx="34">
                    <c:v/>
                  </c:pt>
                  <c:pt idx="35">
                    <c:v/>
                  </c:pt>
                  <c:pt idx="36">
                    <c:v/>
                  </c:pt>
                  <c:pt idx="37">
                    <c:v/>
                  </c:pt>
                  <c:pt idx="38">
                    <c:v/>
                  </c:pt>
                  <c:pt idx="39">
                    <c:v/>
                  </c:pt>
                  <c:pt idx="40">
                    <c:v>200</c:v>
                  </c:pt>
                  <c:pt idx="41">
                    <c:v/>
                  </c:pt>
                  <c:pt idx="42">
                    <c:v/>
                  </c:pt>
                  <c:pt idx="43">
                    <c:v/>
                  </c:pt>
                  <c:pt idx="44">
                    <c:v/>
                  </c:pt>
                  <c:pt idx="45">
                    <c:v/>
                  </c:pt>
                </c:lvl>
              </c:multiLvlStrCache>
            </c:multiLvlStrRef>
          </c:cat>
          <c:val>
            <c:numRef>
              <c:f>Sheet1!$B$2:$B$47</c:f>
              <c:numCache>
                <c:formatCode>General</c:formatCode>
                <c:ptCount val="46"/>
                <c:pt idx="0">
                  <c:v>0.202</c:v>
                </c:pt>
                <c:pt idx="1">
                  <c:v>0.1338</c:v>
                </c:pt>
                <c:pt idx="2">
                  <c:v>0.0889</c:v>
                </c:pt>
                <c:pt idx="3">
                  <c:v>0.0593</c:v>
                </c:pt>
                <c:pt idx="4">
                  <c:v>0.0398</c:v>
                </c:pt>
                <c:pt idx="5">
                  <c:v>0.0269</c:v>
                </c:pt>
                <c:pt idx="6">
                  <c:v>0.0184</c:v>
                </c:pt>
                <c:pt idx="7">
                  <c:v>0.0128</c:v>
                </c:pt>
                <c:pt idx="8">
                  <c:v>0.0091</c:v>
                </c:pt>
                <c:pt idx="9">
                  <c:v>0.0067</c:v>
                </c:pt>
                <c:pt idx="10">
                  <c:v>0.0051</c:v>
                </c:pt>
                <c:pt idx="11">
                  <c:v>0.004</c:v>
                </c:pt>
                <c:pt idx="12">
                  <c:v>0.0033</c:v>
                </c:pt>
                <c:pt idx="13">
                  <c:v>0.0029</c:v>
                </c:pt>
                <c:pt idx="14">
                  <c:v>0.0026</c:v>
                </c:pt>
                <c:pt idx="15">
                  <c:v>0.0024</c:v>
                </c:pt>
                <c:pt idx="16">
                  <c:v>0.0023</c:v>
                </c:pt>
                <c:pt idx="17">
                  <c:v>0.0022</c:v>
                </c:pt>
                <c:pt idx="18">
                  <c:v>0.0021</c:v>
                </c:pt>
                <c:pt idx="19">
                  <c:v>0.0021</c:v>
                </c:pt>
                <c:pt idx="20">
                  <c:v>0.002</c:v>
                </c:pt>
                <c:pt idx="21">
                  <c:v>0.002</c:v>
                </c:pt>
                <c:pt idx="22">
                  <c:v>0.002</c:v>
                </c:pt>
                <c:pt idx="23">
                  <c:v>0.002</c:v>
                </c:pt>
                <c:pt idx="24">
                  <c:v>0.002</c:v>
                </c:pt>
                <c:pt idx="25">
                  <c:v>0.002</c:v>
                </c:pt>
                <c:pt idx="26">
                  <c:v>0.002</c:v>
                </c:pt>
                <c:pt idx="27">
                  <c:v>0.002</c:v>
                </c:pt>
                <c:pt idx="28">
                  <c:v>0.002</c:v>
                </c:pt>
                <c:pt idx="29">
                  <c:v>0.002</c:v>
                </c:pt>
                <c:pt idx="30">
                  <c:v>0.002</c:v>
                </c:pt>
                <c:pt idx="31">
                  <c:v>0.002</c:v>
                </c:pt>
                <c:pt idx="32">
                  <c:v>0.002</c:v>
                </c:pt>
                <c:pt idx="33">
                  <c:v>0.002</c:v>
                </c:pt>
                <c:pt idx="34">
                  <c:v>0.002</c:v>
                </c:pt>
                <c:pt idx="35">
                  <c:v>0.002</c:v>
                </c:pt>
                <c:pt idx="36">
                  <c:v>0.002</c:v>
                </c:pt>
                <c:pt idx="37">
                  <c:v>0.002</c:v>
                </c:pt>
                <c:pt idx="38">
                  <c:v>0.002</c:v>
                </c:pt>
                <c:pt idx="39">
                  <c:v>0.002</c:v>
                </c:pt>
                <c:pt idx="40">
                  <c:v>0.002</c:v>
                </c:pt>
                <c:pt idx="41">
                  <c:v>0.002</c:v>
                </c:pt>
                <c:pt idx="42">
                  <c:v>0.002</c:v>
                </c:pt>
                <c:pt idx="43">
                  <c:v>0.002</c:v>
                </c:pt>
                <c:pt idx="44">
                  <c:v>0.002</c:v>
                </c:pt>
                <c:pt idx="45">
                  <c:v>0.002</c:v>
                </c:pt>
              </c:numCache>
            </c:numRef>
          </c:val>
          <c:smooth val="0"/>
        </c:ser>
        <c:ser>
          <c:idx val="1"/>
          <c:order val="1"/>
          <c:tx>
            <c:strRef>
              <c:f>Sheet1!$C$1</c:f>
              <c:strCache>
                <c:ptCount val="1"/>
                <c:pt idx="0">
                  <c:v>Validation set loss</c:v>
                </c:pt>
              </c:strCache>
            </c:strRef>
          </c:tx>
          <c:spPr>
            <a:solidFill>
              <a:srgbClr val="1F8A7D"/>
            </a:solidFill>
            <a:ln w="31750" cap="flat">
              <a:solidFill>
                <a:srgbClr val="1F8A7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7D"/>
              </a:solidFill>
              <a:ln w="9525" cap="flat">
                <a:solidFill>
                  <a:srgbClr val="1F8A7D"/>
                </a:solidFill>
                <a:prstDash val="solid"/>
                <a:round/>
              </a:ln>
              <a:effectLst/>
            </c:spPr>
          </c:marker>
          <c:cat>
            <c:multiLvlStrRef>
              <c:f>Sheet1!$A$2:$A$47</c:f>
              <c:multiLvlStrCache>
                <c:ptCount val="46"/>
                <c:lvl>
                  <c:pt idx="0">
                    <c:v>0</c:v>
                  </c:pt>
                  <c:pt idx="1">
                    <c:v/>
                  </c:pt>
                  <c:pt idx="2">
                    <c:v/>
                  </c:pt>
                  <c:pt idx="3">
                    <c:v/>
                  </c:pt>
                  <c:pt idx="4">
                    <c:v/>
                  </c:pt>
                  <c:pt idx="5">
                    <c:v/>
                  </c:pt>
                  <c:pt idx="6">
                    <c:v/>
                  </c:pt>
                  <c:pt idx="7">
                    <c:v/>
                  </c:pt>
                  <c:pt idx="8">
                    <c:v/>
                  </c:pt>
                  <c:pt idx="9">
                    <c:v/>
                  </c:pt>
                  <c:pt idx="10">
                    <c:v>50</c:v>
                  </c:pt>
                  <c:pt idx="11">
                    <c:v/>
                  </c:pt>
                  <c:pt idx="12">
                    <c:v/>
                  </c:pt>
                  <c:pt idx="13">
                    <c:v/>
                  </c:pt>
                  <c:pt idx="14">
                    <c:v/>
                  </c:pt>
                  <c:pt idx="15">
                    <c:v/>
                  </c:pt>
                  <c:pt idx="16">
                    <c:v/>
                  </c:pt>
                  <c:pt idx="17">
                    <c:v/>
                  </c:pt>
                  <c:pt idx="18">
                    <c:v/>
                  </c:pt>
                  <c:pt idx="19">
                    <c:v/>
                  </c:pt>
                  <c:pt idx="20">
                    <c:v>100</c:v>
                  </c:pt>
                  <c:pt idx="21">
                    <c:v/>
                  </c:pt>
                  <c:pt idx="22">
                    <c:v/>
                  </c:pt>
                  <c:pt idx="23">
                    <c:v/>
                  </c:pt>
                  <c:pt idx="24">
                    <c:v/>
                  </c:pt>
                  <c:pt idx="25">
                    <c:v/>
                  </c:pt>
                  <c:pt idx="26">
                    <c:v/>
                  </c:pt>
                  <c:pt idx="27">
                    <c:v/>
                  </c:pt>
                  <c:pt idx="28">
                    <c:v/>
                  </c:pt>
                  <c:pt idx="29">
                    <c:v/>
                  </c:pt>
                  <c:pt idx="30">
                    <c:v>150</c:v>
                  </c:pt>
                  <c:pt idx="31">
                    <c:v/>
                  </c:pt>
                  <c:pt idx="32">
                    <c:v/>
                  </c:pt>
                  <c:pt idx="33">
                    <c:v/>
                  </c:pt>
                  <c:pt idx="34">
                    <c:v/>
                  </c:pt>
                  <c:pt idx="35">
                    <c:v/>
                  </c:pt>
                  <c:pt idx="36">
                    <c:v/>
                  </c:pt>
                  <c:pt idx="37">
                    <c:v/>
                  </c:pt>
                  <c:pt idx="38">
                    <c:v/>
                  </c:pt>
                  <c:pt idx="39">
                    <c:v/>
                  </c:pt>
                  <c:pt idx="40">
                    <c:v>200</c:v>
                  </c:pt>
                  <c:pt idx="41">
                    <c:v/>
                  </c:pt>
                  <c:pt idx="42">
                    <c:v/>
                  </c:pt>
                  <c:pt idx="43">
                    <c:v/>
                  </c:pt>
                  <c:pt idx="44">
                    <c:v/>
                  </c:pt>
                  <c:pt idx="45">
                    <c:v/>
                  </c:pt>
                </c:lvl>
              </c:multiLvlStrCache>
            </c:multiLvlStrRef>
          </c:cat>
          <c:val>
            <c:numRef>
              <c:f>Sheet1!$C$2:$C$47</c:f>
              <c:numCache>
                <c:formatCode>General</c:formatCode>
                <c:ptCount val="46"/>
                <c:pt idx="0">
                  <c:v>0.215</c:v>
                </c:pt>
                <c:pt idx="1">
                  <c:v>0.1553</c:v>
                </c:pt>
                <c:pt idx="2">
                  <c:v>0.1105</c:v>
                </c:pt>
                <c:pt idx="3">
                  <c:v>0.0845</c:v>
                </c:pt>
                <c:pt idx="4">
                  <c:v>0.0792</c:v>
                </c:pt>
                <c:pt idx="5">
                  <c:v>0.0718</c:v>
                </c:pt>
                <c:pt idx="6">
                  <c:v>0.0565</c:v>
                </c:pt>
                <c:pt idx="7">
                  <c:v>0.0532</c:v>
                </c:pt>
                <c:pt idx="8">
                  <c:v>0.0604</c:v>
                </c:pt>
                <c:pt idx="9">
                  <c:v>0.0581</c:v>
                </c:pt>
                <c:pt idx="10">
                  <c:v>0.0517</c:v>
                </c:pt>
                <c:pt idx="11">
                  <c:v>0.059</c:v>
                </c:pt>
                <c:pt idx="12">
                  <c:v>0.068</c:v>
                </c:pt>
                <c:pt idx="13">
                  <c:v>0.0624</c:v>
                </c:pt>
                <c:pt idx="14">
                  <c:v>0.0569</c:v>
                </c:pt>
                <c:pt idx="15">
                  <c:v>0.0633</c:v>
                </c:pt>
                <c:pt idx="16">
                  <c:v>0.0644</c:v>
                </c:pt>
                <c:pt idx="17">
                  <c:v>0.0538</c:v>
                </c:pt>
                <c:pt idx="18">
                  <c:v>0.0521</c:v>
                </c:pt>
                <c:pt idx="19">
                  <c:v>0.0617</c:v>
                </c:pt>
                <c:pt idx="20">
                  <c:v>0.062</c:v>
                </c:pt>
                <c:pt idx="21">
                  <c:v>0.056</c:v>
                </c:pt>
                <c:pt idx="22">
                  <c:v>0.0622</c:v>
                </c:pt>
                <c:pt idx="23">
                  <c:v>0.0716</c:v>
                </c:pt>
                <c:pt idx="24">
                  <c:v>0.0663</c:v>
                </c:pt>
                <c:pt idx="25">
                  <c:v>0.0591</c:v>
                </c:pt>
                <c:pt idx="26">
                  <c:v>0.0645</c:v>
                </c:pt>
                <c:pt idx="27">
                  <c:v>0.0669</c:v>
                </c:pt>
                <c:pt idx="28">
                  <c:v>0.0571</c:v>
                </c:pt>
                <c:pt idx="29">
                  <c:v>0.0548</c:v>
                </c:pt>
                <c:pt idx="30">
                  <c:v>0.065</c:v>
                </c:pt>
                <c:pt idx="31">
                  <c:v>0.0672</c:v>
                </c:pt>
                <c:pt idx="32">
                  <c:v>0.0609</c:v>
                </c:pt>
                <c:pt idx="33">
                  <c:v>0.0656</c:v>
                </c:pt>
                <c:pt idx="34">
                  <c:v>0.0749</c:v>
                </c:pt>
                <c:pt idx="35">
                  <c:v>0.07</c:v>
                </c:pt>
                <c:pt idx="36">
                  <c:v>0.0613</c:v>
                </c:pt>
                <c:pt idx="37">
                  <c:v>0.0657</c:v>
                </c:pt>
                <c:pt idx="38">
                  <c:v>0.0694</c:v>
                </c:pt>
                <c:pt idx="39">
                  <c:v>0.0608</c:v>
                </c:pt>
                <c:pt idx="40">
                  <c:v>0.058</c:v>
                </c:pt>
                <c:pt idx="41">
                  <c:v>0.0686</c:v>
                </c:pt>
                <c:pt idx="42">
                  <c:v>0.0724</c:v>
                </c:pt>
                <c:pt idx="43">
                  <c:v>0.0659</c:v>
                </c:pt>
                <c:pt idx="44">
                  <c:v>0.0686</c:v>
                </c:pt>
                <c:pt idx="45">
                  <c:v>0.0777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880"/>
                </a:solidFill>
                <a:latin typeface="Calibri"/>
              </a:defRPr>
            </a:pPr>
            <a:endParaRPr lang="en-US"/>
          </a:p>
        </c:txPr>
        <c:crossAx val="2094734552"/>
        <c:crosses val="autoZero"/>
        <c:auto val="1"/>
        <c:lblAlgn val="ctr"/>
        <c:noMultiLvlLbl val="1"/>
      </c:catAx>
      <c:valAx>
        <c:axId val="2094734552"/>
        <c:scaling>
          <c:orientation val="minMax"/>
          <c:max val="0.22"/>
          <c:min val="0"/>
        </c:scaling>
        <c:delete val="0"/>
        <c:axPos val="l"/>
        <c:majorGridlines>
          <c:spPr>
            <a:ln w="9525" cap="flat">
              <a:solidFill>
                <a:srgbClr val="D8D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880"/>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50">
              <a:solidFill>
                <a:srgbClr val="241C2E"/>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D1B4E"/>
                </a:solidFill>
                <a:latin typeface="Cambria"/>
              </a:defRPr>
            </a:pPr>
            <a:r>
              <a:rPr sz="1300" b="0" i="0" u="none" strike="noStrike">
                <a:solidFill>
                  <a:srgbClr val="2D1B4E"/>
                </a:solidFill>
                <a:latin typeface="Cambria"/>
              </a:rPr>
              <a:t>Gradient norm during training</a:t>
            </a:r>
          </a:p>
        </c:rich>
      </c:tx>
      <c:layout/>
      <c:overlay val="0"/>
    </c:title>
    <c:autoTitleDeleted val="0"/>
    <c:plotArea>
      <c:layout/>
      <c:lineChart>
        <c:varyColors val="0"/>
        <c:ser>
          <c:idx val="0"/>
          <c:order val="0"/>
          <c:tx>
            <c:strRef>
              <c:f>Sheet1!$B$1</c:f>
              <c:strCache>
                <c:ptCount val="1"/>
                <c:pt idx="0">
                  <c:v>Gradient norm</c:v>
                </c:pt>
              </c:strCache>
            </c:strRef>
          </c:tx>
          <c:spPr>
            <a:solidFill>
              <a:srgbClr val="6B5B95"/>
            </a:solidFill>
            <a:ln w="31750" cap="flat">
              <a:solidFill>
                <a:srgbClr val="6B5B9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5B95"/>
              </a:solidFill>
              <a:ln w="9525" cap="flat">
                <a:solidFill>
                  <a:srgbClr val="6B5B95"/>
                </a:solidFill>
                <a:prstDash val="solid"/>
                <a:round/>
              </a:ln>
              <a:effectLst/>
            </c:spPr>
          </c:marker>
          <c:cat>
            <c:multiLvlStrRef>
              <c:f>Sheet1!$A$2:$A$61</c:f>
              <c:multiLvlStrCache>
                <c:ptCount val="60"/>
                <c:lvl>
                  <c:pt idx="0">
                    <c:v>0</c:v>
                  </c:pt>
                  <c:pt idx="1">
                    <c:v/>
                  </c:pt>
                  <c:pt idx="2">
                    <c:v/>
                  </c:pt>
                  <c:pt idx="3">
                    <c:v/>
                  </c:pt>
                  <c:pt idx="4">
                    <c:v/>
                  </c:pt>
                  <c:pt idx="5">
                    <c:v/>
                  </c:pt>
                  <c:pt idx="6">
                    <c:v/>
                  </c:pt>
                  <c:pt idx="7">
                    <c:v/>
                  </c:pt>
                  <c:pt idx="8">
                    <c:v/>
                  </c:pt>
                  <c:pt idx="9">
                    <c:v/>
                  </c:pt>
                  <c:pt idx="10">
                    <c:v/>
                  </c:pt>
                  <c:pt idx="11">
                    <c:v/>
                  </c:pt>
                  <c:pt idx="12">
                    <c:v>48</c:v>
                  </c:pt>
                  <c:pt idx="13">
                    <c:v/>
                  </c:pt>
                  <c:pt idx="14">
                    <c:v/>
                  </c:pt>
                  <c:pt idx="15">
                    <c:v/>
                  </c:pt>
                  <c:pt idx="16">
                    <c:v/>
                  </c:pt>
                  <c:pt idx="17">
                    <c:v/>
                  </c:pt>
                  <c:pt idx="18">
                    <c:v/>
                  </c:pt>
                  <c:pt idx="19">
                    <c:v/>
                  </c:pt>
                  <c:pt idx="20">
                    <c:v/>
                  </c:pt>
                  <c:pt idx="21">
                    <c:v/>
                  </c:pt>
                  <c:pt idx="22">
                    <c:v/>
                  </c:pt>
                  <c:pt idx="23">
                    <c:v/>
                  </c:pt>
                  <c:pt idx="24">
                    <c:v>96</c:v>
                  </c:pt>
                  <c:pt idx="25">
                    <c:v/>
                  </c:pt>
                  <c:pt idx="26">
                    <c:v/>
                  </c:pt>
                  <c:pt idx="27">
                    <c:v/>
                  </c:pt>
                  <c:pt idx="28">
                    <c:v/>
                  </c:pt>
                  <c:pt idx="29">
                    <c:v/>
                  </c:pt>
                  <c:pt idx="30">
                    <c:v/>
                  </c:pt>
                  <c:pt idx="31">
                    <c:v/>
                  </c:pt>
                  <c:pt idx="32">
                    <c:v/>
                  </c:pt>
                  <c:pt idx="33">
                    <c:v/>
                  </c:pt>
                  <c:pt idx="34">
                    <c:v/>
                  </c:pt>
                  <c:pt idx="35">
                    <c:v/>
                  </c:pt>
                  <c:pt idx="36">
                    <c:v>144</c:v>
                  </c:pt>
                  <c:pt idx="37">
                    <c:v/>
                  </c:pt>
                  <c:pt idx="38">
                    <c:v/>
                  </c:pt>
                  <c:pt idx="39">
                    <c:v/>
                  </c:pt>
                  <c:pt idx="40">
                    <c:v/>
                  </c:pt>
                  <c:pt idx="41">
                    <c:v/>
                  </c:pt>
                  <c:pt idx="42">
                    <c:v/>
                  </c:pt>
                  <c:pt idx="43">
                    <c:v/>
                  </c:pt>
                  <c:pt idx="44">
                    <c:v/>
                  </c:pt>
                  <c:pt idx="45">
                    <c:v/>
                  </c:pt>
                  <c:pt idx="46">
                    <c:v/>
                  </c:pt>
                  <c:pt idx="47">
                    <c:v/>
                  </c:pt>
                  <c:pt idx="48">
                    <c:v>192</c:v>
                  </c:pt>
                  <c:pt idx="49">
                    <c:v/>
                  </c:pt>
                  <c:pt idx="50">
                    <c:v/>
                  </c:pt>
                  <c:pt idx="51">
                    <c:v/>
                  </c:pt>
                  <c:pt idx="52">
                    <c:v/>
                  </c:pt>
                  <c:pt idx="53">
                    <c:v/>
                  </c:pt>
                  <c:pt idx="54">
                    <c:v/>
                  </c:pt>
                  <c:pt idx="55">
                    <c:v/>
                  </c:pt>
                  <c:pt idx="56">
                    <c:v/>
                  </c:pt>
                  <c:pt idx="57">
                    <c:v/>
                  </c:pt>
                  <c:pt idx="58">
                    <c:v/>
                  </c:pt>
                  <c:pt idx="59">
                    <c:v/>
                  </c:pt>
                </c:lvl>
              </c:multiLvlStrCache>
            </c:multiLvlStrRef>
          </c:cat>
          <c:val>
            <c:numRef>
              <c:f>Sheet1!$B$2:$B$61</c:f>
              <c:numCache>
                <c:formatCode>General</c:formatCode>
                <c:ptCount val="60"/>
                <c:pt idx="0">
                  <c:v>0.2</c:v>
                </c:pt>
                <c:pt idx="1">
                  <c:v>2.276</c:v>
                </c:pt>
                <c:pt idx="2">
                  <c:v>2.028</c:v>
                </c:pt>
                <c:pt idx="3">
                  <c:v>2.878</c:v>
                </c:pt>
                <c:pt idx="4">
                  <c:v>4.723</c:v>
                </c:pt>
                <c:pt idx="5">
                  <c:v>4.099</c:v>
                </c:pt>
                <c:pt idx="6">
                  <c:v>3.693</c:v>
                </c:pt>
                <c:pt idx="7">
                  <c:v>5.665</c:v>
                </c:pt>
                <c:pt idx="8">
                  <c:v>6.268</c:v>
                </c:pt>
                <c:pt idx="9">
                  <c:v>5.843</c:v>
                </c:pt>
                <c:pt idx="10">
                  <c:v>7.714</c:v>
                </c:pt>
                <c:pt idx="11">
                  <c:v>9.002</c:v>
                </c:pt>
                <c:pt idx="12">
                  <c:v>7.863</c:v>
                </c:pt>
                <c:pt idx="13">
                  <c:v>8.172</c:v>
                </c:pt>
                <c:pt idx="14">
                  <c:v>9.36</c:v>
                </c:pt>
                <c:pt idx="15">
                  <c:v>8.255</c:v>
                </c:pt>
                <c:pt idx="16">
                  <c:v>7.905</c:v>
                </c:pt>
                <c:pt idx="17">
                  <c:v>9.833</c:v>
                </c:pt>
                <c:pt idx="18">
                  <c:v>10.072</c:v>
                </c:pt>
                <c:pt idx="19">
                  <c:v>9.448</c:v>
                </c:pt>
                <c:pt idx="20">
                  <c:v>10.999</c:v>
                </c:pt>
                <c:pt idx="21">
                  <c:v>11.548</c:v>
                </c:pt>
                <c:pt idx="22">
                  <c:v>9.919</c:v>
                </c:pt>
                <c:pt idx="23">
                  <c:v>10.141</c:v>
                </c:pt>
                <c:pt idx="24">
                  <c:v>11.121</c:v>
                </c:pt>
                <c:pt idx="25">
                  <c:v>9.962</c:v>
                </c:pt>
                <c:pt idx="26">
                  <c:v>9.942</c:v>
                </c:pt>
                <c:pt idx="27">
                  <c:v>11.897</c:v>
                </c:pt>
                <c:pt idx="28">
                  <c:v>11.782</c:v>
                </c:pt>
                <c:pt idx="29">
                  <c:v>10.976</c:v>
                </c:pt>
                <c:pt idx="30">
                  <c:v>12.247</c:v>
                </c:pt>
                <c:pt idx="31">
                  <c:v>12.236</c:v>
                </c:pt>
                <c:pt idx="32">
                  <c:v>10.446</c:v>
                </c:pt>
                <c:pt idx="33">
                  <c:v>10.895</c:v>
                </c:pt>
                <c:pt idx="34">
                  <c:v>11.905</c:v>
                </c:pt>
                <c:pt idx="35">
                  <c:v>10.849</c:v>
                </c:pt>
                <c:pt idx="36">
                  <c:v>11.153</c:v>
                </c:pt>
                <c:pt idx="37">
                  <c:v>12.995</c:v>
                </c:pt>
                <c:pt idx="38">
                  <c:v>12.431</c:v>
                </c:pt>
                <c:pt idx="39">
                  <c:v>11.449</c:v>
                </c:pt>
                <c:pt idx="40">
                  <c:v>12.524</c:v>
                </c:pt>
                <c:pt idx="41">
                  <c:v>12.171</c:v>
                </c:pt>
                <c:pt idx="42">
                  <c:v>10.51</c:v>
                </c:pt>
                <c:pt idx="43">
                  <c:v>11.369</c:v>
                </c:pt>
                <c:pt idx="44">
                  <c:v>12.455</c:v>
                </c:pt>
                <c:pt idx="45">
                  <c:v>11.463</c:v>
                </c:pt>
                <c:pt idx="46">
                  <c:v>11.938</c:v>
                </c:pt>
                <c:pt idx="47">
                  <c:v>13.486</c:v>
                </c:pt>
                <c:pt idx="48">
                  <c:v>12.435</c:v>
                </c:pt>
                <c:pt idx="49">
                  <c:v>11.376</c:v>
                </c:pt>
                <c:pt idx="50">
                  <c:v>12.415</c:v>
                </c:pt>
                <c:pt idx="51">
                  <c:v>11.946</c:v>
                </c:pt>
                <c:pt idx="52">
                  <c:v>10.614</c:v>
                </c:pt>
                <c:pt idx="53">
                  <c:v>11.903</c:v>
                </c:pt>
                <c:pt idx="54">
                  <c:v>12.951</c:v>
                </c:pt>
                <c:pt idx="55">
                  <c:v>11.876</c:v>
                </c:pt>
                <c:pt idx="56">
                  <c:v>12.352</c:v>
                </c:pt>
                <c:pt idx="57">
                  <c:v>13.505</c:v>
                </c:pt>
                <c:pt idx="58">
                  <c:v>12.055</c:v>
                </c:pt>
                <c:pt idx="59">
                  <c:v>11.114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880"/>
                </a:solidFill>
                <a:latin typeface="Calibri"/>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D8D1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8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8" name="Google Shape;7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9" name="Google Shape;73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0" name="Google Shape;79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8b9092699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g38b9092699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g38b9092699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8" name="Google Shape;82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0" name="Google Shape;90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 name="Google Shape;90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8" name="Google Shape;9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5" name="Google Shape;97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1" name="Google Shape;110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1" name="Google Shape;113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2" name="Google Shape;1132;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7" name="Google Shape;117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5" name="Google Shape;123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6" name="Google Shape;129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7" name="Google Shape;129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3" name="Google Shape;132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4" name="Google Shape;1324;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4" name="Google Shape;1374;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5" name="Google Shape;1375;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5" name="Google Shape;139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6" name="Google Shape;139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9" name="Google Shape;140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0" name="Google Shape;1410;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5" name="Google Shape;143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6" name="Google Shape;143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5" name="Google Shape;144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6" name="Google Shape;1446;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2" name="Google Shape;147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3" name="Google Shape;147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4" name="Google Shape;150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8" name="Shape 1528"/>
        <p:cNvGrpSpPr/>
        <p:nvPr/>
      </p:nvGrpSpPr>
      <p:grpSpPr>
        <a:xfrm>
          <a:off x="0" y="0"/>
          <a:ext cx="0" cy="0"/>
          <a:chOff x="0" y="0"/>
          <a:chExt cx="0" cy="0"/>
        </a:xfrm>
      </p:grpSpPr>
      <p:sp>
        <p:nvSpPr>
          <p:cNvPr id="1529" name="Google Shape;152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0" name="Google Shape;153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1" name="Google Shape;1531;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2" name="Google Shape;155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3" name="Google Shape;155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5" name="Google Shape;156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6" name="Google Shape;156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6" name="Google Shape;161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7" name="Google Shape;1617;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9" name="Google Shape;163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0" name="Google Shape;164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4" name="Google Shape;1654;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5" name="Google Shape;1655;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2" name="Google Shape;168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3" name="Google Shape;168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1" name="Google Shape;170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2" name="Google Shape;170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7" name="Shape 1737"/>
        <p:cNvGrpSpPr/>
        <p:nvPr/>
      </p:nvGrpSpPr>
      <p:grpSpPr>
        <a:xfrm>
          <a:off x="0" y="0"/>
          <a:ext cx="0" cy="0"/>
          <a:chOff x="0" y="0"/>
          <a:chExt cx="0" cy="0"/>
        </a:xfrm>
      </p:grpSpPr>
      <p:sp>
        <p:nvSpPr>
          <p:cNvPr id="1738" name="Google Shape;173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9" name="Google Shape;173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0" name="Google Shape;1740;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4" name="Google Shape;176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5" name="Google Shape;176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8" name="Google Shape;177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9" name="Google Shape;177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5" name="Google Shape;181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6" name="Google Shape;181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2" name="Google Shape;1892;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3" name="Google Shape;1893;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6" name="Google Shape;1926;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7" name="Google Shape;1927;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9" name="Shape 1939"/>
        <p:cNvGrpSpPr/>
        <p:nvPr/>
      </p:nvGrpSpPr>
      <p:grpSpPr>
        <a:xfrm>
          <a:off x="0" y="0"/>
          <a:ext cx="0" cy="0"/>
          <a:chOff x="0" y="0"/>
          <a:chExt cx="0" cy="0"/>
        </a:xfrm>
      </p:grpSpPr>
      <p:sp>
        <p:nvSpPr>
          <p:cNvPr id="1940" name="Google Shape;194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1" name="Google Shape;1941;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2" name="Google Shape;1942;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3" name="Shape 1973"/>
        <p:cNvGrpSpPr/>
        <p:nvPr/>
      </p:nvGrpSpPr>
      <p:grpSpPr>
        <a:xfrm>
          <a:off x="0" y="0"/>
          <a:ext cx="0" cy="0"/>
          <a:chOff x="0" y="0"/>
          <a:chExt cx="0" cy="0"/>
        </a:xfrm>
      </p:grpSpPr>
      <p:sp>
        <p:nvSpPr>
          <p:cNvPr id="1974" name="Google Shape;197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5" name="Google Shape;1975;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6" name="Google Shape;1976;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6" name="Google Shape;202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7" name="Google Shape;2027;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6" name="Shape 2046"/>
        <p:cNvGrpSpPr/>
        <p:nvPr/>
      </p:nvGrpSpPr>
      <p:grpSpPr>
        <a:xfrm>
          <a:off x="0" y="0"/>
          <a:ext cx="0" cy="0"/>
          <a:chOff x="0" y="0"/>
          <a:chExt cx="0" cy="0"/>
        </a:xfrm>
      </p:grpSpPr>
      <p:sp>
        <p:nvSpPr>
          <p:cNvPr id="2047" name="Google Shape;204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8" name="Google Shape;2048;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9" name="Google Shape;2049;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6" name="Google Shape;207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7" name="Google Shape;2077;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3" name="Shape 2103"/>
        <p:cNvGrpSpPr/>
        <p:nvPr/>
      </p:nvGrpSpPr>
      <p:grpSpPr>
        <a:xfrm>
          <a:off x="0" y="0"/>
          <a:ext cx="0" cy="0"/>
          <a:chOff x="0" y="0"/>
          <a:chExt cx="0" cy="0"/>
        </a:xfrm>
      </p:grpSpPr>
      <p:sp>
        <p:nvSpPr>
          <p:cNvPr id="2104" name="Google Shape;210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5" name="Google Shape;2105;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6" name="Google Shape;2106;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5" name="Shape 2115"/>
        <p:cNvGrpSpPr/>
        <p:nvPr/>
      </p:nvGrpSpPr>
      <p:grpSpPr>
        <a:xfrm>
          <a:off x="0" y="0"/>
          <a:ext cx="0" cy="0"/>
          <a:chOff x="0" y="0"/>
          <a:chExt cx="0" cy="0"/>
        </a:xfrm>
      </p:grpSpPr>
      <p:sp>
        <p:nvSpPr>
          <p:cNvPr id="2116" name="Google Shape;211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7" name="Google Shape;2117;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8" name="Google Shape;2118;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8" name="Google Shape;2198;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9" name="Google Shape;2199;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1" name="Shape 2261"/>
        <p:cNvGrpSpPr/>
        <p:nvPr/>
      </p:nvGrpSpPr>
      <p:grpSpPr>
        <a:xfrm>
          <a:off x="0" y="0"/>
          <a:ext cx="0" cy="0"/>
          <a:chOff x="0" y="0"/>
          <a:chExt cx="0" cy="0"/>
        </a:xfrm>
      </p:grpSpPr>
      <p:sp>
        <p:nvSpPr>
          <p:cNvPr id="2262" name="Google Shape;2262;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3" name="Google Shape;2263;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4" name="Google Shape;2264;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0" name="Shape 2280"/>
        <p:cNvGrpSpPr/>
        <p:nvPr/>
      </p:nvGrpSpPr>
      <p:grpSpPr>
        <a:xfrm>
          <a:off x="0" y="0"/>
          <a:ext cx="0" cy="0"/>
          <a:chOff x="0" y="0"/>
          <a:chExt cx="0" cy="0"/>
        </a:xfrm>
      </p:grpSpPr>
      <p:sp>
        <p:nvSpPr>
          <p:cNvPr id="2281" name="Google Shape;228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2" name="Google Shape;2282;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3" name="Google Shape;2283;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7" name="Shape 2307"/>
        <p:cNvGrpSpPr/>
        <p:nvPr/>
      </p:nvGrpSpPr>
      <p:grpSpPr>
        <a:xfrm>
          <a:off x="0" y="0"/>
          <a:ext cx="0" cy="0"/>
          <a:chOff x="0" y="0"/>
          <a:chExt cx="0" cy="0"/>
        </a:xfrm>
      </p:grpSpPr>
      <p:sp>
        <p:nvSpPr>
          <p:cNvPr id="2308" name="Google Shape;2308;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9" name="Google Shape;2309;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0" name="Google Shape;2310;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7" name="Shape 2337"/>
        <p:cNvGrpSpPr/>
        <p:nvPr/>
      </p:nvGrpSpPr>
      <p:grpSpPr>
        <a:xfrm>
          <a:off x="0" y="0"/>
          <a:ext cx="0" cy="0"/>
          <a:chOff x="0" y="0"/>
          <a:chExt cx="0" cy="0"/>
        </a:xfrm>
      </p:grpSpPr>
      <p:sp>
        <p:nvSpPr>
          <p:cNvPr id="2338" name="Google Shape;233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9" name="Google Shape;2339;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0" name="Google Shape;2340;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5" name="Shape 2365"/>
        <p:cNvGrpSpPr/>
        <p:nvPr/>
      </p:nvGrpSpPr>
      <p:grpSpPr>
        <a:xfrm>
          <a:off x="0" y="0"/>
          <a:ext cx="0" cy="0"/>
          <a:chOff x="0" y="0"/>
          <a:chExt cx="0" cy="0"/>
        </a:xfrm>
      </p:grpSpPr>
      <p:sp>
        <p:nvSpPr>
          <p:cNvPr id="2366" name="Google Shape;2366;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7" name="Google Shape;2367;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8" name="Google Shape;2368;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6" name="Shape 2386"/>
        <p:cNvGrpSpPr/>
        <p:nvPr/>
      </p:nvGrpSpPr>
      <p:grpSpPr>
        <a:xfrm>
          <a:off x="0" y="0"/>
          <a:ext cx="0" cy="0"/>
          <a:chOff x="0" y="0"/>
          <a:chExt cx="0" cy="0"/>
        </a:xfrm>
      </p:grpSpPr>
      <p:sp>
        <p:nvSpPr>
          <p:cNvPr id="2387" name="Google Shape;2387;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8" name="Google Shape;2388;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9" name="Google Shape;2389;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6" name="Google Shape;2416;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7" name="Google Shape;2417;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0" name="Shape 2450"/>
        <p:cNvGrpSpPr/>
        <p:nvPr/>
      </p:nvGrpSpPr>
      <p:grpSpPr>
        <a:xfrm>
          <a:off x="0" y="0"/>
          <a:ext cx="0" cy="0"/>
          <a:chOff x="0" y="0"/>
          <a:chExt cx="0" cy="0"/>
        </a:xfrm>
      </p:grpSpPr>
      <p:sp>
        <p:nvSpPr>
          <p:cNvPr id="2451" name="Google Shape;2451;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2" name="Google Shape;2452;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3" name="Google Shape;2453;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6" name="Shape 2466"/>
        <p:cNvGrpSpPr/>
        <p:nvPr/>
      </p:nvGrpSpPr>
      <p:grpSpPr>
        <a:xfrm>
          <a:off x="0" y="0"/>
          <a:ext cx="0" cy="0"/>
          <a:chOff x="0" y="0"/>
          <a:chExt cx="0" cy="0"/>
        </a:xfrm>
      </p:grpSpPr>
      <p:sp>
        <p:nvSpPr>
          <p:cNvPr id="2467" name="Google Shape;246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8" name="Google Shape;246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9" name="Google Shape;2469;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3" name="Shape 2483"/>
        <p:cNvGrpSpPr/>
        <p:nvPr/>
      </p:nvGrpSpPr>
      <p:grpSpPr>
        <a:xfrm>
          <a:off x="0" y="0"/>
          <a:ext cx="0" cy="0"/>
          <a:chOff x="0" y="0"/>
          <a:chExt cx="0" cy="0"/>
        </a:xfrm>
      </p:grpSpPr>
      <p:sp>
        <p:nvSpPr>
          <p:cNvPr id="2484" name="Google Shape;2484;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5" name="Google Shape;2485;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6" name="Google Shape;2486;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8" name="Google Shape;2498;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9" name="Google Shape;2499;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4" name="Shape 2544"/>
        <p:cNvGrpSpPr/>
        <p:nvPr/>
      </p:nvGrpSpPr>
      <p:grpSpPr>
        <a:xfrm>
          <a:off x="0" y="0"/>
          <a:ext cx="0" cy="0"/>
          <a:chOff x="0" y="0"/>
          <a:chExt cx="0" cy="0"/>
        </a:xfrm>
      </p:grpSpPr>
      <p:sp>
        <p:nvSpPr>
          <p:cNvPr id="2545" name="Google Shape;2545;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6" name="Google Shape;2546;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7" name="Google Shape;2547;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0" name="Shape 2570"/>
        <p:cNvGrpSpPr/>
        <p:nvPr/>
      </p:nvGrpSpPr>
      <p:grpSpPr>
        <a:xfrm>
          <a:off x="0" y="0"/>
          <a:ext cx="0" cy="0"/>
          <a:chOff x="0" y="0"/>
          <a:chExt cx="0" cy="0"/>
        </a:xfrm>
      </p:grpSpPr>
      <p:sp>
        <p:nvSpPr>
          <p:cNvPr id="2571" name="Google Shape;257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2" name="Google Shape;2572;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3" name="Google Shape;2573;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0" name="Google Shape;2610;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1" name="Google Shape;2611;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chart" Target="../charts/char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chart" Target="../charts/char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chart" Target="../charts/char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15" name="Shape 15"/>
        <p:cNvGrpSpPr/>
        <p:nvPr/>
      </p:nvGrpSpPr>
      <p:grpSpPr>
        <a:xfrm>
          <a:off x="0" y="0"/>
          <a:ext cx="0" cy="0"/>
          <a:chOff x="0" y="0"/>
          <a:chExt cx="0" cy="0"/>
        </a:xfrm>
      </p:grpSpPr>
      <p:cxnSp>
        <p:nvCxnSpPr>
          <p:cNvPr id="16" name="Google Shape;16;p1"/>
          <p:cNvCxnSpPr/>
          <p:nvPr/>
        </p:nvCxnSpPr>
        <p:spPr>
          <a:xfrm flipH="1" rot="10800000">
            <a:off x="8092440" y="1585570"/>
            <a:ext cx="1188720" cy="438912"/>
          </a:xfrm>
          <a:prstGeom prst="straightConnector1">
            <a:avLst/>
          </a:prstGeom>
          <a:noFill/>
          <a:ln cap="flat" cmpd="sng" w="9525">
            <a:solidFill>
              <a:srgbClr val="9C8CC4"/>
            </a:solidFill>
            <a:prstDash val="solid"/>
            <a:round/>
            <a:headEnd len="sm" w="sm" type="none"/>
            <a:tailEnd len="sm" w="sm" type="none"/>
          </a:ln>
        </p:spPr>
      </p:cxnSp>
      <p:cxnSp>
        <p:nvCxnSpPr>
          <p:cNvPr id="17" name="Google Shape;17;p1"/>
          <p:cNvCxnSpPr/>
          <p:nvPr/>
        </p:nvCxnSpPr>
        <p:spPr>
          <a:xfrm>
            <a:off x="8092440" y="2024482"/>
            <a:ext cx="1188720" cy="702259"/>
          </a:xfrm>
          <a:prstGeom prst="straightConnector1">
            <a:avLst/>
          </a:prstGeom>
          <a:noFill/>
          <a:ln cap="flat" cmpd="sng" w="9525">
            <a:solidFill>
              <a:srgbClr val="9C8CC4"/>
            </a:solidFill>
            <a:prstDash val="solid"/>
            <a:round/>
            <a:headEnd len="sm" w="sm" type="none"/>
            <a:tailEnd len="sm" w="sm" type="none"/>
          </a:ln>
        </p:spPr>
      </p:cxnSp>
      <p:cxnSp>
        <p:nvCxnSpPr>
          <p:cNvPr id="18" name="Google Shape;18;p1"/>
          <p:cNvCxnSpPr/>
          <p:nvPr/>
        </p:nvCxnSpPr>
        <p:spPr>
          <a:xfrm>
            <a:off x="8092440" y="2024482"/>
            <a:ext cx="1188720" cy="1931213"/>
          </a:xfrm>
          <a:prstGeom prst="straightConnector1">
            <a:avLst/>
          </a:prstGeom>
          <a:noFill/>
          <a:ln cap="flat" cmpd="sng" w="9525">
            <a:solidFill>
              <a:srgbClr val="9C8CC4"/>
            </a:solidFill>
            <a:prstDash val="solid"/>
            <a:round/>
            <a:headEnd len="sm" w="sm" type="none"/>
            <a:tailEnd len="sm" w="sm" type="none"/>
          </a:ln>
        </p:spPr>
      </p:cxnSp>
      <p:cxnSp>
        <p:nvCxnSpPr>
          <p:cNvPr id="19" name="Google Shape;19;p1"/>
          <p:cNvCxnSpPr/>
          <p:nvPr/>
        </p:nvCxnSpPr>
        <p:spPr>
          <a:xfrm>
            <a:off x="8092440" y="2024482"/>
            <a:ext cx="1188720" cy="3160166"/>
          </a:xfrm>
          <a:prstGeom prst="straightConnector1">
            <a:avLst/>
          </a:prstGeom>
          <a:noFill/>
          <a:ln cap="flat" cmpd="sng" w="9525">
            <a:solidFill>
              <a:srgbClr val="9C8CC4"/>
            </a:solidFill>
            <a:prstDash val="solid"/>
            <a:round/>
            <a:headEnd len="sm" w="sm" type="none"/>
            <a:tailEnd len="sm" w="sm" type="none"/>
          </a:ln>
        </p:spPr>
      </p:cxnSp>
      <p:cxnSp>
        <p:nvCxnSpPr>
          <p:cNvPr id="20" name="Google Shape;20;p1"/>
          <p:cNvCxnSpPr/>
          <p:nvPr/>
        </p:nvCxnSpPr>
        <p:spPr>
          <a:xfrm flipH="1" rot="10800000">
            <a:off x="8092440" y="1585570"/>
            <a:ext cx="1188720" cy="1843430"/>
          </a:xfrm>
          <a:prstGeom prst="straightConnector1">
            <a:avLst/>
          </a:prstGeom>
          <a:noFill/>
          <a:ln cap="flat" cmpd="sng" w="9525">
            <a:solidFill>
              <a:srgbClr val="9C8CC4"/>
            </a:solidFill>
            <a:prstDash val="solid"/>
            <a:round/>
            <a:headEnd len="sm" w="sm" type="none"/>
            <a:tailEnd len="sm" w="sm" type="none"/>
          </a:ln>
        </p:spPr>
      </p:cxnSp>
      <p:cxnSp>
        <p:nvCxnSpPr>
          <p:cNvPr id="21" name="Google Shape;21;p1"/>
          <p:cNvCxnSpPr/>
          <p:nvPr/>
        </p:nvCxnSpPr>
        <p:spPr>
          <a:xfrm flipH="1" rot="10800000">
            <a:off x="8092440" y="2726741"/>
            <a:ext cx="1188720" cy="702259"/>
          </a:xfrm>
          <a:prstGeom prst="straightConnector1">
            <a:avLst/>
          </a:prstGeom>
          <a:noFill/>
          <a:ln cap="flat" cmpd="sng" w="9525">
            <a:solidFill>
              <a:srgbClr val="9C8CC4"/>
            </a:solidFill>
            <a:prstDash val="solid"/>
            <a:round/>
            <a:headEnd len="sm" w="sm" type="none"/>
            <a:tailEnd len="sm" w="sm" type="none"/>
          </a:ln>
        </p:spPr>
      </p:cxnSp>
      <p:cxnSp>
        <p:nvCxnSpPr>
          <p:cNvPr id="22" name="Google Shape;22;p1"/>
          <p:cNvCxnSpPr/>
          <p:nvPr/>
        </p:nvCxnSpPr>
        <p:spPr>
          <a:xfrm>
            <a:off x="8092440" y="3429000"/>
            <a:ext cx="1188720" cy="526694"/>
          </a:xfrm>
          <a:prstGeom prst="straightConnector1">
            <a:avLst/>
          </a:prstGeom>
          <a:noFill/>
          <a:ln cap="flat" cmpd="sng" w="9525">
            <a:solidFill>
              <a:srgbClr val="9C8CC4"/>
            </a:solidFill>
            <a:prstDash val="solid"/>
            <a:round/>
            <a:headEnd len="sm" w="sm" type="none"/>
            <a:tailEnd len="sm" w="sm" type="none"/>
          </a:ln>
        </p:spPr>
      </p:cxnSp>
      <p:cxnSp>
        <p:nvCxnSpPr>
          <p:cNvPr id="23" name="Google Shape;23;p1"/>
          <p:cNvCxnSpPr/>
          <p:nvPr/>
        </p:nvCxnSpPr>
        <p:spPr>
          <a:xfrm>
            <a:off x="8092440" y="3429000"/>
            <a:ext cx="1188720" cy="1755648"/>
          </a:xfrm>
          <a:prstGeom prst="straightConnector1">
            <a:avLst/>
          </a:prstGeom>
          <a:noFill/>
          <a:ln cap="flat" cmpd="sng" w="9525">
            <a:solidFill>
              <a:srgbClr val="9C8CC4"/>
            </a:solidFill>
            <a:prstDash val="solid"/>
            <a:round/>
            <a:headEnd len="sm" w="sm" type="none"/>
            <a:tailEnd len="sm" w="sm" type="none"/>
          </a:ln>
        </p:spPr>
      </p:cxnSp>
      <p:cxnSp>
        <p:nvCxnSpPr>
          <p:cNvPr id="24" name="Google Shape;24;p1"/>
          <p:cNvCxnSpPr/>
          <p:nvPr/>
        </p:nvCxnSpPr>
        <p:spPr>
          <a:xfrm flipH="1" rot="10800000">
            <a:off x="8092440" y="1585570"/>
            <a:ext cx="1188720" cy="3247949"/>
          </a:xfrm>
          <a:prstGeom prst="straightConnector1">
            <a:avLst/>
          </a:prstGeom>
          <a:noFill/>
          <a:ln cap="flat" cmpd="sng" w="9525">
            <a:solidFill>
              <a:srgbClr val="9C8CC4"/>
            </a:solidFill>
            <a:prstDash val="solid"/>
            <a:round/>
            <a:headEnd len="sm" w="sm" type="none"/>
            <a:tailEnd len="sm" w="sm" type="none"/>
          </a:ln>
        </p:spPr>
      </p:cxnSp>
      <p:cxnSp>
        <p:nvCxnSpPr>
          <p:cNvPr id="25" name="Google Shape;25;p1"/>
          <p:cNvCxnSpPr/>
          <p:nvPr/>
        </p:nvCxnSpPr>
        <p:spPr>
          <a:xfrm flipH="1" rot="10800000">
            <a:off x="8092440" y="2726741"/>
            <a:ext cx="1188720" cy="2106778"/>
          </a:xfrm>
          <a:prstGeom prst="straightConnector1">
            <a:avLst/>
          </a:prstGeom>
          <a:noFill/>
          <a:ln cap="flat" cmpd="sng" w="9525">
            <a:solidFill>
              <a:srgbClr val="9C8CC4"/>
            </a:solidFill>
            <a:prstDash val="solid"/>
            <a:round/>
            <a:headEnd len="sm" w="sm" type="none"/>
            <a:tailEnd len="sm" w="sm" type="none"/>
          </a:ln>
        </p:spPr>
      </p:cxnSp>
      <p:cxnSp>
        <p:nvCxnSpPr>
          <p:cNvPr id="26" name="Google Shape;26;p1"/>
          <p:cNvCxnSpPr/>
          <p:nvPr/>
        </p:nvCxnSpPr>
        <p:spPr>
          <a:xfrm flipH="1" rot="10800000">
            <a:off x="8092440" y="3955694"/>
            <a:ext cx="1188720" cy="877824"/>
          </a:xfrm>
          <a:prstGeom prst="straightConnector1">
            <a:avLst/>
          </a:prstGeom>
          <a:noFill/>
          <a:ln cap="flat" cmpd="sng" w="9525">
            <a:solidFill>
              <a:srgbClr val="9C8CC4"/>
            </a:solidFill>
            <a:prstDash val="solid"/>
            <a:round/>
            <a:headEnd len="sm" w="sm" type="none"/>
            <a:tailEnd len="sm" w="sm" type="none"/>
          </a:ln>
        </p:spPr>
      </p:cxnSp>
      <p:cxnSp>
        <p:nvCxnSpPr>
          <p:cNvPr id="27" name="Google Shape;27;p1"/>
          <p:cNvCxnSpPr/>
          <p:nvPr/>
        </p:nvCxnSpPr>
        <p:spPr>
          <a:xfrm>
            <a:off x="8092440" y="4833518"/>
            <a:ext cx="1188720" cy="351130"/>
          </a:xfrm>
          <a:prstGeom prst="straightConnector1">
            <a:avLst/>
          </a:prstGeom>
          <a:noFill/>
          <a:ln cap="flat" cmpd="sng" w="9525">
            <a:solidFill>
              <a:srgbClr val="9C8CC4"/>
            </a:solidFill>
            <a:prstDash val="solid"/>
            <a:round/>
            <a:headEnd len="sm" w="sm" type="none"/>
            <a:tailEnd len="sm" w="sm" type="none"/>
          </a:ln>
        </p:spPr>
      </p:cxnSp>
      <p:cxnSp>
        <p:nvCxnSpPr>
          <p:cNvPr id="28" name="Google Shape;28;p1"/>
          <p:cNvCxnSpPr/>
          <p:nvPr/>
        </p:nvCxnSpPr>
        <p:spPr>
          <a:xfrm>
            <a:off x="9281160" y="1585570"/>
            <a:ext cx="1188720" cy="702259"/>
          </a:xfrm>
          <a:prstGeom prst="straightConnector1">
            <a:avLst/>
          </a:prstGeom>
          <a:noFill/>
          <a:ln cap="flat" cmpd="sng" w="9525">
            <a:solidFill>
              <a:srgbClr val="9C8CC4"/>
            </a:solidFill>
            <a:prstDash val="solid"/>
            <a:round/>
            <a:headEnd len="sm" w="sm" type="none"/>
            <a:tailEnd len="sm" w="sm" type="none"/>
          </a:ln>
        </p:spPr>
      </p:cxnSp>
      <p:cxnSp>
        <p:nvCxnSpPr>
          <p:cNvPr id="29" name="Google Shape;29;p1"/>
          <p:cNvCxnSpPr/>
          <p:nvPr/>
        </p:nvCxnSpPr>
        <p:spPr>
          <a:xfrm>
            <a:off x="9281160" y="1585570"/>
            <a:ext cx="1188720" cy="2062886"/>
          </a:xfrm>
          <a:prstGeom prst="straightConnector1">
            <a:avLst/>
          </a:prstGeom>
          <a:noFill/>
          <a:ln cap="flat" cmpd="sng" w="9525">
            <a:solidFill>
              <a:srgbClr val="9C8CC4"/>
            </a:solidFill>
            <a:prstDash val="solid"/>
            <a:round/>
            <a:headEnd len="sm" w="sm" type="none"/>
            <a:tailEnd len="sm" w="sm" type="none"/>
          </a:ln>
        </p:spPr>
      </p:cxnSp>
      <p:cxnSp>
        <p:nvCxnSpPr>
          <p:cNvPr id="30" name="Google Shape;30;p1"/>
          <p:cNvCxnSpPr/>
          <p:nvPr/>
        </p:nvCxnSpPr>
        <p:spPr>
          <a:xfrm>
            <a:off x="9281160" y="1585570"/>
            <a:ext cx="1188720" cy="3335731"/>
          </a:xfrm>
          <a:prstGeom prst="straightConnector1">
            <a:avLst/>
          </a:prstGeom>
          <a:noFill/>
          <a:ln cap="flat" cmpd="sng" w="9525">
            <a:solidFill>
              <a:srgbClr val="9C8CC4"/>
            </a:solidFill>
            <a:prstDash val="solid"/>
            <a:round/>
            <a:headEnd len="sm" w="sm" type="none"/>
            <a:tailEnd len="sm" w="sm" type="none"/>
          </a:ln>
        </p:spPr>
      </p:cxnSp>
      <p:cxnSp>
        <p:nvCxnSpPr>
          <p:cNvPr id="31" name="Google Shape;31;p1"/>
          <p:cNvCxnSpPr/>
          <p:nvPr/>
        </p:nvCxnSpPr>
        <p:spPr>
          <a:xfrm flipH="1" rot="10800000">
            <a:off x="9281160" y="2287829"/>
            <a:ext cx="1188720" cy="438912"/>
          </a:xfrm>
          <a:prstGeom prst="straightConnector1">
            <a:avLst/>
          </a:prstGeom>
          <a:noFill/>
          <a:ln cap="flat" cmpd="sng" w="9525">
            <a:solidFill>
              <a:srgbClr val="9C8CC4"/>
            </a:solidFill>
            <a:prstDash val="solid"/>
            <a:round/>
            <a:headEnd len="sm" w="sm" type="none"/>
            <a:tailEnd len="sm" w="sm" type="none"/>
          </a:ln>
        </p:spPr>
      </p:cxnSp>
      <p:cxnSp>
        <p:nvCxnSpPr>
          <p:cNvPr id="32" name="Google Shape;32;p1"/>
          <p:cNvCxnSpPr/>
          <p:nvPr/>
        </p:nvCxnSpPr>
        <p:spPr>
          <a:xfrm>
            <a:off x="9281160" y="2726741"/>
            <a:ext cx="1188720" cy="921715"/>
          </a:xfrm>
          <a:prstGeom prst="straightConnector1">
            <a:avLst/>
          </a:prstGeom>
          <a:noFill/>
          <a:ln cap="flat" cmpd="sng" w="9525">
            <a:solidFill>
              <a:srgbClr val="9C8CC4"/>
            </a:solidFill>
            <a:prstDash val="solid"/>
            <a:round/>
            <a:headEnd len="sm" w="sm" type="none"/>
            <a:tailEnd len="sm" w="sm" type="none"/>
          </a:ln>
        </p:spPr>
      </p:cxnSp>
      <p:cxnSp>
        <p:nvCxnSpPr>
          <p:cNvPr id="33" name="Google Shape;33;p1"/>
          <p:cNvCxnSpPr/>
          <p:nvPr/>
        </p:nvCxnSpPr>
        <p:spPr>
          <a:xfrm>
            <a:off x="9281160" y="2726741"/>
            <a:ext cx="1188720" cy="2194560"/>
          </a:xfrm>
          <a:prstGeom prst="straightConnector1">
            <a:avLst/>
          </a:prstGeom>
          <a:noFill/>
          <a:ln cap="flat" cmpd="sng" w="9525">
            <a:solidFill>
              <a:srgbClr val="9C8CC4"/>
            </a:solidFill>
            <a:prstDash val="solid"/>
            <a:round/>
            <a:headEnd len="sm" w="sm" type="none"/>
            <a:tailEnd len="sm" w="sm" type="none"/>
          </a:ln>
        </p:spPr>
      </p:cxnSp>
      <p:cxnSp>
        <p:nvCxnSpPr>
          <p:cNvPr id="34" name="Google Shape;34;p1"/>
          <p:cNvCxnSpPr/>
          <p:nvPr/>
        </p:nvCxnSpPr>
        <p:spPr>
          <a:xfrm flipH="1" rot="10800000">
            <a:off x="9281160" y="2287829"/>
            <a:ext cx="1188720" cy="1667866"/>
          </a:xfrm>
          <a:prstGeom prst="straightConnector1">
            <a:avLst/>
          </a:prstGeom>
          <a:noFill/>
          <a:ln cap="flat" cmpd="sng" w="9525">
            <a:solidFill>
              <a:srgbClr val="9C8CC4"/>
            </a:solidFill>
            <a:prstDash val="solid"/>
            <a:round/>
            <a:headEnd len="sm" w="sm" type="none"/>
            <a:tailEnd len="sm" w="sm" type="none"/>
          </a:ln>
        </p:spPr>
      </p:cxnSp>
      <p:cxnSp>
        <p:nvCxnSpPr>
          <p:cNvPr id="35" name="Google Shape;35;p1"/>
          <p:cNvCxnSpPr/>
          <p:nvPr/>
        </p:nvCxnSpPr>
        <p:spPr>
          <a:xfrm flipH="1" rot="10800000">
            <a:off x="9281160" y="3648456"/>
            <a:ext cx="1188720" cy="307238"/>
          </a:xfrm>
          <a:prstGeom prst="straightConnector1">
            <a:avLst/>
          </a:prstGeom>
          <a:noFill/>
          <a:ln cap="flat" cmpd="sng" w="9525">
            <a:solidFill>
              <a:srgbClr val="9C8CC4"/>
            </a:solidFill>
            <a:prstDash val="solid"/>
            <a:round/>
            <a:headEnd len="sm" w="sm" type="none"/>
            <a:tailEnd len="sm" w="sm" type="none"/>
          </a:ln>
        </p:spPr>
      </p:cxnSp>
      <p:cxnSp>
        <p:nvCxnSpPr>
          <p:cNvPr id="36" name="Google Shape;36;p1"/>
          <p:cNvCxnSpPr/>
          <p:nvPr/>
        </p:nvCxnSpPr>
        <p:spPr>
          <a:xfrm>
            <a:off x="9281160" y="3955694"/>
            <a:ext cx="1188720" cy="965606"/>
          </a:xfrm>
          <a:prstGeom prst="straightConnector1">
            <a:avLst/>
          </a:prstGeom>
          <a:noFill/>
          <a:ln cap="flat" cmpd="sng" w="9525">
            <a:solidFill>
              <a:srgbClr val="9C8CC4"/>
            </a:solidFill>
            <a:prstDash val="solid"/>
            <a:round/>
            <a:headEnd len="sm" w="sm" type="none"/>
            <a:tailEnd len="sm" w="sm" type="none"/>
          </a:ln>
        </p:spPr>
      </p:cxnSp>
      <p:cxnSp>
        <p:nvCxnSpPr>
          <p:cNvPr id="37" name="Google Shape;37;p1"/>
          <p:cNvCxnSpPr/>
          <p:nvPr/>
        </p:nvCxnSpPr>
        <p:spPr>
          <a:xfrm flipH="1" rot="10800000">
            <a:off x="9281160" y="2287829"/>
            <a:ext cx="1188720" cy="2896819"/>
          </a:xfrm>
          <a:prstGeom prst="straightConnector1">
            <a:avLst/>
          </a:prstGeom>
          <a:noFill/>
          <a:ln cap="flat" cmpd="sng" w="9525">
            <a:solidFill>
              <a:srgbClr val="9C8CC4"/>
            </a:solidFill>
            <a:prstDash val="solid"/>
            <a:round/>
            <a:headEnd len="sm" w="sm" type="none"/>
            <a:tailEnd len="sm" w="sm" type="none"/>
          </a:ln>
        </p:spPr>
      </p:cxnSp>
      <p:cxnSp>
        <p:nvCxnSpPr>
          <p:cNvPr id="38" name="Google Shape;38;p1"/>
          <p:cNvCxnSpPr/>
          <p:nvPr/>
        </p:nvCxnSpPr>
        <p:spPr>
          <a:xfrm flipH="1" rot="10800000">
            <a:off x="9281160" y="3648456"/>
            <a:ext cx="1188720" cy="1536192"/>
          </a:xfrm>
          <a:prstGeom prst="straightConnector1">
            <a:avLst/>
          </a:prstGeom>
          <a:noFill/>
          <a:ln cap="flat" cmpd="sng" w="9525">
            <a:solidFill>
              <a:srgbClr val="9C8CC4"/>
            </a:solidFill>
            <a:prstDash val="solid"/>
            <a:round/>
            <a:headEnd len="sm" w="sm" type="none"/>
            <a:tailEnd len="sm" w="sm" type="none"/>
          </a:ln>
        </p:spPr>
      </p:cxnSp>
      <p:cxnSp>
        <p:nvCxnSpPr>
          <p:cNvPr id="39" name="Google Shape;39;p1"/>
          <p:cNvCxnSpPr/>
          <p:nvPr/>
        </p:nvCxnSpPr>
        <p:spPr>
          <a:xfrm flipH="1" rot="10800000">
            <a:off x="9281160" y="4921301"/>
            <a:ext cx="1188720" cy="263347"/>
          </a:xfrm>
          <a:prstGeom prst="straightConnector1">
            <a:avLst/>
          </a:prstGeom>
          <a:noFill/>
          <a:ln cap="flat" cmpd="sng" w="9525">
            <a:solidFill>
              <a:srgbClr val="9C8CC4"/>
            </a:solidFill>
            <a:prstDash val="solid"/>
            <a:round/>
            <a:headEnd len="sm" w="sm" type="none"/>
            <a:tailEnd len="sm" w="sm" type="none"/>
          </a:ln>
        </p:spPr>
      </p:cxnSp>
      <p:cxnSp>
        <p:nvCxnSpPr>
          <p:cNvPr id="40" name="Google Shape;40;p1"/>
          <p:cNvCxnSpPr/>
          <p:nvPr/>
        </p:nvCxnSpPr>
        <p:spPr>
          <a:xfrm>
            <a:off x="10469880" y="2287829"/>
            <a:ext cx="1188720" cy="790042"/>
          </a:xfrm>
          <a:prstGeom prst="straightConnector1">
            <a:avLst/>
          </a:prstGeom>
          <a:noFill/>
          <a:ln cap="flat" cmpd="sng" w="9525">
            <a:solidFill>
              <a:srgbClr val="9C8CC4"/>
            </a:solidFill>
            <a:prstDash val="solid"/>
            <a:round/>
            <a:headEnd len="sm" w="sm" type="none"/>
            <a:tailEnd len="sm" w="sm" type="none"/>
          </a:ln>
        </p:spPr>
      </p:cxnSp>
      <p:cxnSp>
        <p:nvCxnSpPr>
          <p:cNvPr id="41" name="Google Shape;41;p1"/>
          <p:cNvCxnSpPr/>
          <p:nvPr/>
        </p:nvCxnSpPr>
        <p:spPr>
          <a:xfrm>
            <a:off x="10469880" y="2287829"/>
            <a:ext cx="1188720" cy="2106778"/>
          </a:xfrm>
          <a:prstGeom prst="straightConnector1">
            <a:avLst/>
          </a:prstGeom>
          <a:noFill/>
          <a:ln cap="flat" cmpd="sng" w="9525">
            <a:solidFill>
              <a:srgbClr val="9C8CC4"/>
            </a:solidFill>
            <a:prstDash val="solid"/>
            <a:round/>
            <a:headEnd len="sm" w="sm" type="none"/>
            <a:tailEnd len="sm" w="sm" type="none"/>
          </a:ln>
        </p:spPr>
      </p:cxnSp>
      <p:cxnSp>
        <p:nvCxnSpPr>
          <p:cNvPr id="42" name="Google Shape;42;p1"/>
          <p:cNvCxnSpPr/>
          <p:nvPr/>
        </p:nvCxnSpPr>
        <p:spPr>
          <a:xfrm flipH="1" rot="10800000">
            <a:off x="10469880" y="3077870"/>
            <a:ext cx="1188720" cy="570586"/>
          </a:xfrm>
          <a:prstGeom prst="straightConnector1">
            <a:avLst/>
          </a:prstGeom>
          <a:noFill/>
          <a:ln cap="flat" cmpd="sng" w="9525">
            <a:solidFill>
              <a:srgbClr val="9C8CC4"/>
            </a:solidFill>
            <a:prstDash val="solid"/>
            <a:round/>
            <a:headEnd len="sm" w="sm" type="none"/>
            <a:tailEnd len="sm" w="sm" type="none"/>
          </a:ln>
        </p:spPr>
      </p:cxnSp>
      <p:cxnSp>
        <p:nvCxnSpPr>
          <p:cNvPr id="43" name="Google Shape;43;p1"/>
          <p:cNvCxnSpPr/>
          <p:nvPr/>
        </p:nvCxnSpPr>
        <p:spPr>
          <a:xfrm>
            <a:off x="10469880" y="3648456"/>
            <a:ext cx="1188720" cy="746150"/>
          </a:xfrm>
          <a:prstGeom prst="straightConnector1">
            <a:avLst/>
          </a:prstGeom>
          <a:noFill/>
          <a:ln cap="flat" cmpd="sng" w="9525">
            <a:solidFill>
              <a:srgbClr val="9C8CC4"/>
            </a:solidFill>
            <a:prstDash val="solid"/>
            <a:round/>
            <a:headEnd len="sm" w="sm" type="none"/>
            <a:tailEnd len="sm" w="sm" type="none"/>
          </a:ln>
        </p:spPr>
      </p:cxnSp>
      <p:cxnSp>
        <p:nvCxnSpPr>
          <p:cNvPr id="44" name="Google Shape;44;p1"/>
          <p:cNvCxnSpPr/>
          <p:nvPr/>
        </p:nvCxnSpPr>
        <p:spPr>
          <a:xfrm flipH="1" rot="10800000">
            <a:off x="10469880" y="3077870"/>
            <a:ext cx="1188720" cy="1843430"/>
          </a:xfrm>
          <a:prstGeom prst="straightConnector1">
            <a:avLst/>
          </a:prstGeom>
          <a:noFill/>
          <a:ln cap="flat" cmpd="sng" w="9525">
            <a:solidFill>
              <a:srgbClr val="9C8CC4"/>
            </a:solidFill>
            <a:prstDash val="solid"/>
            <a:round/>
            <a:headEnd len="sm" w="sm" type="none"/>
            <a:tailEnd len="sm" w="sm" type="none"/>
          </a:ln>
        </p:spPr>
      </p:cxnSp>
      <p:cxnSp>
        <p:nvCxnSpPr>
          <p:cNvPr id="45" name="Google Shape;45;p1"/>
          <p:cNvCxnSpPr/>
          <p:nvPr/>
        </p:nvCxnSpPr>
        <p:spPr>
          <a:xfrm flipH="1" rot="10800000">
            <a:off x="10469880" y="4394606"/>
            <a:ext cx="1188720" cy="526694"/>
          </a:xfrm>
          <a:prstGeom prst="straightConnector1">
            <a:avLst/>
          </a:prstGeom>
          <a:noFill/>
          <a:ln cap="flat" cmpd="sng" w="9525">
            <a:solidFill>
              <a:srgbClr val="9C8CC4"/>
            </a:solidFill>
            <a:prstDash val="solid"/>
            <a:round/>
            <a:headEnd len="sm" w="sm" type="none"/>
            <a:tailEnd len="sm" w="sm" type="none"/>
          </a:ln>
        </p:spPr>
      </p:cxnSp>
      <p:sp>
        <p:nvSpPr>
          <p:cNvPr id="46" name="Google Shape;46;p1"/>
          <p:cNvSpPr/>
          <p:nvPr/>
        </p:nvSpPr>
        <p:spPr>
          <a:xfrm>
            <a:off x="8023860" y="195590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
          <p:cNvSpPr/>
          <p:nvPr/>
        </p:nvSpPr>
        <p:spPr>
          <a:xfrm>
            <a:off x="802386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
          <p:cNvSpPr/>
          <p:nvPr/>
        </p:nvSpPr>
        <p:spPr>
          <a:xfrm>
            <a:off x="8023860" y="4764938"/>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
          <p:cNvSpPr/>
          <p:nvPr/>
        </p:nvSpPr>
        <p:spPr>
          <a:xfrm>
            <a:off x="9212580" y="151699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9212580" y="2658161"/>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
          <p:cNvSpPr/>
          <p:nvPr/>
        </p:nvSpPr>
        <p:spPr>
          <a:xfrm>
            <a:off x="9212580" y="388711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
          <p:cNvSpPr/>
          <p:nvPr/>
        </p:nvSpPr>
        <p:spPr>
          <a:xfrm>
            <a:off x="9212580" y="5116068"/>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
          <p:cNvSpPr/>
          <p:nvPr/>
        </p:nvSpPr>
        <p:spPr>
          <a:xfrm>
            <a:off x="10401300" y="2219249"/>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
          <p:cNvSpPr/>
          <p:nvPr/>
        </p:nvSpPr>
        <p:spPr>
          <a:xfrm>
            <a:off x="10401300" y="357987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
          <p:cNvSpPr/>
          <p:nvPr/>
        </p:nvSpPr>
        <p:spPr>
          <a:xfrm>
            <a:off x="10401300" y="4852721"/>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
          <p:cNvSpPr/>
          <p:nvPr/>
        </p:nvSpPr>
        <p:spPr>
          <a:xfrm>
            <a:off x="11590020" y="3009290"/>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
          <p:cNvSpPr/>
          <p:nvPr/>
        </p:nvSpPr>
        <p:spPr>
          <a:xfrm>
            <a:off x="11590020" y="432602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
          <p:cNvSpPr/>
          <p:nvPr/>
        </p:nvSpPr>
        <p:spPr>
          <a:xfrm>
            <a:off x="566928" y="2011680"/>
            <a:ext cx="6949440" cy="1737360"/>
          </a:xfrm>
          <a:prstGeom prst="rect">
            <a:avLst/>
          </a:prstGeom>
          <a:noFill/>
          <a:ln>
            <a:noFill/>
          </a:ln>
        </p:spPr>
        <p:txBody>
          <a:bodyPr anchorCtr="0" anchor="ctr" bIns="0" lIns="0" spcFirstLastPara="1" rIns="0" wrap="square" tIns="0">
            <a:noAutofit/>
          </a:bodyPr>
          <a:lstStyle/>
          <a:p>
            <a:pPr indent="0" lvl="0" marL="0" marR="0" rtl="0" algn="l">
              <a:lnSpc>
                <a:spcPct val="113043"/>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Deep Learning &amp;</a:t>
            </a:r>
            <a:endParaRPr b="0" i="0" sz="4600" u="none" cap="none" strike="noStrike">
              <a:solidFill>
                <a:schemeClr val="dk1"/>
              </a:solidFill>
              <a:latin typeface="Calibri"/>
              <a:ea typeface="Calibri"/>
              <a:cs typeface="Calibri"/>
              <a:sym typeface="Calibri"/>
            </a:endParaRPr>
          </a:p>
          <a:p>
            <a:pPr indent="0" lvl="0" marL="0" marR="0" rtl="0" algn="l">
              <a:lnSpc>
                <a:spcPct val="113043"/>
              </a:lnSpc>
              <a:spcBef>
                <a:spcPts val="0"/>
              </a:spcBef>
              <a:spcAft>
                <a:spcPts val="0"/>
              </a:spcAft>
              <a:buClr>
                <a:srgbClr val="FFFFFF"/>
              </a:buClr>
              <a:buSzPts val="4600"/>
              <a:buFont typeface="Cambria"/>
              <a:buNone/>
            </a:pPr>
            <a:r>
              <a:rPr b="1" i="0" lang="en-US" sz="4600" u="none" cap="none" strike="noStrike">
                <a:solidFill>
                  <a:srgbClr val="FFFFFF"/>
                </a:solidFill>
                <a:latin typeface="Cambria"/>
                <a:ea typeface="Cambria"/>
                <a:cs typeface="Cambria"/>
                <a:sym typeface="Cambria"/>
              </a:rPr>
              <a:t>Artificial Neural Networks</a:t>
            </a:r>
            <a:endParaRPr b="0" i="0" sz="4600" u="none" cap="none" strike="noStrike">
              <a:solidFill>
                <a:schemeClr val="dk1"/>
              </a:solidFill>
              <a:latin typeface="Calibri"/>
              <a:ea typeface="Calibri"/>
              <a:cs typeface="Calibri"/>
              <a:sym typeface="Calibri"/>
            </a:endParaRPr>
          </a:p>
        </p:txBody>
      </p:sp>
      <p:sp>
        <p:nvSpPr>
          <p:cNvPr id="59" name="Google Shape;59;p1"/>
          <p:cNvSpPr/>
          <p:nvPr/>
        </p:nvSpPr>
        <p:spPr>
          <a:xfrm>
            <a:off x="566928" y="3917912"/>
            <a:ext cx="67665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700"/>
              <a:buFont typeface="Calibri"/>
              <a:buNone/>
            </a:pPr>
            <a:r>
              <a:rPr b="0" i="1" lang="en-US" sz="1700" u="none" cap="none" strike="noStrike">
                <a:solidFill>
                  <a:srgbClr val="9C8CC4"/>
                </a:solidFill>
                <a:latin typeface="Calibri"/>
                <a:ea typeface="Calibri"/>
                <a:cs typeface="Calibri"/>
                <a:sym typeface="Calibri"/>
              </a:rPr>
              <a:t>From the single neuron to regularized deep networks</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ROADMAP</a:t>
            </a:r>
            <a:endParaRPr b="0" i="0" sz="1050" u="none" cap="none" strike="noStrike">
              <a:solidFill>
                <a:schemeClr val="dk1"/>
              </a:solidFill>
              <a:latin typeface="Calibri"/>
              <a:ea typeface="Calibri"/>
              <a:cs typeface="Calibri"/>
              <a:sym typeface="Calibri"/>
            </a:endParaRPr>
          </a:p>
        </p:txBody>
      </p:sp>
      <p:sp>
        <p:nvSpPr>
          <p:cNvPr id="66" name="Google Shape;66;p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What we will cover today</a:t>
            </a:r>
            <a:endParaRPr b="0" i="0" sz="2800" u="none" cap="none" strike="noStrike">
              <a:solidFill>
                <a:schemeClr val="dk1"/>
              </a:solidFill>
              <a:latin typeface="Calibri"/>
              <a:ea typeface="Calibri"/>
              <a:cs typeface="Calibri"/>
              <a:sym typeface="Calibri"/>
            </a:endParaRPr>
          </a:p>
        </p:txBody>
      </p:sp>
      <p:sp>
        <p:nvSpPr>
          <p:cNvPr id="67" name="Google Shape;67;p3"/>
          <p:cNvSpPr/>
          <p:nvPr/>
        </p:nvSpPr>
        <p:spPr>
          <a:xfrm>
            <a:off x="566928" y="1298448"/>
            <a:ext cx="11057839" cy="749808"/>
          </a:xfrm>
          <a:prstGeom prst="roundRect">
            <a:avLst>
              <a:gd fmla="val 10976"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841248" y="1444752"/>
            <a:ext cx="566928" cy="457200"/>
          </a:xfrm>
          <a:prstGeom prst="roundRect">
            <a:avLst>
              <a:gd fmla="val 2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841248" y="1444752"/>
            <a:ext cx="5669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01</a:t>
            </a:r>
            <a:endParaRPr b="0" i="0" sz="1500" u="none" cap="none" strike="noStrike">
              <a:solidFill>
                <a:schemeClr val="dk1"/>
              </a:solidFill>
              <a:latin typeface="Calibri"/>
              <a:ea typeface="Calibri"/>
              <a:cs typeface="Calibri"/>
              <a:sym typeface="Calibri"/>
            </a:endParaRPr>
          </a:p>
        </p:txBody>
      </p:sp>
      <p:sp>
        <p:nvSpPr>
          <p:cNvPr id="70" name="Google Shape;70;p3"/>
          <p:cNvSpPr/>
          <p:nvPr/>
        </p:nvSpPr>
        <p:spPr>
          <a:xfrm>
            <a:off x="1572768" y="1389888"/>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Why deep learning?</a:t>
            </a:r>
            <a:endParaRPr b="0" i="0" sz="1550" u="none" cap="none" strike="noStrike">
              <a:solidFill>
                <a:schemeClr val="dk1"/>
              </a:solidFill>
              <a:latin typeface="Calibri"/>
              <a:ea typeface="Calibri"/>
              <a:cs typeface="Calibri"/>
              <a:sym typeface="Calibri"/>
            </a:endParaRPr>
          </a:p>
        </p:txBody>
      </p:sp>
      <p:sp>
        <p:nvSpPr>
          <p:cNvPr id="71" name="Google Shape;71;p3"/>
          <p:cNvSpPr/>
          <p:nvPr/>
        </p:nvSpPr>
        <p:spPr>
          <a:xfrm>
            <a:off x="1572768" y="169164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Representation learning, factors of variation, a short history</a:t>
            </a:r>
            <a:endParaRPr b="0" i="0" sz="1200" u="none" cap="none" strike="noStrike">
              <a:solidFill>
                <a:schemeClr val="dk1"/>
              </a:solidFill>
              <a:latin typeface="Calibri"/>
              <a:ea typeface="Calibri"/>
              <a:cs typeface="Calibri"/>
              <a:sym typeface="Calibri"/>
            </a:endParaRPr>
          </a:p>
        </p:txBody>
      </p:sp>
      <p:sp>
        <p:nvSpPr>
          <p:cNvPr id="72" name="Google Shape;72;p3"/>
          <p:cNvSpPr/>
          <p:nvPr/>
        </p:nvSpPr>
        <p:spPr>
          <a:xfrm>
            <a:off x="566928" y="2121408"/>
            <a:ext cx="11057839" cy="749808"/>
          </a:xfrm>
          <a:prstGeom prst="roundRect">
            <a:avLst>
              <a:gd fmla="val 1097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841248" y="2267712"/>
            <a:ext cx="566928" cy="457200"/>
          </a:xfrm>
          <a:prstGeom prst="roundRect">
            <a:avLst>
              <a:gd fmla="val 2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841248" y="2267712"/>
            <a:ext cx="5669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02</a:t>
            </a:r>
            <a:endParaRPr b="0" i="0" sz="1500" u="none" cap="none" strike="noStrike">
              <a:solidFill>
                <a:schemeClr val="dk1"/>
              </a:solidFill>
              <a:latin typeface="Calibri"/>
              <a:ea typeface="Calibri"/>
              <a:cs typeface="Calibri"/>
              <a:sym typeface="Calibri"/>
            </a:endParaRPr>
          </a:p>
        </p:txBody>
      </p:sp>
      <p:sp>
        <p:nvSpPr>
          <p:cNvPr id="75" name="Google Shape;75;p3"/>
          <p:cNvSpPr/>
          <p:nvPr/>
        </p:nvSpPr>
        <p:spPr>
          <a:xfrm>
            <a:off x="1572768" y="2212848"/>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Machine learning essentials</a:t>
            </a:r>
            <a:endParaRPr b="0" i="0" sz="1550" u="none" cap="none" strike="noStrike">
              <a:solidFill>
                <a:schemeClr val="dk1"/>
              </a:solidFill>
              <a:latin typeface="Calibri"/>
              <a:ea typeface="Calibri"/>
              <a:cs typeface="Calibri"/>
              <a:sym typeface="Calibri"/>
            </a:endParaRPr>
          </a:p>
        </p:txBody>
      </p:sp>
      <p:sp>
        <p:nvSpPr>
          <p:cNvPr id="76" name="Google Shape;76;p3"/>
          <p:cNvSpPr/>
          <p:nvPr/>
        </p:nvSpPr>
        <p:spPr>
          <a:xfrm>
            <a:off x="1572768" y="251460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Capacity, over/underfitting, validation, bias and variance</a:t>
            </a:r>
            <a:endParaRPr b="0" i="0" sz="1200" u="none" cap="none" strike="noStrike">
              <a:solidFill>
                <a:schemeClr val="dk1"/>
              </a:solidFill>
              <a:latin typeface="Calibri"/>
              <a:ea typeface="Calibri"/>
              <a:cs typeface="Calibri"/>
              <a:sym typeface="Calibri"/>
            </a:endParaRPr>
          </a:p>
        </p:txBody>
      </p:sp>
      <p:sp>
        <p:nvSpPr>
          <p:cNvPr id="77" name="Google Shape;77;p3"/>
          <p:cNvSpPr/>
          <p:nvPr/>
        </p:nvSpPr>
        <p:spPr>
          <a:xfrm>
            <a:off x="566928" y="2944368"/>
            <a:ext cx="11057839" cy="749808"/>
          </a:xfrm>
          <a:prstGeom prst="roundRect">
            <a:avLst>
              <a:gd fmla="val 10976"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41248" y="3090672"/>
            <a:ext cx="566928" cy="457200"/>
          </a:xfrm>
          <a:prstGeom prst="roundRect">
            <a:avLst>
              <a:gd fmla="val 2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41248" y="3090672"/>
            <a:ext cx="5669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03</a:t>
            </a:r>
            <a:endParaRPr b="0" i="0" sz="1500" u="none" cap="none" strike="noStrike">
              <a:solidFill>
                <a:schemeClr val="dk1"/>
              </a:solidFill>
              <a:latin typeface="Calibri"/>
              <a:ea typeface="Calibri"/>
              <a:cs typeface="Calibri"/>
              <a:sym typeface="Calibri"/>
            </a:endParaRPr>
          </a:p>
        </p:txBody>
      </p:sp>
      <p:sp>
        <p:nvSpPr>
          <p:cNvPr id="80" name="Google Shape;80;p3"/>
          <p:cNvSpPr/>
          <p:nvPr/>
        </p:nvSpPr>
        <p:spPr>
          <a:xfrm>
            <a:off x="1572768" y="3035808"/>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Deep feedforward networks</a:t>
            </a:r>
            <a:endParaRPr b="0" i="0" sz="1550" u="none" cap="none" strike="noStrike">
              <a:solidFill>
                <a:schemeClr val="dk1"/>
              </a:solidFill>
              <a:latin typeface="Calibri"/>
              <a:ea typeface="Calibri"/>
              <a:cs typeface="Calibri"/>
              <a:sym typeface="Calibri"/>
            </a:endParaRPr>
          </a:p>
        </p:txBody>
      </p:sp>
      <p:sp>
        <p:nvSpPr>
          <p:cNvPr id="81" name="Google Shape;81;p3"/>
          <p:cNvSpPr/>
          <p:nvPr/>
        </p:nvSpPr>
        <p:spPr>
          <a:xfrm>
            <a:off x="1572768" y="333756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Architecture, the XOR example, forward pass, back-propagation</a:t>
            </a:r>
            <a:endParaRPr b="0" i="0" sz="1200" u="none" cap="none" strike="noStrike">
              <a:solidFill>
                <a:schemeClr val="dk1"/>
              </a:solidFill>
              <a:latin typeface="Calibri"/>
              <a:ea typeface="Calibri"/>
              <a:cs typeface="Calibri"/>
              <a:sym typeface="Calibri"/>
            </a:endParaRPr>
          </a:p>
        </p:txBody>
      </p:sp>
      <p:sp>
        <p:nvSpPr>
          <p:cNvPr id="82" name="Google Shape;82;p3"/>
          <p:cNvSpPr/>
          <p:nvPr/>
        </p:nvSpPr>
        <p:spPr>
          <a:xfrm>
            <a:off x="566928" y="3767328"/>
            <a:ext cx="11057839" cy="749808"/>
          </a:xfrm>
          <a:prstGeom prst="roundRect">
            <a:avLst>
              <a:gd fmla="val 1097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841248" y="3913632"/>
            <a:ext cx="566928" cy="457200"/>
          </a:xfrm>
          <a:prstGeom prst="roundRect">
            <a:avLst>
              <a:gd fmla="val 2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41248" y="3913632"/>
            <a:ext cx="5669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04</a:t>
            </a:r>
            <a:endParaRPr b="0" i="0" sz="1500" u="none" cap="none" strike="noStrike">
              <a:solidFill>
                <a:schemeClr val="dk1"/>
              </a:solidFill>
              <a:latin typeface="Calibri"/>
              <a:ea typeface="Calibri"/>
              <a:cs typeface="Calibri"/>
              <a:sym typeface="Calibri"/>
            </a:endParaRPr>
          </a:p>
        </p:txBody>
      </p:sp>
      <p:sp>
        <p:nvSpPr>
          <p:cNvPr id="85" name="Google Shape;85;p3"/>
          <p:cNvSpPr/>
          <p:nvPr/>
        </p:nvSpPr>
        <p:spPr>
          <a:xfrm>
            <a:off x="1572768" y="3858768"/>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Cost functions, output &amp; hidden units</a:t>
            </a:r>
            <a:endParaRPr b="0" i="0" sz="1550" u="none" cap="none" strike="noStrike">
              <a:solidFill>
                <a:schemeClr val="dk1"/>
              </a:solidFill>
              <a:latin typeface="Calibri"/>
              <a:ea typeface="Calibri"/>
              <a:cs typeface="Calibri"/>
              <a:sym typeface="Calibri"/>
            </a:endParaRPr>
          </a:p>
        </p:txBody>
      </p:sp>
      <p:sp>
        <p:nvSpPr>
          <p:cNvPr id="86" name="Google Shape;86;p3"/>
          <p:cNvSpPr/>
          <p:nvPr/>
        </p:nvSpPr>
        <p:spPr>
          <a:xfrm>
            <a:off x="1572768" y="416052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Cross-entropy, sigmoid/softmax, ReLU family, architecture design</a:t>
            </a:r>
            <a:endParaRPr b="0" i="0" sz="1200" u="none" cap="none" strike="noStrike">
              <a:solidFill>
                <a:schemeClr val="dk1"/>
              </a:solidFill>
              <a:latin typeface="Calibri"/>
              <a:ea typeface="Calibri"/>
              <a:cs typeface="Calibri"/>
              <a:sym typeface="Calibri"/>
            </a:endParaRPr>
          </a:p>
        </p:txBody>
      </p:sp>
      <p:sp>
        <p:nvSpPr>
          <p:cNvPr id="87" name="Google Shape;87;p3"/>
          <p:cNvSpPr/>
          <p:nvPr/>
        </p:nvSpPr>
        <p:spPr>
          <a:xfrm>
            <a:off x="566928" y="4590288"/>
            <a:ext cx="11057839" cy="749808"/>
          </a:xfrm>
          <a:prstGeom prst="roundRect">
            <a:avLst>
              <a:gd fmla="val 10976"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841248" y="4736592"/>
            <a:ext cx="566928" cy="457200"/>
          </a:xfrm>
          <a:prstGeom prst="roundRect">
            <a:avLst>
              <a:gd fmla="val 2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841248" y="4736592"/>
            <a:ext cx="5669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05</a:t>
            </a:r>
            <a:endParaRPr b="0" i="0" sz="1500" u="none" cap="none" strike="noStrike">
              <a:solidFill>
                <a:schemeClr val="dk1"/>
              </a:solidFill>
              <a:latin typeface="Calibri"/>
              <a:ea typeface="Calibri"/>
              <a:cs typeface="Calibri"/>
              <a:sym typeface="Calibri"/>
            </a:endParaRPr>
          </a:p>
        </p:txBody>
      </p:sp>
      <p:sp>
        <p:nvSpPr>
          <p:cNvPr id="90" name="Google Shape;90;p3"/>
          <p:cNvSpPr/>
          <p:nvPr/>
        </p:nvSpPr>
        <p:spPr>
          <a:xfrm>
            <a:off x="1572768" y="4681728"/>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Regularization</a:t>
            </a:r>
            <a:endParaRPr b="0" i="0" sz="1550" u="none" cap="none" strike="noStrike">
              <a:solidFill>
                <a:schemeClr val="dk1"/>
              </a:solidFill>
              <a:latin typeface="Calibri"/>
              <a:ea typeface="Calibri"/>
              <a:cs typeface="Calibri"/>
              <a:sym typeface="Calibri"/>
            </a:endParaRPr>
          </a:p>
        </p:txBody>
      </p:sp>
      <p:sp>
        <p:nvSpPr>
          <p:cNvPr id="91" name="Google Shape;91;p3"/>
          <p:cNvSpPr/>
          <p:nvPr/>
        </p:nvSpPr>
        <p:spPr>
          <a:xfrm>
            <a:off x="1572768" y="498348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Norm penalties, augmentation, noise, early stopping, dropout</a:t>
            </a:r>
            <a:endParaRPr b="0" i="0" sz="1200" u="none" cap="none" strike="noStrike">
              <a:solidFill>
                <a:schemeClr val="dk1"/>
              </a:solidFill>
              <a:latin typeface="Calibri"/>
              <a:ea typeface="Calibri"/>
              <a:cs typeface="Calibri"/>
              <a:sym typeface="Calibri"/>
            </a:endParaRPr>
          </a:p>
        </p:txBody>
      </p:sp>
      <p:sp>
        <p:nvSpPr>
          <p:cNvPr id="92" name="Google Shape;92;p3"/>
          <p:cNvSpPr/>
          <p:nvPr/>
        </p:nvSpPr>
        <p:spPr>
          <a:xfrm>
            <a:off x="566928" y="5413248"/>
            <a:ext cx="11057839" cy="749808"/>
          </a:xfrm>
          <a:prstGeom prst="roundRect">
            <a:avLst>
              <a:gd fmla="val 1097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841248" y="5559552"/>
            <a:ext cx="566928" cy="457200"/>
          </a:xfrm>
          <a:prstGeom prst="roundRect">
            <a:avLst>
              <a:gd fmla="val 2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841248" y="5559552"/>
            <a:ext cx="5669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06</a:t>
            </a:r>
            <a:endParaRPr b="0" i="0" sz="1500" u="none" cap="none" strike="noStrike">
              <a:solidFill>
                <a:schemeClr val="dk1"/>
              </a:solidFill>
              <a:latin typeface="Calibri"/>
              <a:ea typeface="Calibri"/>
              <a:cs typeface="Calibri"/>
              <a:sym typeface="Calibri"/>
            </a:endParaRPr>
          </a:p>
        </p:txBody>
      </p:sp>
      <p:sp>
        <p:nvSpPr>
          <p:cNvPr id="95" name="Google Shape;95;p3"/>
          <p:cNvSpPr/>
          <p:nvPr/>
        </p:nvSpPr>
        <p:spPr>
          <a:xfrm>
            <a:off x="1572768" y="5504688"/>
            <a:ext cx="42062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Optimization</a:t>
            </a:r>
            <a:endParaRPr b="0" i="0" sz="1550" u="none" cap="none" strike="noStrike">
              <a:solidFill>
                <a:schemeClr val="dk1"/>
              </a:solidFill>
              <a:latin typeface="Calibri"/>
              <a:ea typeface="Calibri"/>
              <a:cs typeface="Calibri"/>
              <a:sym typeface="Calibri"/>
            </a:endParaRPr>
          </a:p>
        </p:txBody>
      </p:sp>
      <p:sp>
        <p:nvSpPr>
          <p:cNvPr id="96" name="Google Shape;96;p3"/>
          <p:cNvSpPr/>
          <p:nvPr/>
        </p:nvSpPr>
        <p:spPr>
          <a:xfrm>
            <a:off x="1572768" y="5806440"/>
            <a:ext cx="7863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Challenges, SGD, momentum, initialization, AdaGrad / RMSProp / Adam</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101" name="Shape 101"/>
        <p:cNvGrpSpPr/>
        <p:nvPr/>
      </p:nvGrpSpPr>
      <p:grpSpPr>
        <a:xfrm>
          <a:off x="0" y="0"/>
          <a:ext cx="0" cy="0"/>
          <a:chOff x="0" y="0"/>
          <a:chExt cx="0" cy="0"/>
        </a:xfrm>
      </p:grpSpPr>
      <p:cxnSp>
        <p:nvCxnSpPr>
          <p:cNvPr id="102" name="Google Shape;102;p4"/>
          <p:cNvCxnSpPr/>
          <p:nvPr/>
        </p:nvCxnSpPr>
        <p:spPr>
          <a:xfrm flipH="1" rot="10800000">
            <a:off x="7955280" y="1700784"/>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03" name="Google Shape;103;p4"/>
          <p:cNvCxnSpPr/>
          <p:nvPr/>
        </p:nvCxnSpPr>
        <p:spPr>
          <a:xfrm>
            <a:off x="7955280" y="211226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04" name="Google Shape;104;p4"/>
          <p:cNvCxnSpPr/>
          <p:nvPr/>
        </p:nvCxnSpPr>
        <p:spPr>
          <a:xfrm>
            <a:off x="7955280" y="2112264"/>
            <a:ext cx="1219200" cy="1810512"/>
          </a:xfrm>
          <a:prstGeom prst="straightConnector1">
            <a:avLst/>
          </a:prstGeom>
          <a:noFill/>
          <a:ln cap="flat" cmpd="sng" w="9525">
            <a:solidFill>
              <a:srgbClr val="9C8CC4"/>
            </a:solidFill>
            <a:prstDash val="solid"/>
            <a:round/>
            <a:headEnd len="sm" w="sm" type="none"/>
            <a:tailEnd len="sm" w="sm" type="none"/>
          </a:ln>
        </p:spPr>
      </p:cxnSp>
      <p:cxnSp>
        <p:nvCxnSpPr>
          <p:cNvPr id="105" name="Google Shape;105;p4"/>
          <p:cNvCxnSpPr/>
          <p:nvPr/>
        </p:nvCxnSpPr>
        <p:spPr>
          <a:xfrm>
            <a:off x="7955280" y="2112264"/>
            <a:ext cx="1219200" cy="2962656"/>
          </a:xfrm>
          <a:prstGeom prst="straightConnector1">
            <a:avLst/>
          </a:prstGeom>
          <a:noFill/>
          <a:ln cap="flat" cmpd="sng" w="9525">
            <a:solidFill>
              <a:srgbClr val="9C8CC4"/>
            </a:solidFill>
            <a:prstDash val="solid"/>
            <a:round/>
            <a:headEnd len="sm" w="sm" type="none"/>
            <a:tailEnd len="sm" w="sm" type="none"/>
          </a:ln>
        </p:spPr>
      </p:cxnSp>
      <p:cxnSp>
        <p:nvCxnSpPr>
          <p:cNvPr id="106" name="Google Shape;106;p4"/>
          <p:cNvCxnSpPr/>
          <p:nvPr/>
        </p:nvCxnSpPr>
        <p:spPr>
          <a:xfrm flipH="1" rot="10800000">
            <a:off x="7955280" y="1700784"/>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07" name="Google Shape;107;p4"/>
          <p:cNvCxnSpPr/>
          <p:nvPr/>
        </p:nvCxnSpPr>
        <p:spPr>
          <a:xfrm flipH="1" rot="10800000">
            <a:off x="7955280" y="2770632"/>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08" name="Google Shape;108;p4"/>
          <p:cNvCxnSpPr/>
          <p:nvPr/>
        </p:nvCxnSpPr>
        <p:spPr>
          <a:xfrm>
            <a:off x="7955280" y="3429000"/>
            <a:ext cx="1219200" cy="493776"/>
          </a:xfrm>
          <a:prstGeom prst="straightConnector1">
            <a:avLst/>
          </a:prstGeom>
          <a:noFill/>
          <a:ln cap="flat" cmpd="sng" w="9525">
            <a:solidFill>
              <a:srgbClr val="9C8CC4"/>
            </a:solidFill>
            <a:prstDash val="solid"/>
            <a:round/>
            <a:headEnd len="sm" w="sm" type="none"/>
            <a:tailEnd len="sm" w="sm" type="none"/>
          </a:ln>
        </p:spPr>
      </p:cxnSp>
      <p:cxnSp>
        <p:nvCxnSpPr>
          <p:cNvPr id="109" name="Google Shape;109;p4"/>
          <p:cNvCxnSpPr/>
          <p:nvPr/>
        </p:nvCxnSpPr>
        <p:spPr>
          <a:xfrm>
            <a:off x="7955280" y="3429000"/>
            <a:ext cx="1219200" cy="1645920"/>
          </a:xfrm>
          <a:prstGeom prst="straightConnector1">
            <a:avLst/>
          </a:prstGeom>
          <a:noFill/>
          <a:ln cap="flat" cmpd="sng" w="9525">
            <a:solidFill>
              <a:srgbClr val="9C8CC4"/>
            </a:solidFill>
            <a:prstDash val="solid"/>
            <a:round/>
            <a:headEnd len="sm" w="sm" type="none"/>
            <a:tailEnd len="sm" w="sm" type="none"/>
          </a:ln>
        </p:spPr>
      </p:cxnSp>
      <p:cxnSp>
        <p:nvCxnSpPr>
          <p:cNvPr id="110" name="Google Shape;110;p4"/>
          <p:cNvCxnSpPr/>
          <p:nvPr/>
        </p:nvCxnSpPr>
        <p:spPr>
          <a:xfrm flipH="1" rot="10800000">
            <a:off x="7955280" y="1700784"/>
            <a:ext cx="1219200" cy="3044952"/>
          </a:xfrm>
          <a:prstGeom prst="straightConnector1">
            <a:avLst/>
          </a:prstGeom>
          <a:noFill/>
          <a:ln cap="flat" cmpd="sng" w="9525">
            <a:solidFill>
              <a:srgbClr val="9C8CC4"/>
            </a:solidFill>
            <a:prstDash val="solid"/>
            <a:round/>
            <a:headEnd len="sm" w="sm" type="none"/>
            <a:tailEnd len="sm" w="sm" type="none"/>
          </a:ln>
        </p:spPr>
      </p:cxnSp>
      <p:cxnSp>
        <p:nvCxnSpPr>
          <p:cNvPr id="111" name="Google Shape;111;p4"/>
          <p:cNvCxnSpPr/>
          <p:nvPr/>
        </p:nvCxnSpPr>
        <p:spPr>
          <a:xfrm flipH="1" rot="10800000">
            <a:off x="7955280" y="277063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12" name="Google Shape;112;p4"/>
          <p:cNvCxnSpPr/>
          <p:nvPr/>
        </p:nvCxnSpPr>
        <p:spPr>
          <a:xfrm flipH="1" rot="10800000">
            <a:off x="7955280" y="3922776"/>
            <a:ext cx="1219200" cy="822960"/>
          </a:xfrm>
          <a:prstGeom prst="straightConnector1">
            <a:avLst/>
          </a:prstGeom>
          <a:noFill/>
          <a:ln cap="flat" cmpd="sng" w="9525">
            <a:solidFill>
              <a:srgbClr val="9C8CC4"/>
            </a:solidFill>
            <a:prstDash val="solid"/>
            <a:round/>
            <a:headEnd len="sm" w="sm" type="none"/>
            <a:tailEnd len="sm" w="sm" type="none"/>
          </a:ln>
        </p:spPr>
      </p:cxnSp>
      <p:cxnSp>
        <p:nvCxnSpPr>
          <p:cNvPr id="113" name="Google Shape;113;p4"/>
          <p:cNvCxnSpPr/>
          <p:nvPr/>
        </p:nvCxnSpPr>
        <p:spPr>
          <a:xfrm>
            <a:off x="7955280" y="4745736"/>
            <a:ext cx="1219200" cy="329184"/>
          </a:xfrm>
          <a:prstGeom prst="straightConnector1">
            <a:avLst/>
          </a:prstGeom>
          <a:noFill/>
          <a:ln cap="flat" cmpd="sng" w="9525">
            <a:solidFill>
              <a:srgbClr val="9C8CC4"/>
            </a:solidFill>
            <a:prstDash val="solid"/>
            <a:round/>
            <a:headEnd len="sm" w="sm" type="none"/>
            <a:tailEnd len="sm" w="sm" type="none"/>
          </a:ln>
        </p:spPr>
      </p:cxnSp>
      <p:cxnSp>
        <p:nvCxnSpPr>
          <p:cNvPr id="114" name="Google Shape;114;p4"/>
          <p:cNvCxnSpPr/>
          <p:nvPr/>
        </p:nvCxnSpPr>
        <p:spPr>
          <a:xfrm>
            <a:off x="9174480" y="170078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15" name="Google Shape;115;p4"/>
          <p:cNvCxnSpPr/>
          <p:nvPr/>
        </p:nvCxnSpPr>
        <p:spPr>
          <a:xfrm>
            <a:off x="9174480" y="1700784"/>
            <a:ext cx="1219200" cy="1933956"/>
          </a:xfrm>
          <a:prstGeom prst="straightConnector1">
            <a:avLst/>
          </a:prstGeom>
          <a:noFill/>
          <a:ln cap="flat" cmpd="sng" w="9525">
            <a:solidFill>
              <a:srgbClr val="9C8CC4"/>
            </a:solidFill>
            <a:prstDash val="solid"/>
            <a:round/>
            <a:headEnd len="sm" w="sm" type="none"/>
            <a:tailEnd len="sm" w="sm" type="none"/>
          </a:ln>
        </p:spPr>
      </p:cxnSp>
      <p:cxnSp>
        <p:nvCxnSpPr>
          <p:cNvPr id="116" name="Google Shape;116;p4"/>
          <p:cNvCxnSpPr/>
          <p:nvPr/>
        </p:nvCxnSpPr>
        <p:spPr>
          <a:xfrm>
            <a:off x="9174480" y="1700784"/>
            <a:ext cx="1219200" cy="3127248"/>
          </a:xfrm>
          <a:prstGeom prst="straightConnector1">
            <a:avLst/>
          </a:prstGeom>
          <a:noFill/>
          <a:ln cap="flat" cmpd="sng" w="9525">
            <a:solidFill>
              <a:srgbClr val="9C8CC4"/>
            </a:solidFill>
            <a:prstDash val="solid"/>
            <a:round/>
            <a:headEnd len="sm" w="sm" type="none"/>
            <a:tailEnd len="sm" w="sm" type="none"/>
          </a:ln>
        </p:spPr>
      </p:cxnSp>
      <p:cxnSp>
        <p:nvCxnSpPr>
          <p:cNvPr id="117" name="Google Shape;117;p4"/>
          <p:cNvCxnSpPr/>
          <p:nvPr/>
        </p:nvCxnSpPr>
        <p:spPr>
          <a:xfrm flipH="1" rot="10800000">
            <a:off x="9174480" y="2359152"/>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18" name="Google Shape;118;p4"/>
          <p:cNvCxnSpPr/>
          <p:nvPr/>
        </p:nvCxnSpPr>
        <p:spPr>
          <a:xfrm>
            <a:off x="9174480" y="2770632"/>
            <a:ext cx="1219200" cy="864108"/>
          </a:xfrm>
          <a:prstGeom prst="straightConnector1">
            <a:avLst/>
          </a:prstGeom>
          <a:noFill/>
          <a:ln cap="flat" cmpd="sng" w="9525">
            <a:solidFill>
              <a:srgbClr val="9C8CC4"/>
            </a:solidFill>
            <a:prstDash val="solid"/>
            <a:round/>
            <a:headEnd len="sm" w="sm" type="none"/>
            <a:tailEnd len="sm" w="sm" type="none"/>
          </a:ln>
        </p:spPr>
      </p:cxnSp>
      <p:cxnSp>
        <p:nvCxnSpPr>
          <p:cNvPr id="119" name="Google Shape;119;p4"/>
          <p:cNvCxnSpPr/>
          <p:nvPr/>
        </p:nvCxnSpPr>
        <p:spPr>
          <a:xfrm>
            <a:off x="9174480" y="2770632"/>
            <a:ext cx="1219200" cy="2057400"/>
          </a:xfrm>
          <a:prstGeom prst="straightConnector1">
            <a:avLst/>
          </a:prstGeom>
          <a:noFill/>
          <a:ln cap="flat" cmpd="sng" w="9525">
            <a:solidFill>
              <a:srgbClr val="9C8CC4"/>
            </a:solidFill>
            <a:prstDash val="solid"/>
            <a:round/>
            <a:headEnd len="sm" w="sm" type="none"/>
            <a:tailEnd len="sm" w="sm" type="none"/>
          </a:ln>
        </p:spPr>
      </p:cxnSp>
      <p:cxnSp>
        <p:nvCxnSpPr>
          <p:cNvPr id="120" name="Google Shape;120;p4"/>
          <p:cNvCxnSpPr/>
          <p:nvPr/>
        </p:nvCxnSpPr>
        <p:spPr>
          <a:xfrm flipH="1" rot="10800000">
            <a:off x="9174480" y="2359152"/>
            <a:ext cx="1219200" cy="1563624"/>
          </a:xfrm>
          <a:prstGeom prst="straightConnector1">
            <a:avLst/>
          </a:prstGeom>
          <a:noFill/>
          <a:ln cap="flat" cmpd="sng" w="9525">
            <a:solidFill>
              <a:srgbClr val="9C8CC4"/>
            </a:solidFill>
            <a:prstDash val="solid"/>
            <a:round/>
            <a:headEnd len="sm" w="sm" type="none"/>
            <a:tailEnd len="sm" w="sm" type="none"/>
          </a:ln>
        </p:spPr>
      </p:cxnSp>
      <p:cxnSp>
        <p:nvCxnSpPr>
          <p:cNvPr id="121" name="Google Shape;121;p4"/>
          <p:cNvCxnSpPr/>
          <p:nvPr/>
        </p:nvCxnSpPr>
        <p:spPr>
          <a:xfrm flipH="1" rot="10800000">
            <a:off x="9174480" y="3634740"/>
            <a:ext cx="1219200" cy="288036"/>
          </a:xfrm>
          <a:prstGeom prst="straightConnector1">
            <a:avLst/>
          </a:prstGeom>
          <a:noFill/>
          <a:ln cap="flat" cmpd="sng" w="9525">
            <a:solidFill>
              <a:srgbClr val="9C8CC4"/>
            </a:solidFill>
            <a:prstDash val="solid"/>
            <a:round/>
            <a:headEnd len="sm" w="sm" type="none"/>
            <a:tailEnd len="sm" w="sm" type="none"/>
          </a:ln>
        </p:spPr>
      </p:cxnSp>
      <p:cxnSp>
        <p:nvCxnSpPr>
          <p:cNvPr id="122" name="Google Shape;122;p4"/>
          <p:cNvCxnSpPr/>
          <p:nvPr/>
        </p:nvCxnSpPr>
        <p:spPr>
          <a:xfrm>
            <a:off x="9174480" y="3922776"/>
            <a:ext cx="1219200" cy="905256"/>
          </a:xfrm>
          <a:prstGeom prst="straightConnector1">
            <a:avLst/>
          </a:prstGeom>
          <a:noFill/>
          <a:ln cap="flat" cmpd="sng" w="9525">
            <a:solidFill>
              <a:srgbClr val="9C8CC4"/>
            </a:solidFill>
            <a:prstDash val="solid"/>
            <a:round/>
            <a:headEnd len="sm" w="sm" type="none"/>
            <a:tailEnd len="sm" w="sm" type="none"/>
          </a:ln>
        </p:spPr>
      </p:cxnSp>
      <p:cxnSp>
        <p:nvCxnSpPr>
          <p:cNvPr id="123" name="Google Shape;123;p4"/>
          <p:cNvCxnSpPr/>
          <p:nvPr/>
        </p:nvCxnSpPr>
        <p:spPr>
          <a:xfrm flipH="1" rot="10800000">
            <a:off x="9174480" y="2359152"/>
            <a:ext cx="1219200" cy="2715768"/>
          </a:xfrm>
          <a:prstGeom prst="straightConnector1">
            <a:avLst/>
          </a:prstGeom>
          <a:noFill/>
          <a:ln cap="flat" cmpd="sng" w="9525">
            <a:solidFill>
              <a:srgbClr val="9C8CC4"/>
            </a:solidFill>
            <a:prstDash val="solid"/>
            <a:round/>
            <a:headEnd len="sm" w="sm" type="none"/>
            <a:tailEnd len="sm" w="sm" type="none"/>
          </a:ln>
        </p:spPr>
      </p:cxnSp>
      <p:cxnSp>
        <p:nvCxnSpPr>
          <p:cNvPr id="124" name="Google Shape;124;p4"/>
          <p:cNvCxnSpPr/>
          <p:nvPr/>
        </p:nvCxnSpPr>
        <p:spPr>
          <a:xfrm flipH="1" rot="10800000">
            <a:off x="9174480" y="3634740"/>
            <a:ext cx="1219200" cy="1440180"/>
          </a:xfrm>
          <a:prstGeom prst="straightConnector1">
            <a:avLst/>
          </a:prstGeom>
          <a:noFill/>
          <a:ln cap="flat" cmpd="sng" w="9525">
            <a:solidFill>
              <a:srgbClr val="9C8CC4"/>
            </a:solidFill>
            <a:prstDash val="solid"/>
            <a:round/>
            <a:headEnd len="sm" w="sm" type="none"/>
            <a:tailEnd len="sm" w="sm" type="none"/>
          </a:ln>
        </p:spPr>
      </p:cxnSp>
      <p:cxnSp>
        <p:nvCxnSpPr>
          <p:cNvPr id="125" name="Google Shape;125;p4"/>
          <p:cNvCxnSpPr/>
          <p:nvPr/>
        </p:nvCxnSpPr>
        <p:spPr>
          <a:xfrm flipH="1" rot="10800000">
            <a:off x="9174480" y="4828032"/>
            <a:ext cx="1219200" cy="246888"/>
          </a:xfrm>
          <a:prstGeom prst="straightConnector1">
            <a:avLst/>
          </a:prstGeom>
          <a:noFill/>
          <a:ln cap="flat" cmpd="sng" w="9525">
            <a:solidFill>
              <a:srgbClr val="9C8CC4"/>
            </a:solidFill>
            <a:prstDash val="solid"/>
            <a:round/>
            <a:headEnd len="sm" w="sm" type="none"/>
            <a:tailEnd len="sm" w="sm" type="none"/>
          </a:ln>
        </p:spPr>
      </p:cxnSp>
      <p:cxnSp>
        <p:nvCxnSpPr>
          <p:cNvPr id="126" name="Google Shape;126;p4"/>
          <p:cNvCxnSpPr/>
          <p:nvPr/>
        </p:nvCxnSpPr>
        <p:spPr>
          <a:xfrm>
            <a:off x="10393680" y="2359152"/>
            <a:ext cx="1219200" cy="740664"/>
          </a:xfrm>
          <a:prstGeom prst="straightConnector1">
            <a:avLst/>
          </a:prstGeom>
          <a:noFill/>
          <a:ln cap="flat" cmpd="sng" w="9525">
            <a:solidFill>
              <a:srgbClr val="9C8CC4"/>
            </a:solidFill>
            <a:prstDash val="solid"/>
            <a:round/>
            <a:headEnd len="sm" w="sm" type="none"/>
            <a:tailEnd len="sm" w="sm" type="none"/>
          </a:ln>
        </p:spPr>
      </p:cxnSp>
      <p:cxnSp>
        <p:nvCxnSpPr>
          <p:cNvPr id="127" name="Google Shape;127;p4"/>
          <p:cNvCxnSpPr/>
          <p:nvPr/>
        </p:nvCxnSpPr>
        <p:spPr>
          <a:xfrm>
            <a:off x="10393680" y="235915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28" name="Google Shape;128;p4"/>
          <p:cNvCxnSpPr/>
          <p:nvPr/>
        </p:nvCxnSpPr>
        <p:spPr>
          <a:xfrm flipH="1" rot="10800000">
            <a:off x="10393680" y="3099816"/>
            <a:ext cx="1219200" cy="534924"/>
          </a:xfrm>
          <a:prstGeom prst="straightConnector1">
            <a:avLst/>
          </a:prstGeom>
          <a:noFill/>
          <a:ln cap="flat" cmpd="sng" w="9525">
            <a:solidFill>
              <a:srgbClr val="9C8CC4"/>
            </a:solidFill>
            <a:prstDash val="solid"/>
            <a:round/>
            <a:headEnd len="sm" w="sm" type="none"/>
            <a:tailEnd len="sm" w="sm" type="none"/>
          </a:ln>
        </p:spPr>
      </p:cxnSp>
      <p:cxnSp>
        <p:nvCxnSpPr>
          <p:cNvPr id="129" name="Google Shape;129;p4"/>
          <p:cNvCxnSpPr/>
          <p:nvPr/>
        </p:nvCxnSpPr>
        <p:spPr>
          <a:xfrm>
            <a:off x="10393680" y="3634740"/>
            <a:ext cx="1219200" cy="699516"/>
          </a:xfrm>
          <a:prstGeom prst="straightConnector1">
            <a:avLst/>
          </a:prstGeom>
          <a:noFill/>
          <a:ln cap="flat" cmpd="sng" w="9525">
            <a:solidFill>
              <a:srgbClr val="9C8CC4"/>
            </a:solidFill>
            <a:prstDash val="solid"/>
            <a:round/>
            <a:headEnd len="sm" w="sm" type="none"/>
            <a:tailEnd len="sm" w="sm" type="none"/>
          </a:ln>
        </p:spPr>
      </p:cxnSp>
      <p:cxnSp>
        <p:nvCxnSpPr>
          <p:cNvPr id="130" name="Google Shape;130;p4"/>
          <p:cNvCxnSpPr/>
          <p:nvPr/>
        </p:nvCxnSpPr>
        <p:spPr>
          <a:xfrm flipH="1" rot="10800000">
            <a:off x="10393680" y="3099816"/>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31" name="Google Shape;131;p4"/>
          <p:cNvCxnSpPr/>
          <p:nvPr/>
        </p:nvCxnSpPr>
        <p:spPr>
          <a:xfrm flipH="1" rot="10800000">
            <a:off x="10393680" y="4334256"/>
            <a:ext cx="1219200" cy="493776"/>
          </a:xfrm>
          <a:prstGeom prst="straightConnector1">
            <a:avLst/>
          </a:prstGeom>
          <a:noFill/>
          <a:ln cap="flat" cmpd="sng" w="9525">
            <a:solidFill>
              <a:srgbClr val="9C8CC4"/>
            </a:solidFill>
            <a:prstDash val="solid"/>
            <a:round/>
            <a:headEnd len="sm" w="sm" type="none"/>
            <a:tailEnd len="sm" w="sm" type="none"/>
          </a:ln>
        </p:spPr>
      </p:cxnSp>
      <p:sp>
        <p:nvSpPr>
          <p:cNvPr id="132" name="Google Shape;132;p4"/>
          <p:cNvSpPr/>
          <p:nvPr/>
        </p:nvSpPr>
        <p:spPr>
          <a:xfrm>
            <a:off x="7886700" y="20436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788670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p:nvPr/>
        </p:nvSpPr>
        <p:spPr>
          <a:xfrm>
            <a:off x="7886700" y="467715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
          <p:cNvSpPr/>
          <p:nvPr/>
        </p:nvSpPr>
        <p:spPr>
          <a:xfrm>
            <a:off x="9105900" y="163220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p:nvPr/>
        </p:nvSpPr>
        <p:spPr>
          <a:xfrm>
            <a:off x="9105900" y="27020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9105900" y="385419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9105900" y="50063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10325100" y="229057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10325100" y="356616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4"/>
          <p:cNvSpPr/>
          <p:nvPr/>
        </p:nvSpPr>
        <p:spPr>
          <a:xfrm>
            <a:off x="10325100" y="47594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4"/>
          <p:cNvSpPr/>
          <p:nvPr/>
        </p:nvSpPr>
        <p:spPr>
          <a:xfrm>
            <a:off x="11544300" y="303123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11544300" y="426567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566928" y="1417320"/>
            <a:ext cx="2743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9600"/>
              <a:buFont typeface="Cambria"/>
              <a:buNone/>
            </a:pPr>
            <a:r>
              <a:rPr b="1" i="0" lang="en-US" sz="9600" u="none" cap="none" strike="noStrike">
                <a:solidFill>
                  <a:srgbClr val="E8833A"/>
                </a:solidFill>
                <a:latin typeface="Cambria"/>
                <a:ea typeface="Cambria"/>
                <a:cs typeface="Cambria"/>
                <a:sym typeface="Cambria"/>
              </a:rPr>
              <a:t>01</a:t>
            </a:r>
            <a:endParaRPr b="0" i="0" sz="9600" u="none" cap="none" strike="noStrike">
              <a:solidFill>
                <a:schemeClr val="dk1"/>
              </a:solidFill>
              <a:latin typeface="Calibri"/>
              <a:ea typeface="Calibri"/>
              <a:cs typeface="Calibri"/>
              <a:sym typeface="Calibri"/>
            </a:endParaRPr>
          </a:p>
        </p:txBody>
      </p:sp>
      <p:sp>
        <p:nvSpPr>
          <p:cNvPr id="145" name="Google Shape;145;p4"/>
          <p:cNvSpPr/>
          <p:nvPr/>
        </p:nvSpPr>
        <p:spPr>
          <a:xfrm>
            <a:off x="566928" y="2880360"/>
            <a:ext cx="67665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Why deep learning?</a:t>
            </a:r>
            <a:endParaRPr b="0" i="0" sz="4000" u="none" cap="none" strike="noStrike">
              <a:solidFill>
                <a:schemeClr val="dk1"/>
              </a:solidFill>
              <a:latin typeface="Calibri"/>
              <a:ea typeface="Calibri"/>
              <a:cs typeface="Calibri"/>
              <a:sym typeface="Calibri"/>
            </a:endParaRPr>
          </a:p>
        </p:txBody>
      </p:sp>
      <p:sp>
        <p:nvSpPr>
          <p:cNvPr id="146" name="Google Shape;146;p4"/>
          <p:cNvSpPr/>
          <p:nvPr/>
        </p:nvSpPr>
        <p:spPr>
          <a:xfrm>
            <a:off x="566928" y="388620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600"/>
              <a:buFont typeface="Calibri"/>
              <a:buNone/>
            </a:pPr>
            <a:r>
              <a:rPr b="0" i="1" lang="en-US" sz="1600" u="none" cap="none" strike="noStrike">
                <a:solidFill>
                  <a:srgbClr val="9C8CC4"/>
                </a:solidFill>
                <a:latin typeface="Calibri"/>
                <a:ea typeface="Calibri"/>
                <a:cs typeface="Calibri"/>
                <a:sym typeface="Calibri"/>
              </a:rPr>
              <a:t>Representation learning and a short history</a:t>
            </a:r>
            <a:endParaRPr b="0" i="0" sz="1600" u="none" cap="none" strike="noStrike">
              <a:solidFill>
                <a:schemeClr val="dk1"/>
              </a:solidFill>
              <a:latin typeface="Calibri"/>
              <a:ea typeface="Calibri"/>
              <a:cs typeface="Calibri"/>
              <a:sym typeface="Calibri"/>
            </a:endParaRPr>
          </a:p>
        </p:txBody>
      </p:sp>
      <p:sp>
        <p:nvSpPr>
          <p:cNvPr id="147" name="Google Shape;147;p4"/>
          <p:cNvSpPr/>
          <p:nvPr/>
        </p:nvSpPr>
        <p:spPr>
          <a:xfrm>
            <a:off x="612648" y="4480560"/>
            <a:ext cx="6400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Why the representation of the data matters more than the classifier</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How depth builds complex concepts out of simple ones</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The three historical waves that led to modern deep learning</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WHY DEEP LEARNING</a:t>
            </a:r>
            <a:endParaRPr b="0" i="0" sz="1050" u="none" cap="none" strike="noStrike">
              <a:solidFill>
                <a:schemeClr val="dk1"/>
              </a:solidFill>
              <a:latin typeface="Calibri"/>
              <a:ea typeface="Calibri"/>
              <a:cs typeface="Calibri"/>
              <a:sym typeface="Calibri"/>
            </a:endParaRPr>
          </a:p>
        </p:txBody>
      </p:sp>
      <p:sp>
        <p:nvSpPr>
          <p:cNvPr id="154" name="Google Shape;154;p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Representations matter</a:t>
            </a:r>
            <a:endParaRPr b="0" i="0" sz="2800" u="none" cap="none" strike="noStrike">
              <a:solidFill>
                <a:schemeClr val="dk1"/>
              </a:solidFill>
              <a:latin typeface="Calibri"/>
              <a:ea typeface="Calibri"/>
              <a:cs typeface="Calibri"/>
              <a:sym typeface="Calibri"/>
            </a:endParaRPr>
          </a:p>
        </p:txBody>
      </p:sp>
      <p:sp>
        <p:nvSpPr>
          <p:cNvPr id="155" name="Google Shape;155;p5"/>
          <p:cNvSpPr/>
          <p:nvPr/>
        </p:nvSpPr>
        <p:spPr>
          <a:xfrm>
            <a:off x="566928" y="1463040"/>
            <a:ext cx="5029200" cy="35661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500"/>
              <a:buFont typeface="Calibri"/>
              <a:buChar char="•"/>
            </a:pPr>
            <a:r>
              <a:rPr b="1" i="0" lang="en-US" sz="1500" u="none" cap="none" strike="noStrike">
                <a:solidFill>
                  <a:srgbClr val="241C2E"/>
                </a:solidFill>
                <a:latin typeface="Calibri"/>
                <a:ea typeface="Calibri"/>
                <a:cs typeface="Calibri"/>
                <a:sym typeface="Calibri"/>
              </a:rPr>
              <a:t>For many tasks it is difficult to know which features should be extracted.</a:t>
            </a:r>
            <a:endParaRPr b="0" i="0" sz="15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500"/>
              <a:buFont typeface="Calibri"/>
              <a:buChar char="•"/>
            </a:pPr>
            <a:r>
              <a:rPr b="0" i="0" lang="en-US" sz="1500" u="none" cap="none" strike="noStrike">
                <a:solidFill>
                  <a:srgbClr val="241C2E"/>
                </a:solidFill>
                <a:latin typeface="Calibri"/>
                <a:ea typeface="Calibri"/>
                <a:cs typeface="Calibri"/>
                <a:sym typeface="Calibri"/>
              </a:rPr>
              <a:t>Many AI tasks become easy once we choose the right set of features and the right way to represent them.</a:t>
            </a:r>
            <a:endParaRPr b="0" i="0" sz="15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500"/>
              <a:buFont typeface="Calibri"/>
              <a:buChar char="•"/>
            </a:pPr>
            <a:r>
              <a:rPr b="0" i="0" lang="en-US" sz="1500" u="none" cap="none" strike="noStrike">
                <a:solidFill>
                  <a:srgbClr val="241C2E"/>
                </a:solidFill>
                <a:latin typeface="Calibri"/>
                <a:ea typeface="Calibri"/>
                <a:cs typeface="Calibri"/>
                <a:sym typeface="Calibri"/>
              </a:rPr>
              <a:t>The data on the right cannot be separated by a straight line in Cartesian coordinates …</a:t>
            </a:r>
            <a:endParaRPr b="0" i="0" sz="15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500"/>
              <a:buFont typeface="Calibri"/>
              <a:buChar char="•"/>
            </a:pPr>
            <a:r>
              <a:rPr b="0" i="0" lang="en-US" sz="1500" u="none" cap="none" strike="noStrike">
                <a:solidFill>
                  <a:srgbClr val="241C2E"/>
                </a:solidFill>
                <a:latin typeface="Calibri"/>
                <a:ea typeface="Calibri"/>
                <a:cs typeface="Calibri"/>
                <a:sym typeface="Calibri"/>
              </a:rPr>
              <a:t>… but simply changing to polar coordinates (r, θ) makes the two classes linearly separable.</a:t>
            </a:r>
            <a:endParaRPr b="0" i="0" sz="15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500"/>
              <a:buFont typeface="Calibri"/>
              <a:buChar char="•"/>
            </a:pPr>
            <a:r>
              <a:rPr b="0" i="0" lang="en-US" sz="1500" u="none" cap="none" strike="noStrike">
                <a:solidFill>
                  <a:srgbClr val="241C2E"/>
                </a:solidFill>
                <a:latin typeface="Calibri"/>
                <a:ea typeface="Calibri"/>
                <a:cs typeface="Calibri"/>
                <a:sym typeface="Calibri"/>
              </a:rPr>
              <a:t>Nothing about the data changed — only the axes we describe it with.</a:t>
            </a:r>
            <a:endParaRPr b="0" i="0" sz="1500" u="none" cap="none" strike="noStrike">
              <a:solidFill>
                <a:schemeClr val="dk1"/>
              </a:solidFill>
              <a:latin typeface="Calibri"/>
              <a:ea typeface="Calibri"/>
              <a:cs typeface="Calibri"/>
              <a:sym typeface="Calibri"/>
            </a:endParaRPr>
          </a:p>
        </p:txBody>
      </p:sp>
      <p:sp>
        <p:nvSpPr>
          <p:cNvPr id="156" name="Google Shape;156;p5"/>
          <p:cNvSpPr/>
          <p:nvPr/>
        </p:nvSpPr>
        <p:spPr>
          <a:xfrm>
            <a:off x="5989320" y="1600200"/>
            <a:ext cx="2651760" cy="3291840"/>
          </a:xfrm>
          <a:prstGeom prst="rect">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5989320" y="1271016"/>
            <a:ext cx="2651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Cartesian coordinates</a:t>
            </a:r>
            <a:endParaRPr b="0" i="0" sz="1200" u="none" cap="none" strike="noStrike">
              <a:solidFill>
                <a:schemeClr val="dk1"/>
              </a:solidFill>
              <a:latin typeface="Calibri"/>
              <a:ea typeface="Calibri"/>
              <a:cs typeface="Calibri"/>
              <a:sym typeface="Calibri"/>
            </a:endParaRPr>
          </a:p>
        </p:txBody>
      </p:sp>
      <p:sp>
        <p:nvSpPr>
          <p:cNvPr id="158" name="Google Shape;158;p5"/>
          <p:cNvSpPr/>
          <p:nvPr/>
        </p:nvSpPr>
        <p:spPr>
          <a:xfrm>
            <a:off x="5989320" y="4946904"/>
            <a:ext cx="26517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x  →          y  ↑</a:t>
            </a:r>
            <a:endParaRPr b="0" i="0" sz="1100" u="none" cap="none" strike="noStrike">
              <a:solidFill>
                <a:schemeClr val="dk1"/>
              </a:solidFill>
              <a:latin typeface="Calibri"/>
              <a:ea typeface="Calibri"/>
              <a:cs typeface="Calibri"/>
              <a:sym typeface="Calibri"/>
            </a:endParaRPr>
          </a:p>
        </p:txBody>
      </p:sp>
      <p:sp>
        <p:nvSpPr>
          <p:cNvPr id="159" name="Google Shape;159;p5"/>
          <p:cNvSpPr/>
          <p:nvPr/>
        </p:nvSpPr>
        <p:spPr>
          <a:xfrm>
            <a:off x="7296825" y="367794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6889123" y="287457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7702470" y="333444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p:nvPr/>
        </p:nvSpPr>
        <p:spPr>
          <a:xfrm>
            <a:off x="7178124" y="329440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7729905" y="340908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7586168" y="313771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6942686" y="329338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6923215" y="293014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7315092" y="291671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p:nvPr/>
        </p:nvSpPr>
        <p:spPr>
          <a:xfrm>
            <a:off x="6808333" y="326810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p:nvPr/>
        </p:nvSpPr>
        <p:spPr>
          <a:xfrm>
            <a:off x="7062737" y="342768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7612779" y="3421796"/>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
          <p:cNvSpPr/>
          <p:nvPr/>
        </p:nvSpPr>
        <p:spPr>
          <a:xfrm>
            <a:off x="7392377" y="297160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7484702" y="365676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7476367" y="339954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7114220" y="323532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5"/>
          <p:cNvSpPr/>
          <p:nvPr/>
        </p:nvSpPr>
        <p:spPr>
          <a:xfrm>
            <a:off x="7538264" y="343357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5"/>
          <p:cNvSpPr/>
          <p:nvPr/>
        </p:nvSpPr>
        <p:spPr>
          <a:xfrm>
            <a:off x="7283280" y="305051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6875808" y="289128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5"/>
          <p:cNvSpPr/>
          <p:nvPr/>
        </p:nvSpPr>
        <p:spPr>
          <a:xfrm>
            <a:off x="7227824" y="354453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7119182" y="338399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6861283" y="316204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7198514" y="3356186"/>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5"/>
          <p:cNvSpPr/>
          <p:nvPr/>
        </p:nvSpPr>
        <p:spPr>
          <a:xfrm>
            <a:off x="7520817" y="293253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5"/>
          <p:cNvSpPr/>
          <p:nvPr/>
        </p:nvSpPr>
        <p:spPr>
          <a:xfrm>
            <a:off x="6885308" y="3550936"/>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7080451" y="321127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7251256" y="368197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6996678" y="302944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7393687" y="345032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7310601" y="329315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5"/>
          <p:cNvSpPr/>
          <p:nvPr/>
        </p:nvSpPr>
        <p:spPr>
          <a:xfrm>
            <a:off x="7111160" y="279915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7467347" y="345639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238536" y="272116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5"/>
          <p:cNvSpPr/>
          <p:nvPr/>
        </p:nvSpPr>
        <p:spPr>
          <a:xfrm>
            <a:off x="7071267" y="339390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6971798" y="2849246"/>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5"/>
          <p:cNvSpPr/>
          <p:nvPr/>
        </p:nvSpPr>
        <p:spPr>
          <a:xfrm>
            <a:off x="6954716" y="318653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a:off x="7374661" y="270256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5"/>
          <p:cNvSpPr/>
          <p:nvPr/>
        </p:nvSpPr>
        <p:spPr>
          <a:xfrm>
            <a:off x="7049003" y="361647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5"/>
          <p:cNvSpPr/>
          <p:nvPr/>
        </p:nvSpPr>
        <p:spPr>
          <a:xfrm>
            <a:off x="7322189" y="340929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
          <p:cNvSpPr/>
          <p:nvPr/>
        </p:nvSpPr>
        <p:spPr>
          <a:xfrm>
            <a:off x="7646489" y="306797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7296208" y="332035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5"/>
          <p:cNvSpPr/>
          <p:nvPr/>
        </p:nvSpPr>
        <p:spPr>
          <a:xfrm>
            <a:off x="7140321" y="362619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7274961" y="299753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6842373" y="316899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7049534" y="331538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7146192" y="334909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5"/>
          <p:cNvSpPr/>
          <p:nvPr/>
        </p:nvSpPr>
        <p:spPr>
          <a:xfrm>
            <a:off x="7845925" y="254588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6772382" y="218818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6409012" y="350690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a:off x="6325855" y="303836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a:off x="8016403" y="374054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6151838" y="341577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7975552" y="231274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a:off x="7372424" y="426094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a:off x="6547679" y="276412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7191895" y="202543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6169462" y="272893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8294703" y="356885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6113648" y="366197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7981946" y="271819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7014875" y="431907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7712026" y="204165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8001907" y="294361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7906494" y="258598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8127416" y="306957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8276938" y="264767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6627423" y="234900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6648811" y="379893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8017178" y="330908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7991985" y="402249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8051942" y="367152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6017509" y="324469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7631753" y="413325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6283693" y="313716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6465772" y="298637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6854757" y="238456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6443561" y="348398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7229049" y="205822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6491716" y="352406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7941311" y="274941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6522468" y="273828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7779465" y="239360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6613717" y="241801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7134363" y="410475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6867529" y="234395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
          <p:cNvSpPr/>
          <p:nvPr/>
        </p:nvSpPr>
        <p:spPr>
          <a:xfrm>
            <a:off x="8379746" y="327476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6273948" y="277754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7331816" y="216047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7039173" y="402336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8339340" y="285557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8158150" y="334036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6447752" y="308530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6067185" y="299656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6171488" y="370600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7276040" y="415123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8066284" y="283083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8040934" y="408915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7850367" y="388328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8249157" y="339022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7709692" y="416308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8116613" y="273328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8342149" y="360337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6494758" y="340341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6133787" y="307604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7012180" y="410671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8979408" y="1600200"/>
            <a:ext cx="2651760" cy="3291840"/>
          </a:xfrm>
          <a:prstGeom prst="rect">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8979408" y="1271016"/>
            <a:ext cx="26517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Polar coordinates</a:t>
            </a:r>
            <a:endParaRPr b="0" i="0" sz="1200" u="none" cap="none" strike="noStrike">
              <a:solidFill>
                <a:schemeClr val="dk1"/>
              </a:solidFill>
              <a:latin typeface="Calibri"/>
              <a:ea typeface="Calibri"/>
              <a:cs typeface="Calibri"/>
              <a:sym typeface="Calibri"/>
            </a:endParaRPr>
          </a:p>
        </p:txBody>
      </p:sp>
      <p:sp>
        <p:nvSpPr>
          <p:cNvPr id="266" name="Google Shape;266;p5"/>
          <p:cNvSpPr/>
          <p:nvPr/>
        </p:nvSpPr>
        <p:spPr>
          <a:xfrm>
            <a:off x="8979408" y="4946904"/>
            <a:ext cx="265176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r  →          θ  ↑</a:t>
            </a:r>
            <a:endParaRPr b="0" i="0" sz="1100" u="none" cap="none" strike="noStrike">
              <a:solidFill>
                <a:schemeClr val="dk1"/>
              </a:solidFill>
              <a:latin typeface="Calibri"/>
              <a:ea typeface="Calibri"/>
              <a:cs typeface="Calibri"/>
              <a:sym typeface="Calibri"/>
            </a:endParaRPr>
          </a:p>
        </p:txBody>
      </p:sp>
      <p:sp>
        <p:nvSpPr>
          <p:cNvPr id="267" name="Google Shape;267;p5"/>
          <p:cNvSpPr/>
          <p:nvPr/>
        </p:nvSpPr>
        <p:spPr>
          <a:xfrm>
            <a:off x="9389492" y="440679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9364714" y="215359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p:nvPr/>
        </p:nvSpPr>
        <p:spPr>
          <a:xfrm>
            <a:off x="9271094" y="328798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9578640" y="256260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9732378" y="432661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9783043" y="209870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9637074" y="4558666"/>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9326136" y="218342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9719632" y="444534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9432475" y="205666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9342303" y="187524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9365709" y="205559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9648440" y="449940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9789216" y="258962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9727181" y="416716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9727198" y="238694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9758996" y="359201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9749265" y="330290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9741520" y="186791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9765310" y="297696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9544669" y="370479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9801755" y="194537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9382657" y="209493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9799504" y="2038596"/>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9365307" y="373671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9718060" y="3353858"/>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9767427" y="383615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9671206" y="189223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9261347" y="190130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9394434" y="258004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9271066" y="229747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9320704" y="370120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9504124" y="351020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9446622" y="4607669"/>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9339340" y="4580185"/>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9682932" y="313599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9480846" y="4425117"/>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9288726" y="339322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9564458" y="319589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9366739" y="182608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9449631" y="3670540"/>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9499465" y="344050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9599566" y="2516761"/>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9590042" y="1909762"/>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9495344" y="3602093"/>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9404983" y="3670484"/>
            <a:ext cx="105156" cy="105156"/>
          </a:xfrm>
          <a:prstGeom prst="ellipse">
            <a:avLst/>
          </a:prstGeom>
          <a:solidFill>
            <a:srgbClr val="3F2A6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10600832" y="304725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11258286" y="446833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11018855" y="355803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10783882" y="300645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
          <p:cNvSpPr/>
          <p:nvPr/>
        </p:nvSpPr>
        <p:spPr>
          <a:xfrm>
            <a:off x="10836893" y="304950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
          <p:cNvSpPr/>
          <p:nvPr/>
        </p:nvSpPr>
        <p:spPr>
          <a:xfrm>
            <a:off x="10346899" y="302549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10773728" y="194894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
          <p:cNvSpPr/>
          <p:nvPr/>
        </p:nvSpPr>
        <p:spPr>
          <a:xfrm>
            <a:off x="11177287" y="399607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
          <p:cNvSpPr/>
          <p:nvPr/>
        </p:nvSpPr>
        <p:spPr>
          <a:xfrm>
            <a:off x="11247051" y="242323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
          <p:cNvSpPr/>
          <p:nvPr/>
        </p:nvSpPr>
        <p:spPr>
          <a:xfrm>
            <a:off x="10873173" y="456153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
          <p:cNvSpPr/>
          <p:nvPr/>
        </p:nvSpPr>
        <p:spPr>
          <a:xfrm>
            <a:off x="10788483" y="357384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
          <p:cNvSpPr/>
          <p:nvPr/>
        </p:nvSpPr>
        <p:spPr>
          <a:xfrm>
            <a:off x="11033118" y="234304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
          <p:cNvSpPr/>
          <p:nvPr/>
        </p:nvSpPr>
        <p:spPr>
          <a:xfrm>
            <a:off x="10715309" y="321671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
          <p:cNvSpPr/>
          <p:nvPr/>
        </p:nvSpPr>
        <p:spPr>
          <a:xfrm>
            <a:off x="10780054" y="406746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
          <p:cNvSpPr/>
          <p:nvPr/>
        </p:nvSpPr>
        <p:spPr>
          <a:xfrm>
            <a:off x="10832029" y="276463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
          <p:cNvSpPr/>
          <p:nvPr/>
        </p:nvSpPr>
        <p:spPr>
          <a:xfrm>
            <a:off x="10914988" y="427379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
          <p:cNvSpPr/>
          <p:nvPr/>
        </p:nvSpPr>
        <p:spPr>
          <a:xfrm>
            <a:off x="10938579" y="355686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
          <p:cNvSpPr/>
          <p:nvPr/>
        </p:nvSpPr>
        <p:spPr>
          <a:xfrm>
            <a:off x="10473193" y="452481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
          <p:cNvSpPr/>
          <p:nvPr/>
        </p:nvSpPr>
        <p:spPr>
          <a:xfrm>
            <a:off x="11079321" y="452677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
          <p:cNvSpPr/>
          <p:nvPr/>
        </p:nvSpPr>
        <p:spPr>
          <a:xfrm>
            <a:off x="10339717" y="314749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
          <p:cNvSpPr/>
          <p:nvPr/>
        </p:nvSpPr>
        <p:spPr>
          <a:xfrm>
            <a:off x="10427810" y="292535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
          <p:cNvSpPr/>
          <p:nvPr/>
        </p:nvSpPr>
        <p:spPr>
          <a:xfrm>
            <a:off x="10977598" y="216852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10703059" y="353354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10764585" y="455970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a:off x="11050679" y="390572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a:off x="10714105" y="239654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
          <p:cNvSpPr/>
          <p:nvPr/>
        </p:nvSpPr>
        <p:spPr>
          <a:xfrm>
            <a:off x="10365879" y="416825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
          <p:cNvSpPr/>
          <p:nvPr/>
        </p:nvSpPr>
        <p:spPr>
          <a:xfrm>
            <a:off x="10473564" y="185400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
          <p:cNvSpPr/>
          <p:nvPr/>
        </p:nvSpPr>
        <p:spPr>
          <a:xfrm>
            <a:off x="11192611" y="445782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
          <p:cNvSpPr/>
          <p:nvPr/>
        </p:nvSpPr>
        <p:spPr>
          <a:xfrm>
            <a:off x="10496874" y="391824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
          <p:cNvSpPr/>
          <p:nvPr/>
        </p:nvSpPr>
        <p:spPr>
          <a:xfrm>
            <a:off x="10932059" y="434768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
          <p:cNvSpPr/>
          <p:nvPr/>
        </p:nvSpPr>
        <p:spPr>
          <a:xfrm>
            <a:off x="10564942" y="3082991"/>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
          <p:cNvSpPr/>
          <p:nvPr/>
        </p:nvSpPr>
        <p:spPr>
          <a:xfrm>
            <a:off x="10499247" y="449412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
          <p:cNvSpPr/>
          <p:nvPr/>
        </p:nvSpPr>
        <p:spPr>
          <a:xfrm>
            <a:off x="10429880" y="463422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
          <p:cNvSpPr/>
          <p:nvPr/>
        </p:nvSpPr>
        <p:spPr>
          <a:xfrm>
            <a:off x="11279126" y="256271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5"/>
          <p:cNvSpPr/>
          <p:nvPr/>
        </p:nvSpPr>
        <p:spPr>
          <a:xfrm>
            <a:off x="10917695" y="243367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5"/>
          <p:cNvSpPr/>
          <p:nvPr/>
        </p:nvSpPr>
        <p:spPr>
          <a:xfrm>
            <a:off x="10838439" y="298335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p:nvPr/>
        </p:nvSpPr>
        <p:spPr>
          <a:xfrm>
            <a:off x="11183946" y="250113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5"/>
          <p:cNvSpPr/>
          <p:nvPr/>
        </p:nvSpPr>
        <p:spPr>
          <a:xfrm>
            <a:off x="10970066" y="436167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5"/>
          <p:cNvSpPr/>
          <p:nvPr/>
        </p:nvSpPr>
        <p:spPr>
          <a:xfrm>
            <a:off x="10538405" y="310227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
          <p:cNvSpPr/>
          <p:nvPr/>
        </p:nvSpPr>
        <p:spPr>
          <a:xfrm>
            <a:off x="10601415" y="3412332"/>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
          <p:cNvSpPr/>
          <p:nvPr/>
        </p:nvSpPr>
        <p:spPr>
          <a:xfrm>
            <a:off x="11013246" y="3268796"/>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
          <p:cNvSpPr/>
          <p:nvPr/>
        </p:nvSpPr>
        <p:spPr>
          <a:xfrm>
            <a:off x="11065295" y="450219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
          <p:cNvSpPr/>
          <p:nvPr/>
        </p:nvSpPr>
        <p:spPr>
          <a:xfrm>
            <a:off x="10368485" y="246416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
          <p:cNvSpPr/>
          <p:nvPr/>
        </p:nvSpPr>
        <p:spPr>
          <a:xfrm>
            <a:off x="10585384" y="383161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5"/>
          <p:cNvSpPr/>
          <p:nvPr/>
        </p:nvSpPr>
        <p:spPr>
          <a:xfrm>
            <a:off x="10992832" y="239980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
          <p:cNvSpPr/>
          <p:nvPr/>
        </p:nvSpPr>
        <p:spPr>
          <a:xfrm>
            <a:off x="11154170" y="420731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5"/>
          <p:cNvSpPr/>
          <p:nvPr/>
        </p:nvSpPr>
        <p:spPr>
          <a:xfrm>
            <a:off x="10870753" y="194707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
          <p:cNvSpPr/>
          <p:nvPr/>
        </p:nvSpPr>
        <p:spPr>
          <a:xfrm>
            <a:off x="10334960" y="417470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
          <p:cNvSpPr/>
          <p:nvPr/>
        </p:nvSpPr>
        <p:spPr>
          <a:xfrm>
            <a:off x="11195036" y="357948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5"/>
          <p:cNvSpPr/>
          <p:nvPr/>
        </p:nvSpPr>
        <p:spPr>
          <a:xfrm>
            <a:off x="11247092" y="4090107"/>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
          <p:cNvSpPr/>
          <p:nvPr/>
        </p:nvSpPr>
        <p:spPr>
          <a:xfrm>
            <a:off x="11116195" y="297379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
          <p:cNvSpPr/>
          <p:nvPr/>
        </p:nvSpPr>
        <p:spPr>
          <a:xfrm>
            <a:off x="11264423" y="410466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
          <p:cNvSpPr/>
          <p:nvPr/>
        </p:nvSpPr>
        <p:spPr>
          <a:xfrm>
            <a:off x="11246408" y="2492804"/>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5"/>
          <p:cNvSpPr/>
          <p:nvPr/>
        </p:nvSpPr>
        <p:spPr>
          <a:xfrm>
            <a:off x="10847274" y="2464588"/>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
          <p:cNvSpPr/>
          <p:nvPr/>
        </p:nvSpPr>
        <p:spPr>
          <a:xfrm>
            <a:off x="10331028" y="3833713"/>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
          <p:cNvSpPr/>
          <p:nvPr/>
        </p:nvSpPr>
        <p:spPr>
          <a:xfrm>
            <a:off x="11198913" y="3275309"/>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
          <p:cNvSpPr/>
          <p:nvPr/>
        </p:nvSpPr>
        <p:spPr>
          <a:xfrm>
            <a:off x="10464614" y="4219920"/>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
          <p:cNvSpPr/>
          <p:nvPr/>
        </p:nvSpPr>
        <p:spPr>
          <a:xfrm>
            <a:off x="10962860" y="201486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5"/>
          <p:cNvSpPr/>
          <p:nvPr/>
        </p:nvSpPr>
        <p:spPr>
          <a:xfrm>
            <a:off x="10943962" y="3426595"/>
            <a:ext cx="137160" cy="137160"/>
          </a:xfrm>
          <a:prstGeom prst="triangle">
            <a:avLst>
              <a:gd fmla="val 50000" name="adj"/>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3" name="Google Shape;373;p5"/>
          <p:cNvCxnSpPr/>
          <p:nvPr/>
        </p:nvCxnSpPr>
        <p:spPr>
          <a:xfrm>
            <a:off x="8686800" y="3246120"/>
            <a:ext cx="228600" cy="0"/>
          </a:xfrm>
          <a:prstGeom prst="straightConnector1">
            <a:avLst/>
          </a:prstGeom>
          <a:noFill/>
          <a:ln cap="flat" cmpd="sng" w="31750">
            <a:solidFill>
              <a:srgbClr val="E8833A"/>
            </a:solidFill>
            <a:prstDash val="solid"/>
            <a:round/>
            <a:headEnd len="sm" w="sm" type="none"/>
            <a:tailEnd len="med" w="med" type="triangle"/>
          </a:ln>
        </p:spPr>
      </p:cxnSp>
      <p:sp>
        <p:nvSpPr>
          <p:cNvPr id="374" name="Google Shape;374;p5"/>
          <p:cNvSpPr/>
          <p:nvPr/>
        </p:nvSpPr>
        <p:spPr>
          <a:xfrm>
            <a:off x="566928" y="5120640"/>
            <a:ext cx="5029200" cy="868680"/>
          </a:xfrm>
          <a:prstGeom prst="roundRect">
            <a:avLst>
              <a:gd fmla="val 9474"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5"/>
          <p:cNvSpPr/>
          <p:nvPr/>
        </p:nvSpPr>
        <p:spPr>
          <a:xfrm>
            <a:off x="841248" y="5120640"/>
            <a:ext cx="4480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600"/>
              <a:buFont typeface="Cambria"/>
              <a:buNone/>
            </a:pPr>
            <a:r>
              <a:rPr b="1" i="0" lang="en-US" sz="1600" u="none" cap="none" strike="noStrike">
                <a:solidFill>
                  <a:srgbClr val="E8833A"/>
                </a:solidFill>
                <a:latin typeface="Cambria"/>
                <a:ea typeface="Cambria"/>
                <a:cs typeface="Cambria"/>
                <a:sym typeface="Cambria"/>
              </a:rPr>
              <a:t>The classifier did not change — only the representation did.</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WHY DEEP LEARNING</a:t>
            </a:r>
            <a:endParaRPr b="0" i="0" sz="1050" u="none" cap="none" strike="noStrike">
              <a:solidFill>
                <a:schemeClr val="dk1"/>
              </a:solidFill>
              <a:latin typeface="Calibri"/>
              <a:ea typeface="Calibri"/>
              <a:cs typeface="Calibri"/>
              <a:sym typeface="Calibri"/>
            </a:endParaRPr>
          </a:p>
        </p:txBody>
      </p:sp>
      <p:sp>
        <p:nvSpPr>
          <p:cNvPr id="382" name="Google Shape;382;p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Feature extraction and factors of variation</a:t>
            </a:r>
            <a:endParaRPr b="0" i="0" sz="2800" u="none" cap="none" strike="noStrike">
              <a:solidFill>
                <a:schemeClr val="dk1"/>
              </a:solidFill>
              <a:latin typeface="Calibri"/>
              <a:ea typeface="Calibri"/>
              <a:cs typeface="Calibri"/>
              <a:sym typeface="Calibri"/>
            </a:endParaRPr>
          </a:p>
        </p:txBody>
      </p:sp>
      <p:sp>
        <p:nvSpPr>
          <p:cNvPr id="383" name="Google Shape;383;p6"/>
          <p:cNvSpPr/>
          <p:nvPr/>
        </p:nvSpPr>
        <p:spPr>
          <a:xfrm>
            <a:off x="566928" y="1280160"/>
            <a:ext cx="11057839" cy="566928"/>
          </a:xfrm>
          <a:prstGeom prst="roundRect">
            <a:avLst>
              <a:gd fmla="val 14516"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6"/>
          <p:cNvSpPr/>
          <p:nvPr/>
        </p:nvSpPr>
        <p:spPr>
          <a:xfrm>
            <a:off x="704088" y="1280160"/>
            <a:ext cx="10783519"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600"/>
              <a:buFont typeface="Calibri"/>
              <a:buNone/>
            </a:pPr>
            <a:r>
              <a:rPr b="1" i="0" lang="en-US" sz="1600" u="none" cap="none" strike="noStrike">
                <a:solidFill>
                  <a:srgbClr val="2D1B4E"/>
                </a:solidFill>
                <a:latin typeface="Calibri"/>
                <a:ea typeface="Calibri"/>
                <a:cs typeface="Calibri"/>
                <a:sym typeface="Calibri"/>
              </a:rPr>
              <a:t>“Which features should I use to detect a car in a photo?”</a:t>
            </a:r>
            <a:endParaRPr b="0" i="0" sz="1600" u="none" cap="none" strike="noStrike">
              <a:solidFill>
                <a:schemeClr val="dk1"/>
              </a:solidFill>
              <a:latin typeface="Calibri"/>
              <a:ea typeface="Calibri"/>
              <a:cs typeface="Calibri"/>
              <a:sym typeface="Calibri"/>
            </a:endParaRPr>
          </a:p>
        </p:txBody>
      </p:sp>
      <p:sp>
        <p:nvSpPr>
          <p:cNvPr id="385" name="Google Shape;385;p6"/>
          <p:cNvSpPr/>
          <p:nvPr/>
        </p:nvSpPr>
        <p:spPr>
          <a:xfrm>
            <a:off x="566928" y="2103120"/>
            <a:ext cx="3566160" cy="2514600"/>
          </a:xfrm>
          <a:prstGeom prst="roundRect">
            <a:avLst>
              <a:gd fmla="val 327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6"/>
          <p:cNvSpPr/>
          <p:nvPr/>
        </p:nvSpPr>
        <p:spPr>
          <a:xfrm>
            <a:off x="822960" y="234086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6"/>
          <p:cNvSpPr/>
          <p:nvPr/>
        </p:nvSpPr>
        <p:spPr>
          <a:xfrm>
            <a:off x="822960"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a:t>
            </a:r>
            <a:endParaRPr b="0" i="0" sz="1300" u="none" cap="none" strike="noStrike">
              <a:solidFill>
                <a:schemeClr val="dk1"/>
              </a:solidFill>
              <a:latin typeface="Calibri"/>
              <a:ea typeface="Calibri"/>
              <a:cs typeface="Calibri"/>
              <a:sym typeface="Calibri"/>
            </a:endParaRPr>
          </a:p>
        </p:txBody>
      </p:sp>
      <p:sp>
        <p:nvSpPr>
          <p:cNvPr id="388" name="Google Shape;388;p6"/>
          <p:cNvSpPr/>
          <p:nvPr/>
        </p:nvSpPr>
        <p:spPr>
          <a:xfrm>
            <a:off x="1408176" y="232257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problem</a:t>
            </a:r>
            <a:endParaRPr b="0" i="0" sz="1500" u="none" cap="none" strike="noStrike">
              <a:solidFill>
                <a:schemeClr val="dk1"/>
              </a:solidFill>
              <a:latin typeface="Calibri"/>
              <a:ea typeface="Calibri"/>
              <a:cs typeface="Calibri"/>
              <a:sym typeface="Calibri"/>
            </a:endParaRPr>
          </a:p>
        </p:txBody>
      </p:sp>
      <p:sp>
        <p:nvSpPr>
          <p:cNvPr id="389" name="Google Shape;389;p6"/>
          <p:cNvSpPr/>
          <p:nvPr/>
        </p:nvSpPr>
        <p:spPr>
          <a:xfrm>
            <a:off x="841248" y="2889504"/>
            <a:ext cx="3017520" cy="1545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High-level, abstract features (a wheel, a windscreen, a shadow) are extremely hard to extract directly from raw pixel values.</a:t>
            </a:r>
            <a:endParaRPr b="0" i="0" sz="1300" u="none" cap="none" strike="noStrike">
              <a:solidFill>
                <a:schemeClr val="dk1"/>
              </a:solidFill>
              <a:latin typeface="Calibri"/>
              <a:ea typeface="Calibri"/>
              <a:cs typeface="Calibri"/>
              <a:sym typeface="Calibri"/>
            </a:endParaRPr>
          </a:p>
        </p:txBody>
      </p:sp>
      <p:sp>
        <p:nvSpPr>
          <p:cNvPr id="390" name="Google Shape;390;p6"/>
          <p:cNvSpPr/>
          <p:nvPr/>
        </p:nvSpPr>
        <p:spPr>
          <a:xfrm>
            <a:off x="4370832" y="2103120"/>
            <a:ext cx="3566160" cy="2514600"/>
          </a:xfrm>
          <a:prstGeom prst="roundRect">
            <a:avLst>
              <a:gd fmla="val 327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6"/>
          <p:cNvSpPr/>
          <p:nvPr/>
        </p:nvSpPr>
        <p:spPr>
          <a:xfrm>
            <a:off x="4626864" y="234086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6"/>
          <p:cNvSpPr/>
          <p:nvPr/>
        </p:nvSpPr>
        <p:spPr>
          <a:xfrm>
            <a:off x="4626864"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B</a:t>
            </a:r>
            <a:endParaRPr b="0" i="0" sz="1300" u="none" cap="none" strike="noStrike">
              <a:solidFill>
                <a:schemeClr val="dk1"/>
              </a:solidFill>
              <a:latin typeface="Calibri"/>
              <a:ea typeface="Calibri"/>
              <a:cs typeface="Calibri"/>
              <a:sym typeface="Calibri"/>
            </a:endParaRPr>
          </a:p>
        </p:txBody>
      </p:sp>
      <p:sp>
        <p:nvSpPr>
          <p:cNvPr id="393" name="Google Shape;393;p6"/>
          <p:cNvSpPr/>
          <p:nvPr/>
        </p:nvSpPr>
        <p:spPr>
          <a:xfrm>
            <a:off x="5212080" y="232257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Factors of variation</a:t>
            </a:r>
            <a:endParaRPr b="0" i="0" sz="1500" u="none" cap="none" strike="noStrike">
              <a:solidFill>
                <a:schemeClr val="dk1"/>
              </a:solidFill>
              <a:latin typeface="Calibri"/>
              <a:ea typeface="Calibri"/>
              <a:cs typeface="Calibri"/>
              <a:sym typeface="Calibri"/>
            </a:endParaRPr>
          </a:p>
        </p:txBody>
      </p:sp>
      <p:sp>
        <p:nvSpPr>
          <p:cNvPr id="394" name="Google Shape;394;p6"/>
          <p:cNvSpPr/>
          <p:nvPr/>
        </p:nvSpPr>
        <p:spPr>
          <a:xfrm>
            <a:off x="4645152" y="2889504"/>
            <a:ext cx="3017520" cy="1545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When we design features, the goal is to separate the factors of variation that explain the observed data — viewing angle, illumination, colour, occlusion.</a:t>
            </a:r>
            <a:endParaRPr b="0" i="0" sz="1300" u="none" cap="none" strike="noStrike">
              <a:solidFill>
                <a:schemeClr val="dk1"/>
              </a:solidFill>
              <a:latin typeface="Calibri"/>
              <a:ea typeface="Calibri"/>
              <a:cs typeface="Calibri"/>
              <a:sym typeface="Calibri"/>
            </a:endParaRPr>
          </a:p>
        </p:txBody>
      </p:sp>
      <p:sp>
        <p:nvSpPr>
          <p:cNvPr id="395" name="Google Shape;395;p6"/>
          <p:cNvSpPr/>
          <p:nvPr/>
        </p:nvSpPr>
        <p:spPr>
          <a:xfrm>
            <a:off x="8174736" y="2103120"/>
            <a:ext cx="3566160" cy="2514600"/>
          </a:xfrm>
          <a:prstGeom prst="roundRect">
            <a:avLst>
              <a:gd fmla="val 327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6"/>
          <p:cNvSpPr/>
          <p:nvPr/>
        </p:nvSpPr>
        <p:spPr>
          <a:xfrm>
            <a:off x="8430768" y="234086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6"/>
          <p:cNvSpPr/>
          <p:nvPr/>
        </p:nvSpPr>
        <p:spPr>
          <a:xfrm>
            <a:off x="8430768"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a:t>
            </a:r>
            <a:endParaRPr b="0" i="0" sz="1300" u="none" cap="none" strike="noStrike">
              <a:solidFill>
                <a:schemeClr val="dk1"/>
              </a:solidFill>
              <a:latin typeface="Calibri"/>
              <a:ea typeface="Calibri"/>
              <a:cs typeface="Calibri"/>
              <a:sym typeface="Calibri"/>
            </a:endParaRPr>
          </a:p>
        </p:txBody>
      </p:sp>
      <p:sp>
        <p:nvSpPr>
          <p:cNvPr id="398" name="Google Shape;398;p6"/>
          <p:cNvSpPr/>
          <p:nvPr/>
        </p:nvSpPr>
        <p:spPr>
          <a:xfrm>
            <a:off x="9015984" y="232257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difficulty</a:t>
            </a:r>
            <a:endParaRPr b="0" i="0" sz="1500" u="none" cap="none" strike="noStrike">
              <a:solidFill>
                <a:schemeClr val="dk1"/>
              </a:solidFill>
              <a:latin typeface="Calibri"/>
              <a:ea typeface="Calibri"/>
              <a:cs typeface="Calibri"/>
              <a:sym typeface="Calibri"/>
            </a:endParaRPr>
          </a:p>
        </p:txBody>
      </p:sp>
      <p:sp>
        <p:nvSpPr>
          <p:cNvPr id="399" name="Google Shape;399;p6"/>
          <p:cNvSpPr/>
          <p:nvPr/>
        </p:nvSpPr>
        <p:spPr>
          <a:xfrm>
            <a:off x="8449056" y="2889504"/>
            <a:ext cx="3017520" cy="1545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These factors are rarely observed directly. They are concepts or abstractions that help us make sense of the variability, and identifying them is very challenging.</a:t>
            </a:r>
            <a:endParaRPr b="0" i="0" sz="1300" u="none" cap="none" strike="noStrike">
              <a:solidFill>
                <a:schemeClr val="dk1"/>
              </a:solidFill>
              <a:latin typeface="Calibri"/>
              <a:ea typeface="Calibri"/>
              <a:cs typeface="Calibri"/>
              <a:sym typeface="Calibri"/>
            </a:endParaRPr>
          </a:p>
        </p:txBody>
      </p:sp>
      <p:sp>
        <p:nvSpPr>
          <p:cNvPr id="400" name="Google Shape;400;p6"/>
          <p:cNvSpPr/>
          <p:nvPr/>
        </p:nvSpPr>
        <p:spPr>
          <a:xfrm>
            <a:off x="566928" y="4937760"/>
            <a:ext cx="11057839" cy="822960"/>
          </a:xfrm>
          <a:prstGeom prst="roundRect">
            <a:avLst>
              <a:gd fmla="val 100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6"/>
          <p:cNvSpPr/>
          <p:nvPr/>
        </p:nvSpPr>
        <p:spPr>
          <a:xfrm>
            <a:off x="886968" y="4937760"/>
            <a:ext cx="10417759"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700"/>
              <a:buFont typeface="Cambria"/>
              <a:buNone/>
            </a:pPr>
            <a:r>
              <a:rPr b="1" i="0" lang="en-US" sz="1700" u="none" cap="none" strike="noStrike">
                <a:solidFill>
                  <a:srgbClr val="E8833A"/>
                </a:solidFill>
                <a:latin typeface="Cambria"/>
                <a:ea typeface="Cambria"/>
                <a:cs typeface="Cambria"/>
                <a:sym typeface="Cambria"/>
              </a:rPr>
              <a:t>So: instead of hand-designing the features, can we learn the representation itself?</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p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WHY DEEP LEARNING</a:t>
            </a:r>
            <a:endParaRPr b="0" i="0" sz="1050" u="none" cap="none" strike="noStrike">
              <a:solidFill>
                <a:schemeClr val="dk1"/>
              </a:solidFill>
              <a:latin typeface="Calibri"/>
              <a:ea typeface="Calibri"/>
              <a:cs typeface="Calibri"/>
              <a:sym typeface="Calibri"/>
            </a:endParaRPr>
          </a:p>
        </p:txBody>
      </p:sp>
      <p:sp>
        <p:nvSpPr>
          <p:cNvPr id="408" name="Google Shape;408;p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Deep learning: simple concepts build complex ones</a:t>
            </a:r>
            <a:endParaRPr b="0" i="0" sz="2800" u="none" cap="none" strike="noStrike">
              <a:solidFill>
                <a:schemeClr val="dk1"/>
              </a:solidFill>
              <a:latin typeface="Calibri"/>
              <a:ea typeface="Calibri"/>
              <a:cs typeface="Calibri"/>
              <a:sym typeface="Calibri"/>
            </a:endParaRPr>
          </a:p>
        </p:txBody>
      </p:sp>
      <p:sp>
        <p:nvSpPr>
          <p:cNvPr id="409" name="Google Shape;409;p7"/>
          <p:cNvSpPr/>
          <p:nvPr/>
        </p:nvSpPr>
        <p:spPr>
          <a:xfrm>
            <a:off x="566928" y="1371600"/>
            <a:ext cx="4617720" cy="40233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450"/>
              <a:buFont typeface="Calibri"/>
              <a:buChar char="•"/>
            </a:pPr>
            <a:r>
              <a:rPr b="1" i="0" lang="en-US" sz="1450" u="none" cap="none" strike="noStrike">
                <a:solidFill>
                  <a:srgbClr val="241C2E"/>
                </a:solidFill>
                <a:latin typeface="Calibri"/>
                <a:ea typeface="Calibri"/>
                <a:cs typeface="Calibri"/>
                <a:sym typeface="Calibri"/>
              </a:rPr>
              <a:t>Deep learning introduces representations that are expressed in terms of other, simpler representations.</a:t>
            </a:r>
            <a:endParaRPr b="0" i="0" sz="14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450"/>
              <a:buFont typeface="Calibri"/>
              <a:buChar char="•"/>
            </a:pPr>
            <a:r>
              <a:rPr b="0" i="0" lang="en-US" sz="1450" u="none" cap="none" strike="noStrike">
                <a:solidFill>
                  <a:srgbClr val="241C2E"/>
                </a:solidFill>
                <a:latin typeface="Calibri"/>
                <a:ea typeface="Calibri"/>
                <a:cs typeface="Calibri"/>
                <a:sym typeface="Calibri"/>
              </a:rPr>
              <a:t>It lets the computer build complex concepts out of simpler concepts.</a:t>
            </a:r>
            <a:endParaRPr b="0" i="0" sz="14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450"/>
              <a:buFont typeface="Calibri"/>
              <a:buChar char="•"/>
            </a:pPr>
            <a:r>
              <a:rPr b="0" i="0" lang="en-US" sz="1450" u="none" cap="none" strike="noStrike">
                <a:solidFill>
                  <a:srgbClr val="241C2E"/>
                </a:solidFill>
                <a:latin typeface="Calibri"/>
                <a:ea typeface="Calibri"/>
                <a:cs typeface="Calibri"/>
                <a:sym typeface="Calibri"/>
              </a:rPr>
              <a:t>An image of a person is represented by combining corners and contours, which are themselves defined in terms of edges.</a:t>
            </a:r>
            <a:endParaRPr b="0" i="0" sz="14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450"/>
              <a:buFont typeface="Calibri"/>
              <a:buChar char="•"/>
            </a:pPr>
            <a:r>
              <a:rPr b="0" i="0" lang="en-US" sz="1450" u="none" cap="none" strike="noStrike">
                <a:solidFill>
                  <a:srgbClr val="241C2E"/>
                </a:solidFill>
                <a:latin typeface="Calibri"/>
                <a:ea typeface="Calibri"/>
                <a:cs typeface="Calibri"/>
                <a:sym typeface="Calibri"/>
              </a:rPr>
              <a:t>The typical example is the feedforward deep network, or multilayer perceptron (MLP).</a:t>
            </a:r>
            <a:endParaRPr b="0" i="0" sz="14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450"/>
              <a:buFont typeface="Calibri"/>
              <a:buChar char="•"/>
            </a:pPr>
            <a:r>
              <a:rPr b="0" i="0" lang="en-US" sz="1450" u="none" cap="none" strike="noStrike">
                <a:solidFill>
                  <a:srgbClr val="241C2E"/>
                </a:solidFill>
                <a:latin typeface="Calibri"/>
                <a:ea typeface="Calibri"/>
                <a:cs typeface="Calibri"/>
                <a:sym typeface="Calibri"/>
              </a:rPr>
              <a:t>An MLP is just a mathematical function mapping inputs to outputs, formed by composing many simpler functions.</a:t>
            </a:r>
            <a:endParaRPr b="0" i="0" sz="1450" u="none" cap="none" strike="noStrike">
              <a:solidFill>
                <a:schemeClr val="dk1"/>
              </a:solidFill>
              <a:latin typeface="Calibri"/>
              <a:ea typeface="Calibri"/>
              <a:cs typeface="Calibri"/>
              <a:sym typeface="Calibri"/>
            </a:endParaRPr>
          </a:p>
        </p:txBody>
      </p:sp>
      <p:sp>
        <p:nvSpPr>
          <p:cNvPr id="410" name="Google Shape;410;p7"/>
          <p:cNvSpPr/>
          <p:nvPr/>
        </p:nvSpPr>
        <p:spPr>
          <a:xfrm>
            <a:off x="6035040" y="1417320"/>
            <a:ext cx="5577840" cy="749808"/>
          </a:xfrm>
          <a:prstGeom prst="roundRect">
            <a:avLst>
              <a:gd fmla="val 10976" name="adj"/>
            </a:avLst>
          </a:prstGeom>
          <a:solidFill>
            <a:srgbClr val="E8833A"/>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7"/>
          <p:cNvSpPr/>
          <p:nvPr/>
        </p:nvSpPr>
        <p:spPr>
          <a:xfrm>
            <a:off x="6309360" y="149961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Output</a:t>
            </a:r>
            <a:endParaRPr b="0" i="0" sz="1400" u="none" cap="none" strike="noStrike">
              <a:solidFill>
                <a:schemeClr val="dk1"/>
              </a:solidFill>
              <a:latin typeface="Calibri"/>
              <a:ea typeface="Calibri"/>
              <a:cs typeface="Calibri"/>
              <a:sym typeface="Calibri"/>
            </a:endParaRPr>
          </a:p>
        </p:txBody>
      </p:sp>
      <p:sp>
        <p:nvSpPr>
          <p:cNvPr id="412" name="Google Shape;412;p7"/>
          <p:cNvSpPr/>
          <p:nvPr/>
        </p:nvSpPr>
        <p:spPr>
          <a:xfrm>
            <a:off x="6309360" y="180136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50"/>
              <a:buFont typeface="Calibri"/>
              <a:buNone/>
            </a:pPr>
            <a:r>
              <a:rPr b="0" i="0" lang="en-US" sz="1150" u="none" cap="none" strike="noStrike">
                <a:solidFill>
                  <a:srgbClr val="2D1B4E"/>
                </a:solidFill>
                <a:latin typeface="Calibri"/>
                <a:ea typeface="Calibri"/>
                <a:cs typeface="Calibri"/>
                <a:sym typeface="Calibri"/>
              </a:rPr>
              <a:t>object identity  ·  CAR / PERSON / ANIMAL</a:t>
            </a:r>
            <a:endParaRPr b="0" i="0" sz="1150" u="none" cap="none" strike="noStrike">
              <a:solidFill>
                <a:schemeClr val="dk1"/>
              </a:solidFill>
              <a:latin typeface="Calibri"/>
              <a:ea typeface="Calibri"/>
              <a:cs typeface="Calibri"/>
              <a:sym typeface="Calibri"/>
            </a:endParaRPr>
          </a:p>
        </p:txBody>
      </p:sp>
      <p:sp>
        <p:nvSpPr>
          <p:cNvPr id="413" name="Google Shape;413;p7"/>
          <p:cNvSpPr/>
          <p:nvPr/>
        </p:nvSpPr>
        <p:spPr>
          <a:xfrm>
            <a:off x="6181344" y="2331720"/>
            <a:ext cx="5285232" cy="749808"/>
          </a:xfrm>
          <a:prstGeom prst="roundRect">
            <a:avLst>
              <a:gd fmla="val 10976" name="adj"/>
            </a:avLst>
          </a:prstGeom>
          <a:solidFill>
            <a:srgbClr val="3F2A6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
          <p:cNvSpPr/>
          <p:nvPr/>
        </p:nvSpPr>
        <p:spPr>
          <a:xfrm>
            <a:off x="6455664" y="241401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3rd hidden layer</a:t>
            </a:r>
            <a:endParaRPr b="0" i="0" sz="1400" u="none" cap="none" strike="noStrike">
              <a:solidFill>
                <a:schemeClr val="dk1"/>
              </a:solidFill>
              <a:latin typeface="Calibri"/>
              <a:ea typeface="Calibri"/>
              <a:cs typeface="Calibri"/>
              <a:sym typeface="Calibri"/>
            </a:endParaRPr>
          </a:p>
        </p:txBody>
      </p:sp>
      <p:sp>
        <p:nvSpPr>
          <p:cNvPr id="415" name="Google Shape;415;p7"/>
          <p:cNvSpPr/>
          <p:nvPr/>
        </p:nvSpPr>
        <p:spPr>
          <a:xfrm>
            <a:off x="6455664" y="271576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object parts</a:t>
            </a:r>
            <a:endParaRPr b="0" i="0" sz="1150" u="none" cap="none" strike="noStrike">
              <a:solidFill>
                <a:schemeClr val="dk1"/>
              </a:solidFill>
              <a:latin typeface="Calibri"/>
              <a:ea typeface="Calibri"/>
              <a:cs typeface="Calibri"/>
              <a:sym typeface="Calibri"/>
            </a:endParaRPr>
          </a:p>
        </p:txBody>
      </p:sp>
      <p:sp>
        <p:nvSpPr>
          <p:cNvPr id="416" name="Google Shape;416;p7"/>
          <p:cNvSpPr/>
          <p:nvPr/>
        </p:nvSpPr>
        <p:spPr>
          <a:xfrm>
            <a:off x="6327648" y="3246120"/>
            <a:ext cx="4992624" cy="749808"/>
          </a:xfrm>
          <a:prstGeom prst="roundRect">
            <a:avLst>
              <a:gd fmla="val 10976" name="adj"/>
            </a:avLst>
          </a:prstGeom>
          <a:solidFill>
            <a:srgbClr val="6B5B95"/>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7"/>
          <p:cNvSpPr/>
          <p:nvPr/>
        </p:nvSpPr>
        <p:spPr>
          <a:xfrm>
            <a:off x="6601968" y="332841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mbria"/>
              <a:buNone/>
            </a:pPr>
            <a:r>
              <a:rPr b="1" i="0" lang="en-US" sz="1400" u="none" cap="none" strike="noStrike">
                <a:solidFill>
                  <a:srgbClr val="FFFFFF"/>
                </a:solidFill>
                <a:latin typeface="Cambria"/>
                <a:ea typeface="Cambria"/>
                <a:cs typeface="Cambria"/>
                <a:sym typeface="Cambria"/>
              </a:rPr>
              <a:t>2nd hidden layer</a:t>
            </a:r>
            <a:endParaRPr b="0" i="0" sz="1400" u="none" cap="none" strike="noStrike">
              <a:solidFill>
                <a:schemeClr val="dk1"/>
              </a:solidFill>
              <a:latin typeface="Calibri"/>
              <a:ea typeface="Calibri"/>
              <a:cs typeface="Calibri"/>
              <a:sym typeface="Calibri"/>
            </a:endParaRPr>
          </a:p>
        </p:txBody>
      </p:sp>
      <p:sp>
        <p:nvSpPr>
          <p:cNvPr id="418" name="Google Shape;418;p7"/>
          <p:cNvSpPr/>
          <p:nvPr/>
        </p:nvSpPr>
        <p:spPr>
          <a:xfrm>
            <a:off x="6601968" y="363016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0" i="0" lang="en-US" sz="1150" u="none" cap="none" strike="noStrike">
                <a:solidFill>
                  <a:srgbClr val="FFFFFF"/>
                </a:solidFill>
                <a:latin typeface="Calibri"/>
                <a:ea typeface="Calibri"/>
                <a:cs typeface="Calibri"/>
                <a:sym typeface="Calibri"/>
              </a:rPr>
              <a:t>corners and contours</a:t>
            </a:r>
            <a:endParaRPr b="0" i="0" sz="1150" u="none" cap="none" strike="noStrike">
              <a:solidFill>
                <a:schemeClr val="dk1"/>
              </a:solidFill>
              <a:latin typeface="Calibri"/>
              <a:ea typeface="Calibri"/>
              <a:cs typeface="Calibri"/>
              <a:sym typeface="Calibri"/>
            </a:endParaRPr>
          </a:p>
        </p:txBody>
      </p:sp>
      <p:sp>
        <p:nvSpPr>
          <p:cNvPr id="419" name="Google Shape;419;p7"/>
          <p:cNvSpPr/>
          <p:nvPr/>
        </p:nvSpPr>
        <p:spPr>
          <a:xfrm>
            <a:off x="6473952" y="4160520"/>
            <a:ext cx="4700016" cy="749808"/>
          </a:xfrm>
          <a:prstGeom prst="roundRect">
            <a:avLst>
              <a:gd fmla="val 10976" name="adj"/>
            </a:avLst>
          </a:prstGeom>
          <a:solidFill>
            <a:srgbClr val="9C8CC4"/>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a:off x="6748272" y="424281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1st hidden layer</a:t>
            </a:r>
            <a:endParaRPr b="0" i="0" sz="1400" u="none" cap="none" strike="noStrike">
              <a:solidFill>
                <a:schemeClr val="dk1"/>
              </a:solidFill>
              <a:latin typeface="Calibri"/>
              <a:ea typeface="Calibri"/>
              <a:cs typeface="Calibri"/>
              <a:sym typeface="Calibri"/>
            </a:endParaRPr>
          </a:p>
        </p:txBody>
      </p:sp>
      <p:sp>
        <p:nvSpPr>
          <p:cNvPr id="421" name="Google Shape;421;p7"/>
          <p:cNvSpPr/>
          <p:nvPr/>
        </p:nvSpPr>
        <p:spPr>
          <a:xfrm>
            <a:off x="6748272" y="454456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50"/>
              <a:buFont typeface="Calibri"/>
              <a:buNone/>
            </a:pPr>
            <a:r>
              <a:rPr b="0" i="0" lang="en-US" sz="1150" u="none" cap="none" strike="noStrike">
                <a:solidFill>
                  <a:srgbClr val="2D1B4E"/>
                </a:solidFill>
                <a:latin typeface="Calibri"/>
                <a:ea typeface="Calibri"/>
                <a:cs typeface="Calibri"/>
                <a:sym typeface="Calibri"/>
              </a:rPr>
              <a:t>edges</a:t>
            </a:r>
            <a:endParaRPr b="0" i="0" sz="1150" u="none" cap="none" strike="noStrike">
              <a:solidFill>
                <a:schemeClr val="dk1"/>
              </a:solidFill>
              <a:latin typeface="Calibri"/>
              <a:ea typeface="Calibri"/>
              <a:cs typeface="Calibri"/>
              <a:sym typeface="Calibri"/>
            </a:endParaRPr>
          </a:p>
        </p:txBody>
      </p:sp>
      <p:sp>
        <p:nvSpPr>
          <p:cNvPr id="422" name="Google Shape;422;p7"/>
          <p:cNvSpPr/>
          <p:nvPr/>
        </p:nvSpPr>
        <p:spPr>
          <a:xfrm>
            <a:off x="6620256" y="5074920"/>
            <a:ext cx="4407408" cy="749808"/>
          </a:xfrm>
          <a:prstGeom prst="roundRect">
            <a:avLst>
              <a:gd fmla="val 10976" name="adj"/>
            </a:avLst>
          </a:prstGeom>
          <a:solidFill>
            <a:srgbClr val="E9E3F3"/>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
          <p:cNvSpPr/>
          <p:nvPr/>
        </p:nvSpPr>
        <p:spPr>
          <a:xfrm>
            <a:off x="6894576" y="5157216"/>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Visible layer</a:t>
            </a:r>
            <a:endParaRPr b="0" i="0" sz="1400" u="none" cap="none" strike="noStrike">
              <a:solidFill>
                <a:schemeClr val="dk1"/>
              </a:solidFill>
              <a:latin typeface="Calibri"/>
              <a:ea typeface="Calibri"/>
              <a:cs typeface="Calibri"/>
              <a:sym typeface="Calibri"/>
            </a:endParaRPr>
          </a:p>
        </p:txBody>
      </p:sp>
      <p:sp>
        <p:nvSpPr>
          <p:cNvPr id="424" name="Google Shape;424;p7"/>
          <p:cNvSpPr/>
          <p:nvPr/>
        </p:nvSpPr>
        <p:spPr>
          <a:xfrm>
            <a:off x="6894576" y="545896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50"/>
              <a:buFont typeface="Calibri"/>
              <a:buNone/>
            </a:pPr>
            <a:r>
              <a:rPr b="0" i="0" lang="en-US" sz="1150" u="none" cap="none" strike="noStrike">
                <a:solidFill>
                  <a:srgbClr val="2D1B4E"/>
                </a:solidFill>
                <a:latin typeface="Calibri"/>
                <a:ea typeface="Calibri"/>
                <a:cs typeface="Calibri"/>
                <a:sym typeface="Calibri"/>
              </a:rPr>
              <a:t>input pixels</a:t>
            </a:r>
            <a:endParaRPr b="0" i="0" sz="1150" u="none" cap="none" strike="noStrike">
              <a:solidFill>
                <a:schemeClr val="dk1"/>
              </a:solidFill>
              <a:latin typeface="Calibri"/>
              <a:ea typeface="Calibri"/>
              <a:cs typeface="Calibri"/>
              <a:sym typeface="Calibri"/>
            </a:endParaRPr>
          </a:p>
        </p:txBody>
      </p:sp>
      <p:cxnSp>
        <p:nvCxnSpPr>
          <p:cNvPr id="425" name="Google Shape;425;p7"/>
          <p:cNvCxnSpPr/>
          <p:nvPr/>
        </p:nvCxnSpPr>
        <p:spPr>
          <a:xfrm>
            <a:off x="5742432" y="1600200"/>
            <a:ext cx="0" cy="4069080"/>
          </a:xfrm>
          <a:prstGeom prst="straightConnector1">
            <a:avLst/>
          </a:prstGeom>
          <a:noFill/>
          <a:ln cap="flat" cmpd="sng" w="25400">
            <a:solidFill>
              <a:srgbClr val="E8833A"/>
            </a:solidFill>
            <a:prstDash val="solid"/>
            <a:round/>
            <a:headEnd len="med" w="med" type="triangle"/>
            <a:tailEnd len="sm" w="sm" type="none"/>
          </a:ln>
        </p:spPr>
      </p:cxnSp>
      <p:sp>
        <p:nvSpPr>
          <p:cNvPr id="426" name="Google Shape;426;p7"/>
          <p:cNvSpPr/>
          <p:nvPr/>
        </p:nvSpPr>
        <p:spPr>
          <a:xfrm rot="-5400000">
            <a:off x="5193792" y="342900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depth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WHY DEEP LEARNING</a:t>
            </a:r>
            <a:endParaRPr b="0" i="0" sz="1050" u="none" cap="none" strike="noStrike">
              <a:solidFill>
                <a:schemeClr val="dk1"/>
              </a:solidFill>
              <a:latin typeface="Calibri"/>
              <a:ea typeface="Calibri"/>
              <a:cs typeface="Calibri"/>
              <a:sym typeface="Calibri"/>
            </a:endParaRPr>
          </a:p>
        </p:txBody>
      </p:sp>
      <p:sp>
        <p:nvSpPr>
          <p:cNvPr id="433" name="Google Shape;433;p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So what exactly counts as “deep”?</a:t>
            </a:r>
            <a:endParaRPr b="0" i="0" sz="2800" u="none" cap="none" strike="noStrike">
              <a:solidFill>
                <a:schemeClr val="dk1"/>
              </a:solidFill>
              <a:latin typeface="Calibri"/>
              <a:ea typeface="Calibri"/>
              <a:cs typeface="Calibri"/>
              <a:sym typeface="Calibri"/>
            </a:endParaRPr>
          </a:p>
        </p:txBody>
      </p:sp>
      <p:sp>
        <p:nvSpPr>
          <p:cNvPr id="434" name="Google Shape;434;p8"/>
          <p:cNvSpPr/>
          <p:nvPr/>
        </p:nvSpPr>
        <p:spPr>
          <a:xfrm>
            <a:off x="566928" y="1298448"/>
            <a:ext cx="5577840" cy="1783080"/>
          </a:xfrm>
          <a:prstGeom prst="roundRect">
            <a:avLst>
              <a:gd fmla="val 461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8"/>
          <p:cNvSpPr/>
          <p:nvPr/>
        </p:nvSpPr>
        <p:spPr>
          <a:xfrm>
            <a:off x="822960" y="1536192"/>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8"/>
          <p:cNvSpPr/>
          <p:nvPr/>
        </p:nvSpPr>
        <p:spPr>
          <a:xfrm>
            <a:off x="822960" y="153619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37" name="Google Shape;437;p8"/>
          <p:cNvSpPr/>
          <p:nvPr/>
        </p:nvSpPr>
        <p:spPr>
          <a:xfrm>
            <a:off x="1408176" y="1517904"/>
            <a:ext cx="45354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There is no consensus</a:t>
            </a:r>
            <a:endParaRPr b="0" i="0" sz="1500" u="none" cap="none" strike="noStrike">
              <a:solidFill>
                <a:schemeClr val="dk1"/>
              </a:solidFill>
              <a:latin typeface="Calibri"/>
              <a:ea typeface="Calibri"/>
              <a:cs typeface="Calibri"/>
              <a:sym typeface="Calibri"/>
            </a:endParaRPr>
          </a:p>
        </p:txBody>
      </p:sp>
      <p:sp>
        <p:nvSpPr>
          <p:cNvPr id="438" name="Google Shape;438;p8"/>
          <p:cNvSpPr/>
          <p:nvPr/>
        </p:nvSpPr>
        <p:spPr>
          <a:xfrm>
            <a:off x="841248" y="2084832"/>
            <a:ext cx="5029200" cy="8138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No agreed number of layers makes a model “deep”. A workable definition: deep learning studies models that involve a greater amount of composition of learned functions, or of learned concepts, than traditional machine learning does.</a:t>
            </a:r>
            <a:endParaRPr b="0" i="0" sz="1250" u="none" cap="none" strike="noStrike">
              <a:solidFill>
                <a:schemeClr val="dk1"/>
              </a:solidFill>
              <a:latin typeface="Calibri"/>
              <a:ea typeface="Calibri"/>
              <a:cs typeface="Calibri"/>
              <a:sym typeface="Calibri"/>
            </a:endParaRPr>
          </a:p>
        </p:txBody>
      </p:sp>
      <p:sp>
        <p:nvSpPr>
          <p:cNvPr id="439" name="Google Shape;439;p8"/>
          <p:cNvSpPr/>
          <p:nvPr/>
        </p:nvSpPr>
        <p:spPr>
          <a:xfrm>
            <a:off x="6309360" y="1298448"/>
            <a:ext cx="5321808" cy="1783080"/>
          </a:xfrm>
          <a:prstGeom prst="roundRect">
            <a:avLst>
              <a:gd fmla="val 461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8"/>
          <p:cNvSpPr/>
          <p:nvPr/>
        </p:nvSpPr>
        <p:spPr>
          <a:xfrm>
            <a:off x="6565392" y="1536192"/>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8"/>
          <p:cNvSpPr/>
          <p:nvPr/>
        </p:nvSpPr>
        <p:spPr>
          <a:xfrm>
            <a:off x="6565392" y="153619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42" name="Google Shape;442;p8"/>
          <p:cNvSpPr/>
          <p:nvPr/>
        </p:nvSpPr>
        <p:spPr>
          <a:xfrm>
            <a:off x="7150608" y="1517904"/>
            <a:ext cx="42793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Depth as a multi-step program</a:t>
            </a:r>
            <a:endParaRPr b="0" i="0" sz="1500" u="none" cap="none" strike="noStrike">
              <a:solidFill>
                <a:schemeClr val="dk1"/>
              </a:solidFill>
              <a:latin typeface="Calibri"/>
              <a:ea typeface="Calibri"/>
              <a:cs typeface="Calibri"/>
              <a:sym typeface="Calibri"/>
            </a:endParaRPr>
          </a:p>
        </p:txBody>
      </p:sp>
      <p:sp>
        <p:nvSpPr>
          <p:cNvPr id="443" name="Google Shape;443;p8"/>
          <p:cNvSpPr/>
          <p:nvPr/>
        </p:nvSpPr>
        <p:spPr>
          <a:xfrm>
            <a:off x="6583680" y="2084832"/>
            <a:ext cx="4773168" cy="81381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 second view: depth lets the computer learn a multi-step program, each layer storing state that helps make sense of the input. A layer's activations then need not encode factors of variation at all.</a:t>
            </a:r>
            <a:endParaRPr b="0" i="0" sz="1250" u="none" cap="none" strike="noStrike">
              <a:solidFill>
                <a:schemeClr val="dk1"/>
              </a:solidFill>
              <a:latin typeface="Calibri"/>
              <a:ea typeface="Calibri"/>
              <a:cs typeface="Calibri"/>
              <a:sym typeface="Calibri"/>
            </a:endParaRPr>
          </a:p>
        </p:txBody>
      </p:sp>
      <p:sp>
        <p:nvSpPr>
          <p:cNvPr id="444" name="Google Shape;444;p8"/>
          <p:cNvSpPr/>
          <p:nvPr/>
        </p:nvSpPr>
        <p:spPr>
          <a:xfrm>
            <a:off x="566928" y="3218688"/>
            <a:ext cx="5943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Which parts of the pipeline are learned from data?</a:t>
            </a:r>
            <a:endParaRPr b="0" i="0" sz="1500" u="none" cap="none" strike="noStrike">
              <a:solidFill>
                <a:schemeClr val="dk1"/>
              </a:solidFill>
              <a:latin typeface="Calibri"/>
              <a:ea typeface="Calibri"/>
              <a:cs typeface="Calibri"/>
              <a:sym typeface="Calibri"/>
            </a:endParaRPr>
          </a:p>
        </p:txBody>
      </p:sp>
      <p:sp>
        <p:nvSpPr>
          <p:cNvPr id="445" name="Google Shape;445;p8"/>
          <p:cNvSpPr/>
          <p:nvPr/>
        </p:nvSpPr>
        <p:spPr>
          <a:xfrm>
            <a:off x="6949440" y="3255264"/>
            <a:ext cx="237744" cy="182880"/>
          </a:xfrm>
          <a:prstGeom prst="roundRect">
            <a:avLst>
              <a:gd fmla="val 20000"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8"/>
          <p:cNvSpPr/>
          <p:nvPr/>
        </p:nvSpPr>
        <p:spPr>
          <a:xfrm>
            <a:off x="7269480" y="3200400"/>
            <a:ext cx="1463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learned from data</a:t>
            </a:r>
            <a:endParaRPr b="0" i="0" sz="1050" u="none" cap="none" strike="noStrike">
              <a:solidFill>
                <a:schemeClr val="dk1"/>
              </a:solidFill>
              <a:latin typeface="Calibri"/>
              <a:ea typeface="Calibri"/>
              <a:cs typeface="Calibri"/>
              <a:sym typeface="Calibri"/>
            </a:endParaRPr>
          </a:p>
        </p:txBody>
      </p:sp>
      <p:sp>
        <p:nvSpPr>
          <p:cNvPr id="447" name="Google Shape;447;p8"/>
          <p:cNvSpPr/>
          <p:nvPr/>
        </p:nvSpPr>
        <p:spPr>
          <a:xfrm>
            <a:off x="9006840" y="3255264"/>
            <a:ext cx="237744" cy="182880"/>
          </a:xfrm>
          <a:prstGeom prst="roundRect">
            <a:avLst>
              <a:gd fmla="val 20000"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8"/>
          <p:cNvSpPr/>
          <p:nvPr/>
        </p:nvSpPr>
        <p:spPr>
          <a:xfrm>
            <a:off x="9326880" y="3200400"/>
            <a:ext cx="1554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designed by hand</a:t>
            </a:r>
            <a:endParaRPr b="0" i="0" sz="1050" u="none" cap="none" strike="noStrike">
              <a:solidFill>
                <a:schemeClr val="dk1"/>
              </a:solidFill>
              <a:latin typeface="Calibri"/>
              <a:ea typeface="Calibri"/>
              <a:cs typeface="Calibri"/>
              <a:sym typeface="Calibri"/>
            </a:endParaRPr>
          </a:p>
        </p:txBody>
      </p:sp>
      <p:sp>
        <p:nvSpPr>
          <p:cNvPr id="449" name="Google Shape;449;p8"/>
          <p:cNvSpPr/>
          <p:nvPr/>
        </p:nvSpPr>
        <p:spPr>
          <a:xfrm>
            <a:off x="566928" y="3611880"/>
            <a:ext cx="192024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Rule-based systems</a:t>
            </a:r>
            <a:endParaRPr b="0" i="0" sz="1100" u="none" cap="none" strike="noStrike">
              <a:solidFill>
                <a:schemeClr val="dk1"/>
              </a:solidFill>
              <a:latin typeface="Calibri"/>
              <a:ea typeface="Calibri"/>
              <a:cs typeface="Calibri"/>
              <a:sym typeface="Calibri"/>
            </a:endParaRPr>
          </a:p>
        </p:txBody>
      </p:sp>
      <p:sp>
        <p:nvSpPr>
          <p:cNvPr id="450" name="Google Shape;450;p8"/>
          <p:cNvSpPr/>
          <p:nvPr/>
        </p:nvSpPr>
        <p:spPr>
          <a:xfrm>
            <a:off x="2624328" y="3611880"/>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8"/>
          <p:cNvSpPr/>
          <p:nvPr/>
        </p:nvSpPr>
        <p:spPr>
          <a:xfrm>
            <a:off x="2660904" y="3611880"/>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cxnSp>
        <p:nvCxnSpPr>
          <p:cNvPr id="452" name="Google Shape;452;p8"/>
          <p:cNvCxnSpPr/>
          <p:nvPr/>
        </p:nvCxnSpPr>
        <p:spPr>
          <a:xfrm>
            <a:off x="4133088" y="3803904"/>
            <a:ext cx="210312" cy="0"/>
          </a:xfrm>
          <a:prstGeom prst="straightConnector1">
            <a:avLst/>
          </a:prstGeom>
          <a:noFill/>
          <a:ln cap="flat" cmpd="sng" w="15875">
            <a:solidFill>
              <a:srgbClr val="9C8CC4"/>
            </a:solidFill>
            <a:prstDash val="solid"/>
            <a:round/>
            <a:headEnd len="sm" w="sm" type="none"/>
            <a:tailEnd len="med" w="med" type="triangle"/>
          </a:ln>
        </p:spPr>
      </p:cxnSp>
      <p:sp>
        <p:nvSpPr>
          <p:cNvPr id="453" name="Google Shape;453;p8"/>
          <p:cNvSpPr/>
          <p:nvPr/>
        </p:nvSpPr>
        <p:spPr>
          <a:xfrm>
            <a:off x="4389120" y="3611880"/>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8"/>
          <p:cNvSpPr/>
          <p:nvPr/>
        </p:nvSpPr>
        <p:spPr>
          <a:xfrm>
            <a:off x="4425696" y="3611880"/>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Hand-designed program</a:t>
            </a:r>
            <a:endParaRPr b="0" i="0" sz="950" u="none" cap="none" strike="noStrike">
              <a:solidFill>
                <a:schemeClr val="dk1"/>
              </a:solidFill>
              <a:latin typeface="Calibri"/>
              <a:ea typeface="Calibri"/>
              <a:cs typeface="Calibri"/>
              <a:sym typeface="Calibri"/>
            </a:endParaRPr>
          </a:p>
        </p:txBody>
      </p:sp>
      <p:cxnSp>
        <p:nvCxnSpPr>
          <p:cNvPr id="455" name="Google Shape;455;p8"/>
          <p:cNvCxnSpPr/>
          <p:nvPr/>
        </p:nvCxnSpPr>
        <p:spPr>
          <a:xfrm>
            <a:off x="5897880" y="3803904"/>
            <a:ext cx="210312" cy="0"/>
          </a:xfrm>
          <a:prstGeom prst="straightConnector1">
            <a:avLst/>
          </a:prstGeom>
          <a:noFill/>
          <a:ln cap="flat" cmpd="sng" w="15875">
            <a:solidFill>
              <a:srgbClr val="9C8CC4"/>
            </a:solidFill>
            <a:prstDash val="solid"/>
            <a:round/>
            <a:headEnd len="sm" w="sm" type="none"/>
            <a:tailEnd len="med" w="med" type="triangle"/>
          </a:ln>
        </p:spPr>
      </p:cxnSp>
      <p:sp>
        <p:nvSpPr>
          <p:cNvPr id="456" name="Google Shape;456;p8"/>
          <p:cNvSpPr/>
          <p:nvPr/>
        </p:nvSpPr>
        <p:spPr>
          <a:xfrm>
            <a:off x="6153912" y="3611880"/>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8"/>
          <p:cNvSpPr/>
          <p:nvPr/>
        </p:nvSpPr>
        <p:spPr>
          <a:xfrm>
            <a:off x="6190488" y="3611880"/>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Output</a:t>
            </a:r>
            <a:endParaRPr b="0" i="0" sz="950" u="none" cap="none" strike="noStrike">
              <a:solidFill>
                <a:schemeClr val="dk1"/>
              </a:solidFill>
              <a:latin typeface="Calibri"/>
              <a:ea typeface="Calibri"/>
              <a:cs typeface="Calibri"/>
              <a:sym typeface="Calibri"/>
            </a:endParaRPr>
          </a:p>
        </p:txBody>
      </p:sp>
      <p:sp>
        <p:nvSpPr>
          <p:cNvPr id="458" name="Google Shape;458;p8"/>
          <p:cNvSpPr/>
          <p:nvPr/>
        </p:nvSpPr>
        <p:spPr>
          <a:xfrm>
            <a:off x="566928" y="4142232"/>
            <a:ext cx="192024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Classic machine learning</a:t>
            </a:r>
            <a:endParaRPr b="0" i="0" sz="1100" u="none" cap="none" strike="noStrike">
              <a:solidFill>
                <a:schemeClr val="dk1"/>
              </a:solidFill>
              <a:latin typeface="Calibri"/>
              <a:ea typeface="Calibri"/>
              <a:cs typeface="Calibri"/>
              <a:sym typeface="Calibri"/>
            </a:endParaRPr>
          </a:p>
        </p:txBody>
      </p:sp>
      <p:sp>
        <p:nvSpPr>
          <p:cNvPr id="459" name="Google Shape;459;p8"/>
          <p:cNvSpPr/>
          <p:nvPr/>
        </p:nvSpPr>
        <p:spPr>
          <a:xfrm>
            <a:off x="2624328" y="4142232"/>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8"/>
          <p:cNvSpPr/>
          <p:nvPr/>
        </p:nvSpPr>
        <p:spPr>
          <a:xfrm>
            <a:off x="2660904" y="41422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cxnSp>
        <p:nvCxnSpPr>
          <p:cNvPr id="461" name="Google Shape;461;p8"/>
          <p:cNvCxnSpPr/>
          <p:nvPr/>
        </p:nvCxnSpPr>
        <p:spPr>
          <a:xfrm>
            <a:off x="4133088" y="4334256"/>
            <a:ext cx="210312" cy="0"/>
          </a:xfrm>
          <a:prstGeom prst="straightConnector1">
            <a:avLst/>
          </a:prstGeom>
          <a:noFill/>
          <a:ln cap="flat" cmpd="sng" w="15875">
            <a:solidFill>
              <a:srgbClr val="9C8CC4"/>
            </a:solidFill>
            <a:prstDash val="solid"/>
            <a:round/>
            <a:headEnd len="sm" w="sm" type="none"/>
            <a:tailEnd len="med" w="med" type="triangle"/>
          </a:ln>
        </p:spPr>
      </p:cxnSp>
      <p:sp>
        <p:nvSpPr>
          <p:cNvPr id="462" name="Google Shape;462;p8"/>
          <p:cNvSpPr/>
          <p:nvPr/>
        </p:nvSpPr>
        <p:spPr>
          <a:xfrm>
            <a:off x="4389120" y="4142232"/>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
          <p:cNvSpPr/>
          <p:nvPr/>
        </p:nvSpPr>
        <p:spPr>
          <a:xfrm>
            <a:off x="4425696" y="41422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Hand-designed features</a:t>
            </a:r>
            <a:endParaRPr b="0" i="0" sz="950" u="none" cap="none" strike="noStrike">
              <a:solidFill>
                <a:schemeClr val="dk1"/>
              </a:solidFill>
              <a:latin typeface="Calibri"/>
              <a:ea typeface="Calibri"/>
              <a:cs typeface="Calibri"/>
              <a:sym typeface="Calibri"/>
            </a:endParaRPr>
          </a:p>
        </p:txBody>
      </p:sp>
      <p:cxnSp>
        <p:nvCxnSpPr>
          <p:cNvPr id="464" name="Google Shape;464;p8"/>
          <p:cNvCxnSpPr/>
          <p:nvPr/>
        </p:nvCxnSpPr>
        <p:spPr>
          <a:xfrm>
            <a:off x="5897880" y="4334256"/>
            <a:ext cx="210312" cy="0"/>
          </a:xfrm>
          <a:prstGeom prst="straightConnector1">
            <a:avLst/>
          </a:prstGeom>
          <a:noFill/>
          <a:ln cap="flat" cmpd="sng" w="15875">
            <a:solidFill>
              <a:srgbClr val="9C8CC4"/>
            </a:solidFill>
            <a:prstDash val="solid"/>
            <a:round/>
            <a:headEnd len="sm" w="sm" type="none"/>
            <a:tailEnd len="med" w="med" type="triangle"/>
          </a:ln>
        </p:spPr>
      </p:cxnSp>
      <p:sp>
        <p:nvSpPr>
          <p:cNvPr id="465" name="Google Shape;465;p8"/>
          <p:cNvSpPr/>
          <p:nvPr/>
        </p:nvSpPr>
        <p:spPr>
          <a:xfrm>
            <a:off x="6153912" y="4142232"/>
            <a:ext cx="1463040" cy="384048"/>
          </a:xfrm>
          <a:prstGeom prst="roundRect">
            <a:avLst>
              <a:gd fmla="val 14286"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8"/>
          <p:cNvSpPr/>
          <p:nvPr/>
        </p:nvSpPr>
        <p:spPr>
          <a:xfrm>
            <a:off x="6190488" y="41422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Mapping from features</a:t>
            </a:r>
            <a:endParaRPr b="0" i="0" sz="950" u="none" cap="none" strike="noStrike">
              <a:solidFill>
                <a:schemeClr val="dk1"/>
              </a:solidFill>
              <a:latin typeface="Calibri"/>
              <a:ea typeface="Calibri"/>
              <a:cs typeface="Calibri"/>
              <a:sym typeface="Calibri"/>
            </a:endParaRPr>
          </a:p>
        </p:txBody>
      </p:sp>
      <p:cxnSp>
        <p:nvCxnSpPr>
          <p:cNvPr id="467" name="Google Shape;467;p8"/>
          <p:cNvCxnSpPr/>
          <p:nvPr/>
        </p:nvCxnSpPr>
        <p:spPr>
          <a:xfrm>
            <a:off x="7662672" y="4334256"/>
            <a:ext cx="210312" cy="0"/>
          </a:xfrm>
          <a:prstGeom prst="straightConnector1">
            <a:avLst/>
          </a:prstGeom>
          <a:noFill/>
          <a:ln cap="flat" cmpd="sng" w="15875">
            <a:solidFill>
              <a:srgbClr val="9C8CC4"/>
            </a:solidFill>
            <a:prstDash val="solid"/>
            <a:round/>
            <a:headEnd len="sm" w="sm" type="none"/>
            <a:tailEnd len="med" w="med" type="triangle"/>
          </a:ln>
        </p:spPr>
      </p:cxnSp>
      <p:sp>
        <p:nvSpPr>
          <p:cNvPr id="468" name="Google Shape;468;p8"/>
          <p:cNvSpPr/>
          <p:nvPr/>
        </p:nvSpPr>
        <p:spPr>
          <a:xfrm>
            <a:off x="7918704" y="4142232"/>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
          <p:cNvSpPr/>
          <p:nvPr/>
        </p:nvSpPr>
        <p:spPr>
          <a:xfrm>
            <a:off x="7955280" y="4142232"/>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Output</a:t>
            </a:r>
            <a:endParaRPr b="0" i="0" sz="950" u="none" cap="none" strike="noStrike">
              <a:solidFill>
                <a:schemeClr val="dk1"/>
              </a:solidFill>
              <a:latin typeface="Calibri"/>
              <a:ea typeface="Calibri"/>
              <a:cs typeface="Calibri"/>
              <a:sym typeface="Calibri"/>
            </a:endParaRPr>
          </a:p>
        </p:txBody>
      </p:sp>
      <p:sp>
        <p:nvSpPr>
          <p:cNvPr id="470" name="Google Shape;470;p8"/>
          <p:cNvSpPr/>
          <p:nvPr/>
        </p:nvSpPr>
        <p:spPr>
          <a:xfrm>
            <a:off x="566928" y="4672584"/>
            <a:ext cx="192024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Representation learning</a:t>
            </a:r>
            <a:endParaRPr b="0" i="0" sz="1100" u="none" cap="none" strike="noStrike">
              <a:solidFill>
                <a:schemeClr val="dk1"/>
              </a:solidFill>
              <a:latin typeface="Calibri"/>
              <a:ea typeface="Calibri"/>
              <a:cs typeface="Calibri"/>
              <a:sym typeface="Calibri"/>
            </a:endParaRPr>
          </a:p>
        </p:txBody>
      </p:sp>
      <p:sp>
        <p:nvSpPr>
          <p:cNvPr id="471" name="Google Shape;471;p8"/>
          <p:cNvSpPr/>
          <p:nvPr/>
        </p:nvSpPr>
        <p:spPr>
          <a:xfrm>
            <a:off x="2624328" y="4672584"/>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8"/>
          <p:cNvSpPr/>
          <p:nvPr/>
        </p:nvSpPr>
        <p:spPr>
          <a:xfrm>
            <a:off x="2660904" y="4672584"/>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cxnSp>
        <p:nvCxnSpPr>
          <p:cNvPr id="473" name="Google Shape;473;p8"/>
          <p:cNvCxnSpPr/>
          <p:nvPr/>
        </p:nvCxnSpPr>
        <p:spPr>
          <a:xfrm>
            <a:off x="4133088" y="4864608"/>
            <a:ext cx="210312" cy="0"/>
          </a:xfrm>
          <a:prstGeom prst="straightConnector1">
            <a:avLst/>
          </a:prstGeom>
          <a:noFill/>
          <a:ln cap="flat" cmpd="sng" w="15875">
            <a:solidFill>
              <a:srgbClr val="9C8CC4"/>
            </a:solidFill>
            <a:prstDash val="solid"/>
            <a:round/>
            <a:headEnd len="sm" w="sm" type="none"/>
            <a:tailEnd len="med" w="med" type="triangle"/>
          </a:ln>
        </p:spPr>
      </p:cxnSp>
      <p:sp>
        <p:nvSpPr>
          <p:cNvPr id="474" name="Google Shape;474;p8"/>
          <p:cNvSpPr/>
          <p:nvPr/>
        </p:nvSpPr>
        <p:spPr>
          <a:xfrm>
            <a:off x="4389120" y="4672584"/>
            <a:ext cx="1463040" cy="384048"/>
          </a:xfrm>
          <a:prstGeom prst="roundRect">
            <a:avLst>
              <a:gd fmla="val 14286"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8"/>
          <p:cNvSpPr/>
          <p:nvPr/>
        </p:nvSpPr>
        <p:spPr>
          <a:xfrm>
            <a:off x="4425696" y="4672584"/>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Features</a:t>
            </a:r>
            <a:endParaRPr b="0" i="0" sz="950" u="none" cap="none" strike="noStrike">
              <a:solidFill>
                <a:schemeClr val="dk1"/>
              </a:solidFill>
              <a:latin typeface="Calibri"/>
              <a:ea typeface="Calibri"/>
              <a:cs typeface="Calibri"/>
              <a:sym typeface="Calibri"/>
            </a:endParaRPr>
          </a:p>
        </p:txBody>
      </p:sp>
      <p:cxnSp>
        <p:nvCxnSpPr>
          <p:cNvPr id="476" name="Google Shape;476;p8"/>
          <p:cNvCxnSpPr/>
          <p:nvPr/>
        </p:nvCxnSpPr>
        <p:spPr>
          <a:xfrm>
            <a:off x="5897880" y="4864608"/>
            <a:ext cx="210312" cy="0"/>
          </a:xfrm>
          <a:prstGeom prst="straightConnector1">
            <a:avLst/>
          </a:prstGeom>
          <a:noFill/>
          <a:ln cap="flat" cmpd="sng" w="15875">
            <a:solidFill>
              <a:srgbClr val="9C8CC4"/>
            </a:solidFill>
            <a:prstDash val="solid"/>
            <a:round/>
            <a:headEnd len="sm" w="sm" type="none"/>
            <a:tailEnd len="med" w="med" type="triangle"/>
          </a:ln>
        </p:spPr>
      </p:cxnSp>
      <p:sp>
        <p:nvSpPr>
          <p:cNvPr id="477" name="Google Shape;477;p8"/>
          <p:cNvSpPr/>
          <p:nvPr/>
        </p:nvSpPr>
        <p:spPr>
          <a:xfrm>
            <a:off x="6153912" y="4672584"/>
            <a:ext cx="1463040" cy="384048"/>
          </a:xfrm>
          <a:prstGeom prst="roundRect">
            <a:avLst>
              <a:gd fmla="val 14286"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8"/>
          <p:cNvSpPr/>
          <p:nvPr/>
        </p:nvSpPr>
        <p:spPr>
          <a:xfrm>
            <a:off x="6190488" y="4672584"/>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Mapping from features</a:t>
            </a:r>
            <a:endParaRPr b="0" i="0" sz="950" u="none" cap="none" strike="noStrike">
              <a:solidFill>
                <a:schemeClr val="dk1"/>
              </a:solidFill>
              <a:latin typeface="Calibri"/>
              <a:ea typeface="Calibri"/>
              <a:cs typeface="Calibri"/>
              <a:sym typeface="Calibri"/>
            </a:endParaRPr>
          </a:p>
        </p:txBody>
      </p:sp>
      <p:cxnSp>
        <p:nvCxnSpPr>
          <p:cNvPr id="479" name="Google Shape;479;p8"/>
          <p:cNvCxnSpPr/>
          <p:nvPr/>
        </p:nvCxnSpPr>
        <p:spPr>
          <a:xfrm>
            <a:off x="7662672" y="4864608"/>
            <a:ext cx="210312" cy="0"/>
          </a:xfrm>
          <a:prstGeom prst="straightConnector1">
            <a:avLst/>
          </a:prstGeom>
          <a:noFill/>
          <a:ln cap="flat" cmpd="sng" w="15875">
            <a:solidFill>
              <a:srgbClr val="9C8CC4"/>
            </a:solidFill>
            <a:prstDash val="solid"/>
            <a:round/>
            <a:headEnd len="sm" w="sm" type="none"/>
            <a:tailEnd len="med" w="med" type="triangle"/>
          </a:ln>
        </p:spPr>
      </p:cxnSp>
      <p:sp>
        <p:nvSpPr>
          <p:cNvPr id="480" name="Google Shape;480;p8"/>
          <p:cNvSpPr/>
          <p:nvPr/>
        </p:nvSpPr>
        <p:spPr>
          <a:xfrm>
            <a:off x="7918704" y="4672584"/>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8"/>
          <p:cNvSpPr/>
          <p:nvPr/>
        </p:nvSpPr>
        <p:spPr>
          <a:xfrm>
            <a:off x="7955280" y="4672584"/>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Output</a:t>
            </a:r>
            <a:endParaRPr b="0" i="0" sz="950" u="none" cap="none" strike="noStrike">
              <a:solidFill>
                <a:schemeClr val="dk1"/>
              </a:solidFill>
              <a:latin typeface="Calibri"/>
              <a:ea typeface="Calibri"/>
              <a:cs typeface="Calibri"/>
              <a:sym typeface="Calibri"/>
            </a:endParaRPr>
          </a:p>
        </p:txBody>
      </p:sp>
      <p:sp>
        <p:nvSpPr>
          <p:cNvPr id="482" name="Google Shape;482;p8"/>
          <p:cNvSpPr/>
          <p:nvPr/>
        </p:nvSpPr>
        <p:spPr>
          <a:xfrm>
            <a:off x="566928" y="5202936"/>
            <a:ext cx="1920240" cy="3840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Deep learning</a:t>
            </a:r>
            <a:endParaRPr b="0" i="0" sz="1100" u="none" cap="none" strike="noStrike">
              <a:solidFill>
                <a:schemeClr val="dk1"/>
              </a:solidFill>
              <a:latin typeface="Calibri"/>
              <a:ea typeface="Calibri"/>
              <a:cs typeface="Calibri"/>
              <a:sym typeface="Calibri"/>
            </a:endParaRPr>
          </a:p>
        </p:txBody>
      </p:sp>
      <p:sp>
        <p:nvSpPr>
          <p:cNvPr id="483" name="Google Shape;483;p8"/>
          <p:cNvSpPr/>
          <p:nvPr/>
        </p:nvSpPr>
        <p:spPr>
          <a:xfrm>
            <a:off x="2624328" y="5202936"/>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8"/>
          <p:cNvSpPr/>
          <p:nvPr/>
        </p:nvSpPr>
        <p:spPr>
          <a:xfrm>
            <a:off x="2660904" y="5202936"/>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Input</a:t>
            </a:r>
            <a:endParaRPr b="0" i="0" sz="950" u="none" cap="none" strike="noStrike">
              <a:solidFill>
                <a:schemeClr val="dk1"/>
              </a:solidFill>
              <a:latin typeface="Calibri"/>
              <a:ea typeface="Calibri"/>
              <a:cs typeface="Calibri"/>
              <a:sym typeface="Calibri"/>
            </a:endParaRPr>
          </a:p>
        </p:txBody>
      </p:sp>
      <p:cxnSp>
        <p:nvCxnSpPr>
          <p:cNvPr id="485" name="Google Shape;485;p8"/>
          <p:cNvCxnSpPr/>
          <p:nvPr/>
        </p:nvCxnSpPr>
        <p:spPr>
          <a:xfrm>
            <a:off x="4133088" y="5394960"/>
            <a:ext cx="210312" cy="0"/>
          </a:xfrm>
          <a:prstGeom prst="straightConnector1">
            <a:avLst/>
          </a:prstGeom>
          <a:noFill/>
          <a:ln cap="flat" cmpd="sng" w="15875">
            <a:solidFill>
              <a:srgbClr val="9C8CC4"/>
            </a:solidFill>
            <a:prstDash val="solid"/>
            <a:round/>
            <a:headEnd len="sm" w="sm" type="none"/>
            <a:tailEnd len="med" w="med" type="triangle"/>
          </a:ln>
        </p:spPr>
      </p:cxnSp>
      <p:sp>
        <p:nvSpPr>
          <p:cNvPr id="486" name="Google Shape;486;p8"/>
          <p:cNvSpPr/>
          <p:nvPr/>
        </p:nvSpPr>
        <p:spPr>
          <a:xfrm>
            <a:off x="4389120" y="5202936"/>
            <a:ext cx="1463040" cy="384048"/>
          </a:xfrm>
          <a:prstGeom prst="roundRect">
            <a:avLst>
              <a:gd fmla="val 14286"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8"/>
          <p:cNvSpPr/>
          <p:nvPr/>
        </p:nvSpPr>
        <p:spPr>
          <a:xfrm>
            <a:off x="4425696" y="5202936"/>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Simple features</a:t>
            </a:r>
            <a:endParaRPr b="0" i="0" sz="950" u="none" cap="none" strike="noStrike">
              <a:solidFill>
                <a:schemeClr val="dk1"/>
              </a:solidFill>
              <a:latin typeface="Calibri"/>
              <a:ea typeface="Calibri"/>
              <a:cs typeface="Calibri"/>
              <a:sym typeface="Calibri"/>
            </a:endParaRPr>
          </a:p>
        </p:txBody>
      </p:sp>
      <p:cxnSp>
        <p:nvCxnSpPr>
          <p:cNvPr id="488" name="Google Shape;488;p8"/>
          <p:cNvCxnSpPr/>
          <p:nvPr/>
        </p:nvCxnSpPr>
        <p:spPr>
          <a:xfrm>
            <a:off x="5897880" y="5394960"/>
            <a:ext cx="210312" cy="0"/>
          </a:xfrm>
          <a:prstGeom prst="straightConnector1">
            <a:avLst/>
          </a:prstGeom>
          <a:noFill/>
          <a:ln cap="flat" cmpd="sng" w="15875">
            <a:solidFill>
              <a:srgbClr val="9C8CC4"/>
            </a:solidFill>
            <a:prstDash val="solid"/>
            <a:round/>
            <a:headEnd len="sm" w="sm" type="none"/>
            <a:tailEnd len="med" w="med" type="triangle"/>
          </a:ln>
        </p:spPr>
      </p:cxnSp>
      <p:sp>
        <p:nvSpPr>
          <p:cNvPr id="489" name="Google Shape;489;p8"/>
          <p:cNvSpPr/>
          <p:nvPr/>
        </p:nvSpPr>
        <p:spPr>
          <a:xfrm>
            <a:off x="6153912" y="5202936"/>
            <a:ext cx="1463040" cy="384048"/>
          </a:xfrm>
          <a:prstGeom prst="roundRect">
            <a:avLst>
              <a:gd fmla="val 14286"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8"/>
          <p:cNvSpPr/>
          <p:nvPr/>
        </p:nvSpPr>
        <p:spPr>
          <a:xfrm>
            <a:off x="6190488" y="5202936"/>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More abstract features</a:t>
            </a:r>
            <a:endParaRPr b="0" i="0" sz="950" u="none" cap="none" strike="noStrike">
              <a:solidFill>
                <a:schemeClr val="dk1"/>
              </a:solidFill>
              <a:latin typeface="Calibri"/>
              <a:ea typeface="Calibri"/>
              <a:cs typeface="Calibri"/>
              <a:sym typeface="Calibri"/>
            </a:endParaRPr>
          </a:p>
        </p:txBody>
      </p:sp>
      <p:cxnSp>
        <p:nvCxnSpPr>
          <p:cNvPr id="491" name="Google Shape;491;p8"/>
          <p:cNvCxnSpPr/>
          <p:nvPr/>
        </p:nvCxnSpPr>
        <p:spPr>
          <a:xfrm>
            <a:off x="7662672" y="5394960"/>
            <a:ext cx="210312" cy="0"/>
          </a:xfrm>
          <a:prstGeom prst="straightConnector1">
            <a:avLst/>
          </a:prstGeom>
          <a:noFill/>
          <a:ln cap="flat" cmpd="sng" w="15875">
            <a:solidFill>
              <a:srgbClr val="9C8CC4"/>
            </a:solidFill>
            <a:prstDash val="solid"/>
            <a:round/>
            <a:headEnd len="sm" w="sm" type="none"/>
            <a:tailEnd len="med" w="med" type="triangle"/>
          </a:ln>
        </p:spPr>
      </p:cxnSp>
      <p:sp>
        <p:nvSpPr>
          <p:cNvPr id="492" name="Google Shape;492;p8"/>
          <p:cNvSpPr/>
          <p:nvPr/>
        </p:nvSpPr>
        <p:spPr>
          <a:xfrm>
            <a:off x="7918704" y="5202936"/>
            <a:ext cx="1463040" cy="384048"/>
          </a:xfrm>
          <a:prstGeom prst="roundRect">
            <a:avLst>
              <a:gd fmla="val 14286"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8"/>
          <p:cNvSpPr/>
          <p:nvPr/>
        </p:nvSpPr>
        <p:spPr>
          <a:xfrm>
            <a:off x="7955280" y="5202936"/>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Mapping from features</a:t>
            </a:r>
            <a:endParaRPr b="0" i="0" sz="950" u="none" cap="none" strike="noStrike">
              <a:solidFill>
                <a:schemeClr val="dk1"/>
              </a:solidFill>
              <a:latin typeface="Calibri"/>
              <a:ea typeface="Calibri"/>
              <a:cs typeface="Calibri"/>
              <a:sym typeface="Calibri"/>
            </a:endParaRPr>
          </a:p>
        </p:txBody>
      </p:sp>
      <p:cxnSp>
        <p:nvCxnSpPr>
          <p:cNvPr id="494" name="Google Shape;494;p8"/>
          <p:cNvCxnSpPr/>
          <p:nvPr/>
        </p:nvCxnSpPr>
        <p:spPr>
          <a:xfrm>
            <a:off x="9427464" y="5394960"/>
            <a:ext cx="210312" cy="0"/>
          </a:xfrm>
          <a:prstGeom prst="straightConnector1">
            <a:avLst/>
          </a:prstGeom>
          <a:noFill/>
          <a:ln cap="flat" cmpd="sng" w="15875">
            <a:solidFill>
              <a:srgbClr val="9C8CC4"/>
            </a:solidFill>
            <a:prstDash val="solid"/>
            <a:round/>
            <a:headEnd len="sm" w="sm" type="none"/>
            <a:tailEnd len="med" w="med" type="triangle"/>
          </a:ln>
        </p:spPr>
      </p:cxnSp>
      <p:sp>
        <p:nvSpPr>
          <p:cNvPr id="495" name="Google Shape;495;p8"/>
          <p:cNvSpPr/>
          <p:nvPr/>
        </p:nvSpPr>
        <p:spPr>
          <a:xfrm>
            <a:off x="9683496" y="5202936"/>
            <a:ext cx="1463040" cy="384048"/>
          </a:xfrm>
          <a:prstGeom prst="roundRect">
            <a:avLst>
              <a:gd fmla="val 1428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8"/>
          <p:cNvSpPr/>
          <p:nvPr/>
        </p:nvSpPr>
        <p:spPr>
          <a:xfrm>
            <a:off x="9720072" y="5202936"/>
            <a:ext cx="138988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0" i="0" lang="en-US" sz="950" u="none" cap="none" strike="noStrike">
                <a:solidFill>
                  <a:srgbClr val="2D1B4E"/>
                </a:solidFill>
                <a:latin typeface="Calibri"/>
                <a:ea typeface="Calibri"/>
                <a:cs typeface="Calibri"/>
                <a:sym typeface="Calibri"/>
              </a:rPr>
              <a:t>Output</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WHY DEEP LEARNING</a:t>
            </a:r>
            <a:endParaRPr b="0" i="0" sz="1050" u="none" cap="none" strike="noStrike">
              <a:solidFill>
                <a:schemeClr val="dk1"/>
              </a:solidFill>
              <a:latin typeface="Calibri"/>
              <a:ea typeface="Calibri"/>
              <a:cs typeface="Calibri"/>
              <a:sym typeface="Calibri"/>
            </a:endParaRPr>
          </a:p>
        </p:txBody>
      </p:sp>
      <p:sp>
        <p:nvSpPr>
          <p:cNvPr id="503" name="Google Shape;503;p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Where deep learning is used</a:t>
            </a:r>
            <a:endParaRPr b="0" i="0" sz="2800" u="none" cap="none" strike="noStrike">
              <a:solidFill>
                <a:schemeClr val="dk1"/>
              </a:solidFill>
              <a:latin typeface="Calibri"/>
              <a:ea typeface="Calibri"/>
              <a:cs typeface="Calibri"/>
              <a:sym typeface="Calibri"/>
            </a:endParaRPr>
          </a:p>
        </p:txBody>
      </p:sp>
      <p:sp>
        <p:nvSpPr>
          <p:cNvPr id="504" name="Google Shape;504;p9"/>
          <p:cNvSpPr/>
          <p:nvPr/>
        </p:nvSpPr>
        <p:spPr>
          <a:xfrm>
            <a:off x="566928" y="1325880"/>
            <a:ext cx="3566160" cy="2194560"/>
          </a:xfrm>
          <a:prstGeom prst="roundRect">
            <a:avLst>
              <a:gd fmla="val 375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9"/>
          <p:cNvSpPr/>
          <p:nvPr/>
        </p:nvSpPr>
        <p:spPr>
          <a:xfrm>
            <a:off x="822960"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9"/>
          <p:cNvSpPr/>
          <p:nvPr/>
        </p:nvSpPr>
        <p:spPr>
          <a:xfrm>
            <a:off x="822960"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507" name="Google Shape;507;p9"/>
          <p:cNvSpPr/>
          <p:nvPr/>
        </p:nvSpPr>
        <p:spPr>
          <a:xfrm>
            <a:off x="1408176" y="15453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Object detection &amp; segmentation</a:t>
            </a:r>
            <a:endParaRPr b="0" i="0" sz="1350" u="none" cap="none" strike="noStrike">
              <a:solidFill>
                <a:schemeClr val="dk1"/>
              </a:solidFill>
              <a:latin typeface="Calibri"/>
              <a:ea typeface="Calibri"/>
              <a:cs typeface="Calibri"/>
              <a:sym typeface="Calibri"/>
            </a:endParaRPr>
          </a:p>
        </p:txBody>
      </p:sp>
      <p:sp>
        <p:nvSpPr>
          <p:cNvPr id="508" name="Google Shape;508;p9"/>
          <p:cNvSpPr/>
          <p:nvPr/>
        </p:nvSpPr>
        <p:spPr>
          <a:xfrm>
            <a:off x="841248" y="2112264"/>
            <a:ext cx="3017520"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Mask R-CNN style models label every pixel of a street scene — cars, pedestrians, traffic lights. The same backbone powers driver assistance and medical imaging.</a:t>
            </a:r>
            <a:endParaRPr b="0" i="0" sz="1250" u="none" cap="none" strike="noStrike">
              <a:solidFill>
                <a:schemeClr val="dk1"/>
              </a:solidFill>
              <a:latin typeface="Calibri"/>
              <a:ea typeface="Calibri"/>
              <a:cs typeface="Calibri"/>
              <a:sym typeface="Calibri"/>
            </a:endParaRPr>
          </a:p>
        </p:txBody>
      </p:sp>
      <p:sp>
        <p:nvSpPr>
          <p:cNvPr id="509" name="Google Shape;509;p9"/>
          <p:cNvSpPr/>
          <p:nvPr/>
        </p:nvSpPr>
        <p:spPr>
          <a:xfrm>
            <a:off x="4370832" y="1325880"/>
            <a:ext cx="3566160" cy="2194560"/>
          </a:xfrm>
          <a:prstGeom prst="roundRect">
            <a:avLst>
              <a:gd fmla="val 375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9"/>
          <p:cNvSpPr/>
          <p:nvPr/>
        </p:nvSpPr>
        <p:spPr>
          <a:xfrm>
            <a:off x="4626864"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9"/>
          <p:cNvSpPr/>
          <p:nvPr/>
        </p:nvSpPr>
        <p:spPr>
          <a:xfrm>
            <a:off x="4626864"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512" name="Google Shape;512;p9"/>
          <p:cNvSpPr/>
          <p:nvPr/>
        </p:nvSpPr>
        <p:spPr>
          <a:xfrm>
            <a:off x="5212080" y="15453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Image classification</a:t>
            </a:r>
            <a:endParaRPr b="0" i="0" sz="1350" u="none" cap="none" strike="noStrike">
              <a:solidFill>
                <a:schemeClr val="dk1"/>
              </a:solidFill>
              <a:latin typeface="Calibri"/>
              <a:ea typeface="Calibri"/>
              <a:cs typeface="Calibri"/>
              <a:sym typeface="Calibri"/>
            </a:endParaRPr>
          </a:p>
        </p:txBody>
      </p:sp>
      <p:sp>
        <p:nvSpPr>
          <p:cNvPr id="513" name="Google Shape;513;p9"/>
          <p:cNvSpPr/>
          <p:nvPr/>
        </p:nvSpPr>
        <p:spPr>
          <a:xfrm>
            <a:off x="4645152" y="2112264"/>
            <a:ext cx="3017520"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CIFAR-10, ImageNet: assign one of thousands of categories to a raw photograph, learning the features directly from pixels rather than from a hand-written detector.</a:t>
            </a:r>
            <a:endParaRPr b="0" i="0" sz="1250" u="none" cap="none" strike="noStrike">
              <a:solidFill>
                <a:schemeClr val="dk1"/>
              </a:solidFill>
              <a:latin typeface="Calibri"/>
              <a:ea typeface="Calibri"/>
              <a:cs typeface="Calibri"/>
              <a:sym typeface="Calibri"/>
            </a:endParaRPr>
          </a:p>
        </p:txBody>
      </p:sp>
      <p:sp>
        <p:nvSpPr>
          <p:cNvPr id="514" name="Google Shape;514;p9"/>
          <p:cNvSpPr/>
          <p:nvPr/>
        </p:nvSpPr>
        <p:spPr>
          <a:xfrm>
            <a:off x="8174736" y="1325880"/>
            <a:ext cx="3566160" cy="2194560"/>
          </a:xfrm>
          <a:prstGeom prst="roundRect">
            <a:avLst>
              <a:gd fmla="val 375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9"/>
          <p:cNvSpPr/>
          <p:nvPr/>
        </p:nvSpPr>
        <p:spPr>
          <a:xfrm>
            <a:off x="8430768"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9"/>
          <p:cNvSpPr/>
          <p:nvPr/>
        </p:nvSpPr>
        <p:spPr>
          <a:xfrm>
            <a:off x="8430768"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17" name="Google Shape;517;p9"/>
          <p:cNvSpPr/>
          <p:nvPr/>
        </p:nvSpPr>
        <p:spPr>
          <a:xfrm>
            <a:off x="9015984" y="15453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Image captioning</a:t>
            </a:r>
            <a:endParaRPr b="0" i="0" sz="1350" u="none" cap="none" strike="noStrike">
              <a:solidFill>
                <a:schemeClr val="dk1"/>
              </a:solidFill>
              <a:latin typeface="Calibri"/>
              <a:ea typeface="Calibri"/>
              <a:cs typeface="Calibri"/>
              <a:sym typeface="Calibri"/>
            </a:endParaRPr>
          </a:p>
        </p:txBody>
      </p:sp>
      <p:sp>
        <p:nvSpPr>
          <p:cNvPr id="518" name="Google Shape;518;p9"/>
          <p:cNvSpPr/>
          <p:nvPr/>
        </p:nvSpPr>
        <p:spPr>
          <a:xfrm>
            <a:off x="8449056" y="2112264"/>
            <a:ext cx="3017520"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Vision and language combined: a convolutional encoder reads the image, a recurrent decoder generates a sentence describing what is in it.</a:t>
            </a:r>
            <a:endParaRPr b="0" i="0" sz="1250" u="none" cap="none" strike="noStrike">
              <a:solidFill>
                <a:schemeClr val="dk1"/>
              </a:solidFill>
              <a:latin typeface="Calibri"/>
              <a:ea typeface="Calibri"/>
              <a:cs typeface="Calibri"/>
              <a:sym typeface="Calibri"/>
            </a:endParaRPr>
          </a:p>
        </p:txBody>
      </p:sp>
      <p:sp>
        <p:nvSpPr>
          <p:cNvPr id="519" name="Google Shape;519;p9"/>
          <p:cNvSpPr/>
          <p:nvPr/>
        </p:nvSpPr>
        <p:spPr>
          <a:xfrm>
            <a:off x="566928" y="3657600"/>
            <a:ext cx="3566160" cy="2194560"/>
          </a:xfrm>
          <a:prstGeom prst="roundRect">
            <a:avLst>
              <a:gd fmla="val 375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9"/>
          <p:cNvSpPr/>
          <p:nvPr/>
        </p:nvSpPr>
        <p:spPr>
          <a:xfrm>
            <a:off x="822960" y="38953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9"/>
          <p:cNvSpPr/>
          <p:nvPr/>
        </p:nvSpPr>
        <p:spPr>
          <a:xfrm>
            <a:off x="822960" y="3895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522" name="Google Shape;522;p9"/>
          <p:cNvSpPr/>
          <p:nvPr/>
        </p:nvSpPr>
        <p:spPr>
          <a:xfrm>
            <a:off x="1408176" y="38770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Natural language processing</a:t>
            </a:r>
            <a:endParaRPr b="0" i="0" sz="1350" u="none" cap="none" strike="noStrike">
              <a:solidFill>
                <a:schemeClr val="dk1"/>
              </a:solidFill>
              <a:latin typeface="Calibri"/>
              <a:ea typeface="Calibri"/>
              <a:cs typeface="Calibri"/>
              <a:sym typeface="Calibri"/>
            </a:endParaRPr>
          </a:p>
        </p:txBody>
      </p:sp>
      <p:sp>
        <p:nvSpPr>
          <p:cNvPr id="523" name="Google Shape;523;p9"/>
          <p:cNvSpPr/>
          <p:nvPr/>
        </p:nvSpPr>
        <p:spPr>
          <a:xfrm>
            <a:off x="841248" y="4443984"/>
            <a:ext cx="3017520"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Word embeddings such as GloVe place related words close together in a vector space, and encode analogies as directions in that space.</a:t>
            </a:r>
            <a:endParaRPr b="0" i="0" sz="1250" u="none" cap="none" strike="noStrike">
              <a:solidFill>
                <a:schemeClr val="dk1"/>
              </a:solidFill>
              <a:latin typeface="Calibri"/>
              <a:ea typeface="Calibri"/>
              <a:cs typeface="Calibri"/>
              <a:sym typeface="Calibri"/>
            </a:endParaRPr>
          </a:p>
        </p:txBody>
      </p:sp>
      <p:sp>
        <p:nvSpPr>
          <p:cNvPr id="524" name="Google Shape;524;p9"/>
          <p:cNvSpPr/>
          <p:nvPr/>
        </p:nvSpPr>
        <p:spPr>
          <a:xfrm>
            <a:off x="4370832" y="3657600"/>
            <a:ext cx="3566160" cy="2194560"/>
          </a:xfrm>
          <a:prstGeom prst="roundRect">
            <a:avLst>
              <a:gd fmla="val 375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9"/>
          <p:cNvSpPr/>
          <p:nvPr/>
        </p:nvSpPr>
        <p:spPr>
          <a:xfrm>
            <a:off x="4626864" y="38953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9"/>
          <p:cNvSpPr/>
          <p:nvPr/>
        </p:nvSpPr>
        <p:spPr>
          <a:xfrm>
            <a:off x="4626864" y="3895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527" name="Google Shape;527;p9"/>
          <p:cNvSpPr/>
          <p:nvPr/>
        </p:nvSpPr>
        <p:spPr>
          <a:xfrm>
            <a:off x="5212080" y="38770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Deep reinforcement learning</a:t>
            </a:r>
            <a:endParaRPr b="0" i="0" sz="1350" u="none" cap="none" strike="noStrike">
              <a:solidFill>
                <a:schemeClr val="dk1"/>
              </a:solidFill>
              <a:latin typeface="Calibri"/>
              <a:ea typeface="Calibri"/>
              <a:cs typeface="Calibri"/>
              <a:sym typeface="Calibri"/>
            </a:endParaRPr>
          </a:p>
        </p:txBody>
      </p:sp>
      <p:sp>
        <p:nvSpPr>
          <p:cNvPr id="528" name="Google Shape;528;p9"/>
          <p:cNvSpPr/>
          <p:nvPr/>
        </p:nvSpPr>
        <p:spPr>
          <a:xfrm>
            <a:off x="4645152" y="4443984"/>
            <a:ext cx="3017520"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Learning control policies for games and robotics directly from raw observations, with the reward signal as the only supervision.</a:t>
            </a:r>
            <a:endParaRPr b="0" i="0" sz="1250" u="none" cap="none" strike="noStrike">
              <a:solidFill>
                <a:schemeClr val="dk1"/>
              </a:solidFill>
              <a:latin typeface="Calibri"/>
              <a:ea typeface="Calibri"/>
              <a:cs typeface="Calibri"/>
              <a:sym typeface="Calibri"/>
            </a:endParaRPr>
          </a:p>
        </p:txBody>
      </p:sp>
      <p:sp>
        <p:nvSpPr>
          <p:cNvPr id="529" name="Google Shape;529;p9"/>
          <p:cNvSpPr/>
          <p:nvPr/>
        </p:nvSpPr>
        <p:spPr>
          <a:xfrm>
            <a:off x="8174736" y="3657600"/>
            <a:ext cx="3566160" cy="2194560"/>
          </a:xfrm>
          <a:prstGeom prst="roundRect">
            <a:avLst>
              <a:gd fmla="val 375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9"/>
          <p:cNvSpPr/>
          <p:nvPr/>
        </p:nvSpPr>
        <p:spPr>
          <a:xfrm>
            <a:off x="8430768" y="38953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9"/>
          <p:cNvSpPr/>
          <p:nvPr/>
        </p:nvSpPr>
        <p:spPr>
          <a:xfrm>
            <a:off x="8430768" y="3895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532" name="Google Shape;532;p9"/>
          <p:cNvSpPr/>
          <p:nvPr/>
        </p:nvSpPr>
        <p:spPr>
          <a:xfrm>
            <a:off x="9015984" y="38770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Generative models &amp; GANs</a:t>
            </a:r>
            <a:endParaRPr b="0" i="0" sz="1350" u="none" cap="none" strike="noStrike">
              <a:solidFill>
                <a:schemeClr val="dk1"/>
              </a:solidFill>
              <a:latin typeface="Calibri"/>
              <a:ea typeface="Calibri"/>
              <a:cs typeface="Calibri"/>
              <a:sym typeface="Calibri"/>
            </a:endParaRPr>
          </a:p>
        </p:txBody>
      </p:sp>
      <p:sp>
        <p:nvSpPr>
          <p:cNvPr id="533" name="Google Shape;533;p9"/>
          <p:cNvSpPr/>
          <p:nvPr/>
        </p:nvSpPr>
        <p:spPr>
          <a:xfrm>
            <a:off x="8449056" y="4443984"/>
            <a:ext cx="3017520" cy="122529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Two networks trained against each other: image-to-image translation such as horse ↔ zebra, super-resolution, and image synthesis.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538" name="Shape 538"/>
        <p:cNvGrpSpPr/>
        <p:nvPr/>
      </p:nvGrpSpPr>
      <p:grpSpPr>
        <a:xfrm>
          <a:off x="0" y="0"/>
          <a:ext cx="0" cy="0"/>
          <a:chOff x="0" y="0"/>
          <a:chExt cx="0" cy="0"/>
        </a:xfrm>
      </p:grpSpPr>
      <p:cxnSp>
        <p:nvCxnSpPr>
          <p:cNvPr id="539" name="Google Shape;539;p14"/>
          <p:cNvCxnSpPr/>
          <p:nvPr/>
        </p:nvCxnSpPr>
        <p:spPr>
          <a:xfrm flipH="1" rot="10800000">
            <a:off x="7955280" y="1700784"/>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540" name="Google Shape;540;p14"/>
          <p:cNvCxnSpPr/>
          <p:nvPr/>
        </p:nvCxnSpPr>
        <p:spPr>
          <a:xfrm>
            <a:off x="7955280" y="211226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541" name="Google Shape;541;p14"/>
          <p:cNvCxnSpPr/>
          <p:nvPr/>
        </p:nvCxnSpPr>
        <p:spPr>
          <a:xfrm>
            <a:off x="7955280" y="2112264"/>
            <a:ext cx="1219200" cy="1810512"/>
          </a:xfrm>
          <a:prstGeom prst="straightConnector1">
            <a:avLst/>
          </a:prstGeom>
          <a:noFill/>
          <a:ln cap="flat" cmpd="sng" w="9525">
            <a:solidFill>
              <a:srgbClr val="9C8CC4"/>
            </a:solidFill>
            <a:prstDash val="solid"/>
            <a:round/>
            <a:headEnd len="sm" w="sm" type="none"/>
            <a:tailEnd len="sm" w="sm" type="none"/>
          </a:ln>
        </p:spPr>
      </p:cxnSp>
      <p:cxnSp>
        <p:nvCxnSpPr>
          <p:cNvPr id="542" name="Google Shape;542;p14"/>
          <p:cNvCxnSpPr/>
          <p:nvPr/>
        </p:nvCxnSpPr>
        <p:spPr>
          <a:xfrm>
            <a:off x="7955280" y="2112264"/>
            <a:ext cx="1219200" cy="2962656"/>
          </a:xfrm>
          <a:prstGeom prst="straightConnector1">
            <a:avLst/>
          </a:prstGeom>
          <a:noFill/>
          <a:ln cap="flat" cmpd="sng" w="9525">
            <a:solidFill>
              <a:srgbClr val="9C8CC4"/>
            </a:solidFill>
            <a:prstDash val="solid"/>
            <a:round/>
            <a:headEnd len="sm" w="sm" type="none"/>
            <a:tailEnd len="sm" w="sm" type="none"/>
          </a:ln>
        </p:spPr>
      </p:cxnSp>
      <p:cxnSp>
        <p:nvCxnSpPr>
          <p:cNvPr id="543" name="Google Shape;543;p14"/>
          <p:cNvCxnSpPr/>
          <p:nvPr/>
        </p:nvCxnSpPr>
        <p:spPr>
          <a:xfrm flipH="1" rot="10800000">
            <a:off x="7955280" y="1700784"/>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544" name="Google Shape;544;p14"/>
          <p:cNvCxnSpPr/>
          <p:nvPr/>
        </p:nvCxnSpPr>
        <p:spPr>
          <a:xfrm flipH="1" rot="10800000">
            <a:off x="7955280" y="2770632"/>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545" name="Google Shape;545;p14"/>
          <p:cNvCxnSpPr/>
          <p:nvPr/>
        </p:nvCxnSpPr>
        <p:spPr>
          <a:xfrm>
            <a:off x="7955280" y="3429000"/>
            <a:ext cx="1219200" cy="493776"/>
          </a:xfrm>
          <a:prstGeom prst="straightConnector1">
            <a:avLst/>
          </a:prstGeom>
          <a:noFill/>
          <a:ln cap="flat" cmpd="sng" w="9525">
            <a:solidFill>
              <a:srgbClr val="9C8CC4"/>
            </a:solidFill>
            <a:prstDash val="solid"/>
            <a:round/>
            <a:headEnd len="sm" w="sm" type="none"/>
            <a:tailEnd len="sm" w="sm" type="none"/>
          </a:ln>
        </p:spPr>
      </p:cxnSp>
      <p:cxnSp>
        <p:nvCxnSpPr>
          <p:cNvPr id="546" name="Google Shape;546;p14"/>
          <p:cNvCxnSpPr/>
          <p:nvPr/>
        </p:nvCxnSpPr>
        <p:spPr>
          <a:xfrm>
            <a:off x="7955280" y="3429000"/>
            <a:ext cx="1219200" cy="1645920"/>
          </a:xfrm>
          <a:prstGeom prst="straightConnector1">
            <a:avLst/>
          </a:prstGeom>
          <a:noFill/>
          <a:ln cap="flat" cmpd="sng" w="9525">
            <a:solidFill>
              <a:srgbClr val="9C8CC4"/>
            </a:solidFill>
            <a:prstDash val="solid"/>
            <a:round/>
            <a:headEnd len="sm" w="sm" type="none"/>
            <a:tailEnd len="sm" w="sm" type="none"/>
          </a:ln>
        </p:spPr>
      </p:cxnSp>
      <p:cxnSp>
        <p:nvCxnSpPr>
          <p:cNvPr id="547" name="Google Shape;547;p14"/>
          <p:cNvCxnSpPr/>
          <p:nvPr/>
        </p:nvCxnSpPr>
        <p:spPr>
          <a:xfrm flipH="1" rot="10800000">
            <a:off x="7955280" y="1700784"/>
            <a:ext cx="1219200" cy="3044952"/>
          </a:xfrm>
          <a:prstGeom prst="straightConnector1">
            <a:avLst/>
          </a:prstGeom>
          <a:noFill/>
          <a:ln cap="flat" cmpd="sng" w="9525">
            <a:solidFill>
              <a:srgbClr val="9C8CC4"/>
            </a:solidFill>
            <a:prstDash val="solid"/>
            <a:round/>
            <a:headEnd len="sm" w="sm" type="none"/>
            <a:tailEnd len="sm" w="sm" type="none"/>
          </a:ln>
        </p:spPr>
      </p:cxnSp>
      <p:cxnSp>
        <p:nvCxnSpPr>
          <p:cNvPr id="548" name="Google Shape;548;p14"/>
          <p:cNvCxnSpPr/>
          <p:nvPr/>
        </p:nvCxnSpPr>
        <p:spPr>
          <a:xfrm flipH="1" rot="10800000">
            <a:off x="7955280" y="277063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549" name="Google Shape;549;p14"/>
          <p:cNvCxnSpPr/>
          <p:nvPr/>
        </p:nvCxnSpPr>
        <p:spPr>
          <a:xfrm flipH="1" rot="10800000">
            <a:off x="7955280" y="3922776"/>
            <a:ext cx="1219200" cy="822960"/>
          </a:xfrm>
          <a:prstGeom prst="straightConnector1">
            <a:avLst/>
          </a:prstGeom>
          <a:noFill/>
          <a:ln cap="flat" cmpd="sng" w="9525">
            <a:solidFill>
              <a:srgbClr val="9C8CC4"/>
            </a:solidFill>
            <a:prstDash val="solid"/>
            <a:round/>
            <a:headEnd len="sm" w="sm" type="none"/>
            <a:tailEnd len="sm" w="sm" type="none"/>
          </a:ln>
        </p:spPr>
      </p:cxnSp>
      <p:cxnSp>
        <p:nvCxnSpPr>
          <p:cNvPr id="550" name="Google Shape;550;p14"/>
          <p:cNvCxnSpPr/>
          <p:nvPr/>
        </p:nvCxnSpPr>
        <p:spPr>
          <a:xfrm>
            <a:off x="7955280" y="4745736"/>
            <a:ext cx="1219200" cy="329184"/>
          </a:xfrm>
          <a:prstGeom prst="straightConnector1">
            <a:avLst/>
          </a:prstGeom>
          <a:noFill/>
          <a:ln cap="flat" cmpd="sng" w="9525">
            <a:solidFill>
              <a:srgbClr val="9C8CC4"/>
            </a:solidFill>
            <a:prstDash val="solid"/>
            <a:round/>
            <a:headEnd len="sm" w="sm" type="none"/>
            <a:tailEnd len="sm" w="sm" type="none"/>
          </a:ln>
        </p:spPr>
      </p:cxnSp>
      <p:cxnSp>
        <p:nvCxnSpPr>
          <p:cNvPr id="551" name="Google Shape;551;p14"/>
          <p:cNvCxnSpPr/>
          <p:nvPr/>
        </p:nvCxnSpPr>
        <p:spPr>
          <a:xfrm>
            <a:off x="9174480" y="170078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552" name="Google Shape;552;p14"/>
          <p:cNvCxnSpPr/>
          <p:nvPr/>
        </p:nvCxnSpPr>
        <p:spPr>
          <a:xfrm>
            <a:off x="9174480" y="1700784"/>
            <a:ext cx="1219200" cy="1933956"/>
          </a:xfrm>
          <a:prstGeom prst="straightConnector1">
            <a:avLst/>
          </a:prstGeom>
          <a:noFill/>
          <a:ln cap="flat" cmpd="sng" w="9525">
            <a:solidFill>
              <a:srgbClr val="9C8CC4"/>
            </a:solidFill>
            <a:prstDash val="solid"/>
            <a:round/>
            <a:headEnd len="sm" w="sm" type="none"/>
            <a:tailEnd len="sm" w="sm" type="none"/>
          </a:ln>
        </p:spPr>
      </p:cxnSp>
      <p:cxnSp>
        <p:nvCxnSpPr>
          <p:cNvPr id="553" name="Google Shape;553;p14"/>
          <p:cNvCxnSpPr/>
          <p:nvPr/>
        </p:nvCxnSpPr>
        <p:spPr>
          <a:xfrm>
            <a:off x="9174480" y="1700784"/>
            <a:ext cx="1219200" cy="3127248"/>
          </a:xfrm>
          <a:prstGeom prst="straightConnector1">
            <a:avLst/>
          </a:prstGeom>
          <a:noFill/>
          <a:ln cap="flat" cmpd="sng" w="9525">
            <a:solidFill>
              <a:srgbClr val="9C8CC4"/>
            </a:solidFill>
            <a:prstDash val="solid"/>
            <a:round/>
            <a:headEnd len="sm" w="sm" type="none"/>
            <a:tailEnd len="sm" w="sm" type="none"/>
          </a:ln>
        </p:spPr>
      </p:cxnSp>
      <p:cxnSp>
        <p:nvCxnSpPr>
          <p:cNvPr id="554" name="Google Shape;554;p14"/>
          <p:cNvCxnSpPr/>
          <p:nvPr/>
        </p:nvCxnSpPr>
        <p:spPr>
          <a:xfrm flipH="1" rot="10800000">
            <a:off x="9174480" y="2359152"/>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555" name="Google Shape;555;p14"/>
          <p:cNvCxnSpPr/>
          <p:nvPr/>
        </p:nvCxnSpPr>
        <p:spPr>
          <a:xfrm>
            <a:off x="9174480" y="2770632"/>
            <a:ext cx="1219200" cy="864108"/>
          </a:xfrm>
          <a:prstGeom prst="straightConnector1">
            <a:avLst/>
          </a:prstGeom>
          <a:noFill/>
          <a:ln cap="flat" cmpd="sng" w="9525">
            <a:solidFill>
              <a:srgbClr val="9C8CC4"/>
            </a:solidFill>
            <a:prstDash val="solid"/>
            <a:round/>
            <a:headEnd len="sm" w="sm" type="none"/>
            <a:tailEnd len="sm" w="sm" type="none"/>
          </a:ln>
        </p:spPr>
      </p:cxnSp>
      <p:cxnSp>
        <p:nvCxnSpPr>
          <p:cNvPr id="556" name="Google Shape;556;p14"/>
          <p:cNvCxnSpPr/>
          <p:nvPr/>
        </p:nvCxnSpPr>
        <p:spPr>
          <a:xfrm>
            <a:off x="9174480" y="2770632"/>
            <a:ext cx="1219200" cy="2057400"/>
          </a:xfrm>
          <a:prstGeom prst="straightConnector1">
            <a:avLst/>
          </a:prstGeom>
          <a:noFill/>
          <a:ln cap="flat" cmpd="sng" w="9525">
            <a:solidFill>
              <a:srgbClr val="9C8CC4"/>
            </a:solidFill>
            <a:prstDash val="solid"/>
            <a:round/>
            <a:headEnd len="sm" w="sm" type="none"/>
            <a:tailEnd len="sm" w="sm" type="none"/>
          </a:ln>
        </p:spPr>
      </p:cxnSp>
      <p:cxnSp>
        <p:nvCxnSpPr>
          <p:cNvPr id="557" name="Google Shape;557;p14"/>
          <p:cNvCxnSpPr/>
          <p:nvPr/>
        </p:nvCxnSpPr>
        <p:spPr>
          <a:xfrm flipH="1" rot="10800000">
            <a:off x="9174480" y="2359152"/>
            <a:ext cx="1219200" cy="1563624"/>
          </a:xfrm>
          <a:prstGeom prst="straightConnector1">
            <a:avLst/>
          </a:prstGeom>
          <a:noFill/>
          <a:ln cap="flat" cmpd="sng" w="9525">
            <a:solidFill>
              <a:srgbClr val="9C8CC4"/>
            </a:solidFill>
            <a:prstDash val="solid"/>
            <a:round/>
            <a:headEnd len="sm" w="sm" type="none"/>
            <a:tailEnd len="sm" w="sm" type="none"/>
          </a:ln>
        </p:spPr>
      </p:cxnSp>
      <p:cxnSp>
        <p:nvCxnSpPr>
          <p:cNvPr id="558" name="Google Shape;558;p14"/>
          <p:cNvCxnSpPr/>
          <p:nvPr/>
        </p:nvCxnSpPr>
        <p:spPr>
          <a:xfrm flipH="1" rot="10800000">
            <a:off x="9174480" y="3634740"/>
            <a:ext cx="1219200" cy="288036"/>
          </a:xfrm>
          <a:prstGeom prst="straightConnector1">
            <a:avLst/>
          </a:prstGeom>
          <a:noFill/>
          <a:ln cap="flat" cmpd="sng" w="9525">
            <a:solidFill>
              <a:srgbClr val="9C8CC4"/>
            </a:solidFill>
            <a:prstDash val="solid"/>
            <a:round/>
            <a:headEnd len="sm" w="sm" type="none"/>
            <a:tailEnd len="sm" w="sm" type="none"/>
          </a:ln>
        </p:spPr>
      </p:cxnSp>
      <p:cxnSp>
        <p:nvCxnSpPr>
          <p:cNvPr id="559" name="Google Shape;559;p14"/>
          <p:cNvCxnSpPr/>
          <p:nvPr/>
        </p:nvCxnSpPr>
        <p:spPr>
          <a:xfrm>
            <a:off x="9174480" y="3922776"/>
            <a:ext cx="1219200" cy="905256"/>
          </a:xfrm>
          <a:prstGeom prst="straightConnector1">
            <a:avLst/>
          </a:prstGeom>
          <a:noFill/>
          <a:ln cap="flat" cmpd="sng" w="9525">
            <a:solidFill>
              <a:srgbClr val="9C8CC4"/>
            </a:solidFill>
            <a:prstDash val="solid"/>
            <a:round/>
            <a:headEnd len="sm" w="sm" type="none"/>
            <a:tailEnd len="sm" w="sm" type="none"/>
          </a:ln>
        </p:spPr>
      </p:cxnSp>
      <p:cxnSp>
        <p:nvCxnSpPr>
          <p:cNvPr id="560" name="Google Shape;560;p14"/>
          <p:cNvCxnSpPr/>
          <p:nvPr/>
        </p:nvCxnSpPr>
        <p:spPr>
          <a:xfrm flipH="1" rot="10800000">
            <a:off x="9174480" y="2359152"/>
            <a:ext cx="1219200" cy="2715768"/>
          </a:xfrm>
          <a:prstGeom prst="straightConnector1">
            <a:avLst/>
          </a:prstGeom>
          <a:noFill/>
          <a:ln cap="flat" cmpd="sng" w="9525">
            <a:solidFill>
              <a:srgbClr val="9C8CC4"/>
            </a:solidFill>
            <a:prstDash val="solid"/>
            <a:round/>
            <a:headEnd len="sm" w="sm" type="none"/>
            <a:tailEnd len="sm" w="sm" type="none"/>
          </a:ln>
        </p:spPr>
      </p:cxnSp>
      <p:cxnSp>
        <p:nvCxnSpPr>
          <p:cNvPr id="561" name="Google Shape;561;p14"/>
          <p:cNvCxnSpPr/>
          <p:nvPr/>
        </p:nvCxnSpPr>
        <p:spPr>
          <a:xfrm flipH="1" rot="10800000">
            <a:off x="9174480" y="3634740"/>
            <a:ext cx="1219200" cy="1440180"/>
          </a:xfrm>
          <a:prstGeom prst="straightConnector1">
            <a:avLst/>
          </a:prstGeom>
          <a:noFill/>
          <a:ln cap="flat" cmpd="sng" w="9525">
            <a:solidFill>
              <a:srgbClr val="9C8CC4"/>
            </a:solidFill>
            <a:prstDash val="solid"/>
            <a:round/>
            <a:headEnd len="sm" w="sm" type="none"/>
            <a:tailEnd len="sm" w="sm" type="none"/>
          </a:ln>
        </p:spPr>
      </p:cxnSp>
      <p:cxnSp>
        <p:nvCxnSpPr>
          <p:cNvPr id="562" name="Google Shape;562;p14"/>
          <p:cNvCxnSpPr/>
          <p:nvPr/>
        </p:nvCxnSpPr>
        <p:spPr>
          <a:xfrm flipH="1" rot="10800000">
            <a:off x="9174480" y="4828032"/>
            <a:ext cx="1219200" cy="246888"/>
          </a:xfrm>
          <a:prstGeom prst="straightConnector1">
            <a:avLst/>
          </a:prstGeom>
          <a:noFill/>
          <a:ln cap="flat" cmpd="sng" w="9525">
            <a:solidFill>
              <a:srgbClr val="9C8CC4"/>
            </a:solidFill>
            <a:prstDash val="solid"/>
            <a:round/>
            <a:headEnd len="sm" w="sm" type="none"/>
            <a:tailEnd len="sm" w="sm" type="none"/>
          </a:ln>
        </p:spPr>
      </p:cxnSp>
      <p:cxnSp>
        <p:nvCxnSpPr>
          <p:cNvPr id="563" name="Google Shape;563;p14"/>
          <p:cNvCxnSpPr/>
          <p:nvPr/>
        </p:nvCxnSpPr>
        <p:spPr>
          <a:xfrm>
            <a:off x="10393680" y="2359152"/>
            <a:ext cx="1219200" cy="740664"/>
          </a:xfrm>
          <a:prstGeom prst="straightConnector1">
            <a:avLst/>
          </a:prstGeom>
          <a:noFill/>
          <a:ln cap="flat" cmpd="sng" w="9525">
            <a:solidFill>
              <a:srgbClr val="9C8CC4"/>
            </a:solidFill>
            <a:prstDash val="solid"/>
            <a:round/>
            <a:headEnd len="sm" w="sm" type="none"/>
            <a:tailEnd len="sm" w="sm" type="none"/>
          </a:ln>
        </p:spPr>
      </p:cxnSp>
      <p:cxnSp>
        <p:nvCxnSpPr>
          <p:cNvPr id="564" name="Google Shape;564;p14"/>
          <p:cNvCxnSpPr/>
          <p:nvPr/>
        </p:nvCxnSpPr>
        <p:spPr>
          <a:xfrm>
            <a:off x="10393680" y="235915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565" name="Google Shape;565;p14"/>
          <p:cNvCxnSpPr/>
          <p:nvPr/>
        </p:nvCxnSpPr>
        <p:spPr>
          <a:xfrm flipH="1" rot="10800000">
            <a:off x="10393680" y="3099816"/>
            <a:ext cx="1219200" cy="534924"/>
          </a:xfrm>
          <a:prstGeom prst="straightConnector1">
            <a:avLst/>
          </a:prstGeom>
          <a:noFill/>
          <a:ln cap="flat" cmpd="sng" w="9525">
            <a:solidFill>
              <a:srgbClr val="9C8CC4"/>
            </a:solidFill>
            <a:prstDash val="solid"/>
            <a:round/>
            <a:headEnd len="sm" w="sm" type="none"/>
            <a:tailEnd len="sm" w="sm" type="none"/>
          </a:ln>
        </p:spPr>
      </p:cxnSp>
      <p:cxnSp>
        <p:nvCxnSpPr>
          <p:cNvPr id="566" name="Google Shape;566;p14"/>
          <p:cNvCxnSpPr/>
          <p:nvPr/>
        </p:nvCxnSpPr>
        <p:spPr>
          <a:xfrm>
            <a:off x="10393680" y="3634740"/>
            <a:ext cx="1219200" cy="699516"/>
          </a:xfrm>
          <a:prstGeom prst="straightConnector1">
            <a:avLst/>
          </a:prstGeom>
          <a:noFill/>
          <a:ln cap="flat" cmpd="sng" w="9525">
            <a:solidFill>
              <a:srgbClr val="9C8CC4"/>
            </a:solidFill>
            <a:prstDash val="solid"/>
            <a:round/>
            <a:headEnd len="sm" w="sm" type="none"/>
            <a:tailEnd len="sm" w="sm" type="none"/>
          </a:ln>
        </p:spPr>
      </p:cxnSp>
      <p:cxnSp>
        <p:nvCxnSpPr>
          <p:cNvPr id="567" name="Google Shape;567;p14"/>
          <p:cNvCxnSpPr/>
          <p:nvPr/>
        </p:nvCxnSpPr>
        <p:spPr>
          <a:xfrm flipH="1" rot="10800000">
            <a:off x="10393680" y="3099816"/>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568" name="Google Shape;568;p14"/>
          <p:cNvCxnSpPr/>
          <p:nvPr/>
        </p:nvCxnSpPr>
        <p:spPr>
          <a:xfrm flipH="1" rot="10800000">
            <a:off x="10393680" y="4334256"/>
            <a:ext cx="1219200" cy="493776"/>
          </a:xfrm>
          <a:prstGeom prst="straightConnector1">
            <a:avLst/>
          </a:prstGeom>
          <a:noFill/>
          <a:ln cap="flat" cmpd="sng" w="9525">
            <a:solidFill>
              <a:srgbClr val="9C8CC4"/>
            </a:solidFill>
            <a:prstDash val="solid"/>
            <a:round/>
            <a:headEnd len="sm" w="sm" type="none"/>
            <a:tailEnd len="sm" w="sm" type="none"/>
          </a:ln>
        </p:spPr>
      </p:cxnSp>
      <p:sp>
        <p:nvSpPr>
          <p:cNvPr id="569" name="Google Shape;569;p14"/>
          <p:cNvSpPr/>
          <p:nvPr/>
        </p:nvSpPr>
        <p:spPr>
          <a:xfrm>
            <a:off x="7886700" y="20436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4"/>
          <p:cNvSpPr/>
          <p:nvPr/>
        </p:nvSpPr>
        <p:spPr>
          <a:xfrm>
            <a:off x="788670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4"/>
          <p:cNvSpPr/>
          <p:nvPr/>
        </p:nvSpPr>
        <p:spPr>
          <a:xfrm>
            <a:off x="7886700" y="467715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a:off x="9105900" y="163220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4"/>
          <p:cNvSpPr/>
          <p:nvPr/>
        </p:nvSpPr>
        <p:spPr>
          <a:xfrm>
            <a:off x="9105900" y="27020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4"/>
          <p:cNvSpPr/>
          <p:nvPr/>
        </p:nvSpPr>
        <p:spPr>
          <a:xfrm>
            <a:off x="9105900" y="385419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4"/>
          <p:cNvSpPr/>
          <p:nvPr/>
        </p:nvSpPr>
        <p:spPr>
          <a:xfrm>
            <a:off x="9105900" y="50063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4"/>
          <p:cNvSpPr/>
          <p:nvPr/>
        </p:nvSpPr>
        <p:spPr>
          <a:xfrm>
            <a:off x="10325100" y="229057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4"/>
          <p:cNvSpPr/>
          <p:nvPr/>
        </p:nvSpPr>
        <p:spPr>
          <a:xfrm>
            <a:off x="10325100" y="356616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4"/>
          <p:cNvSpPr/>
          <p:nvPr/>
        </p:nvSpPr>
        <p:spPr>
          <a:xfrm>
            <a:off x="10325100" y="47594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11544300" y="303123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4"/>
          <p:cNvSpPr/>
          <p:nvPr/>
        </p:nvSpPr>
        <p:spPr>
          <a:xfrm>
            <a:off x="11544300" y="426567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4"/>
          <p:cNvSpPr/>
          <p:nvPr/>
        </p:nvSpPr>
        <p:spPr>
          <a:xfrm>
            <a:off x="566928" y="1417320"/>
            <a:ext cx="2743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9600"/>
              <a:buFont typeface="Cambria"/>
              <a:buNone/>
            </a:pPr>
            <a:r>
              <a:rPr b="1" i="0" lang="en-US" sz="9600" u="none" cap="none" strike="noStrike">
                <a:solidFill>
                  <a:srgbClr val="E8833A"/>
                </a:solidFill>
                <a:latin typeface="Cambria"/>
                <a:ea typeface="Cambria"/>
                <a:cs typeface="Cambria"/>
                <a:sym typeface="Cambria"/>
              </a:rPr>
              <a:t>02</a:t>
            </a:r>
            <a:endParaRPr b="0" i="0" sz="9600" u="none" cap="none" strike="noStrike">
              <a:solidFill>
                <a:schemeClr val="dk1"/>
              </a:solidFill>
              <a:latin typeface="Calibri"/>
              <a:ea typeface="Calibri"/>
              <a:cs typeface="Calibri"/>
              <a:sym typeface="Calibri"/>
            </a:endParaRPr>
          </a:p>
        </p:txBody>
      </p:sp>
      <p:sp>
        <p:nvSpPr>
          <p:cNvPr id="582" name="Google Shape;582;p14"/>
          <p:cNvSpPr/>
          <p:nvPr/>
        </p:nvSpPr>
        <p:spPr>
          <a:xfrm>
            <a:off x="566928" y="2880360"/>
            <a:ext cx="67665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Machine learning essentials</a:t>
            </a:r>
            <a:endParaRPr b="0" i="0" sz="4000" u="none" cap="none" strike="noStrike">
              <a:solidFill>
                <a:schemeClr val="dk1"/>
              </a:solidFill>
              <a:latin typeface="Calibri"/>
              <a:ea typeface="Calibri"/>
              <a:cs typeface="Calibri"/>
              <a:sym typeface="Calibri"/>
            </a:endParaRPr>
          </a:p>
        </p:txBody>
      </p:sp>
      <p:sp>
        <p:nvSpPr>
          <p:cNvPr id="583" name="Google Shape;583;p14"/>
          <p:cNvSpPr/>
          <p:nvPr/>
        </p:nvSpPr>
        <p:spPr>
          <a:xfrm>
            <a:off x="566928" y="388620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600"/>
              <a:buFont typeface="Calibri"/>
              <a:buNone/>
            </a:pPr>
            <a:r>
              <a:rPr b="0" i="1" lang="en-US" sz="1600" u="none" cap="none" strike="noStrike">
                <a:solidFill>
                  <a:srgbClr val="9C8CC4"/>
                </a:solidFill>
                <a:latin typeface="Calibri"/>
                <a:ea typeface="Calibri"/>
                <a:cs typeface="Calibri"/>
                <a:sym typeface="Calibri"/>
              </a:rPr>
              <a:t>The vocabulary we need before going deep</a:t>
            </a:r>
            <a:endParaRPr b="0" i="0" sz="1600" u="none" cap="none" strike="noStrike">
              <a:solidFill>
                <a:schemeClr val="dk1"/>
              </a:solidFill>
              <a:latin typeface="Calibri"/>
              <a:ea typeface="Calibri"/>
              <a:cs typeface="Calibri"/>
              <a:sym typeface="Calibri"/>
            </a:endParaRPr>
          </a:p>
        </p:txBody>
      </p:sp>
      <p:sp>
        <p:nvSpPr>
          <p:cNvPr id="584" name="Google Shape;584;p14"/>
          <p:cNvSpPr/>
          <p:nvPr/>
        </p:nvSpPr>
        <p:spPr>
          <a:xfrm>
            <a:off x="612648" y="4480560"/>
            <a:ext cx="6400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Capacity, underfitting and overfitting</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Hyperparameters, validation sets and cross-validation</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Estimators, bias, variance and consistency</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1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ML ESSENTIALS</a:t>
            </a:r>
            <a:endParaRPr b="0" i="0" sz="1050" u="none" cap="none" strike="noStrike">
              <a:solidFill>
                <a:schemeClr val="dk1"/>
              </a:solidFill>
              <a:latin typeface="Calibri"/>
              <a:ea typeface="Calibri"/>
              <a:cs typeface="Calibri"/>
              <a:sym typeface="Calibri"/>
            </a:endParaRPr>
          </a:p>
        </p:txBody>
      </p:sp>
      <p:sp>
        <p:nvSpPr>
          <p:cNvPr id="591" name="Google Shape;591;p1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What do we mean by “learning”?</a:t>
            </a:r>
            <a:endParaRPr b="0" i="0" sz="2800" u="none" cap="none" strike="noStrike">
              <a:solidFill>
                <a:schemeClr val="dk1"/>
              </a:solidFill>
              <a:latin typeface="Calibri"/>
              <a:ea typeface="Calibri"/>
              <a:cs typeface="Calibri"/>
              <a:sym typeface="Calibri"/>
            </a:endParaRPr>
          </a:p>
        </p:txBody>
      </p:sp>
      <p:sp>
        <p:nvSpPr>
          <p:cNvPr id="592" name="Google Shape;592;p15"/>
          <p:cNvSpPr/>
          <p:nvPr/>
        </p:nvSpPr>
        <p:spPr>
          <a:xfrm>
            <a:off x="566928" y="1280160"/>
            <a:ext cx="11057839" cy="621792"/>
          </a:xfrm>
          <a:prstGeom prst="roundRect">
            <a:avLst>
              <a:gd fmla="val 13235"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5"/>
          <p:cNvSpPr/>
          <p:nvPr/>
        </p:nvSpPr>
        <p:spPr>
          <a:xfrm>
            <a:off x="704088" y="1280160"/>
            <a:ext cx="10783519"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A program learns when its performance at a task, measured by some metric, improves with experience.   (Mitchell, 1997)</a:t>
            </a:r>
            <a:endParaRPr b="0" i="0" sz="1500" u="none" cap="none" strike="noStrike">
              <a:solidFill>
                <a:schemeClr val="dk1"/>
              </a:solidFill>
              <a:latin typeface="Calibri"/>
              <a:ea typeface="Calibri"/>
              <a:cs typeface="Calibri"/>
              <a:sym typeface="Calibri"/>
            </a:endParaRPr>
          </a:p>
        </p:txBody>
      </p:sp>
      <p:sp>
        <p:nvSpPr>
          <p:cNvPr id="594" name="Google Shape;594;p15"/>
          <p:cNvSpPr/>
          <p:nvPr/>
        </p:nvSpPr>
        <p:spPr>
          <a:xfrm>
            <a:off x="566928" y="2148840"/>
            <a:ext cx="3566160" cy="2743200"/>
          </a:xfrm>
          <a:prstGeom prst="roundRect">
            <a:avLst>
              <a:gd fmla="val 3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822960" y="2386584"/>
            <a:ext cx="420624" cy="420624"/>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822960" y="238658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a:t>
            </a:r>
            <a:endParaRPr b="0" i="0" sz="1300" u="none" cap="none" strike="noStrike">
              <a:solidFill>
                <a:schemeClr val="dk1"/>
              </a:solidFill>
              <a:latin typeface="Calibri"/>
              <a:ea typeface="Calibri"/>
              <a:cs typeface="Calibri"/>
              <a:sym typeface="Calibri"/>
            </a:endParaRPr>
          </a:p>
        </p:txBody>
      </p:sp>
      <p:sp>
        <p:nvSpPr>
          <p:cNvPr id="597" name="Google Shape;597;p15"/>
          <p:cNvSpPr/>
          <p:nvPr/>
        </p:nvSpPr>
        <p:spPr>
          <a:xfrm>
            <a:off x="1408176" y="236829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task</a:t>
            </a:r>
            <a:endParaRPr b="0" i="0" sz="1500" u="none" cap="none" strike="noStrike">
              <a:solidFill>
                <a:schemeClr val="dk1"/>
              </a:solidFill>
              <a:latin typeface="Calibri"/>
              <a:ea typeface="Calibri"/>
              <a:cs typeface="Calibri"/>
              <a:sym typeface="Calibri"/>
            </a:endParaRPr>
          </a:p>
        </p:txBody>
      </p:sp>
      <p:sp>
        <p:nvSpPr>
          <p:cNvPr id="598" name="Google Shape;598;p15"/>
          <p:cNvSpPr/>
          <p:nvPr/>
        </p:nvSpPr>
        <p:spPr>
          <a:xfrm>
            <a:off x="841248" y="2935224"/>
            <a:ext cx="3017520" cy="17739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Described in terms of how the system should process an example — a collection of features measured quantitatively from some object or event.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Classification · regression · transcription · machine translation · anomaly detection.</a:t>
            </a:r>
            <a:endParaRPr b="0" i="0" sz="1250" u="none" cap="none" strike="noStrike">
              <a:solidFill>
                <a:schemeClr val="dk1"/>
              </a:solidFill>
              <a:latin typeface="Calibri"/>
              <a:ea typeface="Calibri"/>
              <a:cs typeface="Calibri"/>
              <a:sym typeface="Calibri"/>
            </a:endParaRPr>
          </a:p>
        </p:txBody>
      </p:sp>
      <p:sp>
        <p:nvSpPr>
          <p:cNvPr id="599" name="Google Shape;599;p15"/>
          <p:cNvSpPr/>
          <p:nvPr/>
        </p:nvSpPr>
        <p:spPr>
          <a:xfrm>
            <a:off x="4370832" y="2148840"/>
            <a:ext cx="3566160" cy="2743200"/>
          </a:xfrm>
          <a:prstGeom prst="roundRect">
            <a:avLst>
              <a:gd fmla="val 3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5"/>
          <p:cNvSpPr/>
          <p:nvPr/>
        </p:nvSpPr>
        <p:spPr>
          <a:xfrm>
            <a:off x="4626864" y="2386584"/>
            <a:ext cx="420624" cy="420624"/>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5"/>
          <p:cNvSpPr/>
          <p:nvPr/>
        </p:nvSpPr>
        <p:spPr>
          <a:xfrm>
            <a:off x="4626864" y="238658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a:t>
            </a:r>
            <a:endParaRPr b="0" i="0" sz="1300" u="none" cap="none" strike="noStrike">
              <a:solidFill>
                <a:schemeClr val="dk1"/>
              </a:solidFill>
              <a:latin typeface="Calibri"/>
              <a:ea typeface="Calibri"/>
              <a:cs typeface="Calibri"/>
              <a:sym typeface="Calibri"/>
            </a:endParaRPr>
          </a:p>
        </p:txBody>
      </p:sp>
      <p:sp>
        <p:nvSpPr>
          <p:cNvPr id="602" name="Google Shape;602;p15"/>
          <p:cNvSpPr/>
          <p:nvPr/>
        </p:nvSpPr>
        <p:spPr>
          <a:xfrm>
            <a:off x="5212080" y="236829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performance measure</a:t>
            </a:r>
            <a:endParaRPr b="0" i="0" sz="1500" u="none" cap="none" strike="noStrike">
              <a:solidFill>
                <a:schemeClr val="dk1"/>
              </a:solidFill>
              <a:latin typeface="Calibri"/>
              <a:ea typeface="Calibri"/>
              <a:cs typeface="Calibri"/>
              <a:sym typeface="Calibri"/>
            </a:endParaRPr>
          </a:p>
        </p:txBody>
      </p:sp>
      <p:sp>
        <p:nvSpPr>
          <p:cNvPr id="603" name="Google Shape;603;p15"/>
          <p:cNvSpPr/>
          <p:nvPr/>
        </p:nvSpPr>
        <p:spPr>
          <a:xfrm>
            <a:off x="4645152" y="2935224"/>
            <a:ext cx="3017520" cy="17739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 quantitative measure, specific to the task, of how well the system does.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Accuracy, error rate, log-likelihood — usually evaluated on data the model has never seen.</a:t>
            </a:r>
            <a:endParaRPr b="0" i="0" sz="1250" u="none" cap="none" strike="noStrike">
              <a:solidFill>
                <a:schemeClr val="dk1"/>
              </a:solidFill>
              <a:latin typeface="Calibri"/>
              <a:ea typeface="Calibri"/>
              <a:cs typeface="Calibri"/>
              <a:sym typeface="Calibri"/>
            </a:endParaRPr>
          </a:p>
        </p:txBody>
      </p:sp>
      <p:sp>
        <p:nvSpPr>
          <p:cNvPr id="604" name="Google Shape;604;p15"/>
          <p:cNvSpPr/>
          <p:nvPr/>
        </p:nvSpPr>
        <p:spPr>
          <a:xfrm>
            <a:off x="8174736" y="2148840"/>
            <a:ext cx="3566160" cy="2743200"/>
          </a:xfrm>
          <a:prstGeom prst="roundRect">
            <a:avLst>
              <a:gd fmla="val 3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8430768" y="2386584"/>
            <a:ext cx="420624" cy="420624"/>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8430768" y="238658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E</a:t>
            </a:r>
            <a:endParaRPr b="0" i="0" sz="1300" u="none" cap="none" strike="noStrike">
              <a:solidFill>
                <a:schemeClr val="dk1"/>
              </a:solidFill>
              <a:latin typeface="Calibri"/>
              <a:ea typeface="Calibri"/>
              <a:cs typeface="Calibri"/>
              <a:sym typeface="Calibri"/>
            </a:endParaRPr>
          </a:p>
        </p:txBody>
      </p:sp>
      <p:sp>
        <p:nvSpPr>
          <p:cNvPr id="607" name="Google Shape;607;p15"/>
          <p:cNvSpPr/>
          <p:nvPr/>
        </p:nvSpPr>
        <p:spPr>
          <a:xfrm>
            <a:off x="9015984" y="236829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experience</a:t>
            </a:r>
            <a:endParaRPr b="0" i="0" sz="1500" u="none" cap="none" strike="noStrike">
              <a:solidFill>
                <a:schemeClr val="dk1"/>
              </a:solidFill>
              <a:latin typeface="Calibri"/>
              <a:ea typeface="Calibri"/>
              <a:cs typeface="Calibri"/>
              <a:sym typeface="Calibri"/>
            </a:endParaRPr>
          </a:p>
        </p:txBody>
      </p:sp>
      <p:sp>
        <p:nvSpPr>
          <p:cNvPr id="608" name="Google Shape;608;p15"/>
          <p:cNvSpPr/>
          <p:nvPr/>
        </p:nvSpPr>
        <p:spPr>
          <a:xfrm>
            <a:off x="8449056" y="2935224"/>
            <a:ext cx="3017520" cy="17739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Most machine learning algorithms simply experience a dataset.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Supervised: examples paired with labels. Unsupervised: examples only.</a:t>
            </a:r>
            <a:endParaRPr b="0" i="0" sz="1250" u="none" cap="none" strike="noStrike">
              <a:solidFill>
                <a:schemeClr val="dk1"/>
              </a:solidFill>
              <a:latin typeface="Calibri"/>
              <a:ea typeface="Calibri"/>
              <a:cs typeface="Calibri"/>
              <a:sym typeface="Calibri"/>
            </a:endParaRPr>
          </a:p>
        </p:txBody>
      </p:sp>
      <p:sp>
        <p:nvSpPr>
          <p:cNvPr id="609" name="Google Shape;609;p15"/>
          <p:cNvSpPr/>
          <p:nvPr/>
        </p:nvSpPr>
        <p:spPr>
          <a:xfrm>
            <a:off x="566928" y="5029200"/>
            <a:ext cx="11057839" cy="731520"/>
          </a:xfrm>
          <a:prstGeom prst="roundRect">
            <a:avLst>
              <a:gd fmla="val 1125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5"/>
          <p:cNvSpPr/>
          <p:nvPr/>
        </p:nvSpPr>
        <p:spPr>
          <a:xfrm>
            <a:off x="886968" y="5029200"/>
            <a:ext cx="10417759"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E3F3"/>
              </a:buClr>
              <a:buSzPts val="1300"/>
              <a:buFont typeface="Calibri"/>
              <a:buNone/>
            </a:pPr>
            <a:r>
              <a:rPr b="0" i="0" lang="en-US" sz="1300" u="none" cap="none" strike="noStrike">
                <a:solidFill>
                  <a:srgbClr val="E9E3F3"/>
                </a:solidFill>
                <a:latin typeface="Calibri"/>
                <a:ea typeface="Calibri"/>
                <a:cs typeface="Calibri"/>
                <a:sym typeface="Calibri"/>
              </a:rPr>
              <a:t>In supervised deep learning: T is usually classification or regression, P is measured on data held out from training, and E is a large labelled dataset.</a:t>
            </a:r>
            <a:endParaRPr b="0" i="0" sz="1300" u="none" cap="none" strike="noStrike">
              <a:solidFill>
                <a:schemeClr val="dk1"/>
              </a:solidFill>
              <a:latin typeface="Calibri"/>
              <a:ea typeface="Calibri"/>
              <a:cs typeface="Calibri"/>
              <a:sym typeface="Calibri"/>
            </a:endParaRPr>
          </a:p>
        </p:txBody>
      </p:sp>
      <p:sp>
        <p:nvSpPr>
          <p:cNvPr id="611" name="Google Shape;611;p15"/>
          <p:cNvSpPr/>
          <p:nvPr/>
        </p:nvSpPr>
        <p:spPr>
          <a:xfrm>
            <a:off x="566928" y="5029200"/>
            <a:ext cx="11057839" cy="731520"/>
          </a:xfrm>
          <a:prstGeom prst="roundRect">
            <a:avLst>
              <a:gd fmla="val 1125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5"/>
          <p:cNvSpPr/>
          <p:nvPr/>
        </p:nvSpPr>
        <p:spPr>
          <a:xfrm>
            <a:off x="886968" y="5029200"/>
            <a:ext cx="10417759"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libri"/>
              <a:buNone/>
            </a:pPr>
            <a:r>
              <a:rPr b="0" i="1" lang="en-US" sz="1300" u="none" cap="none" strike="noStrike">
                <a:solidFill>
                  <a:srgbClr val="2D1B4E"/>
                </a:solidFill>
                <a:latin typeface="Calibri"/>
                <a:ea typeface="Calibri"/>
                <a:cs typeface="Calibri"/>
                <a:sym typeface="Calibri"/>
              </a:rPr>
              <a:t>In supervised deep learning T is usually classification or regression, P is measured on a held-out test set, and E is a large labelled dataset.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p1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ML ESSENTIALS</a:t>
            </a:r>
            <a:endParaRPr b="0" i="0" sz="1050" u="none" cap="none" strike="noStrike">
              <a:solidFill>
                <a:schemeClr val="dk1"/>
              </a:solidFill>
              <a:latin typeface="Calibri"/>
              <a:ea typeface="Calibri"/>
              <a:cs typeface="Calibri"/>
              <a:sym typeface="Calibri"/>
            </a:endParaRPr>
          </a:p>
        </p:txBody>
      </p:sp>
      <p:sp>
        <p:nvSpPr>
          <p:cNvPr id="619" name="Google Shape;619;p1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Capacity, underfitting and overfitting</a:t>
            </a:r>
            <a:endParaRPr b="0" i="0" sz="2800" u="none" cap="none" strike="noStrike">
              <a:solidFill>
                <a:schemeClr val="dk1"/>
              </a:solidFill>
              <a:latin typeface="Calibri"/>
              <a:ea typeface="Calibri"/>
              <a:cs typeface="Calibri"/>
              <a:sym typeface="Calibri"/>
            </a:endParaRPr>
          </a:p>
        </p:txBody>
      </p:sp>
      <p:sp>
        <p:nvSpPr>
          <p:cNvPr id="620" name="Google Shape;620;p16"/>
          <p:cNvSpPr/>
          <p:nvPr/>
        </p:nvSpPr>
        <p:spPr>
          <a:xfrm>
            <a:off x="566928" y="1325880"/>
            <a:ext cx="356616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841248" y="146304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455F"/>
              </a:buClr>
              <a:buSzPts val="1600"/>
              <a:buFont typeface="Cambria"/>
              <a:buNone/>
            </a:pPr>
            <a:r>
              <a:rPr b="1" i="0" lang="en-US" sz="1600" u="none" cap="none" strike="noStrike">
                <a:solidFill>
                  <a:srgbClr val="B8455F"/>
                </a:solidFill>
                <a:latin typeface="Cambria"/>
                <a:ea typeface="Cambria"/>
                <a:cs typeface="Cambria"/>
                <a:sym typeface="Cambria"/>
              </a:rPr>
              <a:t>Underfitting</a:t>
            </a:r>
            <a:endParaRPr b="0" i="0" sz="1600" u="none" cap="none" strike="noStrike">
              <a:solidFill>
                <a:schemeClr val="dk1"/>
              </a:solidFill>
              <a:latin typeface="Calibri"/>
              <a:ea typeface="Calibri"/>
              <a:cs typeface="Calibri"/>
              <a:sym typeface="Calibri"/>
            </a:endParaRPr>
          </a:p>
        </p:txBody>
      </p:sp>
      <p:sp>
        <p:nvSpPr>
          <p:cNvPr id="622" name="Google Shape;622;p16"/>
          <p:cNvSpPr/>
          <p:nvPr/>
        </p:nvSpPr>
        <p:spPr>
          <a:xfrm>
            <a:off x="978408" y="1920240"/>
            <a:ext cx="2743200" cy="1691640"/>
          </a:xfrm>
          <a:prstGeom prst="rect">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3" name="Google Shape;623;p16"/>
          <p:cNvCxnSpPr/>
          <p:nvPr/>
        </p:nvCxnSpPr>
        <p:spPr>
          <a:xfrm flipH="1" rot="10800000">
            <a:off x="1033272" y="2563063"/>
            <a:ext cx="2633472" cy="473659"/>
          </a:xfrm>
          <a:prstGeom prst="straightConnector1">
            <a:avLst/>
          </a:prstGeom>
          <a:noFill/>
          <a:ln cap="flat" cmpd="sng" w="25400">
            <a:solidFill>
              <a:srgbClr val="B8455F"/>
            </a:solidFill>
            <a:prstDash val="solid"/>
            <a:round/>
            <a:headEnd len="sm" w="sm" type="none"/>
            <a:tailEnd len="sm" w="sm" type="none"/>
          </a:ln>
        </p:spPr>
      </p:cxnSp>
      <p:sp>
        <p:nvSpPr>
          <p:cNvPr id="624" name="Google Shape;624;p16"/>
          <p:cNvSpPr/>
          <p:nvPr/>
        </p:nvSpPr>
        <p:spPr>
          <a:xfrm>
            <a:off x="1088136" y="3303270"/>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a:off x="1911096" y="2406701"/>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2157984" y="2372868"/>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6"/>
          <p:cNvSpPr/>
          <p:nvPr/>
        </p:nvSpPr>
        <p:spPr>
          <a:xfrm>
            <a:off x="3063240" y="2592781"/>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3282696" y="2880360"/>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a:off x="841248" y="3703320"/>
            <a:ext cx="3017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The model cannot reach a sufficiently low error value on the training set.</a:t>
            </a:r>
            <a:endParaRPr b="0" i="0" sz="1250" u="none" cap="none" strike="noStrike">
              <a:solidFill>
                <a:schemeClr val="dk1"/>
              </a:solidFill>
              <a:latin typeface="Calibri"/>
              <a:ea typeface="Calibri"/>
              <a:cs typeface="Calibri"/>
              <a:sym typeface="Calibri"/>
            </a:endParaRPr>
          </a:p>
        </p:txBody>
      </p:sp>
      <p:sp>
        <p:nvSpPr>
          <p:cNvPr id="630" name="Google Shape;630;p16"/>
          <p:cNvSpPr/>
          <p:nvPr/>
        </p:nvSpPr>
        <p:spPr>
          <a:xfrm>
            <a:off x="4370832" y="1325880"/>
            <a:ext cx="356616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6"/>
          <p:cNvSpPr/>
          <p:nvPr/>
        </p:nvSpPr>
        <p:spPr>
          <a:xfrm>
            <a:off x="4645152" y="146304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8A7D"/>
              </a:buClr>
              <a:buSzPts val="1600"/>
              <a:buFont typeface="Cambria"/>
              <a:buNone/>
            </a:pPr>
            <a:r>
              <a:rPr b="1" i="0" lang="en-US" sz="1600" u="none" cap="none" strike="noStrike">
                <a:solidFill>
                  <a:srgbClr val="1F8A7D"/>
                </a:solidFill>
                <a:latin typeface="Cambria"/>
                <a:ea typeface="Cambria"/>
                <a:cs typeface="Cambria"/>
                <a:sym typeface="Cambria"/>
              </a:rPr>
              <a:t>Appropriate capacity</a:t>
            </a:r>
            <a:endParaRPr b="0" i="0" sz="1600" u="none" cap="none" strike="noStrike">
              <a:solidFill>
                <a:schemeClr val="dk1"/>
              </a:solidFill>
              <a:latin typeface="Calibri"/>
              <a:ea typeface="Calibri"/>
              <a:cs typeface="Calibri"/>
              <a:sym typeface="Calibri"/>
            </a:endParaRPr>
          </a:p>
        </p:txBody>
      </p:sp>
      <p:sp>
        <p:nvSpPr>
          <p:cNvPr id="632" name="Google Shape;632;p16"/>
          <p:cNvSpPr/>
          <p:nvPr/>
        </p:nvSpPr>
        <p:spPr>
          <a:xfrm>
            <a:off x="4782312" y="1920240"/>
            <a:ext cx="2743200" cy="1691640"/>
          </a:xfrm>
          <a:prstGeom prst="rect">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3" name="Google Shape;633;p16"/>
          <p:cNvCxnSpPr/>
          <p:nvPr/>
        </p:nvCxnSpPr>
        <p:spPr>
          <a:xfrm flipH="1" rot="10800000">
            <a:off x="4782312" y="3309764"/>
            <a:ext cx="171450" cy="268284"/>
          </a:xfrm>
          <a:prstGeom prst="straightConnector1">
            <a:avLst/>
          </a:prstGeom>
          <a:noFill/>
          <a:ln cap="flat" cmpd="sng" w="25400">
            <a:solidFill>
              <a:srgbClr val="1F8A7D"/>
            </a:solidFill>
            <a:prstDash val="solid"/>
            <a:round/>
            <a:headEnd len="sm" w="sm" type="none"/>
            <a:tailEnd len="sm" w="sm" type="none"/>
          </a:ln>
        </p:spPr>
      </p:cxnSp>
      <p:cxnSp>
        <p:nvCxnSpPr>
          <p:cNvPr id="634" name="Google Shape;634;p16"/>
          <p:cNvCxnSpPr/>
          <p:nvPr/>
        </p:nvCxnSpPr>
        <p:spPr>
          <a:xfrm flipH="1" rot="10800000">
            <a:off x="4953762" y="3075842"/>
            <a:ext cx="171450" cy="233922"/>
          </a:xfrm>
          <a:prstGeom prst="straightConnector1">
            <a:avLst/>
          </a:prstGeom>
          <a:noFill/>
          <a:ln cap="flat" cmpd="sng" w="25400">
            <a:solidFill>
              <a:srgbClr val="1F8A7D"/>
            </a:solidFill>
            <a:prstDash val="solid"/>
            <a:round/>
            <a:headEnd len="sm" w="sm" type="none"/>
            <a:tailEnd len="sm" w="sm" type="none"/>
          </a:ln>
        </p:spPr>
      </p:cxnSp>
      <p:cxnSp>
        <p:nvCxnSpPr>
          <p:cNvPr id="635" name="Google Shape;635;p16"/>
          <p:cNvCxnSpPr/>
          <p:nvPr/>
        </p:nvCxnSpPr>
        <p:spPr>
          <a:xfrm flipH="1" rot="10800000">
            <a:off x="5125212" y="2876281"/>
            <a:ext cx="171450" cy="199561"/>
          </a:xfrm>
          <a:prstGeom prst="straightConnector1">
            <a:avLst/>
          </a:prstGeom>
          <a:noFill/>
          <a:ln cap="flat" cmpd="sng" w="25400">
            <a:solidFill>
              <a:srgbClr val="1F8A7D"/>
            </a:solidFill>
            <a:prstDash val="solid"/>
            <a:round/>
            <a:headEnd len="sm" w="sm" type="none"/>
            <a:tailEnd len="sm" w="sm" type="none"/>
          </a:ln>
        </p:spPr>
      </p:cxnSp>
      <p:cxnSp>
        <p:nvCxnSpPr>
          <p:cNvPr id="636" name="Google Shape;636;p16"/>
          <p:cNvCxnSpPr/>
          <p:nvPr/>
        </p:nvCxnSpPr>
        <p:spPr>
          <a:xfrm flipH="1" rot="10800000">
            <a:off x="5296662" y="2711082"/>
            <a:ext cx="171450" cy="165199"/>
          </a:xfrm>
          <a:prstGeom prst="straightConnector1">
            <a:avLst/>
          </a:prstGeom>
          <a:noFill/>
          <a:ln cap="flat" cmpd="sng" w="25400">
            <a:solidFill>
              <a:srgbClr val="1F8A7D"/>
            </a:solidFill>
            <a:prstDash val="solid"/>
            <a:round/>
            <a:headEnd len="sm" w="sm" type="none"/>
            <a:tailEnd len="sm" w="sm" type="none"/>
          </a:ln>
        </p:spPr>
      </p:cxnSp>
      <p:cxnSp>
        <p:nvCxnSpPr>
          <p:cNvPr id="637" name="Google Shape;637;p16"/>
          <p:cNvCxnSpPr/>
          <p:nvPr/>
        </p:nvCxnSpPr>
        <p:spPr>
          <a:xfrm flipH="1" rot="10800000">
            <a:off x="5468112" y="2580244"/>
            <a:ext cx="171450" cy="130838"/>
          </a:xfrm>
          <a:prstGeom prst="straightConnector1">
            <a:avLst/>
          </a:prstGeom>
          <a:noFill/>
          <a:ln cap="flat" cmpd="sng" w="25400">
            <a:solidFill>
              <a:srgbClr val="1F8A7D"/>
            </a:solidFill>
            <a:prstDash val="solid"/>
            <a:round/>
            <a:headEnd len="sm" w="sm" type="none"/>
            <a:tailEnd len="sm" w="sm" type="none"/>
          </a:ln>
        </p:spPr>
      </p:cxnSp>
      <p:cxnSp>
        <p:nvCxnSpPr>
          <p:cNvPr id="638" name="Google Shape;638;p16"/>
          <p:cNvCxnSpPr/>
          <p:nvPr/>
        </p:nvCxnSpPr>
        <p:spPr>
          <a:xfrm flipH="1" rot="10800000">
            <a:off x="5639562" y="2483768"/>
            <a:ext cx="171450" cy="96476"/>
          </a:xfrm>
          <a:prstGeom prst="straightConnector1">
            <a:avLst/>
          </a:prstGeom>
          <a:noFill/>
          <a:ln cap="flat" cmpd="sng" w="25400">
            <a:solidFill>
              <a:srgbClr val="1F8A7D"/>
            </a:solidFill>
            <a:prstDash val="solid"/>
            <a:round/>
            <a:headEnd len="sm" w="sm" type="none"/>
            <a:tailEnd len="sm" w="sm" type="none"/>
          </a:ln>
        </p:spPr>
      </p:cxnSp>
      <p:cxnSp>
        <p:nvCxnSpPr>
          <p:cNvPr id="639" name="Google Shape;639;p16"/>
          <p:cNvCxnSpPr/>
          <p:nvPr/>
        </p:nvCxnSpPr>
        <p:spPr>
          <a:xfrm flipH="1" rot="10800000">
            <a:off x="5811012" y="2421653"/>
            <a:ext cx="171450" cy="62115"/>
          </a:xfrm>
          <a:prstGeom prst="straightConnector1">
            <a:avLst/>
          </a:prstGeom>
          <a:noFill/>
          <a:ln cap="flat" cmpd="sng" w="25400">
            <a:solidFill>
              <a:srgbClr val="1F8A7D"/>
            </a:solidFill>
            <a:prstDash val="solid"/>
            <a:round/>
            <a:headEnd len="sm" w="sm" type="none"/>
            <a:tailEnd len="sm" w="sm" type="none"/>
          </a:ln>
        </p:spPr>
      </p:cxnSp>
      <p:cxnSp>
        <p:nvCxnSpPr>
          <p:cNvPr id="640" name="Google Shape;640;p16"/>
          <p:cNvCxnSpPr/>
          <p:nvPr/>
        </p:nvCxnSpPr>
        <p:spPr>
          <a:xfrm flipH="1" rot="10800000">
            <a:off x="5982462" y="2393899"/>
            <a:ext cx="171450" cy="27753"/>
          </a:xfrm>
          <a:prstGeom prst="straightConnector1">
            <a:avLst/>
          </a:prstGeom>
          <a:noFill/>
          <a:ln cap="flat" cmpd="sng" w="25400">
            <a:solidFill>
              <a:srgbClr val="1F8A7D"/>
            </a:solidFill>
            <a:prstDash val="solid"/>
            <a:round/>
            <a:headEnd len="sm" w="sm" type="none"/>
            <a:tailEnd len="sm" w="sm" type="none"/>
          </a:ln>
        </p:spPr>
      </p:cxnSp>
      <p:cxnSp>
        <p:nvCxnSpPr>
          <p:cNvPr id="641" name="Google Shape;641;p16"/>
          <p:cNvCxnSpPr/>
          <p:nvPr/>
        </p:nvCxnSpPr>
        <p:spPr>
          <a:xfrm>
            <a:off x="6153912" y="2393899"/>
            <a:ext cx="171450" cy="6608"/>
          </a:xfrm>
          <a:prstGeom prst="straightConnector1">
            <a:avLst/>
          </a:prstGeom>
          <a:noFill/>
          <a:ln cap="flat" cmpd="sng" w="25400">
            <a:solidFill>
              <a:srgbClr val="1F8A7D"/>
            </a:solidFill>
            <a:prstDash val="solid"/>
            <a:round/>
            <a:headEnd len="sm" w="sm" type="none"/>
            <a:tailEnd len="sm" w="sm" type="none"/>
          </a:ln>
        </p:spPr>
      </p:cxnSp>
      <p:cxnSp>
        <p:nvCxnSpPr>
          <p:cNvPr id="642" name="Google Shape;642;p16"/>
          <p:cNvCxnSpPr/>
          <p:nvPr/>
        </p:nvCxnSpPr>
        <p:spPr>
          <a:xfrm>
            <a:off x="6325362" y="2400507"/>
            <a:ext cx="171450" cy="40969"/>
          </a:xfrm>
          <a:prstGeom prst="straightConnector1">
            <a:avLst/>
          </a:prstGeom>
          <a:noFill/>
          <a:ln cap="flat" cmpd="sng" w="25400">
            <a:solidFill>
              <a:srgbClr val="1F8A7D"/>
            </a:solidFill>
            <a:prstDash val="solid"/>
            <a:round/>
            <a:headEnd len="sm" w="sm" type="none"/>
            <a:tailEnd len="sm" w="sm" type="none"/>
          </a:ln>
        </p:spPr>
      </p:cxnSp>
      <p:cxnSp>
        <p:nvCxnSpPr>
          <p:cNvPr id="643" name="Google Shape;643;p16"/>
          <p:cNvCxnSpPr/>
          <p:nvPr/>
        </p:nvCxnSpPr>
        <p:spPr>
          <a:xfrm>
            <a:off x="6496812" y="2441477"/>
            <a:ext cx="171450" cy="75331"/>
          </a:xfrm>
          <a:prstGeom prst="straightConnector1">
            <a:avLst/>
          </a:prstGeom>
          <a:noFill/>
          <a:ln cap="flat" cmpd="sng" w="25400">
            <a:solidFill>
              <a:srgbClr val="1F8A7D"/>
            </a:solidFill>
            <a:prstDash val="solid"/>
            <a:round/>
            <a:headEnd len="sm" w="sm" type="none"/>
            <a:tailEnd len="sm" w="sm" type="none"/>
          </a:ln>
        </p:spPr>
      </p:cxnSp>
      <p:cxnSp>
        <p:nvCxnSpPr>
          <p:cNvPr id="644" name="Google Shape;644;p16"/>
          <p:cNvCxnSpPr/>
          <p:nvPr/>
        </p:nvCxnSpPr>
        <p:spPr>
          <a:xfrm>
            <a:off x="6668262" y="2516807"/>
            <a:ext cx="171450" cy="109692"/>
          </a:xfrm>
          <a:prstGeom prst="straightConnector1">
            <a:avLst/>
          </a:prstGeom>
          <a:noFill/>
          <a:ln cap="flat" cmpd="sng" w="25400">
            <a:solidFill>
              <a:srgbClr val="1F8A7D"/>
            </a:solidFill>
            <a:prstDash val="solid"/>
            <a:round/>
            <a:headEnd len="sm" w="sm" type="none"/>
            <a:tailEnd len="sm" w="sm" type="none"/>
          </a:ln>
        </p:spPr>
      </p:cxnSp>
      <p:cxnSp>
        <p:nvCxnSpPr>
          <p:cNvPr id="645" name="Google Shape;645;p16"/>
          <p:cNvCxnSpPr/>
          <p:nvPr/>
        </p:nvCxnSpPr>
        <p:spPr>
          <a:xfrm>
            <a:off x="6839712" y="2626500"/>
            <a:ext cx="171450" cy="144054"/>
          </a:xfrm>
          <a:prstGeom prst="straightConnector1">
            <a:avLst/>
          </a:prstGeom>
          <a:noFill/>
          <a:ln cap="flat" cmpd="sng" w="25400">
            <a:solidFill>
              <a:srgbClr val="1F8A7D"/>
            </a:solidFill>
            <a:prstDash val="solid"/>
            <a:round/>
            <a:headEnd len="sm" w="sm" type="none"/>
            <a:tailEnd len="sm" w="sm" type="none"/>
          </a:ln>
        </p:spPr>
      </p:cxnSp>
      <p:cxnSp>
        <p:nvCxnSpPr>
          <p:cNvPr id="646" name="Google Shape;646;p16"/>
          <p:cNvCxnSpPr/>
          <p:nvPr/>
        </p:nvCxnSpPr>
        <p:spPr>
          <a:xfrm>
            <a:off x="7011162" y="2770553"/>
            <a:ext cx="171450" cy="178415"/>
          </a:xfrm>
          <a:prstGeom prst="straightConnector1">
            <a:avLst/>
          </a:prstGeom>
          <a:noFill/>
          <a:ln cap="flat" cmpd="sng" w="25400">
            <a:solidFill>
              <a:srgbClr val="1F8A7D"/>
            </a:solidFill>
            <a:prstDash val="solid"/>
            <a:round/>
            <a:headEnd len="sm" w="sm" type="none"/>
            <a:tailEnd len="sm" w="sm" type="none"/>
          </a:ln>
        </p:spPr>
      </p:cxnSp>
      <p:cxnSp>
        <p:nvCxnSpPr>
          <p:cNvPr id="647" name="Google Shape;647;p16"/>
          <p:cNvCxnSpPr/>
          <p:nvPr/>
        </p:nvCxnSpPr>
        <p:spPr>
          <a:xfrm>
            <a:off x="7182612" y="2948969"/>
            <a:ext cx="171450" cy="212777"/>
          </a:xfrm>
          <a:prstGeom prst="straightConnector1">
            <a:avLst/>
          </a:prstGeom>
          <a:noFill/>
          <a:ln cap="flat" cmpd="sng" w="25400">
            <a:solidFill>
              <a:srgbClr val="1F8A7D"/>
            </a:solidFill>
            <a:prstDash val="solid"/>
            <a:round/>
            <a:headEnd len="sm" w="sm" type="none"/>
            <a:tailEnd len="sm" w="sm" type="none"/>
          </a:ln>
        </p:spPr>
      </p:cxnSp>
      <p:cxnSp>
        <p:nvCxnSpPr>
          <p:cNvPr id="648" name="Google Shape;648;p16"/>
          <p:cNvCxnSpPr/>
          <p:nvPr/>
        </p:nvCxnSpPr>
        <p:spPr>
          <a:xfrm>
            <a:off x="7354062" y="3161745"/>
            <a:ext cx="171450" cy="247138"/>
          </a:xfrm>
          <a:prstGeom prst="straightConnector1">
            <a:avLst/>
          </a:prstGeom>
          <a:noFill/>
          <a:ln cap="flat" cmpd="sng" w="25400">
            <a:solidFill>
              <a:srgbClr val="1F8A7D"/>
            </a:solidFill>
            <a:prstDash val="solid"/>
            <a:round/>
            <a:headEnd len="sm" w="sm" type="none"/>
            <a:tailEnd len="sm" w="sm" type="none"/>
          </a:ln>
        </p:spPr>
      </p:cxnSp>
      <p:sp>
        <p:nvSpPr>
          <p:cNvPr id="649" name="Google Shape;649;p16"/>
          <p:cNvSpPr/>
          <p:nvPr/>
        </p:nvSpPr>
        <p:spPr>
          <a:xfrm>
            <a:off x="4892040" y="3303270"/>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5715000" y="2406701"/>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6"/>
          <p:cNvSpPr/>
          <p:nvPr/>
        </p:nvSpPr>
        <p:spPr>
          <a:xfrm>
            <a:off x="5961888" y="2372868"/>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6"/>
          <p:cNvSpPr/>
          <p:nvPr/>
        </p:nvSpPr>
        <p:spPr>
          <a:xfrm>
            <a:off x="6867144" y="2592781"/>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7086600" y="2880360"/>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4645152" y="3703320"/>
            <a:ext cx="3017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Low training error and a small gap between training and test error.</a:t>
            </a:r>
            <a:endParaRPr b="0" i="0" sz="1250" u="none" cap="none" strike="noStrike">
              <a:solidFill>
                <a:schemeClr val="dk1"/>
              </a:solidFill>
              <a:latin typeface="Calibri"/>
              <a:ea typeface="Calibri"/>
              <a:cs typeface="Calibri"/>
              <a:sym typeface="Calibri"/>
            </a:endParaRPr>
          </a:p>
        </p:txBody>
      </p:sp>
      <p:sp>
        <p:nvSpPr>
          <p:cNvPr id="655" name="Google Shape;655;p16"/>
          <p:cNvSpPr/>
          <p:nvPr/>
        </p:nvSpPr>
        <p:spPr>
          <a:xfrm>
            <a:off x="8174736" y="1325880"/>
            <a:ext cx="356616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8449056" y="1463040"/>
            <a:ext cx="3017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600"/>
              <a:buFont typeface="Cambria"/>
              <a:buNone/>
            </a:pPr>
            <a:r>
              <a:rPr b="1" i="0" lang="en-US" sz="1600" u="none" cap="none" strike="noStrike">
                <a:solidFill>
                  <a:srgbClr val="C4661F"/>
                </a:solidFill>
                <a:latin typeface="Cambria"/>
                <a:ea typeface="Cambria"/>
                <a:cs typeface="Cambria"/>
                <a:sym typeface="Cambria"/>
              </a:rPr>
              <a:t>Overfitting</a:t>
            </a:r>
            <a:endParaRPr b="0" i="0" sz="1600" u="none" cap="none" strike="noStrike">
              <a:solidFill>
                <a:schemeClr val="dk1"/>
              </a:solidFill>
              <a:latin typeface="Calibri"/>
              <a:ea typeface="Calibri"/>
              <a:cs typeface="Calibri"/>
              <a:sym typeface="Calibri"/>
            </a:endParaRPr>
          </a:p>
        </p:txBody>
      </p:sp>
      <p:sp>
        <p:nvSpPr>
          <p:cNvPr id="657" name="Google Shape;657;p16"/>
          <p:cNvSpPr/>
          <p:nvPr/>
        </p:nvSpPr>
        <p:spPr>
          <a:xfrm>
            <a:off x="8586216" y="1920240"/>
            <a:ext cx="2743200" cy="1691640"/>
          </a:xfrm>
          <a:prstGeom prst="rect">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8" name="Google Shape;658;p16"/>
          <p:cNvCxnSpPr/>
          <p:nvPr/>
        </p:nvCxnSpPr>
        <p:spPr>
          <a:xfrm>
            <a:off x="8586216" y="2681478"/>
            <a:ext cx="164592" cy="676656"/>
          </a:xfrm>
          <a:prstGeom prst="straightConnector1">
            <a:avLst/>
          </a:prstGeom>
          <a:noFill/>
          <a:ln cap="flat" cmpd="sng" w="25400">
            <a:solidFill>
              <a:srgbClr val="C4661F"/>
            </a:solidFill>
            <a:prstDash val="solid"/>
            <a:round/>
            <a:headEnd len="sm" w="sm" type="none"/>
            <a:tailEnd len="sm" w="sm" type="none"/>
          </a:ln>
        </p:spPr>
      </p:cxnSp>
      <p:cxnSp>
        <p:nvCxnSpPr>
          <p:cNvPr id="659" name="Google Shape;659;p16"/>
          <p:cNvCxnSpPr/>
          <p:nvPr/>
        </p:nvCxnSpPr>
        <p:spPr>
          <a:xfrm flipH="1" rot="10800000">
            <a:off x="8750808" y="2089404"/>
            <a:ext cx="384048" cy="1268730"/>
          </a:xfrm>
          <a:prstGeom prst="straightConnector1">
            <a:avLst/>
          </a:prstGeom>
          <a:noFill/>
          <a:ln cap="flat" cmpd="sng" w="25400">
            <a:solidFill>
              <a:srgbClr val="C4661F"/>
            </a:solidFill>
            <a:prstDash val="solid"/>
            <a:round/>
            <a:headEnd len="sm" w="sm" type="none"/>
            <a:tailEnd len="sm" w="sm" type="none"/>
          </a:ln>
        </p:spPr>
      </p:cxnSp>
      <p:cxnSp>
        <p:nvCxnSpPr>
          <p:cNvPr id="660" name="Google Shape;660;p16"/>
          <p:cNvCxnSpPr/>
          <p:nvPr/>
        </p:nvCxnSpPr>
        <p:spPr>
          <a:xfrm>
            <a:off x="9134856" y="2089404"/>
            <a:ext cx="438912" cy="372161"/>
          </a:xfrm>
          <a:prstGeom prst="straightConnector1">
            <a:avLst/>
          </a:prstGeom>
          <a:noFill/>
          <a:ln cap="flat" cmpd="sng" w="25400">
            <a:solidFill>
              <a:srgbClr val="C4661F"/>
            </a:solidFill>
            <a:prstDash val="solid"/>
            <a:round/>
            <a:headEnd len="sm" w="sm" type="none"/>
            <a:tailEnd len="sm" w="sm" type="none"/>
          </a:ln>
        </p:spPr>
      </p:cxnSp>
      <p:cxnSp>
        <p:nvCxnSpPr>
          <p:cNvPr id="661" name="Google Shape;661;p16"/>
          <p:cNvCxnSpPr/>
          <p:nvPr/>
        </p:nvCxnSpPr>
        <p:spPr>
          <a:xfrm>
            <a:off x="9573768" y="2461565"/>
            <a:ext cx="123444" cy="219913"/>
          </a:xfrm>
          <a:prstGeom prst="straightConnector1">
            <a:avLst/>
          </a:prstGeom>
          <a:noFill/>
          <a:ln cap="flat" cmpd="sng" w="25400">
            <a:solidFill>
              <a:srgbClr val="C4661F"/>
            </a:solidFill>
            <a:prstDash val="solid"/>
            <a:round/>
            <a:headEnd len="sm" w="sm" type="none"/>
            <a:tailEnd len="sm" w="sm" type="none"/>
          </a:ln>
        </p:spPr>
      </p:cxnSp>
      <p:cxnSp>
        <p:nvCxnSpPr>
          <p:cNvPr id="662" name="Google Shape;662;p16"/>
          <p:cNvCxnSpPr/>
          <p:nvPr/>
        </p:nvCxnSpPr>
        <p:spPr>
          <a:xfrm flipH="1" rot="10800000">
            <a:off x="9697212" y="2427732"/>
            <a:ext cx="123444" cy="253746"/>
          </a:xfrm>
          <a:prstGeom prst="straightConnector1">
            <a:avLst/>
          </a:prstGeom>
          <a:noFill/>
          <a:ln cap="flat" cmpd="sng" w="25400">
            <a:solidFill>
              <a:srgbClr val="C4661F"/>
            </a:solidFill>
            <a:prstDash val="solid"/>
            <a:round/>
            <a:headEnd len="sm" w="sm" type="none"/>
            <a:tailEnd len="sm" w="sm" type="none"/>
          </a:ln>
        </p:spPr>
      </p:cxnSp>
      <p:cxnSp>
        <p:nvCxnSpPr>
          <p:cNvPr id="663" name="Google Shape;663;p16"/>
          <p:cNvCxnSpPr/>
          <p:nvPr/>
        </p:nvCxnSpPr>
        <p:spPr>
          <a:xfrm flipH="1" rot="10800000">
            <a:off x="9820656" y="2055571"/>
            <a:ext cx="466344" cy="372161"/>
          </a:xfrm>
          <a:prstGeom prst="straightConnector1">
            <a:avLst/>
          </a:prstGeom>
          <a:noFill/>
          <a:ln cap="flat" cmpd="sng" w="25400">
            <a:solidFill>
              <a:srgbClr val="C4661F"/>
            </a:solidFill>
            <a:prstDash val="solid"/>
            <a:round/>
            <a:headEnd len="sm" w="sm" type="none"/>
            <a:tailEnd len="sm" w="sm" type="none"/>
          </a:ln>
        </p:spPr>
      </p:cxnSp>
      <p:cxnSp>
        <p:nvCxnSpPr>
          <p:cNvPr id="664" name="Google Shape;664;p16"/>
          <p:cNvCxnSpPr/>
          <p:nvPr/>
        </p:nvCxnSpPr>
        <p:spPr>
          <a:xfrm>
            <a:off x="10287000" y="2055571"/>
            <a:ext cx="438912" cy="592074"/>
          </a:xfrm>
          <a:prstGeom prst="straightConnector1">
            <a:avLst/>
          </a:prstGeom>
          <a:noFill/>
          <a:ln cap="flat" cmpd="sng" w="25400">
            <a:solidFill>
              <a:srgbClr val="C4661F"/>
            </a:solidFill>
            <a:prstDash val="solid"/>
            <a:round/>
            <a:headEnd len="sm" w="sm" type="none"/>
            <a:tailEnd len="sm" w="sm" type="none"/>
          </a:ln>
        </p:spPr>
      </p:cxnSp>
      <p:cxnSp>
        <p:nvCxnSpPr>
          <p:cNvPr id="665" name="Google Shape;665;p16"/>
          <p:cNvCxnSpPr/>
          <p:nvPr/>
        </p:nvCxnSpPr>
        <p:spPr>
          <a:xfrm>
            <a:off x="10725912" y="2647645"/>
            <a:ext cx="109728" cy="490576"/>
          </a:xfrm>
          <a:prstGeom prst="straightConnector1">
            <a:avLst/>
          </a:prstGeom>
          <a:noFill/>
          <a:ln cap="flat" cmpd="sng" w="25400">
            <a:solidFill>
              <a:srgbClr val="C4661F"/>
            </a:solidFill>
            <a:prstDash val="solid"/>
            <a:round/>
            <a:headEnd len="sm" w="sm" type="none"/>
            <a:tailEnd len="sm" w="sm" type="none"/>
          </a:ln>
        </p:spPr>
      </p:cxnSp>
      <p:cxnSp>
        <p:nvCxnSpPr>
          <p:cNvPr id="666" name="Google Shape;666;p16"/>
          <p:cNvCxnSpPr/>
          <p:nvPr/>
        </p:nvCxnSpPr>
        <p:spPr>
          <a:xfrm flipH="1" rot="10800000">
            <a:off x="10835640" y="2935224"/>
            <a:ext cx="109728" cy="202997"/>
          </a:xfrm>
          <a:prstGeom prst="straightConnector1">
            <a:avLst/>
          </a:prstGeom>
          <a:noFill/>
          <a:ln cap="flat" cmpd="sng" w="25400">
            <a:solidFill>
              <a:srgbClr val="C4661F"/>
            </a:solidFill>
            <a:prstDash val="solid"/>
            <a:round/>
            <a:headEnd len="sm" w="sm" type="none"/>
            <a:tailEnd len="sm" w="sm" type="none"/>
          </a:ln>
        </p:spPr>
      </p:cxnSp>
      <p:cxnSp>
        <p:nvCxnSpPr>
          <p:cNvPr id="667" name="Google Shape;667;p16"/>
          <p:cNvCxnSpPr/>
          <p:nvPr/>
        </p:nvCxnSpPr>
        <p:spPr>
          <a:xfrm flipH="1" rot="10800000">
            <a:off x="10945368" y="2173986"/>
            <a:ext cx="246888" cy="761238"/>
          </a:xfrm>
          <a:prstGeom prst="straightConnector1">
            <a:avLst/>
          </a:prstGeom>
          <a:noFill/>
          <a:ln cap="flat" cmpd="sng" w="25400">
            <a:solidFill>
              <a:srgbClr val="C4661F"/>
            </a:solidFill>
            <a:prstDash val="solid"/>
            <a:round/>
            <a:headEnd len="sm" w="sm" type="none"/>
            <a:tailEnd len="sm" w="sm" type="none"/>
          </a:ln>
        </p:spPr>
      </p:cxnSp>
      <p:sp>
        <p:nvSpPr>
          <p:cNvPr id="668" name="Google Shape;668;p16"/>
          <p:cNvSpPr/>
          <p:nvPr/>
        </p:nvSpPr>
        <p:spPr>
          <a:xfrm>
            <a:off x="8695944" y="3303270"/>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a:off x="9518904" y="2406701"/>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a:off x="9765792" y="2372868"/>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a:off x="10671048" y="2592781"/>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a:off x="10890504" y="2880360"/>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a:off x="8449056" y="3703320"/>
            <a:ext cx="301752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The gap between the training error and the test error is too large.</a:t>
            </a:r>
            <a:endParaRPr b="0" i="0" sz="1250" u="none" cap="none" strike="noStrike">
              <a:solidFill>
                <a:schemeClr val="dk1"/>
              </a:solidFill>
              <a:latin typeface="Calibri"/>
              <a:ea typeface="Calibri"/>
              <a:cs typeface="Calibri"/>
              <a:sym typeface="Calibri"/>
            </a:endParaRPr>
          </a:p>
        </p:txBody>
      </p:sp>
      <p:sp>
        <p:nvSpPr>
          <p:cNvPr id="674" name="Google Shape;674;p16"/>
          <p:cNvSpPr/>
          <p:nvPr/>
        </p:nvSpPr>
        <p:spPr>
          <a:xfrm>
            <a:off x="566928" y="4709160"/>
            <a:ext cx="11057839" cy="1051560"/>
          </a:xfrm>
          <a:prstGeom prst="roundRect">
            <a:avLst>
              <a:gd fmla="val 7826"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a:off x="886968" y="4709160"/>
            <a:ext cx="10417759"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Capacity  —  informally, a model's ability to fit a wide variety of functions. We control whether a model is more likely to overfit or underfit by altering its capacity.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0" name="Shape 680"/>
        <p:cNvGrpSpPr/>
        <p:nvPr/>
      </p:nvGrpSpPr>
      <p:grpSpPr>
        <a:xfrm>
          <a:off x="0" y="0"/>
          <a:ext cx="0" cy="0"/>
          <a:chOff x="0" y="0"/>
          <a:chExt cx="0" cy="0"/>
        </a:xfrm>
      </p:grpSpPr>
      <p:sp>
        <p:nvSpPr>
          <p:cNvPr id="681" name="Google Shape;681;p1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ML ESSENTIALS</a:t>
            </a:r>
            <a:endParaRPr b="0" i="0" sz="1050" u="none" cap="none" strike="noStrike">
              <a:solidFill>
                <a:schemeClr val="dk1"/>
              </a:solidFill>
              <a:latin typeface="Calibri"/>
              <a:ea typeface="Calibri"/>
              <a:cs typeface="Calibri"/>
              <a:sym typeface="Calibri"/>
            </a:endParaRPr>
          </a:p>
        </p:txBody>
      </p:sp>
      <p:sp>
        <p:nvSpPr>
          <p:cNvPr id="682" name="Google Shape;682;p1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Generalization and capacity</a:t>
            </a:r>
            <a:endParaRPr b="0" i="0" sz="2800" u="none" cap="none" strike="noStrike">
              <a:solidFill>
                <a:schemeClr val="dk1"/>
              </a:solidFill>
              <a:latin typeface="Calibri"/>
              <a:ea typeface="Calibri"/>
              <a:cs typeface="Calibri"/>
              <a:sym typeface="Calibri"/>
            </a:endParaRPr>
          </a:p>
        </p:txBody>
      </p:sp>
      <p:graphicFrame>
        <p:nvGraphicFramePr>
          <p:cNvPr id="683" name="Google Shape;683;p17"/>
          <p:cNvGraphicFramePr/>
          <p:nvPr/>
        </p:nvGraphicFramePr>
        <p:xfrm>
          <a:off x="566928" y="1325880"/>
          <a:ext cx="6858000" cy="4160520"/>
        </p:xfrm>
        <a:graphic>
          <a:graphicData uri="http://schemas.openxmlformats.org/drawingml/2006/chart">
            <c:chart r:id="rId3"/>
          </a:graphicData>
        </a:graphic>
      </p:graphicFrame>
      <p:sp>
        <p:nvSpPr>
          <p:cNvPr id="684" name="Google Shape;684;p17"/>
          <p:cNvSpPr/>
          <p:nvPr/>
        </p:nvSpPr>
        <p:spPr>
          <a:xfrm>
            <a:off x="5687568" y="5440680"/>
            <a:ext cx="1737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50"/>
              <a:buFont typeface="Calibri"/>
              <a:buNone/>
            </a:pPr>
            <a:r>
              <a:rPr b="1" i="0" lang="en-US" sz="1150" u="none" cap="none" strike="noStrike">
                <a:solidFill>
                  <a:srgbClr val="6E6880"/>
                </a:solidFill>
                <a:latin typeface="Calibri"/>
                <a:ea typeface="Calibri"/>
                <a:cs typeface="Calibri"/>
                <a:sym typeface="Calibri"/>
              </a:rPr>
              <a:t>Capacity  →</a:t>
            </a:r>
            <a:endParaRPr b="0" i="0" sz="1150" u="none" cap="none" strike="noStrike">
              <a:solidFill>
                <a:schemeClr val="dk1"/>
              </a:solidFill>
              <a:latin typeface="Calibri"/>
              <a:ea typeface="Calibri"/>
              <a:cs typeface="Calibri"/>
              <a:sym typeface="Calibri"/>
            </a:endParaRPr>
          </a:p>
        </p:txBody>
      </p:sp>
      <p:sp>
        <p:nvSpPr>
          <p:cNvPr id="685" name="Google Shape;685;p17"/>
          <p:cNvSpPr/>
          <p:nvPr/>
        </p:nvSpPr>
        <p:spPr>
          <a:xfrm rot="-5400000">
            <a:off x="521208" y="3108960"/>
            <a:ext cx="822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50"/>
              <a:buFont typeface="Calibri"/>
              <a:buNone/>
            </a:pPr>
            <a:r>
              <a:rPr b="1" i="0" lang="en-US" sz="1150" u="none" cap="none" strike="noStrike">
                <a:solidFill>
                  <a:srgbClr val="6E6880"/>
                </a:solidFill>
                <a:latin typeface="Calibri"/>
                <a:ea typeface="Calibri"/>
                <a:cs typeface="Calibri"/>
                <a:sym typeface="Calibri"/>
              </a:rPr>
              <a:t>Error</a:t>
            </a:r>
            <a:endParaRPr b="0" i="0" sz="1150" u="none" cap="none" strike="noStrike">
              <a:solidFill>
                <a:schemeClr val="dk1"/>
              </a:solidFill>
              <a:latin typeface="Calibri"/>
              <a:ea typeface="Calibri"/>
              <a:cs typeface="Calibri"/>
              <a:sym typeface="Calibri"/>
            </a:endParaRPr>
          </a:p>
        </p:txBody>
      </p:sp>
      <p:cxnSp>
        <p:nvCxnSpPr>
          <p:cNvPr id="686" name="Google Shape;686;p17"/>
          <p:cNvCxnSpPr/>
          <p:nvPr/>
        </p:nvCxnSpPr>
        <p:spPr>
          <a:xfrm>
            <a:off x="3566160" y="1920240"/>
            <a:ext cx="0" cy="3429000"/>
          </a:xfrm>
          <a:prstGeom prst="straightConnector1">
            <a:avLst/>
          </a:prstGeom>
          <a:noFill/>
          <a:ln cap="flat" cmpd="sng" w="19050">
            <a:solidFill>
              <a:srgbClr val="B8455F"/>
            </a:solidFill>
            <a:prstDash val="dash"/>
            <a:round/>
            <a:headEnd len="sm" w="sm" type="none"/>
            <a:tailEnd len="sm" w="sm" type="none"/>
          </a:ln>
        </p:spPr>
      </p:cxnSp>
      <p:sp>
        <p:nvSpPr>
          <p:cNvPr id="687" name="Google Shape;687;p17"/>
          <p:cNvSpPr/>
          <p:nvPr/>
        </p:nvSpPr>
        <p:spPr>
          <a:xfrm>
            <a:off x="2880360" y="5376672"/>
            <a:ext cx="13716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455F"/>
              </a:buClr>
              <a:buSzPts val="1050"/>
              <a:buFont typeface="Calibri"/>
              <a:buNone/>
            </a:pPr>
            <a:r>
              <a:rPr b="1" i="0" lang="en-US" sz="1050" u="none" cap="none" strike="noStrike">
                <a:solidFill>
                  <a:srgbClr val="B8455F"/>
                </a:solidFill>
                <a:latin typeface="Calibri"/>
                <a:ea typeface="Calibri"/>
                <a:cs typeface="Calibri"/>
                <a:sym typeface="Calibri"/>
              </a:rPr>
              <a:t>optimal capacity</a:t>
            </a:r>
            <a:endParaRPr b="0" i="0" sz="1050" u="none" cap="none" strike="noStrike">
              <a:solidFill>
                <a:schemeClr val="dk1"/>
              </a:solidFill>
              <a:latin typeface="Calibri"/>
              <a:ea typeface="Calibri"/>
              <a:cs typeface="Calibri"/>
              <a:sym typeface="Calibri"/>
            </a:endParaRPr>
          </a:p>
        </p:txBody>
      </p:sp>
      <p:sp>
        <p:nvSpPr>
          <p:cNvPr id="688" name="Google Shape;688;p17"/>
          <p:cNvSpPr/>
          <p:nvPr/>
        </p:nvSpPr>
        <p:spPr>
          <a:xfrm>
            <a:off x="7680960" y="1463040"/>
            <a:ext cx="3931920" cy="42062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D1B4E"/>
              </a:buClr>
              <a:buSzPts val="1350"/>
              <a:buFont typeface="Calibri"/>
              <a:buChar char="•"/>
            </a:pPr>
            <a:r>
              <a:rPr b="1" i="0" lang="en-US" sz="1350" u="none" cap="none" strike="noStrike">
                <a:solidFill>
                  <a:srgbClr val="2D1B4E"/>
                </a:solidFill>
                <a:latin typeface="Calibri"/>
                <a:ea typeface="Calibri"/>
                <a:cs typeface="Calibri"/>
                <a:sym typeface="Calibri"/>
              </a:rPr>
              <a:t>Underfitting zone — left of the dashed line: both errors are high, the model is too small for the task.</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D1B4E"/>
              </a:buClr>
              <a:buSzPts val="1350"/>
              <a:buFont typeface="Calibri"/>
              <a:buChar char="•"/>
            </a:pPr>
            <a:r>
              <a:rPr b="1" i="0" lang="en-US" sz="1350" u="none" cap="none" strike="noStrike">
                <a:solidFill>
                  <a:srgbClr val="2D1B4E"/>
                </a:solidFill>
                <a:latin typeface="Calibri"/>
                <a:ea typeface="Calibri"/>
                <a:cs typeface="Calibri"/>
                <a:sym typeface="Calibri"/>
              </a:rPr>
              <a:t>Overfitting zone — right of the dashed line: the training error keeps falling while the generalization error rises.</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vertical distance between the two curves is the generalization gap.</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Optimal capacity sits where the generalization error is minimal — not where the training error is minimal.</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In deep learning we rarely find this point by shrinking the model: we take a large model and regularize it (Part 05).</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3" name="Shape 693"/>
        <p:cNvGrpSpPr/>
        <p:nvPr/>
      </p:nvGrpSpPr>
      <p:grpSpPr>
        <a:xfrm>
          <a:off x="0" y="0"/>
          <a:ext cx="0" cy="0"/>
          <a:chOff x="0" y="0"/>
          <a:chExt cx="0" cy="0"/>
        </a:xfrm>
      </p:grpSpPr>
      <p:sp>
        <p:nvSpPr>
          <p:cNvPr id="694" name="Google Shape;694;p1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ML ESSENTIALS</a:t>
            </a:r>
            <a:endParaRPr b="0" i="0" sz="1050" u="none" cap="none" strike="noStrike">
              <a:solidFill>
                <a:schemeClr val="dk1"/>
              </a:solidFill>
              <a:latin typeface="Calibri"/>
              <a:ea typeface="Calibri"/>
              <a:cs typeface="Calibri"/>
              <a:sym typeface="Calibri"/>
            </a:endParaRPr>
          </a:p>
        </p:txBody>
      </p:sp>
      <p:sp>
        <p:nvSpPr>
          <p:cNvPr id="695" name="Google Shape;695;p1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Hyperparameters, validation and cross-validation</a:t>
            </a:r>
            <a:endParaRPr b="0" i="0" sz="2800" u="none" cap="none" strike="noStrike">
              <a:solidFill>
                <a:schemeClr val="dk1"/>
              </a:solidFill>
              <a:latin typeface="Calibri"/>
              <a:ea typeface="Calibri"/>
              <a:cs typeface="Calibri"/>
              <a:sym typeface="Calibri"/>
            </a:endParaRPr>
          </a:p>
        </p:txBody>
      </p:sp>
      <p:sp>
        <p:nvSpPr>
          <p:cNvPr id="696" name="Google Shape;696;p18"/>
          <p:cNvSpPr/>
          <p:nvPr/>
        </p:nvSpPr>
        <p:spPr>
          <a:xfrm>
            <a:off x="566928" y="1371600"/>
            <a:ext cx="5486400" cy="31089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Hyperparameters are settings the designer uses to control the behaviour of the learning algorithm — the degree of a polynomial, the learning rate, the number of hidden units.</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It is inappropriate to learn hyperparameters on the test set: the model would be tuned to the very data used to report its performance.</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So we build a validation set out of the training data — two disjoint subsets, typically 80% training / 20% validation.</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No example from the test set may ever appear in the validation set.</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validation error underestimates the generalization error, but by less than the training error does.</a:t>
            </a:r>
            <a:endParaRPr b="0" i="0" sz="1350" u="none" cap="none" strike="noStrike">
              <a:solidFill>
                <a:schemeClr val="dk1"/>
              </a:solidFill>
              <a:latin typeface="Calibri"/>
              <a:ea typeface="Calibri"/>
              <a:cs typeface="Calibri"/>
              <a:sym typeface="Calibri"/>
            </a:endParaRPr>
          </a:p>
        </p:txBody>
      </p:sp>
      <p:sp>
        <p:nvSpPr>
          <p:cNvPr id="697" name="Google Shape;697;p18"/>
          <p:cNvSpPr/>
          <p:nvPr/>
        </p:nvSpPr>
        <p:spPr>
          <a:xfrm>
            <a:off x="566928" y="4572000"/>
            <a:ext cx="5486400" cy="1234440"/>
          </a:xfrm>
          <a:prstGeom prst="roundRect">
            <a:avLst>
              <a:gd fmla="val 6667"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8"/>
          <p:cNvSpPr/>
          <p:nvPr/>
        </p:nvSpPr>
        <p:spPr>
          <a:xfrm>
            <a:off x="841248" y="4572000"/>
            <a:ext cx="493776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libri"/>
              <a:buNone/>
            </a:pPr>
            <a:r>
              <a:rPr b="0" i="0" lang="en-US" sz="1300" u="none" cap="none" strike="noStrike">
                <a:solidFill>
                  <a:srgbClr val="2D1B4E"/>
                </a:solidFill>
                <a:latin typeface="Calibri"/>
                <a:ea typeface="Calibri"/>
                <a:cs typeface="Calibri"/>
                <a:sym typeface="Calibri"/>
              </a:rPr>
              <a:t>When the dataset is small, a fixed test set gives statistical uncertainty around the estimated error — it becomes hard to claim that algorithm A really beats algorithm B.</a:t>
            </a:r>
            <a:endParaRPr b="0" i="0" sz="1300" u="none" cap="none" strike="noStrike">
              <a:solidFill>
                <a:schemeClr val="dk1"/>
              </a:solidFill>
              <a:latin typeface="Calibri"/>
              <a:ea typeface="Calibri"/>
              <a:cs typeface="Calibri"/>
              <a:sym typeface="Calibri"/>
            </a:endParaRPr>
          </a:p>
        </p:txBody>
      </p:sp>
      <p:sp>
        <p:nvSpPr>
          <p:cNvPr id="699" name="Google Shape;699;p18"/>
          <p:cNvSpPr/>
          <p:nvPr/>
        </p:nvSpPr>
        <p:spPr>
          <a:xfrm>
            <a:off x="6446520" y="1371600"/>
            <a:ext cx="5184648" cy="4434840"/>
          </a:xfrm>
          <a:prstGeom prst="roundRect">
            <a:avLst>
              <a:gd fmla="val 1856"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a:off x="6720840" y="1536192"/>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k-fold cross-validation  (k = 5)</a:t>
            </a:r>
            <a:endParaRPr b="0" i="0" sz="1500" u="none" cap="none" strike="noStrike">
              <a:solidFill>
                <a:schemeClr val="dk1"/>
              </a:solidFill>
              <a:latin typeface="Calibri"/>
              <a:ea typeface="Calibri"/>
              <a:cs typeface="Calibri"/>
              <a:sym typeface="Calibri"/>
            </a:endParaRPr>
          </a:p>
        </p:txBody>
      </p:sp>
      <p:sp>
        <p:nvSpPr>
          <p:cNvPr id="701" name="Google Shape;701;p18"/>
          <p:cNvSpPr/>
          <p:nvPr/>
        </p:nvSpPr>
        <p:spPr>
          <a:xfrm>
            <a:off x="6720840" y="1874520"/>
            <a:ext cx="46634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Split the dataset into k non-overlapping subsets; each trial holds out a different subset. The test error is the average over the k trials, so every example is used.</a:t>
            </a:r>
            <a:endParaRPr b="0" i="0" sz="1200" u="none" cap="none" strike="noStrike">
              <a:solidFill>
                <a:schemeClr val="dk1"/>
              </a:solidFill>
              <a:latin typeface="Calibri"/>
              <a:ea typeface="Calibri"/>
              <a:cs typeface="Calibri"/>
              <a:sym typeface="Calibri"/>
            </a:endParaRPr>
          </a:p>
        </p:txBody>
      </p:sp>
      <p:sp>
        <p:nvSpPr>
          <p:cNvPr id="702" name="Google Shape;702;p18"/>
          <p:cNvSpPr/>
          <p:nvPr/>
        </p:nvSpPr>
        <p:spPr>
          <a:xfrm>
            <a:off x="7452360" y="2743200"/>
            <a:ext cx="777240" cy="310896"/>
          </a:xfrm>
          <a:prstGeom prst="roundRect">
            <a:avLst>
              <a:gd fmla="val 14706" name="adj"/>
            </a:avLst>
          </a:prstGeom>
          <a:solidFill>
            <a:srgbClr val="E8833A"/>
          </a:solidFill>
          <a:ln cap="flat" cmpd="sng" w="12700">
            <a:solidFill>
              <a:srgbClr val="C466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8"/>
          <p:cNvSpPr/>
          <p:nvPr/>
        </p:nvSpPr>
        <p:spPr>
          <a:xfrm>
            <a:off x="8293608" y="2743200"/>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9134856" y="2743200"/>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a:off x="9976104" y="2743200"/>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8"/>
          <p:cNvSpPr/>
          <p:nvPr/>
        </p:nvSpPr>
        <p:spPr>
          <a:xfrm>
            <a:off x="10817352" y="2743200"/>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8"/>
          <p:cNvSpPr/>
          <p:nvPr/>
        </p:nvSpPr>
        <p:spPr>
          <a:xfrm>
            <a:off x="6903720" y="2743200"/>
            <a:ext cx="45720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708" name="Google Shape;708;p18"/>
          <p:cNvSpPr/>
          <p:nvPr/>
        </p:nvSpPr>
        <p:spPr>
          <a:xfrm>
            <a:off x="7452360" y="3191256"/>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a:off x="8293608" y="3191256"/>
            <a:ext cx="777240" cy="310896"/>
          </a:xfrm>
          <a:prstGeom prst="roundRect">
            <a:avLst>
              <a:gd fmla="val 14706" name="adj"/>
            </a:avLst>
          </a:prstGeom>
          <a:solidFill>
            <a:srgbClr val="E8833A"/>
          </a:solidFill>
          <a:ln cap="flat" cmpd="sng" w="12700">
            <a:solidFill>
              <a:srgbClr val="C466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
          <p:cNvSpPr/>
          <p:nvPr/>
        </p:nvSpPr>
        <p:spPr>
          <a:xfrm>
            <a:off x="9134856" y="3191256"/>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
          <p:cNvSpPr/>
          <p:nvPr/>
        </p:nvSpPr>
        <p:spPr>
          <a:xfrm>
            <a:off x="9976104" y="3191256"/>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8"/>
          <p:cNvSpPr/>
          <p:nvPr/>
        </p:nvSpPr>
        <p:spPr>
          <a:xfrm>
            <a:off x="10817352" y="3191256"/>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8"/>
          <p:cNvSpPr/>
          <p:nvPr/>
        </p:nvSpPr>
        <p:spPr>
          <a:xfrm>
            <a:off x="6903720" y="3191256"/>
            <a:ext cx="45720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714" name="Google Shape;714;p18"/>
          <p:cNvSpPr/>
          <p:nvPr/>
        </p:nvSpPr>
        <p:spPr>
          <a:xfrm>
            <a:off x="7452360" y="3639312"/>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a:off x="8293608" y="3639312"/>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8"/>
          <p:cNvSpPr/>
          <p:nvPr/>
        </p:nvSpPr>
        <p:spPr>
          <a:xfrm>
            <a:off x="9134856" y="3639312"/>
            <a:ext cx="777240" cy="310896"/>
          </a:xfrm>
          <a:prstGeom prst="roundRect">
            <a:avLst>
              <a:gd fmla="val 14706" name="adj"/>
            </a:avLst>
          </a:prstGeom>
          <a:solidFill>
            <a:srgbClr val="E8833A"/>
          </a:solidFill>
          <a:ln cap="flat" cmpd="sng" w="12700">
            <a:solidFill>
              <a:srgbClr val="C466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8"/>
          <p:cNvSpPr/>
          <p:nvPr/>
        </p:nvSpPr>
        <p:spPr>
          <a:xfrm>
            <a:off x="9976104" y="3639312"/>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8"/>
          <p:cNvSpPr/>
          <p:nvPr/>
        </p:nvSpPr>
        <p:spPr>
          <a:xfrm>
            <a:off x="10817352" y="3639312"/>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a:off x="6903720" y="3639312"/>
            <a:ext cx="45720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720" name="Google Shape;720;p18"/>
          <p:cNvSpPr/>
          <p:nvPr/>
        </p:nvSpPr>
        <p:spPr>
          <a:xfrm>
            <a:off x="7452360" y="4087368"/>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8"/>
          <p:cNvSpPr/>
          <p:nvPr/>
        </p:nvSpPr>
        <p:spPr>
          <a:xfrm>
            <a:off x="8293608" y="4087368"/>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8"/>
          <p:cNvSpPr/>
          <p:nvPr/>
        </p:nvSpPr>
        <p:spPr>
          <a:xfrm>
            <a:off x="9134856" y="4087368"/>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8"/>
          <p:cNvSpPr/>
          <p:nvPr/>
        </p:nvSpPr>
        <p:spPr>
          <a:xfrm>
            <a:off x="9976104" y="4087368"/>
            <a:ext cx="777240" cy="310896"/>
          </a:xfrm>
          <a:prstGeom prst="roundRect">
            <a:avLst>
              <a:gd fmla="val 14706" name="adj"/>
            </a:avLst>
          </a:prstGeom>
          <a:solidFill>
            <a:srgbClr val="E8833A"/>
          </a:solidFill>
          <a:ln cap="flat" cmpd="sng" w="12700">
            <a:solidFill>
              <a:srgbClr val="C466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8"/>
          <p:cNvSpPr/>
          <p:nvPr/>
        </p:nvSpPr>
        <p:spPr>
          <a:xfrm>
            <a:off x="10817352" y="4087368"/>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6903720" y="4087368"/>
            <a:ext cx="45720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726" name="Google Shape;726;p18"/>
          <p:cNvSpPr/>
          <p:nvPr/>
        </p:nvSpPr>
        <p:spPr>
          <a:xfrm>
            <a:off x="7452360" y="4535424"/>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8"/>
          <p:cNvSpPr/>
          <p:nvPr/>
        </p:nvSpPr>
        <p:spPr>
          <a:xfrm>
            <a:off x="8293608" y="4535424"/>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9134856" y="4535424"/>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8"/>
          <p:cNvSpPr/>
          <p:nvPr/>
        </p:nvSpPr>
        <p:spPr>
          <a:xfrm>
            <a:off x="9976104" y="4535424"/>
            <a:ext cx="777240" cy="310896"/>
          </a:xfrm>
          <a:prstGeom prst="roundRect">
            <a:avLst>
              <a:gd fmla="val 14706"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8"/>
          <p:cNvSpPr/>
          <p:nvPr/>
        </p:nvSpPr>
        <p:spPr>
          <a:xfrm>
            <a:off x="10817352" y="4535424"/>
            <a:ext cx="777240" cy="310896"/>
          </a:xfrm>
          <a:prstGeom prst="roundRect">
            <a:avLst>
              <a:gd fmla="val 14706" name="adj"/>
            </a:avLst>
          </a:prstGeom>
          <a:solidFill>
            <a:srgbClr val="E8833A"/>
          </a:solidFill>
          <a:ln cap="flat" cmpd="sng" w="12700">
            <a:solidFill>
              <a:srgbClr val="C466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8"/>
          <p:cNvSpPr/>
          <p:nvPr/>
        </p:nvSpPr>
        <p:spPr>
          <a:xfrm>
            <a:off x="6903720" y="4535424"/>
            <a:ext cx="457200" cy="31089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732" name="Google Shape;732;p18"/>
          <p:cNvSpPr/>
          <p:nvPr/>
        </p:nvSpPr>
        <p:spPr>
          <a:xfrm>
            <a:off x="6903720" y="5120640"/>
            <a:ext cx="256032" cy="182880"/>
          </a:xfrm>
          <a:prstGeom prst="roundRect">
            <a:avLst>
              <a:gd fmla="val 20000"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a:off x="7242048" y="5056632"/>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held-out fold</a:t>
            </a:r>
            <a:endParaRPr b="0" i="0" sz="1100" u="none" cap="none" strike="noStrike">
              <a:solidFill>
                <a:schemeClr val="dk1"/>
              </a:solidFill>
              <a:latin typeface="Calibri"/>
              <a:ea typeface="Calibri"/>
              <a:cs typeface="Calibri"/>
              <a:sym typeface="Calibri"/>
            </a:endParaRPr>
          </a:p>
        </p:txBody>
      </p:sp>
      <p:sp>
        <p:nvSpPr>
          <p:cNvPr id="734" name="Google Shape;734;p18"/>
          <p:cNvSpPr/>
          <p:nvPr/>
        </p:nvSpPr>
        <p:spPr>
          <a:xfrm>
            <a:off x="8732520" y="5120640"/>
            <a:ext cx="256032" cy="182880"/>
          </a:xfrm>
          <a:prstGeom prst="roundRect">
            <a:avLst>
              <a:gd fmla="val 20000" name="adj"/>
            </a:avLst>
          </a:prstGeom>
          <a:solidFill>
            <a:srgbClr val="E9E3F3"/>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8"/>
          <p:cNvSpPr/>
          <p:nvPr/>
        </p:nvSpPr>
        <p:spPr>
          <a:xfrm>
            <a:off x="9070848" y="5056632"/>
            <a:ext cx="17373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used for training</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740" name="Shape 740"/>
        <p:cNvGrpSpPr/>
        <p:nvPr/>
      </p:nvGrpSpPr>
      <p:grpSpPr>
        <a:xfrm>
          <a:off x="0" y="0"/>
          <a:ext cx="0" cy="0"/>
          <a:chOff x="0" y="0"/>
          <a:chExt cx="0" cy="0"/>
        </a:xfrm>
      </p:grpSpPr>
      <p:cxnSp>
        <p:nvCxnSpPr>
          <p:cNvPr id="741" name="Google Shape;741;p21"/>
          <p:cNvCxnSpPr/>
          <p:nvPr/>
        </p:nvCxnSpPr>
        <p:spPr>
          <a:xfrm flipH="1" rot="10800000">
            <a:off x="7955280" y="1700784"/>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742" name="Google Shape;742;p21"/>
          <p:cNvCxnSpPr/>
          <p:nvPr/>
        </p:nvCxnSpPr>
        <p:spPr>
          <a:xfrm>
            <a:off x="7955280" y="211226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743" name="Google Shape;743;p21"/>
          <p:cNvCxnSpPr/>
          <p:nvPr/>
        </p:nvCxnSpPr>
        <p:spPr>
          <a:xfrm>
            <a:off x="7955280" y="2112264"/>
            <a:ext cx="1219200" cy="1810512"/>
          </a:xfrm>
          <a:prstGeom prst="straightConnector1">
            <a:avLst/>
          </a:prstGeom>
          <a:noFill/>
          <a:ln cap="flat" cmpd="sng" w="9525">
            <a:solidFill>
              <a:srgbClr val="9C8CC4"/>
            </a:solidFill>
            <a:prstDash val="solid"/>
            <a:round/>
            <a:headEnd len="sm" w="sm" type="none"/>
            <a:tailEnd len="sm" w="sm" type="none"/>
          </a:ln>
        </p:spPr>
      </p:cxnSp>
      <p:cxnSp>
        <p:nvCxnSpPr>
          <p:cNvPr id="744" name="Google Shape;744;p21"/>
          <p:cNvCxnSpPr/>
          <p:nvPr/>
        </p:nvCxnSpPr>
        <p:spPr>
          <a:xfrm>
            <a:off x="7955280" y="2112264"/>
            <a:ext cx="1219200" cy="2962656"/>
          </a:xfrm>
          <a:prstGeom prst="straightConnector1">
            <a:avLst/>
          </a:prstGeom>
          <a:noFill/>
          <a:ln cap="flat" cmpd="sng" w="9525">
            <a:solidFill>
              <a:srgbClr val="9C8CC4"/>
            </a:solidFill>
            <a:prstDash val="solid"/>
            <a:round/>
            <a:headEnd len="sm" w="sm" type="none"/>
            <a:tailEnd len="sm" w="sm" type="none"/>
          </a:ln>
        </p:spPr>
      </p:cxnSp>
      <p:cxnSp>
        <p:nvCxnSpPr>
          <p:cNvPr id="745" name="Google Shape;745;p21"/>
          <p:cNvCxnSpPr/>
          <p:nvPr/>
        </p:nvCxnSpPr>
        <p:spPr>
          <a:xfrm flipH="1" rot="10800000">
            <a:off x="7955280" y="1700784"/>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746" name="Google Shape;746;p21"/>
          <p:cNvCxnSpPr/>
          <p:nvPr/>
        </p:nvCxnSpPr>
        <p:spPr>
          <a:xfrm flipH="1" rot="10800000">
            <a:off x="7955280" y="2770632"/>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747" name="Google Shape;747;p21"/>
          <p:cNvCxnSpPr/>
          <p:nvPr/>
        </p:nvCxnSpPr>
        <p:spPr>
          <a:xfrm>
            <a:off x="7955280" y="3429000"/>
            <a:ext cx="1219200" cy="493776"/>
          </a:xfrm>
          <a:prstGeom prst="straightConnector1">
            <a:avLst/>
          </a:prstGeom>
          <a:noFill/>
          <a:ln cap="flat" cmpd="sng" w="9525">
            <a:solidFill>
              <a:srgbClr val="9C8CC4"/>
            </a:solidFill>
            <a:prstDash val="solid"/>
            <a:round/>
            <a:headEnd len="sm" w="sm" type="none"/>
            <a:tailEnd len="sm" w="sm" type="none"/>
          </a:ln>
        </p:spPr>
      </p:cxnSp>
      <p:cxnSp>
        <p:nvCxnSpPr>
          <p:cNvPr id="748" name="Google Shape;748;p21"/>
          <p:cNvCxnSpPr/>
          <p:nvPr/>
        </p:nvCxnSpPr>
        <p:spPr>
          <a:xfrm>
            <a:off x="7955280" y="3429000"/>
            <a:ext cx="1219200" cy="1645920"/>
          </a:xfrm>
          <a:prstGeom prst="straightConnector1">
            <a:avLst/>
          </a:prstGeom>
          <a:noFill/>
          <a:ln cap="flat" cmpd="sng" w="9525">
            <a:solidFill>
              <a:srgbClr val="9C8CC4"/>
            </a:solidFill>
            <a:prstDash val="solid"/>
            <a:round/>
            <a:headEnd len="sm" w="sm" type="none"/>
            <a:tailEnd len="sm" w="sm" type="none"/>
          </a:ln>
        </p:spPr>
      </p:cxnSp>
      <p:cxnSp>
        <p:nvCxnSpPr>
          <p:cNvPr id="749" name="Google Shape;749;p21"/>
          <p:cNvCxnSpPr/>
          <p:nvPr/>
        </p:nvCxnSpPr>
        <p:spPr>
          <a:xfrm flipH="1" rot="10800000">
            <a:off x="7955280" y="1700784"/>
            <a:ext cx="1219200" cy="3044952"/>
          </a:xfrm>
          <a:prstGeom prst="straightConnector1">
            <a:avLst/>
          </a:prstGeom>
          <a:noFill/>
          <a:ln cap="flat" cmpd="sng" w="9525">
            <a:solidFill>
              <a:srgbClr val="9C8CC4"/>
            </a:solidFill>
            <a:prstDash val="solid"/>
            <a:round/>
            <a:headEnd len="sm" w="sm" type="none"/>
            <a:tailEnd len="sm" w="sm" type="none"/>
          </a:ln>
        </p:spPr>
      </p:cxnSp>
      <p:cxnSp>
        <p:nvCxnSpPr>
          <p:cNvPr id="750" name="Google Shape;750;p21"/>
          <p:cNvCxnSpPr/>
          <p:nvPr/>
        </p:nvCxnSpPr>
        <p:spPr>
          <a:xfrm flipH="1" rot="10800000">
            <a:off x="7955280" y="277063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751" name="Google Shape;751;p21"/>
          <p:cNvCxnSpPr/>
          <p:nvPr/>
        </p:nvCxnSpPr>
        <p:spPr>
          <a:xfrm flipH="1" rot="10800000">
            <a:off x="7955280" y="3922776"/>
            <a:ext cx="1219200" cy="822960"/>
          </a:xfrm>
          <a:prstGeom prst="straightConnector1">
            <a:avLst/>
          </a:prstGeom>
          <a:noFill/>
          <a:ln cap="flat" cmpd="sng" w="9525">
            <a:solidFill>
              <a:srgbClr val="9C8CC4"/>
            </a:solidFill>
            <a:prstDash val="solid"/>
            <a:round/>
            <a:headEnd len="sm" w="sm" type="none"/>
            <a:tailEnd len="sm" w="sm" type="none"/>
          </a:ln>
        </p:spPr>
      </p:cxnSp>
      <p:cxnSp>
        <p:nvCxnSpPr>
          <p:cNvPr id="752" name="Google Shape;752;p21"/>
          <p:cNvCxnSpPr/>
          <p:nvPr/>
        </p:nvCxnSpPr>
        <p:spPr>
          <a:xfrm>
            <a:off x="7955280" y="4745736"/>
            <a:ext cx="1219200" cy="329184"/>
          </a:xfrm>
          <a:prstGeom prst="straightConnector1">
            <a:avLst/>
          </a:prstGeom>
          <a:noFill/>
          <a:ln cap="flat" cmpd="sng" w="9525">
            <a:solidFill>
              <a:srgbClr val="9C8CC4"/>
            </a:solidFill>
            <a:prstDash val="solid"/>
            <a:round/>
            <a:headEnd len="sm" w="sm" type="none"/>
            <a:tailEnd len="sm" w="sm" type="none"/>
          </a:ln>
        </p:spPr>
      </p:cxnSp>
      <p:cxnSp>
        <p:nvCxnSpPr>
          <p:cNvPr id="753" name="Google Shape;753;p21"/>
          <p:cNvCxnSpPr/>
          <p:nvPr/>
        </p:nvCxnSpPr>
        <p:spPr>
          <a:xfrm>
            <a:off x="9174480" y="170078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754" name="Google Shape;754;p21"/>
          <p:cNvCxnSpPr/>
          <p:nvPr/>
        </p:nvCxnSpPr>
        <p:spPr>
          <a:xfrm>
            <a:off x="9174480" y="1700784"/>
            <a:ext cx="1219200" cy="1933956"/>
          </a:xfrm>
          <a:prstGeom prst="straightConnector1">
            <a:avLst/>
          </a:prstGeom>
          <a:noFill/>
          <a:ln cap="flat" cmpd="sng" w="9525">
            <a:solidFill>
              <a:srgbClr val="9C8CC4"/>
            </a:solidFill>
            <a:prstDash val="solid"/>
            <a:round/>
            <a:headEnd len="sm" w="sm" type="none"/>
            <a:tailEnd len="sm" w="sm" type="none"/>
          </a:ln>
        </p:spPr>
      </p:cxnSp>
      <p:cxnSp>
        <p:nvCxnSpPr>
          <p:cNvPr id="755" name="Google Shape;755;p21"/>
          <p:cNvCxnSpPr/>
          <p:nvPr/>
        </p:nvCxnSpPr>
        <p:spPr>
          <a:xfrm>
            <a:off x="9174480" y="1700784"/>
            <a:ext cx="1219200" cy="3127248"/>
          </a:xfrm>
          <a:prstGeom prst="straightConnector1">
            <a:avLst/>
          </a:prstGeom>
          <a:noFill/>
          <a:ln cap="flat" cmpd="sng" w="9525">
            <a:solidFill>
              <a:srgbClr val="9C8CC4"/>
            </a:solidFill>
            <a:prstDash val="solid"/>
            <a:round/>
            <a:headEnd len="sm" w="sm" type="none"/>
            <a:tailEnd len="sm" w="sm" type="none"/>
          </a:ln>
        </p:spPr>
      </p:cxnSp>
      <p:cxnSp>
        <p:nvCxnSpPr>
          <p:cNvPr id="756" name="Google Shape;756;p21"/>
          <p:cNvCxnSpPr/>
          <p:nvPr/>
        </p:nvCxnSpPr>
        <p:spPr>
          <a:xfrm flipH="1" rot="10800000">
            <a:off x="9174480" y="2359152"/>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757" name="Google Shape;757;p21"/>
          <p:cNvCxnSpPr/>
          <p:nvPr/>
        </p:nvCxnSpPr>
        <p:spPr>
          <a:xfrm>
            <a:off x="9174480" y="2770632"/>
            <a:ext cx="1219200" cy="864108"/>
          </a:xfrm>
          <a:prstGeom prst="straightConnector1">
            <a:avLst/>
          </a:prstGeom>
          <a:noFill/>
          <a:ln cap="flat" cmpd="sng" w="9525">
            <a:solidFill>
              <a:srgbClr val="9C8CC4"/>
            </a:solidFill>
            <a:prstDash val="solid"/>
            <a:round/>
            <a:headEnd len="sm" w="sm" type="none"/>
            <a:tailEnd len="sm" w="sm" type="none"/>
          </a:ln>
        </p:spPr>
      </p:cxnSp>
      <p:cxnSp>
        <p:nvCxnSpPr>
          <p:cNvPr id="758" name="Google Shape;758;p21"/>
          <p:cNvCxnSpPr/>
          <p:nvPr/>
        </p:nvCxnSpPr>
        <p:spPr>
          <a:xfrm>
            <a:off x="9174480" y="2770632"/>
            <a:ext cx="1219200" cy="2057400"/>
          </a:xfrm>
          <a:prstGeom prst="straightConnector1">
            <a:avLst/>
          </a:prstGeom>
          <a:noFill/>
          <a:ln cap="flat" cmpd="sng" w="9525">
            <a:solidFill>
              <a:srgbClr val="9C8CC4"/>
            </a:solidFill>
            <a:prstDash val="solid"/>
            <a:round/>
            <a:headEnd len="sm" w="sm" type="none"/>
            <a:tailEnd len="sm" w="sm" type="none"/>
          </a:ln>
        </p:spPr>
      </p:cxnSp>
      <p:cxnSp>
        <p:nvCxnSpPr>
          <p:cNvPr id="759" name="Google Shape;759;p21"/>
          <p:cNvCxnSpPr/>
          <p:nvPr/>
        </p:nvCxnSpPr>
        <p:spPr>
          <a:xfrm flipH="1" rot="10800000">
            <a:off x="9174480" y="2359152"/>
            <a:ext cx="1219200" cy="1563624"/>
          </a:xfrm>
          <a:prstGeom prst="straightConnector1">
            <a:avLst/>
          </a:prstGeom>
          <a:noFill/>
          <a:ln cap="flat" cmpd="sng" w="9525">
            <a:solidFill>
              <a:srgbClr val="9C8CC4"/>
            </a:solidFill>
            <a:prstDash val="solid"/>
            <a:round/>
            <a:headEnd len="sm" w="sm" type="none"/>
            <a:tailEnd len="sm" w="sm" type="none"/>
          </a:ln>
        </p:spPr>
      </p:cxnSp>
      <p:cxnSp>
        <p:nvCxnSpPr>
          <p:cNvPr id="760" name="Google Shape;760;p21"/>
          <p:cNvCxnSpPr/>
          <p:nvPr/>
        </p:nvCxnSpPr>
        <p:spPr>
          <a:xfrm flipH="1" rot="10800000">
            <a:off x="9174480" y="3634740"/>
            <a:ext cx="1219200" cy="288036"/>
          </a:xfrm>
          <a:prstGeom prst="straightConnector1">
            <a:avLst/>
          </a:prstGeom>
          <a:noFill/>
          <a:ln cap="flat" cmpd="sng" w="9525">
            <a:solidFill>
              <a:srgbClr val="9C8CC4"/>
            </a:solidFill>
            <a:prstDash val="solid"/>
            <a:round/>
            <a:headEnd len="sm" w="sm" type="none"/>
            <a:tailEnd len="sm" w="sm" type="none"/>
          </a:ln>
        </p:spPr>
      </p:cxnSp>
      <p:cxnSp>
        <p:nvCxnSpPr>
          <p:cNvPr id="761" name="Google Shape;761;p21"/>
          <p:cNvCxnSpPr/>
          <p:nvPr/>
        </p:nvCxnSpPr>
        <p:spPr>
          <a:xfrm>
            <a:off x="9174480" y="3922776"/>
            <a:ext cx="1219200" cy="905256"/>
          </a:xfrm>
          <a:prstGeom prst="straightConnector1">
            <a:avLst/>
          </a:prstGeom>
          <a:noFill/>
          <a:ln cap="flat" cmpd="sng" w="9525">
            <a:solidFill>
              <a:srgbClr val="9C8CC4"/>
            </a:solidFill>
            <a:prstDash val="solid"/>
            <a:round/>
            <a:headEnd len="sm" w="sm" type="none"/>
            <a:tailEnd len="sm" w="sm" type="none"/>
          </a:ln>
        </p:spPr>
      </p:cxnSp>
      <p:cxnSp>
        <p:nvCxnSpPr>
          <p:cNvPr id="762" name="Google Shape;762;p21"/>
          <p:cNvCxnSpPr/>
          <p:nvPr/>
        </p:nvCxnSpPr>
        <p:spPr>
          <a:xfrm flipH="1" rot="10800000">
            <a:off x="9174480" y="2359152"/>
            <a:ext cx="1219200" cy="2715768"/>
          </a:xfrm>
          <a:prstGeom prst="straightConnector1">
            <a:avLst/>
          </a:prstGeom>
          <a:noFill/>
          <a:ln cap="flat" cmpd="sng" w="9525">
            <a:solidFill>
              <a:srgbClr val="9C8CC4"/>
            </a:solidFill>
            <a:prstDash val="solid"/>
            <a:round/>
            <a:headEnd len="sm" w="sm" type="none"/>
            <a:tailEnd len="sm" w="sm" type="none"/>
          </a:ln>
        </p:spPr>
      </p:cxnSp>
      <p:cxnSp>
        <p:nvCxnSpPr>
          <p:cNvPr id="763" name="Google Shape;763;p21"/>
          <p:cNvCxnSpPr/>
          <p:nvPr/>
        </p:nvCxnSpPr>
        <p:spPr>
          <a:xfrm flipH="1" rot="10800000">
            <a:off x="9174480" y="3634740"/>
            <a:ext cx="1219200" cy="1440180"/>
          </a:xfrm>
          <a:prstGeom prst="straightConnector1">
            <a:avLst/>
          </a:prstGeom>
          <a:noFill/>
          <a:ln cap="flat" cmpd="sng" w="9525">
            <a:solidFill>
              <a:srgbClr val="9C8CC4"/>
            </a:solidFill>
            <a:prstDash val="solid"/>
            <a:round/>
            <a:headEnd len="sm" w="sm" type="none"/>
            <a:tailEnd len="sm" w="sm" type="none"/>
          </a:ln>
        </p:spPr>
      </p:cxnSp>
      <p:cxnSp>
        <p:nvCxnSpPr>
          <p:cNvPr id="764" name="Google Shape;764;p21"/>
          <p:cNvCxnSpPr/>
          <p:nvPr/>
        </p:nvCxnSpPr>
        <p:spPr>
          <a:xfrm flipH="1" rot="10800000">
            <a:off x="9174480" y="4828032"/>
            <a:ext cx="1219200" cy="246888"/>
          </a:xfrm>
          <a:prstGeom prst="straightConnector1">
            <a:avLst/>
          </a:prstGeom>
          <a:noFill/>
          <a:ln cap="flat" cmpd="sng" w="9525">
            <a:solidFill>
              <a:srgbClr val="9C8CC4"/>
            </a:solidFill>
            <a:prstDash val="solid"/>
            <a:round/>
            <a:headEnd len="sm" w="sm" type="none"/>
            <a:tailEnd len="sm" w="sm" type="none"/>
          </a:ln>
        </p:spPr>
      </p:cxnSp>
      <p:cxnSp>
        <p:nvCxnSpPr>
          <p:cNvPr id="765" name="Google Shape;765;p21"/>
          <p:cNvCxnSpPr/>
          <p:nvPr/>
        </p:nvCxnSpPr>
        <p:spPr>
          <a:xfrm>
            <a:off x="10393680" y="2359152"/>
            <a:ext cx="1219200" cy="740664"/>
          </a:xfrm>
          <a:prstGeom prst="straightConnector1">
            <a:avLst/>
          </a:prstGeom>
          <a:noFill/>
          <a:ln cap="flat" cmpd="sng" w="9525">
            <a:solidFill>
              <a:srgbClr val="9C8CC4"/>
            </a:solidFill>
            <a:prstDash val="solid"/>
            <a:round/>
            <a:headEnd len="sm" w="sm" type="none"/>
            <a:tailEnd len="sm" w="sm" type="none"/>
          </a:ln>
        </p:spPr>
      </p:cxnSp>
      <p:cxnSp>
        <p:nvCxnSpPr>
          <p:cNvPr id="766" name="Google Shape;766;p21"/>
          <p:cNvCxnSpPr/>
          <p:nvPr/>
        </p:nvCxnSpPr>
        <p:spPr>
          <a:xfrm>
            <a:off x="10393680" y="235915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767" name="Google Shape;767;p21"/>
          <p:cNvCxnSpPr/>
          <p:nvPr/>
        </p:nvCxnSpPr>
        <p:spPr>
          <a:xfrm flipH="1" rot="10800000">
            <a:off x="10393680" y="3099816"/>
            <a:ext cx="1219200" cy="534924"/>
          </a:xfrm>
          <a:prstGeom prst="straightConnector1">
            <a:avLst/>
          </a:prstGeom>
          <a:noFill/>
          <a:ln cap="flat" cmpd="sng" w="9525">
            <a:solidFill>
              <a:srgbClr val="9C8CC4"/>
            </a:solidFill>
            <a:prstDash val="solid"/>
            <a:round/>
            <a:headEnd len="sm" w="sm" type="none"/>
            <a:tailEnd len="sm" w="sm" type="none"/>
          </a:ln>
        </p:spPr>
      </p:cxnSp>
      <p:cxnSp>
        <p:nvCxnSpPr>
          <p:cNvPr id="768" name="Google Shape;768;p21"/>
          <p:cNvCxnSpPr/>
          <p:nvPr/>
        </p:nvCxnSpPr>
        <p:spPr>
          <a:xfrm>
            <a:off x="10393680" y="3634740"/>
            <a:ext cx="1219200" cy="699516"/>
          </a:xfrm>
          <a:prstGeom prst="straightConnector1">
            <a:avLst/>
          </a:prstGeom>
          <a:noFill/>
          <a:ln cap="flat" cmpd="sng" w="9525">
            <a:solidFill>
              <a:srgbClr val="9C8CC4"/>
            </a:solidFill>
            <a:prstDash val="solid"/>
            <a:round/>
            <a:headEnd len="sm" w="sm" type="none"/>
            <a:tailEnd len="sm" w="sm" type="none"/>
          </a:ln>
        </p:spPr>
      </p:cxnSp>
      <p:cxnSp>
        <p:nvCxnSpPr>
          <p:cNvPr id="769" name="Google Shape;769;p21"/>
          <p:cNvCxnSpPr/>
          <p:nvPr/>
        </p:nvCxnSpPr>
        <p:spPr>
          <a:xfrm flipH="1" rot="10800000">
            <a:off x="10393680" y="3099816"/>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770" name="Google Shape;770;p21"/>
          <p:cNvCxnSpPr/>
          <p:nvPr/>
        </p:nvCxnSpPr>
        <p:spPr>
          <a:xfrm flipH="1" rot="10800000">
            <a:off x="10393680" y="4334256"/>
            <a:ext cx="1219200" cy="493776"/>
          </a:xfrm>
          <a:prstGeom prst="straightConnector1">
            <a:avLst/>
          </a:prstGeom>
          <a:noFill/>
          <a:ln cap="flat" cmpd="sng" w="9525">
            <a:solidFill>
              <a:srgbClr val="9C8CC4"/>
            </a:solidFill>
            <a:prstDash val="solid"/>
            <a:round/>
            <a:headEnd len="sm" w="sm" type="none"/>
            <a:tailEnd len="sm" w="sm" type="none"/>
          </a:ln>
        </p:spPr>
      </p:cxnSp>
      <p:sp>
        <p:nvSpPr>
          <p:cNvPr id="771" name="Google Shape;771;p21"/>
          <p:cNvSpPr/>
          <p:nvPr/>
        </p:nvSpPr>
        <p:spPr>
          <a:xfrm>
            <a:off x="7886700" y="20436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1"/>
          <p:cNvSpPr/>
          <p:nvPr/>
        </p:nvSpPr>
        <p:spPr>
          <a:xfrm>
            <a:off x="788670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1"/>
          <p:cNvSpPr/>
          <p:nvPr/>
        </p:nvSpPr>
        <p:spPr>
          <a:xfrm>
            <a:off x="7886700" y="467715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1"/>
          <p:cNvSpPr/>
          <p:nvPr/>
        </p:nvSpPr>
        <p:spPr>
          <a:xfrm>
            <a:off x="9105900" y="163220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1"/>
          <p:cNvSpPr/>
          <p:nvPr/>
        </p:nvSpPr>
        <p:spPr>
          <a:xfrm>
            <a:off x="9105900" y="27020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1"/>
          <p:cNvSpPr/>
          <p:nvPr/>
        </p:nvSpPr>
        <p:spPr>
          <a:xfrm>
            <a:off x="9105900" y="385419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1"/>
          <p:cNvSpPr/>
          <p:nvPr/>
        </p:nvSpPr>
        <p:spPr>
          <a:xfrm>
            <a:off x="9105900" y="50063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1"/>
          <p:cNvSpPr/>
          <p:nvPr/>
        </p:nvSpPr>
        <p:spPr>
          <a:xfrm>
            <a:off x="10325100" y="229057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1"/>
          <p:cNvSpPr/>
          <p:nvPr/>
        </p:nvSpPr>
        <p:spPr>
          <a:xfrm>
            <a:off x="10325100" y="356616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1"/>
          <p:cNvSpPr/>
          <p:nvPr/>
        </p:nvSpPr>
        <p:spPr>
          <a:xfrm>
            <a:off x="10325100" y="47594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1"/>
          <p:cNvSpPr/>
          <p:nvPr/>
        </p:nvSpPr>
        <p:spPr>
          <a:xfrm>
            <a:off x="11544300" y="303123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1"/>
          <p:cNvSpPr/>
          <p:nvPr/>
        </p:nvSpPr>
        <p:spPr>
          <a:xfrm>
            <a:off x="11544300" y="426567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1"/>
          <p:cNvSpPr/>
          <p:nvPr/>
        </p:nvSpPr>
        <p:spPr>
          <a:xfrm>
            <a:off x="566928" y="1417320"/>
            <a:ext cx="2743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9600"/>
              <a:buFont typeface="Cambria"/>
              <a:buNone/>
            </a:pPr>
            <a:r>
              <a:rPr b="1" i="0" lang="en-US" sz="9600" u="none" cap="none" strike="noStrike">
                <a:solidFill>
                  <a:srgbClr val="E8833A"/>
                </a:solidFill>
                <a:latin typeface="Cambria"/>
                <a:ea typeface="Cambria"/>
                <a:cs typeface="Cambria"/>
                <a:sym typeface="Cambria"/>
              </a:rPr>
              <a:t>03</a:t>
            </a:r>
            <a:endParaRPr b="0" i="0" sz="9600" u="none" cap="none" strike="noStrike">
              <a:solidFill>
                <a:schemeClr val="dk1"/>
              </a:solidFill>
              <a:latin typeface="Calibri"/>
              <a:ea typeface="Calibri"/>
              <a:cs typeface="Calibri"/>
              <a:sym typeface="Calibri"/>
            </a:endParaRPr>
          </a:p>
        </p:txBody>
      </p:sp>
      <p:sp>
        <p:nvSpPr>
          <p:cNvPr id="784" name="Google Shape;784;p21"/>
          <p:cNvSpPr/>
          <p:nvPr/>
        </p:nvSpPr>
        <p:spPr>
          <a:xfrm>
            <a:off x="566928" y="2880360"/>
            <a:ext cx="67665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Deep feedforward networks</a:t>
            </a:r>
            <a:endParaRPr b="0" i="0" sz="4000" u="none" cap="none" strike="noStrike">
              <a:solidFill>
                <a:schemeClr val="dk1"/>
              </a:solidFill>
              <a:latin typeface="Calibri"/>
              <a:ea typeface="Calibri"/>
              <a:cs typeface="Calibri"/>
              <a:sym typeface="Calibri"/>
            </a:endParaRPr>
          </a:p>
        </p:txBody>
      </p:sp>
      <p:sp>
        <p:nvSpPr>
          <p:cNvPr id="785" name="Google Shape;785;p21"/>
          <p:cNvSpPr/>
          <p:nvPr/>
        </p:nvSpPr>
        <p:spPr>
          <a:xfrm>
            <a:off x="566928" y="388620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600"/>
              <a:buFont typeface="Calibri"/>
              <a:buNone/>
            </a:pPr>
            <a:r>
              <a:rPr b="0" i="1" lang="en-US" sz="1600" u="none" cap="none" strike="noStrike">
                <a:solidFill>
                  <a:srgbClr val="9C8CC4"/>
                </a:solidFill>
                <a:latin typeface="Calibri"/>
                <a:ea typeface="Calibri"/>
                <a:cs typeface="Calibri"/>
                <a:sym typeface="Calibri"/>
              </a:rPr>
              <a:t>The architecture, and how it learns</a:t>
            </a:r>
            <a:endParaRPr b="0" i="0" sz="1600" u="none" cap="none" strike="noStrike">
              <a:solidFill>
                <a:schemeClr val="dk1"/>
              </a:solidFill>
              <a:latin typeface="Calibri"/>
              <a:ea typeface="Calibri"/>
              <a:cs typeface="Calibri"/>
              <a:sym typeface="Calibri"/>
            </a:endParaRPr>
          </a:p>
        </p:txBody>
      </p:sp>
      <p:sp>
        <p:nvSpPr>
          <p:cNvPr id="786" name="Google Shape;786;p21"/>
          <p:cNvSpPr/>
          <p:nvPr/>
        </p:nvSpPr>
        <p:spPr>
          <a:xfrm>
            <a:off x="612648" y="4480560"/>
            <a:ext cx="6400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From a single neuron to a multilayer perceptron</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Why a hidden layer solves XOR when a linear model cannot</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Forward pass, backward pass and a full numerical example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sp>
        <p:nvSpPr>
          <p:cNvPr id="792" name="Google Shape;792;p22"/>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793" name="Google Shape;793;p22"/>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lang="en-US" sz="2800">
                <a:solidFill>
                  <a:srgbClr val="2D1B4E"/>
                </a:solidFill>
                <a:latin typeface="Cambria"/>
                <a:ea typeface="Cambria"/>
                <a:cs typeface="Cambria"/>
                <a:sym typeface="Cambria"/>
              </a:rPr>
              <a:t>The Human Brain</a:t>
            </a:r>
            <a:endParaRPr b="0" i="0" sz="2800" u="none" cap="none" strike="noStrike">
              <a:solidFill>
                <a:schemeClr val="dk1"/>
              </a:solidFill>
              <a:latin typeface="Calibri"/>
              <a:ea typeface="Calibri"/>
              <a:cs typeface="Calibri"/>
              <a:sym typeface="Calibri"/>
            </a:endParaRPr>
          </a:p>
        </p:txBody>
      </p:sp>
      <p:sp>
        <p:nvSpPr>
          <p:cNvPr id="794" name="Google Shape;794;p22"/>
          <p:cNvSpPr/>
          <p:nvPr/>
        </p:nvSpPr>
        <p:spPr>
          <a:xfrm>
            <a:off x="566925" y="1417325"/>
            <a:ext cx="10416000" cy="1137000"/>
          </a:xfrm>
          <a:prstGeom prst="rect">
            <a:avLst/>
          </a:prstGeom>
          <a:noFill/>
          <a:ln>
            <a:noFill/>
          </a:ln>
        </p:spPr>
        <p:txBody>
          <a:bodyPr anchorCtr="0" anchor="t" bIns="0" lIns="0" spcFirstLastPara="1" rIns="0" wrap="square" tIns="0">
            <a:noAutofit/>
          </a:bodyPr>
          <a:lstStyle/>
          <a:p>
            <a:pPr indent="-317500" lvl="0" marL="457200" rtl="0" algn="l">
              <a:lnSpc>
                <a:spcPct val="115000"/>
              </a:lnSpc>
              <a:spcBef>
                <a:spcPts val="0"/>
              </a:spcBef>
              <a:spcAft>
                <a:spcPts val="0"/>
              </a:spcAft>
              <a:buClr>
                <a:srgbClr val="241C2E"/>
              </a:buClr>
              <a:buSzPts val="1400"/>
              <a:buFont typeface="Calibri"/>
              <a:buChar char="•"/>
            </a:pPr>
            <a:r>
              <a:rPr b="1" lang="en-US">
                <a:solidFill>
                  <a:srgbClr val="241C2E"/>
                </a:solidFill>
                <a:latin typeface="Calibri"/>
                <a:ea typeface="Calibri"/>
                <a:cs typeface="Calibri"/>
                <a:sym typeface="Calibri"/>
              </a:rPr>
              <a:t>Inspired by the human brain.</a:t>
            </a:r>
            <a:endParaRPr b="1">
              <a:solidFill>
                <a:srgbClr val="241C2E"/>
              </a:solidFill>
              <a:latin typeface="Calibri"/>
              <a:ea typeface="Calibri"/>
              <a:cs typeface="Calibri"/>
              <a:sym typeface="Calibri"/>
            </a:endParaRPr>
          </a:p>
          <a:p>
            <a:pPr indent="-317500" lvl="0" marL="457200" rtl="0" algn="l">
              <a:lnSpc>
                <a:spcPct val="115000"/>
              </a:lnSpc>
              <a:spcBef>
                <a:spcPts val="0"/>
              </a:spcBef>
              <a:spcAft>
                <a:spcPts val="0"/>
              </a:spcAft>
              <a:buClr>
                <a:srgbClr val="241C2E"/>
              </a:buClr>
              <a:buSzPts val="1400"/>
              <a:buFont typeface="Calibri"/>
              <a:buChar char="•"/>
            </a:pPr>
            <a:r>
              <a:rPr b="1" lang="en-US">
                <a:solidFill>
                  <a:srgbClr val="241C2E"/>
                </a:solidFill>
                <a:latin typeface="Calibri"/>
                <a:ea typeface="Calibri"/>
                <a:cs typeface="Calibri"/>
                <a:sym typeface="Calibri"/>
              </a:rPr>
              <a:t>It is estimated that the average human brain has about 86 billion neurons (nerve cells).</a:t>
            </a:r>
            <a:endParaRPr b="1">
              <a:solidFill>
                <a:srgbClr val="241C2E"/>
              </a:solidFill>
              <a:latin typeface="Calibri"/>
              <a:ea typeface="Calibri"/>
              <a:cs typeface="Calibri"/>
              <a:sym typeface="Calibri"/>
            </a:endParaRPr>
          </a:p>
          <a:p>
            <a:pPr indent="-317500" lvl="0" marL="457200" rtl="0" algn="l">
              <a:lnSpc>
                <a:spcPct val="115000"/>
              </a:lnSpc>
              <a:spcBef>
                <a:spcPts val="0"/>
              </a:spcBef>
              <a:spcAft>
                <a:spcPts val="0"/>
              </a:spcAft>
              <a:buClr>
                <a:srgbClr val="241C2E"/>
              </a:buClr>
              <a:buSzPts val="1400"/>
              <a:buFont typeface="Calibri"/>
              <a:buChar char="•"/>
            </a:pPr>
            <a:r>
              <a:rPr b="1" lang="en-US">
                <a:solidFill>
                  <a:srgbClr val="241C2E"/>
                </a:solidFill>
                <a:latin typeface="Calibri"/>
                <a:ea typeface="Calibri"/>
                <a:cs typeface="Calibri"/>
                <a:sym typeface="Calibri"/>
              </a:rPr>
              <a:t>Each neuron is connected to 10,000 other neurons, passing signals to each other via as many as 1,000 trillion synaptic connections.</a:t>
            </a:r>
            <a:endParaRPr b="0" i="0" sz="1400" u="none" cap="none" strike="noStrike">
              <a:solidFill>
                <a:schemeClr val="dk1"/>
              </a:solidFill>
              <a:latin typeface="Calibri"/>
              <a:ea typeface="Calibri"/>
              <a:cs typeface="Calibri"/>
              <a:sym typeface="Calibri"/>
            </a:endParaRPr>
          </a:p>
        </p:txBody>
      </p:sp>
      <p:sp>
        <p:nvSpPr>
          <p:cNvPr id="795" name="Google Shape;795;p22"/>
          <p:cNvSpPr txBox="1"/>
          <p:nvPr/>
        </p:nvSpPr>
        <p:spPr>
          <a:xfrm>
            <a:off x="566934" y="6309300"/>
            <a:ext cx="82860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US" sz="1100"/>
              <a:t>Slide Credit: Stanford CS class CS231n: Convolutional Neural Networks for Visual Recognition</a:t>
            </a:r>
            <a:endParaRPr sz="1100"/>
          </a:p>
          <a:p>
            <a:pPr indent="0" lvl="0" marL="0" rtl="0" algn="l">
              <a:lnSpc>
                <a:spcPct val="115000"/>
              </a:lnSpc>
              <a:spcBef>
                <a:spcPts val="0"/>
              </a:spcBef>
              <a:spcAft>
                <a:spcPts val="0"/>
              </a:spcAft>
              <a:buNone/>
            </a:pPr>
            <a:r>
              <a:rPr lang="en-US" sz="1100"/>
              <a:t>http://cs231n.github.io/neural-networks-1/</a:t>
            </a:r>
            <a:endParaRPr sz="1100"/>
          </a:p>
        </p:txBody>
      </p:sp>
      <p:pic>
        <p:nvPicPr>
          <p:cNvPr id="796" name="Google Shape;796;p22"/>
          <p:cNvPicPr preferRelativeResize="0"/>
          <p:nvPr/>
        </p:nvPicPr>
        <p:blipFill>
          <a:blip r:embed="rId3">
            <a:alphaModFix/>
          </a:blip>
          <a:stretch>
            <a:fillRect/>
          </a:stretch>
        </p:blipFill>
        <p:spPr>
          <a:xfrm>
            <a:off x="2537948" y="2502954"/>
            <a:ext cx="6473951" cy="26019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g38b90926999_0_0"/>
          <p:cNvSpPr/>
          <p:nvPr/>
        </p:nvSpPr>
        <p:spPr>
          <a:xfrm>
            <a:off x="566928" y="256032"/>
            <a:ext cx="11057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803" name="Google Shape;803;g38b90926999_0_0"/>
          <p:cNvSpPr/>
          <p:nvPr/>
        </p:nvSpPr>
        <p:spPr>
          <a:xfrm>
            <a:off x="566928" y="493776"/>
            <a:ext cx="11057700" cy="567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The artificial neuron</a:t>
            </a:r>
            <a:endParaRPr b="0" i="0" sz="2800" u="none" cap="none" strike="noStrike">
              <a:solidFill>
                <a:schemeClr val="dk1"/>
              </a:solidFill>
              <a:latin typeface="Calibri"/>
              <a:ea typeface="Calibri"/>
              <a:cs typeface="Calibri"/>
              <a:sym typeface="Calibri"/>
            </a:endParaRPr>
          </a:p>
        </p:txBody>
      </p:sp>
      <p:sp>
        <p:nvSpPr>
          <p:cNvPr id="804" name="Google Shape;804;g38b90926999_0_0"/>
          <p:cNvSpPr/>
          <p:nvPr/>
        </p:nvSpPr>
        <p:spPr>
          <a:xfrm>
            <a:off x="566928" y="1417320"/>
            <a:ext cx="4846200" cy="32919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400"/>
              <a:buFont typeface="Calibri"/>
              <a:buChar char="•"/>
            </a:pPr>
            <a:r>
              <a:rPr b="1" i="0" lang="en-US" sz="1400" u="none" cap="none" strike="noStrike">
                <a:solidFill>
                  <a:srgbClr val="241C2E"/>
                </a:solidFill>
                <a:latin typeface="Calibri"/>
                <a:ea typeface="Calibri"/>
                <a:cs typeface="Calibri"/>
                <a:sym typeface="Calibri"/>
              </a:rPr>
              <a:t>A neuron receives a vector of inputs, computes a weighted sum plus a bias, and passes the result through an activation function.</a:t>
            </a:r>
            <a:endParaRPr b="0" i="0" sz="14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400"/>
              <a:buFont typeface="Calibri"/>
              <a:buChar char="•"/>
            </a:pPr>
            <a:r>
              <a:rPr b="0" i="0" lang="en-US" sz="1400" u="none" cap="none" strike="noStrike">
                <a:solidFill>
                  <a:srgbClr val="241C2E"/>
                </a:solidFill>
                <a:latin typeface="Calibri"/>
                <a:ea typeface="Calibri"/>
                <a:cs typeface="Calibri"/>
                <a:sym typeface="Calibri"/>
              </a:rPr>
              <a:t>The weighted sum is an affine transformation: it is linear in the inputs.</a:t>
            </a:r>
            <a:endParaRPr b="0" i="0" sz="14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400"/>
              <a:buFont typeface="Calibri"/>
              <a:buChar char="•"/>
            </a:pPr>
            <a:r>
              <a:rPr b="0" i="0" lang="en-US" sz="1400" u="none" cap="none" strike="noStrike">
                <a:solidFill>
                  <a:srgbClr val="241C2E"/>
                </a:solidFill>
                <a:latin typeface="Calibri"/>
                <a:ea typeface="Calibri"/>
                <a:cs typeface="Calibri"/>
                <a:sym typeface="Calibri"/>
              </a:rPr>
              <a:t>The activation function g is the only nonlinear part — without it, stacking neurons would still give a linear model.</a:t>
            </a:r>
            <a:endParaRPr b="0" i="0" sz="14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400"/>
              <a:buFont typeface="Calibri"/>
              <a:buChar char="•"/>
            </a:pPr>
            <a:r>
              <a:rPr b="0" i="0" lang="en-US" sz="1400" u="none" cap="none" strike="noStrike">
                <a:solidFill>
                  <a:srgbClr val="241C2E"/>
                </a:solidFill>
                <a:latin typeface="Calibri"/>
                <a:ea typeface="Calibri"/>
                <a:cs typeface="Calibri"/>
                <a:sym typeface="Calibri"/>
              </a:rPr>
              <a:t>The biological analogy (dendrites collect signals, the cell body integrates them, the axon transmits the result) inspired the model but is not a claim about how brains actually work.</a:t>
            </a:r>
            <a:endParaRPr b="0" i="0" sz="1400" u="none" cap="none" strike="noStrike">
              <a:solidFill>
                <a:schemeClr val="dk1"/>
              </a:solidFill>
              <a:latin typeface="Calibri"/>
              <a:ea typeface="Calibri"/>
              <a:cs typeface="Calibri"/>
              <a:sym typeface="Calibri"/>
            </a:endParaRPr>
          </a:p>
        </p:txBody>
      </p:sp>
      <p:sp>
        <p:nvSpPr>
          <p:cNvPr id="805" name="Google Shape;805;g38b90926999_0_0"/>
          <p:cNvSpPr/>
          <p:nvPr/>
        </p:nvSpPr>
        <p:spPr>
          <a:xfrm>
            <a:off x="566928" y="4846320"/>
            <a:ext cx="4846200" cy="822900"/>
          </a:xfrm>
          <a:prstGeom prst="roundRect">
            <a:avLst>
              <a:gd fmla="val 10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g38b90926999_0_0"/>
          <p:cNvSpPr/>
          <p:nvPr/>
        </p:nvSpPr>
        <p:spPr>
          <a:xfrm>
            <a:off x="704088" y="4846320"/>
            <a:ext cx="45720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800"/>
              <a:buFont typeface="Calibri"/>
              <a:buNone/>
            </a:pPr>
            <a:r>
              <a:rPr b="1" i="0" lang="en-US" sz="1800" u="none" cap="none" strike="noStrike">
                <a:solidFill>
                  <a:srgbClr val="2D1B4E"/>
                </a:solidFill>
                <a:latin typeface="Calibri"/>
                <a:ea typeface="Calibri"/>
                <a:cs typeface="Calibri"/>
                <a:sym typeface="Calibri"/>
              </a:rPr>
              <a:t>output = g ( Σᵢ wᵢ xᵢ + b )</a:t>
            </a:r>
            <a:endParaRPr b="0" i="0" sz="1800" u="none" cap="none" strike="noStrike">
              <a:solidFill>
                <a:schemeClr val="dk1"/>
              </a:solidFill>
              <a:latin typeface="Calibri"/>
              <a:ea typeface="Calibri"/>
              <a:cs typeface="Calibri"/>
              <a:sym typeface="Calibri"/>
            </a:endParaRPr>
          </a:p>
        </p:txBody>
      </p:sp>
      <p:sp>
        <p:nvSpPr>
          <p:cNvPr id="807" name="Google Shape;807;g38b90926999_0_0"/>
          <p:cNvSpPr/>
          <p:nvPr/>
        </p:nvSpPr>
        <p:spPr>
          <a:xfrm>
            <a:off x="5852160" y="1371600"/>
            <a:ext cx="5778900" cy="4297800"/>
          </a:xfrm>
          <a:prstGeom prst="roundRect">
            <a:avLst>
              <a:gd fmla="val 1915" name="adj"/>
            </a:avLst>
          </a:prstGeom>
          <a:solidFill>
            <a:srgbClr val="F4F1F9"/>
          </a:solidFill>
          <a:ln>
            <a:noFill/>
          </a:ln>
          <a:effectLst>
            <a:outerShdw blurRad="114300" rotWithShape="0" algn="bl" dir="5400000" dist="12700">
              <a:srgbClr val="B7ADCB">
                <a:alpha val="3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g38b90926999_0_0"/>
          <p:cNvSpPr/>
          <p:nvPr/>
        </p:nvSpPr>
        <p:spPr>
          <a:xfrm>
            <a:off x="8503920" y="2331720"/>
            <a:ext cx="1554600" cy="1554600"/>
          </a:xfrm>
          <a:prstGeom prst="ellipse">
            <a:avLst/>
          </a:prstGeom>
          <a:solidFill>
            <a:srgbClr val="FFFFFF"/>
          </a:solidFill>
          <a:ln cap="flat" cmpd="sng" w="2222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g38b90926999_0_0"/>
          <p:cNvSpPr/>
          <p:nvPr/>
        </p:nvSpPr>
        <p:spPr>
          <a:xfrm>
            <a:off x="8503920" y="2331720"/>
            <a:ext cx="1554600" cy="1554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300"/>
              <a:buFont typeface="Calibri"/>
              <a:buNone/>
            </a:pPr>
            <a:r>
              <a:rPr b="1" i="0" lang="en-US" sz="1300" u="none" cap="none" strike="noStrike">
                <a:solidFill>
                  <a:srgbClr val="2D1B4E"/>
                </a:solidFill>
                <a:latin typeface="Calibri"/>
                <a:ea typeface="Calibri"/>
                <a:cs typeface="Calibri"/>
                <a:sym typeface="Calibri"/>
              </a:rPr>
              <a:t>Σᵢ wᵢxᵢ + b</a:t>
            </a:r>
            <a:endParaRPr b="0" i="0" sz="1300" u="none" cap="none" strike="noStrike">
              <a:solidFill>
                <a:schemeClr val="dk1"/>
              </a:solidFill>
              <a:latin typeface="Calibri"/>
              <a:ea typeface="Calibri"/>
              <a:cs typeface="Calibri"/>
              <a:sym typeface="Calibri"/>
            </a:endParaRPr>
          </a:p>
        </p:txBody>
      </p:sp>
      <p:cxnSp>
        <p:nvCxnSpPr>
          <p:cNvPr id="810" name="Google Shape;810;g38b90926999_0_0"/>
          <p:cNvCxnSpPr/>
          <p:nvPr/>
        </p:nvCxnSpPr>
        <p:spPr>
          <a:xfrm>
            <a:off x="6400800" y="2148840"/>
            <a:ext cx="2057400" cy="652800"/>
          </a:xfrm>
          <a:prstGeom prst="straightConnector1">
            <a:avLst/>
          </a:prstGeom>
          <a:noFill/>
          <a:ln cap="flat" cmpd="sng" w="19050">
            <a:solidFill>
              <a:srgbClr val="6B5B95"/>
            </a:solidFill>
            <a:prstDash val="solid"/>
            <a:round/>
            <a:headEnd len="sm" w="sm" type="none"/>
            <a:tailEnd len="med" w="med" type="triangle"/>
          </a:ln>
        </p:spPr>
      </p:cxnSp>
      <p:sp>
        <p:nvSpPr>
          <p:cNvPr id="811" name="Google Shape;811;g38b90926999_0_0"/>
          <p:cNvSpPr/>
          <p:nvPr/>
        </p:nvSpPr>
        <p:spPr>
          <a:xfrm>
            <a:off x="6446520" y="1819656"/>
            <a:ext cx="822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w₀x₀</a:t>
            </a:r>
            <a:endParaRPr b="0" i="0" sz="1200" u="none" cap="none" strike="noStrike">
              <a:solidFill>
                <a:schemeClr val="dk1"/>
              </a:solidFill>
              <a:latin typeface="Calibri"/>
              <a:ea typeface="Calibri"/>
              <a:cs typeface="Calibri"/>
              <a:sym typeface="Calibri"/>
            </a:endParaRPr>
          </a:p>
        </p:txBody>
      </p:sp>
      <p:sp>
        <p:nvSpPr>
          <p:cNvPr id="812" name="Google Shape;812;g38b90926999_0_0"/>
          <p:cNvSpPr/>
          <p:nvPr/>
        </p:nvSpPr>
        <p:spPr>
          <a:xfrm>
            <a:off x="6272784" y="2084832"/>
            <a:ext cx="128100" cy="128100"/>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3" name="Google Shape;813;g38b90926999_0_0"/>
          <p:cNvCxnSpPr/>
          <p:nvPr/>
        </p:nvCxnSpPr>
        <p:spPr>
          <a:xfrm>
            <a:off x="6400800" y="3108960"/>
            <a:ext cx="2057400" cy="0"/>
          </a:xfrm>
          <a:prstGeom prst="straightConnector1">
            <a:avLst/>
          </a:prstGeom>
          <a:noFill/>
          <a:ln cap="flat" cmpd="sng" w="19050">
            <a:solidFill>
              <a:srgbClr val="6B5B95"/>
            </a:solidFill>
            <a:prstDash val="solid"/>
            <a:round/>
            <a:headEnd len="sm" w="sm" type="none"/>
            <a:tailEnd len="med" w="med" type="triangle"/>
          </a:ln>
        </p:spPr>
      </p:cxnSp>
      <p:sp>
        <p:nvSpPr>
          <p:cNvPr id="814" name="Google Shape;814;g38b90926999_0_0"/>
          <p:cNvSpPr/>
          <p:nvPr/>
        </p:nvSpPr>
        <p:spPr>
          <a:xfrm>
            <a:off x="6446520" y="2779776"/>
            <a:ext cx="822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w₁x₁</a:t>
            </a:r>
            <a:endParaRPr b="0" i="0" sz="1200" u="none" cap="none" strike="noStrike">
              <a:solidFill>
                <a:schemeClr val="dk1"/>
              </a:solidFill>
              <a:latin typeface="Calibri"/>
              <a:ea typeface="Calibri"/>
              <a:cs typeface="Calibri"/>
              <a:sym typeface="Calibri"/>
            </a:endParaRPr>
          </a:p>
        </p:txBody>
      </p:sp>
      <p:sp>
        <p:nvSpPr>
          <p:cNvPr id="815" name="Google Shape;815;g38b90926999_0_0"/>
          <p:cNvSpPr/>
          <p:nvPr/>
        </p:nvSpPr>
        <p:spPr>
          <a:xfrm>
            <a:off x="6272784" y="3044952"/>
            <a:ext cx="128100" cy="128100"/>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16" name="Google Shape;816;g38b90926999_0_0"/>
          <p:cNvCxnSpPr/>
          <p:nvPr/>
        </p:nvCxnSpPr>
        <p:spPr>
          <a:xfrm flipH="1" rot="10800000">
            <a:off x="6400800" y="3416280"/>
            <a:ext cx="2057400" cy="652800"/>
          </a:xfrm>
          <a:prstGeom prst="straightConnector1">
            <a:avLst/>
          </a:prstGeom>
          <a:noFill/>
          <a:ln cap="flat" cmpd="sng" w="19050">
            <a:solidFill>
              <a:srgbClr val="6B5B95"/>
            </a:solidFill>
            <a:prstDash val="solid"/>
            <a:round/>
            <a:headEnd len="sm" w="sm" type="none"/>
            <a:tailEnd len="med" w="med" type="triangle"/>
          </a:ln>
        </p:spPr>
      </p:cxnSp>
      <p:sp>
        <p:nvSpPr>
          <p:cNvPr id="817" name="Google Shape;817;g38b90926999_0_0"/>
          <p:cNvSpPr/>
          <p:nvPr/>
        </p:nvSpPr>
        <p:spPr>
          <a:xfrm>
            <a:off x="6446520" y="3739896"/>
            <a:ext cx="822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w₂x₂</a:t>
            </a:r>
            <a:endParaRPr b="0" i="0" sz="1200" u="none" cap="none" strike="noStrike">
              <a:solidFill>
                <a:schemeClr val="dk1"/>
              </a:solidFill>
              <a:latin typeface="Calibri"/>
              <a:ea typeface="Calibri"/>
              <a:cs typeface="Calibri"/>
              <a:sym typeface="Calibri"/>
            </a:endParaRPr>
          </a:p>
        </p:txBody>
      </p:sp>
      <p:sp>
        <p:nvSpPr>
          <p:cNvPr id="818" name="Google Shape;818;g38b90926999_0_0"/>
          <p:cNvSpPr/>
          <p:nvPr/>
        </p:nvSpPr>
        <p:spPr>
          <a:xfrm>
            <a:off x="6272784" y="4005072"/>
            <a:ext cx="128100" cy="128100"/>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g38b90926999_0_0"/>
          <p:cNvSpPr/>
          <p:nvPr/>
        </p:nvSpPr>
        <p:spPr>
          <a:xfrm>
            <a:off x="5989320" y="4709160"/>
            <a:ext cx="14631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inputs from</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other neurons</a:t>
            </a:r>
            <a:endParaRPr b="0" i="0" sz="1050" u="none" cap="none" strike="noStrike">
              <a:solidFill>
                <a:schemeClr val="dk1"/>
              </a:solidFill>
              <a:latin typeface="Calibri"/>
              <a:ea typeface="Calibri"/>
              <a:cs typeface="Calibri"/>
              <a:sym typeface="Calibri"/>
            </a:endParaRPr>
          </a:p>
        </p:txBody>
      </p:sp>
      <p:cxnSp>
        <p:nvCxnSpPr>
          <p:cNvPr id="820" name="Google Shape;820;g38b90926999_0_0"/>
          <p:cNvCxnSpPr/>
          <p:nvPr/>
        </p:nvCxnSpPr>
        <p:spPr>
          <a:xfrm>
            <a:off x="10058400" y="3108960"/>
            <a:ext cx="1234500" cy="0"/>
          </a:xfrm>
          <a:prstGeom prst="straightConnector1">
            <a:avLst/>
          </a:prstGeom>
          <a:noFill/>
          <a:ln cap="flat" cmpd="sng" w="25400">
            <a:solidFill>
              <a:srgbClr val="E8833A"/>
            </a:solidFill>
            <a:prstDash val="solid"/>
            <a:round/>
            <a:headEnd len="sm" w="sm" type="none"/>
            <a:tailEnd len="med" w="med" type="triangle"/>
          </a:ln>
        </p:spPr>
      </p:cxnSp>
      <p:sp>
        <p:nvSpPr>
          <p:cNvPr id="821" name="Google Shape;821;g38b90926999_0_0"/>
          <p:cNvSpPr/>
          <p:nvPr/>
        </p:nvSpPr>
        <p:spPr>
          <a:xfrm>
            <a:off x="9976104" y="3026664"/>
            <a:ext cx="164700" cy="16470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g38b90926999_0_0"/>
          <p:cNvSpPr/>
          <p:nvPr/>
        </p:nvSpPr>
        <p:spPr>
          <a:xfrm>
            <a:off x="10314432" y="2697480"/>
            <a:ext cx="365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400"/>
              <a:buFont typeface="Calibri"/>
              <a:buNone/>
            </a:pPr>
            <a:r>
              <a:rPr b="1" i="1" lang="en-US" sz="1400" u="none" cap="none" strike="noStrike">
                <a:solidFill>
                  <a:srgbClr val="C4661F"/>
                </a:solidFill>
                <a:latin typeface="Calibri"/>
                <a:ea typeface="Calibri"/>
                <a:cs typeface="Calibri"/>
                <a:sym typeface="Calibri"/>
              </a:rPr>
              <a:t>g</a:t>
            </a:r>
            <a:endParaRPr b="0" i="0" sz="1400" u="none" cap="none" strike="noStrike">
              <a:solidFill>
                <a:schemeClr val="dk1"/>
              </a:solidFill>
              <a:latin typeface="Calibri"/>
              <a:ea typeface="Calibri"/>
              <a:cs typeface="Calibri"/>
              <a:sym typeface="Calibri"/>
            </a:endParaRPr>
          </a:p>
        </p:txBody>
      </p:sp>
      <p:sp>
        <p:nvSpPr>
          <p:cNvPr id="823" name="Google Shape;823;g38b90926999_0_0"/>
          <p:cNvSpPr/>
          <p:nvPr/>
        </p:nvSpPr>
        <p:spPr>
          <a:xfrm>
            <a:off x="10259568" y="3310128"/>
            <a:ext cx="1737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activation function</a:t>
            </a:r>
            <a:endParaRPr b="0" i="0" sz="1050" u="none" cap="none" strike="noStrike">
              <a:solidFill>
                <a:schemeClr val="dk1"/>
              </a:solidFill>
              <a:latin typeface="Calibri"/>
              <a:ea typeface="Calibri"/>
              <a:cs typeface="Calibri"/>
              <a:sym typeface="Calibri"/>
            </a:endParaRPr>
          </a:p>
        </p:txBody>
      </p:sp>
      <p:sp>
        <p:nvSpPr>
          <p:cNvPr id="824" name="Google Shape;824;g38b90926999_0_0"/>
          <p:cNvSpPr/>
          <p:nvPr/>
        </p:nvSpPr>
        <p:spPr>
          <a:xfrm>
            <a:off x="10698480" y="2724912"/>
            <a:ext cx="822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output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9" name="Shape 829"/>
        <p:cNvGrpSpPr/>
        <p:nvPr/>
      </p:nvGrpSpPr>
      <p:grpSpPr>
        <a:xfrm>
          <a:off x="0" y="0"/>
          <a:ext cx="0" cy="0"/>
          <a:chOff x="0" y="0"/>
          <a:chExt cx="0" cy="0"/>
        </a:xfrm>
      </p:grpSpPr>
      <p:sp>
        <p:nvSpPr>
          <p:cNvPr id="830" name="Google Shape;830;p2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831" name="Google Shape;831;p2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Deep feedforward networks</a:t>
            </a:r>
            <a:endParaRPr b="0" i="0" sz="2800" u="none" cap="none" strike="noStrike">
              <a:solidFill>
                <a:schemeClr val="dk1"/>
              </a:solidFill>
              <a:latin typeface="Calibri"/>
              <a:ea typeface="Calibri"/>
              <a:cs typeface="Calibri"/>
              <a:sym typeface="Calibri"/>
            </a:endParaRPr>
          </a:p>
        </p:txBody>
      </p:sp>
      <p:sp>
        <p:nvSpPr>
          <p:cNvPr id="832" name="Google Shape;832;p23"/>
          <p:cNvSpPr/>
          <p:nvPr/>
        </p:nvSpPr>
        <p:spPr>
          <a:xfrm>
            <a:off x="566928" y="1371600"/>
            <a:ext cx="5532120" cy="33832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A feedforward network defines a mapping y = f(x; θ) and learns the parameters θ that give the best approximation of a target function y = f*(x).</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Feedforward: information flows from the input, through the intermediate computations, to the output. There are no feedback connections in which outputs are fed back into the model.</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Add feedback connections and you get a recurrent neural network. A CNN is a special kind of feedforward network.</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50"/>
              <a:buFont typeface="Calibri"/>
              <a:buChar char="•"/>
            </a:pPr>
            <a:r>
              <a:rPr b="1" i="0" lang="en-US" sz="1350" u="none" cap="none" strike="noStrike">
                <a:solidFill>
                  <a:srgbClr val="2D1B4E"/>
                </a:solidFill>
                <a:latin typeface="Calibri"/>
                <a:ea typeface="Calibri"/>
                <a:cs typeface="Calibri"/>
                <a:sym typeface="Calibri"/>
              </a:rPr>
              <a:t>They are called networks because they are a chain of </a:t>
            </a:r>
            <a:r>
              <a:rPr b="1" lang="en-US" sz="1350">
                <a:solidFill>
                  <a:srgbClr val="2D1B4E"/>
                </a:solidFill>
                <a:latin typeface="Calibri"/>
                <a:ea typeface="Calibri"/>
                <a:cs typeface="Calibri"/>
                <a:sym typeface="Calibri"/>
              </a:rPr>
              <a:t>composite</a:t>
            </a:r>
            <a:r>
              <a:rPr b="1" i="0" lang="en-US" sz="1350" u="none" cap="none" strike="noStrike">
                <a:solidFill>
                  <a:srgbClr val="2D1B4E"/>
                </a:solidFill>
                <a:latin typeface="Calibri"/>
                <a:ea typeface="Calibri"/>
                <a:cs typeface="Calibri"/>
                <a:sym typeface="Calibri"/>
              </a:rPr>
              <a:t> functions:</a:t>
            </a:r>
            <a:endParaRPr b="0" i="0" sz="135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f(x) = f⁽³⁾( f⁽²⁾( f⁽¹⁾(x) ) )   —   f⁽¹⁾ and f⁽²⁾ are hidden layers, f⁽³⁾ is the output layer.</a:t>
            </a:r>
            <a:endParaRPr b="0" i="0" sz="1350" u="none" cap="none" strike="noStrike">
              <a:solidFill>
                <a:schemeClr val="dk1"/>
              </a:solidFill>
              <a:latin typeface="Calibri"/>
              <a:ea typeface="Calibri"/>
              <a:cs typeface="Calibri"/>
              <a:sym typeface="Calibri"/>
            </a:endParaRPr>
          </a:p>
          <a:p>
            <a:pPr indent="-203200" lvl="0" marL="203200" marR="0" rtl="0" algn="l">
              <a:spcBef>
                <a:spcPts val="1000"/>
              </a:spcBef>
              <a:spcAft>
                <a:spcPts val="0"/>
              </a:spcAft>
              <a:buClr>
                <a:srgbClr val="C4661F"/>
              </a:buClr>
              <a:buSzPts val="1350"/>
              <a:buFont typeface="Calibri"/>
              <a:buChar char="•"/>
            </a:pPr>
            <a:r>
              <a:rPr b="1" i="0" lang="en-US" sz="1350" u="none" cap="none" strike="noStrike">
                <a:solidFill>
                  <a:srgbClr val="C4661F"/>
                </a:solidFill>
                <a:latin typeface="Calibri"/>
                <a:ea typeface="Calibri"/>
                <a:cs typeface="Calibri"/>
                <a:sym typeface="Calibri"/>
              </a:rPr>
              <a:t>Depth = the length of the chain.   Width = the dimensionality of the hidden layers.</a:t>
            </a:r>
            <a:endParaRPr b="0" i="0" sz="1350" u="none" cap="none" strike="noStrike">
              <a:solidFill>
                <a:schemeClr val="dk1"/>
              </a:solidFill>
              <a:latin typeface="Calibri"/>
              <a:ea typeface="Calibri"/>
              <a:cs typeface="Calibri"/>
              <a:sym typeface="Calibri"/>
            </a:endParaRPr>
          </a:p>
        </p:txBody>
      </p:sp>
      <p:sp>
        <p:nvSpPr>
          <p:cNvPr id="833" name="Google Shape;833;p23"/>
          <p:cNvSpPr/>
          <p:nvPr/>
        </p:nvSpPr>
        <p:spPr>
          <a:xfrm>
            <a:off x="6400800" y="1371600"/>
            <a:ext cx="5230368" cy="4389120"/>
          </a:xfrm>
          <a:prstGeom prst="roundRect">
            <a:avLst>
              <a:gd fmla="val 187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34" name="Google Shape;834;p23"/>
          <p:cNvCxnSpPr/>
          <p:nvPr/>
        </p:nvCxnSpPr>
        <p:spPr>
          <a:xfrm flipH="1" rot="10800000">
            <a:off x="7086600" y="2407920"/>
            <a:ext cx="1219200" cy="220980"/>
          </a:xfrm>
          <a:prstGeom prst="straightConnector1">
            <a:avLst/>
          </a:prstGeom>
          <a:noFill/>
          <a:ln cap="flat" cmpd="sng" w="11425">
            <a:solidFill>
              <a:srgbClr val="D8D1E6"/>
            </a:solidFill>
            <a:prstDash val="solid"/>
            <a:round/>
            <a:headEnd len="sm" w="sm" type="none"/>
            <a:tailEnd len="sm" w="sm" type="none"/>
          </a:ln>
        </p:spPr>
      </p:cxnSp>
      <p:cxnSp>
        <p:nvCxnSpPr>
          <p:cNvPr id="835" name="Google Shape;835;p23"/>
          <p:cNvCxnSpPr/>
          <p:nvPr/>
        </p:nvCxnSpPr>
        <p:spPr>
          <a:xfrm>
            <a:off x="7086600" y="2628900"/>
            <a:ext cx="1219200" cy="662940"/>
          </a:xfrm>
          <a:prstGeom prst="straightConnector1">
            <a:avLst/>
          </a:prstGeom>
          <a:noFill/>
          <a:ln cap="flat" cmpd="sng" w="11425">
            <a:solidFill>
              <a:srgbClr val="D8D1E6"/>
            </a:solidFill>
            <a:prstDash val="solid"/>
            <a:round/>
            <a:headEnd len="sm" w="sm" type="none"/>
            <a:tailEnd len="sm" w="sm" type="none"/>
          </a:ln>
        </p:spPr>
      </p:cxnSp>
      <p:cxnSp>
        <p:nvCxnSpPr>
          <p:cNvPr id="836" name="Google Shape;836;p23"/>
          <p:cNvCxnSpPr/>
          <p:nvPr/>
        </p:nvCxnSpPr>
        <p:spPr>
          <a:xfrm>
            <a:off x="7086600" y="2628900"/>
            <a:ext cx="1219200" cy="1546860"/>
          </a:xfrm>
          <a:prstGeom prst="straightConnector1">
            <a:avLst/>
          </a:prstGeom>
          <a:noFill/>
          <a:ln cap="flat" cmpd="sng" w="11425">
            <a:solidFill>
              <a:srgbClr val="D8D1E6"/>
            </a:solidFill>
            <a:prstDash val="solid"/>
            <a:round/>
            <a:headEnd len="sm" w="sm" type="none"/>
            <a:tailEnd len="sm" w="sm" type="none"/>
          </a:ln>
        </p:spPr>
      </p:cxnSp>
      <p:cxnSp>
        <p:nvCxnSpPr>
          <p:cNvPr id="837" name="Google Shape;837;p23"/>
          <p:cNvCxnSpPr/>
          <p:nvPr/>
        </p:nvCxnSpPr>
        <p:spPr>
          <a:xfrm flipH="1" rot="10800000">
            <a:off x="7086600" y="2407920"/>
            <a:ext cx="1219200" cy="1546860"/>
          </a:xfrm>
          <a:prstGeom prst="straightConnector1">
            <a:avLst/>
          </a:prstGeom>
          <a:noFill/>
          <a:ln cap="flat" cmpd="sng" w="11425">
            <a:solidFill>
              <a:srgbClr val="D8D1E6"/>
            </a:solidFill>
            <a:prstDash val="solid"/>
            <a:round/>
            <a:headEnd len="sm" w="sm" type="none"/>
            <a:tailEnd len="sm" w="sm" type="none"/>
          </a:ln>
        </p:spPr>
      </p:cxnSp>
      <p:cxnSp>
        <p:nvCxnSpPr>
          <p:cNvPr id="838" name="Google Shape;838;p23"/>
          <p:cNvCxnSpPr/>
          <p:nvPr/>
        </p:nvCxnSpPr>
        <p:spPr>
          <a:xfrm flipH="1" rot="10800000">
            <a:off x="7086600" y="3291840"/>
            <a:ext cx="1219200" cy="662940"/>
          </a:xfrm>
          <a:prstGeom prst="straightConnector1">
            <a:avLst/>
          </a:prstGeom>
          <a:noFill/>
          <a:ln cap="flat" cmpd="sng" w="11425">
            <a:solidFill>
              <a:srgbClr val="D8D1E6"/>
            </a:solidFill>
            <a:prstDash val="solid"/>
            <a:round/>
            <a:headEnd len="sm" w="sm" type="none"/>
            <a:tailEnd len="sm" w="sm" type="none"/>
          </a:ln>
        </p:spPr>
      </p:cxnSp>
      <p:cxnSp>
        <p:nvCxnSpPr>
          <p:cNvPr id="839" name="Google Shape;839;p23"/>
          <p:cNvCxnSpPr/>
          <p:nvPr/>
        </p:nvCxnSpPr>
        <p:spPr>
          <a:xfrm>
            <a:off x="7086600" y="3954780"/>
            <a:ext cx="1219200" cy="220980"/>
          </a:xfrm>
          <a:prstGeom prst="straightConnector1">
            <a:avLst/>
          </a:prstGeom>
          <a:noFill/>
          <a:ln cap="flat" cmpd="sng" w="11425">
            <a:solidFill>
              <a:srgbClr val="D8D1E6"/>
            </a:solidFill>
            <a:prstDash val="solid"/>
            <a:round/>
            <a:headEnd len="sm" w="sm" type="none"/>
            <a:tailEnd len="sm" w="sm" type="none"/>
          </a:ln>
        </p:spPr>
      </p:cxnSp>
      <p:cxnSp>
        <p:nvCxnSpPr>
          <p:cNvPr id="840" name="Google Shape;840;p23"/>
          <p:cNvCxnSpPr/>
          <p:nvPr/>
        </p:nvCxnSpPr>
        <p:spPr>
          <a:xfrm>
            <a:off x="8305800" y="2407920"/>
            <a:ext cx="1219200" cy="0"/>
          </a:xfrm>
          <a:prstGeom prst="straightConnector1">
            <a:avLst/>
          </a:prstGeom>
          <a:noFill/>
          <a:ln cap="flat" cmpd="sng" w="11425">
            <a:solidFill>
              <a:srgbClr val="D8D1E6"/>
            </a:solidFill>
            <a:prstDash val="solid"/>
            <a:round/>
            <a:headEnd len="sm" w="sm" type="none"/>
            <a:tailEnd len="sm" w="sm" type="none"/>
          </a:ln>
        </p:spPr>
      </p:cxnSp>
      <p:cxnSp>
        <p:nvCxnSpPr>
          <p:cNvPr id="841" name="Google Shape;841;p23"/>
          <p:cNvCxnSpPr/>
          <p:nvPr/>
        </p:nvCxnSpPr>
        <p:spPr>
          <a:xfrm>
            <a:off x="8305800" y="2407920"/>
            <a:ext cx="1219200" cy="883920"/>
          </a:xfrm>
          <a:prstGeom prst="straightConnector1">
            <a:avLst/>
          </a:prstGeom>
          <a:noFill/>
          <a:ln cap="flat" cmpd="sng" w="11425">
            <a:solidFill>
              <a:srgbClr val="D8D1E6"/>
            </a:solidFill>
            <a:prstDash val="solid"/>
            <a:round/>
            <a:headEnd len="sm" w="sm" type="none"/>
            <a:tailEnd len="sm" w="sm" type="none"/>
          </a:ln>
        </p:spPr>
      </p:cxnSp>
      <p:cxnSp>
        <p:nvCxnSpPr>
          <p:cNvPr id="842" name="Google Shape;842;p23"/>
          <p:cNvCxnSpPr/>
          <p:nvPr/>
        </p:nvCxnSpPr>
        <p:spPr>
          <a:xfrm>
            <a:off x="8305800" y="2407920"/>
            <a:ext cx="1219200" cy="1767840"/>
          </a:xfrm>
          <a:prstGeom prst="straightConnector1">
            <a:avLst/>
          </a:prstGeom>
          <a:noFill/>
          <a:ln cap="flat" cmpd="sng" w="11425">
            <a:solidFill>
              <a:srgbClr val="D8D1E6"/>
            </a:solidFill>
            <a:prstDash val="solid"/>
            <a:round/>
            <a:headEnd len="sm" w="sm" type="none"/>
            <a:tailEnd len="sm" w="sm" type="none"/>
          </a:ln>
        </p:spPr>
      </p:cxnSp>
      <p:cxnSp>
        <p:nvCxnSpPr>
          <p:cNvPr id="843" name="Google Shape;843;p23"/>
          <p:cNvCxnSpPr/>
          <p:nvPr/>
        </p:nvCxnSpPr>
        <p:spPr>
          <a:xfrm flipH="1" rot="10800000">
            <a:off x="8305800" y="2407920"/>
            <a:ext cx="1219200" cy="883920"/>
          </a:xfrm>
          <a:prstGeom prst="straightConnector1">
            <a:avLst/>
          </a:prstGeom>
          <a:noFill/>
          <a:ln cap="flat" cmpd="sng" w="11425">
            <a:solidFill>
              <a:srgbClr val="D8D1E6"/>
            </a:solidFill>
            <a:prstDash val="solid"/>
            <a:round/>
            <a:headEnd len="sm" w="sm" type="none"/>
            <a:tailEnd len="sm" w="sm" type="none"/>
          </a:ln>
        </p:spPr>
      </p:cxnSp>
      <p:cxnSp>
        <p:nvCxnSpPr>
          <p:cNvPr id="844" name="Google Shape;844;p23"/>
          <p:cNvCxnSpPr/>
          <p:nvPr/>
        </p:nvCxnSpPr>
        <p:spPr>
          <a:xfrm>
            <a:off x="8305800" y="3291840"/>
            <a:ext cx="1219200" cy="0"/>
          </a:xfrm>
          <a:prstGeom prst="straightConnector1">
            <a:avLst/>
          </a:prstGeom>
          <a:noFill/>
          <a:ln cap="flat" cmpd="sng" w="11425">
            <a:solidFill>
              <a:srgbClr val="D8D1E6"/>
            </a:solidFill>
            <a:prstDash val="solid"/>
            <a:round/>
            <a:headEnd len="sm" w="sm" type="none"/>
            <a:tailEnd len="sm" w="sm" type="none"/>
          </a:ln>
        </p:spPr>
      </p:cxnSp>
      <p:cxnSp>
        <p:nvCxnSpPr>
          <p:cNvPr id="845" name="Google Shape;845;p23"/>
          <p:cNvCxnSpPr/>
          <p:nvPr/>
        </p:nvCxnSpPr>
        <p:spPr>
          <a:xfrm>
            <a:off x="8305800" y="3291840"/>
            <a:ext cx="1219200" cy="883920"/>
          </a:xfrm>
          <a:prstGeom prst="straightConnector1">
            <a:avLst/>
          </a:prstGeom>
          <a:noFill/>
          <a:ln cap="flat" cmpd="sng" w="11425">
            <a:solidFill>
              <a:srgbClr val="D8D1E6"/>
            </a:solidFill>
            <a:prstDash val="solid"/>
            <a:round/>
            <a:headEnd len="sm" w="sm" type="none"/>
            <a:tailEnd len="sm" w="sm" type="none"/>
          </a:ln>
        </p:spPr>
      </p:cxnSp>
      <p:cxnSp>
        <p:nvCxnSpPr>
          <p:cNvPr id="846" name="Google Shape;846;p23"/>
          <p:cNvCxnSpPr/>
          <p:nvPr/>
        </p:nvCxnSpPr>
        <p:spPr>
          <a:xfrm flipH="1" rot="10800000">
            <a:off x="8305800" y="2407920"/>
            <a:ext cx="1219200" cy="1767840"/>
          </a:xfrm>
          <a:prstGeom prst="straightConnector1">
            <a:avLst/>
          </a:prstGeom>
          <a:noFill/>
          <a:ln cap="flat" cmpd="sng" w="11425">
            <a:solidFill>
              <a:srgbClr val="D8D1E6"/>
            </a:solidFill>
            <a:prstDash val="solid"/>
            <a:round/>
            <a:headEnd len="sm" w="sm" type="none"/>
            <a:tailEnd len="sm" w="sm" type="none"/>
          </a:ln>
        </p:spPr>
      </p:cxnSp>
      <p:cxnSp>
        <p:nvCxnSpPr>
          <p:cNvPr id="847" name="Google Shape;847;p23"/>
          <p:cNvCxnSpPr/>
          <p:nvPr/>
        </p:nvCxnSpPr>
        <p:spPr>
          <a:xfrm flipH="1" rot="10800000">
            <a:off x="8305800" y="3291840"/>
            <a:ext cx="1219200" cy="883920"/>
          </a:xfrm>
          <a:prstGeom prst="straightConnector1">
            <a:avLst/>
          </a:prstGeom>
          <a:noFill/>
          <a:ln cap="flat" cmpd="sng" w="11425">
            <a:solidFill>
              <a:srgbClr val="D8D1E6"/>
            </a:solidFill>
            <a:prstDash val="solid"/>
            <a:round/>
            <a:headEnd len="sm" w="sm" type="none"/>
            <a:tailEnd len="sm" w="sm" type="none"/>
          </a:ln>
        </p:spPr>
      </p:cxnSp>
      <p:cxnSp>
        <p:nvCxnSpPr>
          <p:cNvPr id="848" name="Google Shape;848;p23"/>
          <p:cNvCxnSpPr/>
          <p:nvPr/>
        </p:nvCxnSpPr>
        <p:spPr>
          <a:xfrm>
            <a:off x="8305800" y="4175760"/>
            <a:ext cx="1219200" cy="0"/>
          </a:xfrm>
          <a:prstGeom prst="straightConnector1">
            <a:avLst/>
          </a:prstGeom>
          <a:noFill/>
          <a:ln cap="flat" cmpd="sng" w="11425">
            <a:solidFill>
              <a:srgbClr val="D8D1E6"/>
            </a:solidFill>
            <a:prstDash val="solid"/>
            <a:round/>
            <a:headEnd len="sm" w="sm" type="none"/>
            <a:tailEnd len="sm" w="sm" type="none"/>
          </a:ln>
        </p:spPr>
      </p:cxnSp>
      <p:cxnSp>
        <p:nvCxnSpPr>
          <p:cNvPr id="849" name="Google Shape;849;p23"/>
          <p:cNvCxnSpPr/>
          <p:nvPr/>
        </p:nvCxnSpPr>
        <p:spPr>
          <a:xfrm>
            <a:off x="9525000" y="2407920"/>
            <a:ext cx="1219200" cy="883920"/>
          </a:xfrm>
          <a:prstGeom prst="straightConnector1">
            <a:avLst/>
          </a:prstGeom>
          <a:noFill/>
          <a:ln cap="flat" cmpd="sng" w="11425">
            <a:solidFill>
              <a:srgbClr val="D8D1E6"/>
            </a:solidFill>
            <a:prstDash val="solid"/>
            <a:round/>
            <a:headEnd len="sm" w="sm" type="none"/>
            <a:tailEnd len="sm" w="sm" type="none"/>
          </a:ln>
        </p:spPr>
      </p:cxnSp>
      <p:cxnSp>
        <p:nvCxnSpPr>
          <p:cNvPr id="850" name="Google Shape;850;p23"/>
          <p:cNvCxnSpPr/>
          <p:nvPr/>
        </p:nvCxnSpPr>
        <p:spPr>
          <a:xfrm>
            <a:off x="9525000" y="3291840"/>
            <a:ext cx="1219200" cy="0"/>
          </a:xfrm>
          <a:prstGeom prst="straightConnector1">
            <a:avLst/>
          </a:prstGeom>
          <a:noFill/>
          <a:ln cap="flat" cmpd="sng" w="11425">
            <a:solidFill>
              <a:srgbClr val="D8D1E6"/>
            </a:solidFill>
            <a:prstDash val="solid"/>
            <a:round/>
            <a:headEnd len="sm" w="sm" type="none"/>
            <a:tailEnd len="sm" w="sm" type="none"/>
          </a:ln>
        </p:spPr>
      </p:cxnSp>
      <p:cxnSp>
        <p:nvCxnSpPr>
          <p:cNvPr id="851" name="Google Shape;851;p23"/>
          <p:cNvCxnSpPr/>
          <p:nvPr/>
        </p:nvCxnSpPr>
        <p:spPr>
          <a:xfrm flipH="1" rot="10800000">
            <a:off x="9525000" y="3291840"/>
            <a:ext cx="1219200" cy="883920"/>
          </a:xfrm>
          <a:prstGeom prst="straightConnector1">
            <a:avLst/>
          </a:prstGeom>
          <a:noFill/>
          <a:ln cap="flat" cmpd="sng" w="11425">
            <a:solidFill>
              <a:srgbClr val="D8D1E6"/>
            </a:solidFill>
            <a:prstDash val="solid"/>
            <a:round/>
            <a:headEnd len="sm" w="sm" type="none"/>
            <a:tailEnd len="sm" w="sm" type="none"/>
          </a:ln>
        </p:spPr>
      </p:cxnSp>
      <p:sp>
        <p:nvSpPr>
          <p:cNvPr id="852" name="Google Shape;852;p23"/>
          <p:cNvSpPr/>
          <p:nvPr/>
        </p:nvSpPr>
        <p:spPr>
          <a:xfrm>
            <a:off x="6912864" y="2455164"/>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3"/>
          <p:cNvSpPr/>
          <p:nvPr/>
        </p:nvSpPr>
        <p:spPr>
          <a:xfrm>
            <a:off x="6775704" y="245516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1" i="0" lang="en-US" sz="950" u="none" cap="none" strike="noStrike">
                <a:solidFill>
                  <a:srgbClr val="2D1B4E"/>
                </a:solidFill>
                <a:latin typeface="Calibri"/>
                <a:ea typeface="Calibri"/>
                <a:cs typeface="Calibri"/>
                <a:sym typeface="Calibri"/>
              </a:rPr>
              <a:t>x₁</a:t>
            </a:r>
            <a:endParaRPr b="0" i="0" sz="950" u="none" cap="none" strike="noStrike">
              <a:solidFill>
                <a:schemeClr val="dk1"/>
              </a:solidFill>
              <a:latin typeface="Calibri"/>
              <a:ea typeface="Calibri"/>
              <a:cs typeface="Calibri"/>
              <a:sym typeface="Calibri"/>
            </a:endParaRPr>
          </a:p>
        </p:txBody>
      </p:sp>
      <p:sp>
        <p:nvSpPr>
          <p:cNvPr id="854" name="Google Shape;854;p23"/>
          <p:cNvSpPr/>
          <p:nvPr/>
        </p:nvSpPr>
        <p:spPr>
          <a:xfrm>
            <a:off x="6912864" y="3781044"/>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3"/>
          <p:cNvSpPr/>
          <p:nvPr/>
        </p:nvSpPr>
        <p:spPr>
          <a:xfrm>
            <a:off x="6775704" y="378104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1" i="0" lang="en-US" sz="950" u="none" cap="none" strike="noStrike">
                <a:solidFill>
                  <a:srgbClr val="2D1B4E"/>
                </a:solidFill>
                <a:latin typeface="Calibri"/>
                <a:ea typeface="Calibri"/>
                <a:cs typeface="Calibri"/>
                <a:sym typeface="Calibri"/>
              </a:rPr>
              <a:t>x₂</a:t>
            </a:r>
            <a:endParaRPr b="0" i="0" sz="950" u="none" cap="none" strike="noStrike">
              <a:solidFill>
                <a:schemeClr val="dk1"/>
              </a:solidFill>
              <a:latin typeface="Calibri"/>
              <a:ea typeface="Calibri"/>
              <a:cs typeface="Calibri"/>
              <a:sym typeface="Calibri"/>
            </a:endParaRPr>
          </a:p>
        </p:txBody>
      </p:sp>
      <p:sp>
        <p:nvSpPr>
          <p:cNvPr id="856" name="Google Shape;856;p23"/>
          <p:cNvSpPr/>
          <p:nvPr/>
        </p:nvSpPr>
        <p:spPr>
          <a:xfrm>
            <a:off x="8132064" y="223418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3"/>
          <p:cNvSpPr/>
          <p:nvPr/>
        </p:nvSpPr>
        <p:spPr>
          <a:xfrm>
            <a:off x="8132064" y="311810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3"/>
          <p:cNvSpPr/>
          <p:nvPr/>
        </p:nvSpPr>
        <p:spPr>
          <a:xfrm>
            <a:off x="8132064" y="400202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3"/>
          <p:cNvSpPr/>
          <p:nvPr/>
        </p:nvSpPr>
        <p:spPr>
          <a:xfrm>
            <a:off x="9351264" y="223418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3"/>
          <p:cNvSpPr/>
          <p:nvPr/>
        </p:nvSpPr>
        <p:spPr>
          <a:xfrm>
            <a:off x="9351264" y="311810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3"/>
          <p:cNvSpPr/>
          <p:nvPr/>
        </p:nvSpPr>
        <p:spPr>
          <a:xfrm>
            <a:off x="9351264" y="400202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3"/>
          <p:cNvSpPr/>
          <p:nvPr/>
        </p:nvSpPr>
        <p:spPr>
          <a:xfrm>
            <a:off x="10570464" y="3118104"/>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3"/>
          <p:cNvSpPr/>
          <p:nvPr/>
        </p:nvSpPr>
        <p:spPr>
          <a:xfrm>
            <a:off x="10433304" y="311810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50"/>
              <a:buFont typeface="Calibri"/>
              <a:buNone/>
            </a:pPr>
            <a:r>
              <a:rPr b="1" i="0" lang="en-US" sz="950" u="none" cap="none" strike="noStrike">
                <a:solidFill>
                  <a:srgbClr val="2D1B4E"/>
                </a:solidFill>
                <a:latin typeface="Calibri"/>
                <a:ea typeface="Calibri"/>
                <a:cs typeface="Calibri"/>
                <a:sym typeface="Calibri"/>
              </a:rPr>
              <a:t>y</a:t>
            </a:r>
            <a:endParaRPr b="0" i="0" sz="950" u="none" cap="none" strike="noStrike">
              <a:solidFill>
                <a:schemeClr val="dk1"/>
              </a:solidFill>
              <a:latin typeface="Calibri"/>
              <a:ea typeface="Calibri"/>
              <a:cs typeface="Calibri"/>
              <a:sym typeface="Calibri"/>
            </a:endParaRPr>
          </a:p>
        </p:txBody>
      </p:sp>
      <p:sp>
        <p:nvSpPr>
          <p:cNvPr id="864" name="Google Shape;864;p23"/>
          <p:cNvSpPr/>
          <p:nvPr/>
        </p:nvSpPr>
        <p:spPr>
          <a:xfrm>
            <a:off x="7848295" y="470916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f⁽¹⁾(x)</a:t>
            </a:r>
            <a:endParaRPr b="0" i="0" sz="1150" u="none" cap="none" strike="noStrike">
              <a:solidFill>
                <a:schemeClr val="dk1"/>
              </a:solidFill>
              <a:latin typeface="Calibri"/>
              <a:ea typeface="Calibri"/>
              <a:cs typeface="Calibri"/>
              <a:sym typeface="Calibri"/>
            </a:endParaRPr>
          </a:p>
        </p:txBody>
      </p:sp>
      <p:sp>
        <p:nvSpPr>
          <p:cNvPr id="865" name="Google Shape;865;p23"/>
          <p:cNvSpPr/>
          <p:nvPr/>
        </p:nvSpPr>
        <p:spPr>
          <a:xfrm>
            <a:off x="9067190" y="470916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f⁽²⁾</a:t>
            </a:r>
            <a:endParaRPr b="0" i="0" sz="1150" u="none" cap="none" strike="noStrike">
              <a:solidFill>
                <a:schemeClr val="dk1"/>
              </a:solidFill>
              <a:latin typeface="Calibri"/>
              <a:ea typeface="Calibri"/>
              <a:cs typeface="Calibri"/>
              <a:sym typeface="Calibri"/>
            </a:endParaRPr>
          </a:p>
        </p:txBody>
      </p:sp>
      <p:sp>
        <p:nvSpPr>
          <p:cNvPr id="866" name="Google Shape;866;p23"/>
          <p:cNvSpPr/>
          <p:nvPr/>
        </p:nvSpPr>
        <p:spPr>
          <a:xfrm>
            <a:off x="10286086" y="470916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f⁽³⁾</a:t>
            </a:r>
            <a:endParaRPr b="0" i="0" sz="1150" u="none" cap="none" strike="noStrike">
              <a:solidFill>
                <a:schemeClr val="dk1"/>
              </a:solidFill>
              <a:latin typeface="Calibri"/>
              <a:ea typeface="Calibri"/>
              <a:cs typeface="Calibri"/>
              <a:sym typeface="Calibri"/>
            </a:endParaRPr>
          </a:p>
        </p:txBody>
      </p:sp>
      <p:cxnSp>
        <p:nvCxnSpPr>
          <p:cNvPr id="867" name="Google Shape;867;p23"/>
          <p:cNvCxnSpPr/>
          <p:nvPr/>
        </p:nvCxnSpPr>
        <p:spPr>
          <a:xfrm>
            <a:off x="6949440" y="5138928"/>
            <a:ext cx="4069080" cy="0"/>
          </a:xfrm>
          <a:prstGeom prst="straightConnector1">
            <a:avLst/>
          </a:prstGeom>
          <a:noFill/>
          <a:ln cap="flat" cmpd="sng" w="22225">
            <a:solidFill>
              <a:srgbClr val="E8833A"/>
            </a:solidFill>
            <a:prstDash val="solid"/>
            <a:round/>
            <a:headEnd len="sm" w="sm" type="none"/>
            <a:tailEnd len="med" w="med" type="triangle"/>
          </a:ln>
        </p:spPr>
      </p:cxnSp>
      <p:sp>
        <p:nvSpPr>
          <p:cNvPr id="868" name="Google Shape;868;p23"/>
          <p:cNvSpPr/>
          <p:nvPr/>
        </p:nvSpPr>
        <p:spPr>
          <a:xfrm>
            <a:off x="8595360" y="5175504"/>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depth</a:t>
            </a:r>
            <a:endParaRPr b="0" i="0" sz="1100" u="none" cap="none" strike="noStrike">
              <a:solidFill>
                <a:schemeClr val="dk1"/>
              </a:solidFill>
              <a:latin typeface="Calibri"/>
              <a:ea typeface="Calibri"/>
              <a:cs typeface="Calibri"/>
              <a:sym typeface="Calibri"/>
            </a:endParaRPr>
          </a:p>
        </p:txBody>
      </p:sp>
      <p:cxnSp>
        <p:nvCxnSpPr>
          <p:cNvPr id="869" name="Google Shape;869;p23"/>
          <p:cNvCxnSpPr/>
          <p:nvPr/>
        </p:nvCxnSpPr>
        <p:spPr>
          <a:xfrm>
            <a:off x="6784848" y="1920240"/>
            <a:ext cx="0" cy="2697480"/>
          </a:xfrm>
          <a:prstGeom prst="straightConnector1">
            <a:avLst/>
          </a:prstGeom>
          <a:noFill/>
          <a:ln cap="flat" cmpd="sng" w="22225">
            <a:solidFill>
              <a:srgbClr val="6B5B95"/>
            </a:solidFill>
            <a:prstDash val="solid"/>
            <a:round/>
            <a:headEnd len="med" w="med" type="triangle"/>
            <a:tailEnd len="sm" w="sm" type="none"/>
          </a:ln>
        </p:spPr>
      </p:cxnSp>
      <p:sp>
        <p:nvSpPr>
          <p:cNvPr id="870" name="Google Shape;870;p23"/>
          <p:cNvSpPr/>
          <p:nvPr/>
        </p:nvSpPr>
        <p:spPr>
          <a:xfrm rot="-5400000">
            <a:off x="6144768" y="315468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5B95"/>
              </a:buClr>
              <a:buSzPts val="1100"/>
              <a:buFont typeface="Calibri"/>
              <a:buNone/>
            </a:pPr>
            <a:r>
              <a:rPr b="1" i="0" lang="en-US" sz="1100" u="none" cap="none" strike="noStrike">
                <a:solidFill>
                  <a:srgbClr val="6B5B95"/>
                </a:solidFill>
                <a:latin typeface="Calibri"/>
                <a:ea typeface="Calibri"/>
                <a:cs typeface="Calibri"/>
                <a:sym typeface="Calibri"/>
              </a:rPr>
              <a:t>width</a:t>
            </a:r>
            <a:endParaRPr b="0" i="0" sz="1100" u="none" cap="none" strike="noStrike">
              <a:solidFill>
                <a:schemeClr val="dk1"/>
              </a:solidFill>
              <a:latin typeface="Calibri"/>
              <a:ea typeface="Calibri"/>
              <a:cs typeface="Calibri"/>
              <a:sym typeface="Calibri"/>
            </a:endParaRPr>
          </a:p>
        </p:txBody>
      </p:sp>
      <p:sp>
        <p:nvSpPr>
          <p:cNvPr id="871" name="Google Shape;871;p23"/>
          <p:cNvSpPr/>
          <p:nvPr/>
        </p:nvSpPr>
        <p:spPr>
          <a:xfrm>
            <a:off x="566928" y="5029200"/>
            <a:ext cx="5577840" cy="731520"/>
          </a:xfrm>
          <a:prstGeom prst="roundRect">
            <a:avLst>
              <a:gd fmla="val 1125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3"/>
          <p:cNvSpPr/>
          <p:nvPr/>
        </p:nvSpPr>
        <p:spPr>
          <a:xfrm>
            <a:off x="841248" y="5029200"/>
            <a:ext cx="5029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0" i="1" lang="en-US" sz="1250" u="none" cap="none" strike="noStrike">
                <a:solidFill>
                  <a:srgbClr val="2D1B4E"/>
                </a:solidFill>
                <a:latin typeface="Calibri"/>
                <a:ea typeface="Calibri"/>
                <a:cs typeface="Calibri"/>
                <a:sym typeface="Calibri"/>
              </a:rPr>
              <a:t>The name is historical: the model is a directed acyclic graph describing how functions are composed, not a model of the brain.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7" name="Shape 877"/>
        <p:cNvGrpSpPr/>
        <p:nvPr/>
      </p:nvGrpSpPr>
      <p:grpSpPr>
        <a:xfrm>
          <a:off x="0" y="0"/>
          <a:ext cx="0" cy="0"/>
          <a:chOff x="0" y="0"/>
          <a:chExt cx="0" cy="0"/>
        </a:xfrm>
      </p:grpSpPr>
      <p:sp>
        <p:nvSpPr>
          <p:cNvPr id="878" name="Google Shape;878;p24"/>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879" name="Google Shape;879;p24"/>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Learning to extract features: the mapping φ</a:t>
            </a:r>
            <a:endParaRPr b="0" i="0" sz="2800" u="none" cap="none" strike="noStrike">
              <a:solidFill>
                <a:schemeClr val="dk1"/>
              </a:solidFill>
              <a:latin typeface="Calibri"/>
              <a:ea typeface="Calibri"/>
              <a:cs typeface="Calibri"/>
              <a:sym typeface="Calibri"/>
            </a:endParaRPr>
          </a:p>
        </p:txBody>
      </p:sp>
      <p:sp>
        <p:nvSpPr>
          <p:cNvPr id="880" name="Google Shape;880;p24"/>
          <p:cNvSpPr/>
          <p:nvPr/>
        </p:nvSpPr>
        <p:spPr>
          <a:xfrm>
            <a:off x="566928" y="1371600"/>
            <a:ext cx="5120640" cy="32004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400"/>
              <a:buFont typeface="Calibri"/>
              <a:buChar char="•"/>
            </a:pPr>
            <a:r>
              <a:rPr b="1" i="0" lang="en-US" sz="1400" u="none" cap="none" strike="noStrike">
                <a:solidFill>
                  <a:srgbClr val="241C2E"/>
                </a:solidFill>
                <a:latin typeface="Calibri"/>
                <a:ea typeface="Calibri"/>
                <a:cs typeface="Calibri"/>
                <a:sym typeface="Calibri"/>
              </a:rPr>
              <a:t>Linear models — linear and logistic regression — are appealing: they can be fit efficiently and reliably, in closed form or by convex optimization.</a:t>
            </a:r>
            <a:endParaRPr b="0" i="0" sz="14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400"/>
              <a:buFont typeface="Calibri"/>
              <a:buChar char="•"/>
            </a:pPr>
            <a:r>
              <a:rPr b="0" i="0" lang="en-US" sz="1400" u="none" cap="none" strike="noStrike">
                <a:solidFill>
                  <a:srgbClr val="241C2E"/>
                </a:solidFill>
                <a:latin typeface="Calibri"/>
                <a:ea typeface="Calibri"/>
                <a:cs typeface="Calibri"/>
                <a:sym typeface="Calibri"/>
              </a:rPr>
              <a:t>Their obvious defect is that they are limited to linear functions.</a:t>
            </a:r>
            <a:endParaRPr b="0" i="0" sz="14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400"/>
              <a:buFont typeface="Calibri"/>
              <a:buChar char="•"/>
            </a:pPr>
            <a:r>
              <a:rPr b="0" i="0" lang="en-US" sz="1400" u="none" cap="none" strike="noStrike">
                <a:solidFill>
                  <a:srgbClr val="241C2E"/>
                </a:solidFill>
                <a:latin typeface="Calibri"/>
                <a:ea typeface="Calibri"/>
                <a:cs typeface="Calibri"/>
                <a:sym typeface="Calibri"/>
              </a:rPr>
              <a:t>To represent nonlinear functions of x, apply the linear model not to x itself but to a transformed input φ(x), where φ is a nonlinear transformation. (The kernel trick does this implicitly.)</a:t>
            </a:r>
            <a:endParaRPr b="0" i="0" sz="14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400"/>
              <a:buFont typeface="Calibri"/>
              <a:buChar char="•"/>
            </a:pPr>
            <a:r>
              <a:rPr b="1" i="0" lang="en-US" sz="1400" u="none" cap="none" strike="noStrike">
                <a:solidFill>
                  <a:srgbClr val="C4661F"/>
                </a:solidFill>
                <a:latin typeface="Calibri"/>
                <a:ea typeface="Calibri"/>
                <a:cs typeface="Calibri"/>
                <a:sym typeface="Calibri"/>
              </a:rPr>
              <a:t>The whole question then becomes: how do we choose φ?</a:t>
            </a:r>
            <a:endParaRPr b="0" i="0" sz="1400" u="none" cap="none" strike="noStrike">
              <a:solidFill>
                <a:schemeClr val="dk1"/>
              </a:solidFill>
              <a:latin typeface="Calibri"/>
              <a:ea typeface="Calibri"/>
              <a:cs typeface="Calibri"/>
              <a:sym typeface="Calibri"/>
            </a:endParaRPr>
          </a:p>
        </p:txBody>
      </p:sp>
      <p:sp>
        <p:nvSpPr>
          <p:cNvPr id="881" name="Google Shape;881;p24"/>
          <p:cNvSpPr/>
          <p:nvPr/>
        </p:nvSpPr>
        <p:spPr>
          <a:xfrm>
            <a:off x="566928" y="4709160"/>
            <a:ext cx="5120640" cy="914400"/>
          </a:xfrm>
          <a:prstGeom prst="roundRect">
            <a:avLst>
              <a:gd fmla="val 9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4"/>
          <p:cNvSpPr/>
          <p:nvPr/>
        </p:nvSpPr>
        <p:spPr>
          <a:xfrm>
            <a:off x="704088" y="4709160"/>
            <a:ext cx="4846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900"/>
              <a:buFont typeface="Calibri"/>
              <a:buNone/>
            </a:pPr>
            <a:r>
              <a:rPr b="1" i="0" lang="en-US" sz="1900" u="none" cap="none" strike="noStrike">
                <a:solidFill>
                  <a:srgbClr val="2D1B4E"/>
                </a:solidFill>
                <a:latin typeface="Calibri"/>
                <a:ea typeface="Calibri"/>
                <a:cs typeface="Calibri"/>
                <a:sym typeface="Calibri"/>
              </a:rPr>
              <a:t>y = f(x; θ, w) = φ(x; θ)ᵀ w</a:t>
            </a:r>
            <a:endParaRPr b="0" i="0" sz="1900" u="none" cap="none" strike="noStrike">
              <a:solidFill>
                <a:schemeClr val="dk1"/>
              </a:solidFill>
              <a:latin typeface="Calibri"/>
              <a:ea typeface="Calibri"/>
              <a:cs typeface="Calibri"/>
              <a:sym typeface="Calibri"/>
            </a:endParaRPr>
          </a:p>
        </p:txBody>
      </p:sp>
      <p:sp>
        <p:nvSpPr>
          <p:cNvPr id="883" name="Google Shape;883;p24"/>
          <p:cNvSpPr/>
          <p:nvPr/>
        </p:nvSpPr>
        <p:spPr>
          <a:xfrm>
            <a:off x="5989320" y="1371600"/>
            <a:ext cx="5641848" cy="1371600"/>
          </a:xfrm>
          <a:prstGeom prst="roundRect">
            <a:avLst>
              <a:gd fmla="val 6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4"/>
          <p:cNvSpPr/>
          <p:nvPr/>
        </p:nvSpPr>
        <p:spPr>
          <a:xfrm>
            <a:off x="6245352" y="1609344"/>
            <a:ext cx="420624" cy="420624"/>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4"/>
          <p:cNvSpPr/>
          <p:nvPr/>
        </p:nvSpPr>
        <p:spPr>
          <a:xfrm>
            <a:off x="6245352" y="1609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886" name="Google Shape;886;p24"/>
          <p:cNvSpPr/>
          <p:nvPr/>
        </p:nvSpPr>
        <p:spPr>
          <a:xfrm>
            <a:off x="6830568" y="1591056"/>
            <a:ext cx="45994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Use a very generic φ</a:t>
            </a:r>
            <a:endParaRPr b="0" i="0" sz="1400" u="none" cap="none" strike="noStrike">
              <a:solidFill>
                <a:schemeClr val="dk1"/>
              </a:solidFill>
              <a:latin typeface="Calibri"/>
              <a:ea typeface="Calibri"/>
              <a:cs typeface="Calibri"/>
              <a:sym typeface="Calibri"/>
            </a:endParaRPr>
          </a:p>
        </p:txBody>
      </p:sp>
      <p:sp>
        <p:nvSpPr>
          <p:cNvPr id="887" name="Google Shape;887;p24"/>
          <p:cNvSpPr/>
          <p:nvPr/>
        </p:nvSpPr>
        <p:spPr>
          <a:xfrm>
            <a:off x="6263640" y="2157984"/>
            <a:ext cx="5093208"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Such as an SVM with an RBF kernel. It has enough capacity to fit any training set, but generalization to the test set stays poor on advanced problems: generic mappings encode only local smoothness and no prior knowledge.</a:t>
            </a:r>
            <a:endParaRPr b="0" i="0" sz="1150" u="none" cap="none" strike="noStrike">
              <a:solidFill>
                <a:schemeClr val="dk1"/>
              </a:solidFill>
              <a:latin typeface="Calibri"/>
              <a:ea typeface="Calibri"/>
              <a:cs typeface="Calibri"/>
              <a:sym typeface="Calibri"/>
            </a:endParaRPr>
          </a:p>
        </p:txBody>
      </p:sp>
      <p:sp>
        <p:nvSpPr>
          <p:cNvPr id="888" name="Google Shape;888;p24"/>
          <p:cNvSpPr/>
          <p:nvPr/>
        </p:nvSpPr>
        <p:spPr>
          <a:xfrm>
            <a:off x="5989320" y="2852928"/>
            <a:ext cx="5641848" cy="1371600"/>
          </a:xfrm>
          <a:prstGeom prst="roundRect">
            <a:avLst>
              <a:gd fmla="val 6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p:nvPr/>
        </p:nvSpPr>
        <p:spPr>
          <a:xfrm>
            <a:off x="6245352" y="3090672"/>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4"/>
          <p:cNvSpPr/>
          <p:nvPr/>
        </p:nvSpPr>
        <p:spPr>
          <a:xfrm>
            <a:off x="6245352" y="309067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891" name="Google Shape;891;p24"/>
          <p:cNvSpPr/>
          <p:nvPr/>
        </p:nvSpPr>
        <p:spPr>
          <a:xfrm>
            <a:off x="6830568" y="3072384"/>
            <a:ext cx="45994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Engineer φ by hand</a:t>
            </a:r>
            <a:endParaRPr b="0" i="0" sz="1400" u="none" cap="none" strike="noStrike">
              <a:solidFill>
                <a:schemeClr val="dk1"/>
              </a:solidFill>
              <a:latin typeface="Calibri"/>
              <a:ea typeface="Calibri"/>
              <a:cs typeface="Calibri"/>
              <a:sym typeface="Calibri"/>
            </a:endParaRPr>
          </a:p>
        </p:txBody>
      </p:sp>
      <p:sp>
        <p:nvSpPr>
          <p:cNvPr id="892" name="Google Shape;892;p24"/>
          <p:cNvSpPr/>
          <p:nvPr/>
        </p:nvSpPr>
        <p:spPr>
          <a:xfrm>
            <a:off x="6263640" y="3639312"/>
            <a:ext cx="5093208"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dominant approach before deep learning. Practitioners encode domain knowledge to improve generalization — but it costs enormous human effort per task, with specialists per domain and little transfer between them.</a:t>
            </a:r>
            <a:endParaRPr b="0" i="0" sz="1150" u="none" cap="none" strike="noStrike">
              <a:solidFill>
                <a:schemeClr val="dk1"/>
              </a:solidFill>
              <a:latin typeface="Calibri"/>
              <a:ea typeface="Calibri"/>
              <a:cs typeface="Calibri"/>
              <a:sym typeface="Calibri"/>
            </a:endParaRPr>
          </a:p>
        </p:txBody>
      </p:sp>
      <p:sp>
        <p:nvSpPr>
          <p:cNvPr id="893" name="Google Shape;893;p24"/>
          <p:cNvSpPr/>
          <p:nvPr/>
        </p:nvSpPr>
        <p:spPr>
          <a:xfrm>
            <a:off x="5989320" y="4334256"/>
            <a:ext cx="5641848" cy="1371600"/>
          </a:xfrm>
          <a:prstGeom prst="roundRect">
            <a:avLst>
              <a:gd fmla="val 6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4"/>
          <p:cNvSpPr/>
          <p:nvPr/>
        </p:nvSpPr>
        <p:spPr>
          <a:xfrm>
            <a:off x="6245352" y="4572000"/>
            <a:ext cx="420624" cy="420624"/>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4"/>
          <p:cNvSpPr/>
          <p:nvPr/>
        </p:nvSpPr>
        <p:spPr>
          <a:xfrm>
            <a:off x="6245352" y="45720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896" name="Google Shape;896;p24"/>
          <p:cNvSpPr/>
          <p:nvPr/>
        </p:nvSpPr>
        <p:spPr>
          <a:xfrm>
            <a:off x="6830568" y="4553712"/>
            <a:ext cx="45994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Learn φ</a:t>
            </a:r>
            <a:endParaRPr b="0" i="0" sz="1400" u="none" cap="none" strike="noStrike">
              <a:solidFill>
                <a:schemeClr val="dk1"/>
              </a:solidFill>
              <a:latin typeface="Calibri"/>
              <a:ea typeface="Calibri"/>
              <a:cs typeface="Calibri"/>
              <a:sym typeface="Calibri"/>
            </a:endParaRPr>
          </a:p>
        </p:txBody>
      </p:sp>
      <p:sp>
        <p:nvSpPr>
          <p:cNvPr id="897" name="Google Shape;897;p24"/>
          <p:cNvSpPr/>
          <p:nvPr/>
        </p:nvSpPr>
        <p:spPr>
          <a:xfrm>
            <a:off x="6263640" y="5120640"/>
            <a:ext cx="5093208"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deep learning approach. We parametrise the representation as φ(x; θ) and let the optimization algorithm find a θ that gives a good representation; w then maps φ(x) to the output.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2" name="Shape 902"/>
        <p:cNvGrpSpPr/>
        <p:nvPr/>
      </p:nvGrpSpPr>
      <p:grpSpPr>
        <a:xfrm>
          <a:off x="0" y="0"/>
          <a:ext cx="0" cy="0"/>
          <a:chOff x="0" y="0"/>
          <a:chExt cx="0" cy="0"/>
        </a:xfrm>
      </p:grpSpPr>
      <p:sp>
        <p:nvSpPr>
          <p:cNvPr id="903" name="Google Shape;903;p2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904" name="Google Shape;904;p2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Example: learning XOR</a:t>
            </a:r>
            <a:endParaRPr b="0" i="0" sz="2800" u="none" cap="none" strike="noStrike">
              <a:solidFill>
                <a:schemeClr val="dk1"/>
              </a:solidFill>
              <a:latin typeface="Calibri"/>
              <a:ea typeface="Calibri"/>
              <a:cs typeface="Calibri"/>
              <a:sym typeface="Calibri"/>
            </a:endParaRPr>
          </a:p>
        </p:txBody>
      </p:sp>
      <p:sp>
        <p:nvSpPr>
          <p:cNvPr id="905" name="Google Shape;905;p25"/>
          <p:cNvSpPr/>
          <p:nvPr/>
        </p:nvSpPr>
        <p:spPr>
          <a:xfrm>
            <a:off x="566928" y="1371600"/>
            <a:ext cx="3200400" cy="2286000"/>
          </a:xfrm>
          <a:prstGeom prst="roundRect">
            <a:avLst>
              <a:gd fmla="val 36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5"/>
          <p:cNvSpPr/>
          <p:nvPr/>
        </p:nvSpPr>
        <p:spPr>
          <a:xfrm>
            <a:off x="749808" y="1481328"/>
            <a:ext cx="2834640" cy="384048"/>
          </a:xfrm>
          <a:prstGeom prst="rect">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5"/>
          <p:cNvSpPr/>
          <p:nvPr/>
        </p:nvSpPr>
        <p:spPr>
          <a:xfrm>
            <a:off x="749808" y="1481328"/>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x₁</a:t>
            </a:r>
            <a:endParaRPr b="0" i="0" sz="1300" u="none" cap="none" strike="noStrike">
              <a:solidFill>
                <a:schemeClr val="dk1"/>
              </a:solidFill>
              <a:latin typeface="Calibri"/>
              <a:ea typeface="Calibri"/>
              <a:cs typeface="Calibri"/>
              <a:sym typeface="Calibri"/>
            </a:endParaRPr>
          </a:p>
        </p:txBody>
      </p:sp>
      <p:sp>
        <p:nvSpPr>
          <p:cNvPr id="908" name="Google Shape;908;p25"/>
          <p:cNvSpPr/>
          <p:nvPr/>
        </p:nvSpPr>
        <p:spPr>
          <a:xfrm>
            <a:off x="1694383" y="1481328"/>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x₂</a:t>
            </a:r>
            <a:endParaRPr b="0" i="0" sz="1300" u="none" cap="none" strike="noStrike">
              <a:solidFill>
                <a:schemeClr val="dk1"/>
              </a:solidFill>
              <a:latin typeface="Calibri"/>
              <a:ea typeface="Calibri"/>
              <a:cs typeface="Calibri"/>
              <a:sym typeface="Calibri"/>
            </a:endParaRPr>
          </a:p>
        </p:txBody>
      </p:sp>
      <p:sp>
        <p:nvSpPr>
          <p:cNvPr id="909" name="Google Shape;909;p25"/>
          <p:cNvSpPr/>
          <p:nvPr/>
        </p:nvSpPr>
        <p:spPr>
          <a:xfrm>
            <a:off x="2638958" y="1481328"/>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f*(x)</a:t>
            </a:r>
            <a:endParaRPr b="0" i="0" sz="1300" u="none" cap="none" strike="noStrike">
              <a:solidFill>
                <a:schemeClr val="dk1"/>
              </a:solidFill>
              <a:latin typeface="Calibri"/>
              <a:ea typeface="Calibri"/>
              <a:cs typeface="Calibri"/>
              <a:sym typeface="Calibri"/>
            </a:endParaRPr>
          </a:p>
        </p:txBody>
      </p:sp>
      <p:sp>
        <p:nvSpPr>
          <p:cNvPr id="910" name="Google Shape;910;p25"/>
          <p:cNvSpPr/>
          <p:nvPr/>
        </p:nvSpPr>
        <p:spPr>
          <a:xfrm>
            <a:off x="749808" y="1901952"/>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11" name="Google Shape;911;p25"/>
          <p:cNvSpPr/>
          <p:nvPr/>
        </p:nvSpPr>
        <p:spPr>
          <a:xfrm>
            <a:off x="1694383" y="1901952"/>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12" name="Google Shape;912;p25"/>
          <p:cNvSpPr/>
          <p:nvPr/>
        </p:nvSpPr>
        <p:spPr>
          <a:xfrm>
            <a:off x="2638958" y="1901952"/>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13" name="Google Shape;913;p25"/>
          <p:cNvSpPr/>
          <p:nvPr/>
        </p:nvSpPr>
        <p:spPr>
          <a:xfrm>
            <a:off x="749808" y="2322576"/>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14" name="Google Shape;914;p25"/>
          <p:cNvSpPr/>
          <p:nvPr/>
        </p:nvSpPr>
        <p:spPr>
          <a:xfrm>
            <a:off x="1694383" y="2322576"/>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15" name="Google Shape;915;p25"/>
          <p:cNvSpPr/>
          <p:nvPr/>
        </p:nvSpPr>
        <p:spPr>
          <a:xfrm>
            <a:off x="2638958" y="2322576"/>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16" name="Google Shape;916;p25"/>
          <p:cNvSpPr/>
          <p:nvPr/>
        </p:nvSpPr>
        <p:spPr>
          <a:xfrm>
            <a:off x="749808" y="2743200"/>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17" name="Google Shape;917;p25"/>
          <p:cNvSpPr/>
          <p:nvPr/>
        </p:nvSpPr>
        <p:spPr>
          <a:xfrm>
            <a:off x="1694383" y="2743200"/>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18" name="Google Shape;918;p25"/>
          <p:cNvSpPr/>
          <p:nvPr/>
        </p:nvSpPr>
        <p:spPr>
          <a:xfrm>
            <a:off x="2638958" y="2743200"/>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19" name="Google Shape;919;p25"/>
          <p:cNvSpPr/>
          <p:nvPr/>
        </p:nvSpPr>
        <p:spPr>
          <a:xfrm>
            <a:off x="749808" y="3163824"/>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20" name="Google Shape;920;p25"/>
          <p:cNvSpPr/>
          <p:nvPr/>
        </p:nvSpPr>
        <p:spPr>
          <a:xfrm>
            <a:off x="1694383" y="3163824"/>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921" name="Google Shape;921;p25"/>
          <p:cNvSpPr/>
          <p:nvPr/>
        </p:nvSpPr>
        <p:spPr>
          <a:xfrm>
            <a:off x="2638958" y="3163824"/>
            <a:ext cx="944575"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0</a:t>
            </a:r>
            <a:endParaRPr b="0" i="0" sz="1300" u="none" cap="none" strike="noStrike">
              <a:solidFill>
                <a:schemeClr val="dk1"/>
              </a:solidFill>
              <a:latin typeface="Calibri"/>
              <a:ea typeface="Calibri"/>
              <a:cs typeface="Calibri"/>
              <a:sym typeface="Calibri"/>
            </a:endParaRPr>
          </a:p>
        </p:txBody>
      </p:sp>
      <p:sp>
        <p:nvSpPr>
          <p:cNvPr id="922" name="Google Shape;922;p25"/>
          <p:cNvSpPr/>
          <p:nvPr/>
        </p:nvSpPr>
        <p:spPr>
          <a:xfrm>
            <a:off x="3977640" y="1371600"/>
            <a:ext cx="3108960" cy="2286000"/>
          </a:xfrm>
          <a:prstGeom prst="roundRect">
            <a:avLst>
              <a:gd fmla="val 36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3" name="Google Shape;923;p25"/>
          <p:cNvCxnSpPr/>
          <p:nvPr/>
        </p:nvCxnSpPr>
        <p:spPr>
          <a:xfrm>
            <a:off x="4526280" y="3291840"/>
            <a:ext cx="2103120" cy="0"/>
          </a:xfrm>
          <a:prstGeom prst="straightConnector1">
            <a:avLst/>
          </a:prstGeom>
          <a:noFill/>
          <a:ln cap="flat" cmpd="sng" w="15875">
            <a:solidFill>
              <a:srgbClr val="2D1B4E"/>
            </a:solidFill>
            <a:prstDash val="solid"/>
            <a:round/>
            <a:headEnd len="sm" w="sm" type="none"/>
            <a:tailEnd len="sm" w="sm" type="none"/>
          </a:ln>
        </p:spPr>
      </p:cxnSp>
      <p:cxnSp>
        <p:nvCxnSpPr>
          <p:cNvPr id="924" name="Google Shape;924;p25"/>
          <p:cNvCxnSpPr/>
          <p:nvPr/>
        </p:nvCxnSpPr>
        <p:spPr>
          <a:xfrm>
            <a:off x="4526280" y="1691640"/>
            <a:ext cx="0" cy="1600200"/>
          </a:xfrm>
          <a:prstGeom prst="straightConnector1">
            <a:avLst/>
          </a:prstGeom>
          <a:noFill/>
          <a:ln cap="flat" cmpd="sng" w="15875">
            <a:solidFill>
              <a:srgbClr val="2D1B4E"/>
            </a:solidFill>
            <a:prstDash val="solid"/>
            <a:round/>
            <a:headEnd len="sm" w="sm" type="none"/>
            <a:tailEnd len="sm" w="sm" type="none"/>
          </a:ln>
        </p:spPr>
      </p:cxnSp>
      <p:sp>
        <p:nvSpPr>
          <p:cNvPr id="925" name="Google Shape;925;p25"/>
          <p:cNvSpPr/>
          <p:nvPr/>
        </p:nvSpPr>
        <p:spPr>
          <a:xfrm>
            <a:off x="4407408" y="3172968"/>
            <a:ext cx="237744" cy="237744"/>
          </a:xfrm>
          <a:prstGeom prst="triangle">
            <a:avLst>
              <a:gd fmla="val 50000"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5"/>
          <p:cNvSpPr/>
          <p:nvPr/>
        </p:nvSpPr>
        <p:spPr>
          <a:xfrm>
            <a:off x="5797296" y="3191256"/>
            <a:ext cx="201168" cy="201168"/>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5"/>
          <p:cNvSpPr/>
          <p:nvPr/>
        </p:nvSpPr>
        <p:spPr>
          <a:xfrm>
            <a:off x="4425696" y="1956816"/>
            <a:ext cx="201168" cy="201168"/>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5"/>
          <p:cNvSpPr/>
          <p:nvPr/>
        </p:nvSpPr>
        <p:spPr>
          <a:xfrm>
            <a:off x="5779008" y="1938528"/>
            <a:ext cx="237744" cy="237744"/>
          </a:xfrm>
          <a:prstGeom prst="triangle">
            <a:avLst>
              <a:gd fmla="val 50000"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5"/>
          <p:cNvSpPr/>
          <p:nvPr/>
        </p:nvSpPr>
        <p:spPr>
          <a:xfrm>
            <a:off x="6446520" y="3310128"/>
            <a:ext cx="320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x₁</a:t>
            </a:r>
            <a:endParaRPr b="0" i="0" sz="1000" u="none" cap="none" strike="noStrike">
              <a:solidFill>
                <a:schemeClr val="dk1"/>
              </a:solidFill>
              <a:latin typeface="Calibri"/>
              <a:ea typeface="Calibri"/>
              <a:cs typeface="Calibri"/>
              <a:sym typeface="Calibri"/>
            </a:endParaRPr>
          </a:p>
        </p:txBody>
      </p:sp>
      <p:sp>
        <p:nvSpPr>
          <p:cNvPr id="930" name="Google Shape;930;p25"/>
          <p:cNvSpPr/>
          <p:nvPr/>
        </p:nvSpPr>
        <p:spPr>
          <a:xfrm>
            <a:off x="4160520" y="1417320"/>
            <a:ext cx="320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x₂</a:t>
            </a:r>
            <a:endParaRPr b="0" i="0" sz="1000" u="none" cap="none" strike="noStrike">
              <a:solidFill>
                <a:schemeClr val="dk1"/>
              </a:solidFill>
              <a:latin typeface="Calibri"/>
              <a:ea typeface="Calibri"/>
              <a:cs typeface="Calibri"/>
              <a:sym typeface="Calibri"/>
            </a:endParaRPr>
          </a:p>
        </p:txBody>
      </p:sp>
      <p:sp>
        <p:nvSpPr>
          <p:cNvPr id="931" name="Google Shape;931;p25"/>
          <p:cNvSpPr/>
          <p:nvPr/>
        </p:nvSpPr>
        <p:spPr>
          <a:xfrm>
            <a:off x="7360920" y="1463040"/>
            <a:ext cx="4251960" cy="21945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We want the network to behave correctly on the four points {[0,0], [0,1], [1,0], [1,1]}.</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To simplify the maths we use a mean squared error loss over the four examples (MSE is generally not an appropriate cost for binary data — more on that in Part 04).</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J(θ) = ¼ Σₓ ( f*(x) − f(x; θ) )²</a:t>
            </a:r>
            <a:endParaRPr b="0" i="0" sz="1350" u="none" cap="none" strike="noStrike">
              <a:solidFill>
                <a:schemeClr val="dk1"/>
              </a:solidFill>
              <a:latin typeface="Calibri"/>
              <a:ea typeface="Calibri"/>
              <a:cs typeface="Calibri"/>
              <a:sym typeface="Calibri"/>
            </a:endParaRPr>
          </a:p>
        </p:txBody>
      </p:sp>
      <p:sp>
        <p:nvSpPr>
          <p:cNvPr id="932" name="Google Shape;932;p25"/>
          <p:cNvSpPr/>
          <p:nvPr/>
        </p:nvSpPr>
        <p:spPr>
          <a:xfrm>
            <a:off x="566928" y="3886200"/>
            <a:ext cx="11057839" cy="1783080"/>
          </a:xfrm>
          <a:prstGeom prst="roundRect">
            <a:avLst>
              <a:gd fmla="val 461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5"/>
          <p:cNvSpPr/>
          <p:nvPr/>
        </p:nvSpPr>
        <p:spPr>
          <a:xfrm>
            <a:off x="886968" y="4041648"/>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600"/>
              <a:buFont typeface="Cambria"/>
              <a:buNone/>
            </a:pPr>
            <a:r>
              <a:rPr b="1" i="0" lang="en-US" sz="1600" u="none" cap="none" strike="noStrike">
                <a:solidFill>
                  <a:srgbClr val="E8833A"/>
                </a:solidFill>
                <a:latin typeface="Cambria"/>
                <a:ea typeface="Cambria"/>
                <a:cs typeface="Cambria"/>
                <a:sym typeface="Cambria"/>
              </a:rPr>
              <a:t>What happens with a linear model?</a:t>
            </a:r>
            <a:endParaRPr b="0" i="0" sz="1600" u="none" cap="none" strike="noStrike">
              <a:solidFill>
                <a:schemeClr val="dk1"/>
              </a:solidFill>
              <a:latin typeface="Calibri"/>
              <a:ea typeface="Calibri"/>
              <a:cs typeface="Calibri"/>
              <a:sym typeface="Calibri"/>
            </a:endParaRPr>
          </a:p>
        </p:txBody>
      </p:sp>
      <p:sp>
        <p:nvSpPr>
          <p:cNvPr id="934" name="Google Shape;934;p25"/>
          <p:cNvSpPr/>
          <p:nvPr/>
        </p:nvSpPr>
        <p:spPr>
          <a:xfrm>
            <a:off x="886968" y="4389120"/>
            <a:ext cx="6949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300"/>
              <a:buFont typeface="Calibri"/>
              <a:buNone/>
            </a:pPr>
            <a:r>
              <a:rPr b="0" i="0" lang="en-US" sz="1300" u="none" cap="none" strike="noStrike">
                <a:solidFill>
                  <a:srgbClr val="E9E3F3"/>
                </a:solidFill>
                <a:latin typeface="Calibri"/>
                <a:ea typeface="Calibri"/>
                <a:cs typeface="Calibri"/>
                <a:sym typeface="Calibri"/>
              </a:rPr>
              <a:t>If f⁽¹⁾ and f⁽²⁾ were both linear, the network as a whole would remain a linear function of its input: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9E3F3"/>
              </a:buClr>
              <a:buSzPts val="1300"/>
              <a:buFont typeface="Calibri"/>
              <a:buNone/>
            </a:pPr>
            <a:r>
              <a:rPr b="0" i="0" lang="en-US" sz="1300" u="none" cap="none" strike="noStrike">
                <a:solidFill>
                  <a:srgbClr val="E9E3F3"/>
                </a:solidFill>
                <a:latin typeface="Calibri"/>
                <a:ea typeface="Calibri"/>
                <a:cs typeface="Calibri"/>
                <a:sym typeface="Calibri"/>
              </a:rPr>
              <a:t>h = Wᵀx + c   and   f⁽²⁾(h) = wᵀh + b     ⇒     f(x) = wᵀWᵀx + wᵀc + b = w′ᵀx + b′</a:t>
            </a:r>
            <a:endParaRPr b="0" i="0" sz="1300" u="none" cap="none" strike="noStrike">
              <a:solidFill>
                <a:schemeClr val="dk1"/>
              </a:solidFill>
              <a:latin typeface="Calibri"/>
              <a:ea typeface="Calibri"/>
              <a:cs typeface="Calibri"/>
              <a:sym typeface="Calibri"/>
            </a:endParaRPr>
          </a:p>
        </p:txBody>
      </p:sp>
      <p:sp>
        <p:nvSpPr>
          <p:cNvPr id="935" name="Google Shape;935;p25"/>
          <p:cNvSpPr/>
          <p:nvPr/>
        </p:nvSpPr>
        <p:spPr>
          <a:xfrm>
            <a:off x="7680960" y="4343400"/>
            <a:ext cx="39319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Minimizing J(w, b) gives w′ = 0 and b′ = 0.5.</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The linear model simply outputs 0.5 everywhere.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0" name="Shape 940"/>
        <p:cNvGrpSpPr/>
        <p:nvPr/>
      </p:nvGrpSpPr>
      <p:grpSpPr>
        <a:xfrm>
          <a:off x="0" y="0"/>
          <a:ext cx="0" cy="0"/>
          <a:chOff x="0" y="0"/>
          <a:chExt cx="0" cy="0"/>
        </a:xfrm>
      </p:grpSpPr>
      <p:sp>
        <p:nvSpPr>
          <p:cNvPr id="941" name="Google Shape;941;p2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942" name="Google Shape;942;p2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Solving XOR with one hidden layer</a:t>
            </a:r>
            <a:endParaRPr b="0" i="0" sz="2800" u="none" cap="none" strike="noStrike">
              <a:solidFill>
                <a:schemeClr val="dk1"/>
              </a:solidFill>
              <a:latin typeface="Calibri"/>
              <a:ea typeface="Calibri"/>
              <a:cs typeface="Calibri"/>
              <a:sym typeface="Calibri"/>
            </a:endParaRPr>
          </a:p>
        </p:txBody>
      </p:sp>
      <p:sp>
        <p:nvSpPr>
          <p:cNvPr id="943" name="Google Shape;943;p26"/>
          <p:cNvSpPr/>
          <p:nvPr/>
        </p:nvSpPr>
        <p:spPr>
          <a:xfrm>
            <a:off x="566928" y="1371600"/>
            <a:ext cx="5394960" cy="32918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The network has a vector of hidden units h computed by h = f⁽¹⁾(x; W, c), and an output layer y = f⁽²⁾(h; w, b).</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complete model is f(x; W, c, w, b) = f⁽²⁾( f⁽¹⁾(x) ).</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Clearly we must use a nonlinear function to describe the features. Most networks do this by adding an activation function g:</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50"/>
              <a:buFont typeface="Calibri"/>
              <a:buChar char="•"/>
            </a:pPr>
            <a:r>
              <a:rPr b="1" i="0" lang="en-US" sz="1350" u="none" cap="none" strike="noStrike">
                <a:solidFill>
                  <a:srgbClr val="C4661F"/>
                </a:solidFill>
                <a:latin typeface="Calibri"/>
                <a:ea typeface="Calibri"/>
                <a:cs typeface="Calibri"/>
                <a:sym typeface="Calibri"/>
              </a:rPr>
              <a:t>h = g( Wᵀx + c )</a:t>
            </a:r>
            <a:endParaRPr b="0" i="0" sz="1350" u="none" cap="none" strike="noStrike">
              <a:solidFill>
                <a:schemeClr val="dk1"/>
              </a:solidFill>
              <a:latin typeface="Calibri"/>
              <a:ea typeface="Calibri"/>
              <a:cs typeface="Calibri"/>
              <a:sym typeface="Calibri"/>
            </a:endParaRPr>
          </a:p>
          <a:p>
            <a:pPr indent="-203200" lvl="0" marL="203200" marR="0" rtl="0" algn="l">
              <a:spcBef>
                <a:spcPts val="30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In modern neural networks the default recommendation is the rectified linear unit (ReLU):  g(z) = max{0, z}.</a:t>
            </a:r>
            <a:endParaRPr b="0" i="0" sz="1350" u="none" cap="none" strike="noStrike">
              <a:solidFill>
                <a:schemeClr val="dk1"/>
              </a:solidFill>
              <a:latin typeface="Calibri"/>
              <a:ea typeface="Calibri"/>
              <a:cs typeface="Calibri"/>
              <a:sym typeface="Calibri"/>
            </a:endParaRPr>
          </a:p>
        </p:txBody>
      </p:sp>
      <p:sp>
        <p:nvSpPr>
          <p:cNvPr id="944" name="Google Shape;944;p26"/>
          <p:cNvSpPr/>
          <p:nvPr/>
        </p:nvSpPr>
        <p:spPr>
          <a:xfrm>
            <a:off x="566928" y="4617720"/>
            <a:ext cx="5394960" cy="1097280"/>
          </a:xfrm>
          <a:prstGeom prst="roundRect">
            <a:avLst>
              <a:gd fmla="val 7500"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5" name="Google Shape;945;p26"/>
          <p:cNvCxnSpPr/>
          <p:nvPr/>
        </p:nvCxnSpPr>
        <p:spPr>
          <a:xfrm>
            <a:off x="795528" y="5532120"/>
            <a:ext cx="1645920" cy="0"/>
          </a:xfrm>
          <a:prstGeom prst="straightConnector1">
            <a:avLst/>
          </a:prstGeom>
          <a:noFill/>
          <a:ln cap="flat" cmpd="sng" w="12700">
            <a:solidFill>
              <a:srgbClr val="6E6880"/>
            </a:solidFill>
            <a:prstDash val="solid"/>
            <a:round/>
            <a:headEnd len="sm" w="sm" type="none"/>
            <a:tailEnd len="sm" w="sm" type="none"/>
          </a:ln>
        </p:spPr>
      </p:cxnSp>
      <p:cxnSp>
        <p:nvCxnSpPr>
          <p:cNvPr id="946" name="Google Shape;946;p26"/>
          <p:cNvCxnSpPr/>
          <p:nvPr/>
        </p:nvCxnSpPr>
        <p:spPr>
          <a:xfrm>
            <a:off x="1069848" y="4754880"/>
            <a:ext cx="0" cy="886968"/>
          </a:xfrm>
          <a:prstGeom prst="straightConnector1">
            <a:avLst/>
          </a:prstGeom>
          <a:noFill/>
          <a:ln cap="flat" cmpd="sng" w="12700">
            <a:solidFill>
              <a:srgbClr val="6E6880"/>
            </a:solidFill>
            <a:prstDash val="solid"/>
            <a:round/>
            <a:headEnd len="sm" w="sm" type="none"/>
            <a:tailEnd len="sm" w="sm" type="none"/>
          </a:ln>
        </p:spPr>
      </p:cxnSp>
      <p:cxnSp>
        <p:nvCxnSpPr>
          <p:cNvPr id="947" name="Google Shape;947;p26"/>
          <p:cNvCxnSpPr/>
          <p:nvPr/>
        </p:nvCxnSpPr>
        <p:spPr>
          <a:xfrm>
            <a:off x="795528" y="5532120"/>
            <a:ext cx="274320" cy="0"/>
          </a:xfrm>
          <a:prstGeom prst="straightConnector1">
            <a:avLst/>
          </a:prstGeom>
          <a:noFill/>
          <a:ln cap="flat" cmpd="sng" w="31750">
            <a:solidFill>
              <a:srgbClr val="E8833A"/>
            </a:solidFill>
            <a:prstDash val="solid"/>
            <a:round/>
            <a:headEnd len="sm" w="sm" type="none"/>
            <a:tailEnd len="sm" w="sm" type="none"/>
          </a:ln>
        </p:spPr>
      </p:cxnSp>
      <p:cxnSp>
        <p:nvCxnSpPr>
          <p:cNvPr id="948" name="Google Shape;948;p26"/>
          <p:cNvCxnSpPr/>
          <p:nvPr/>
        </p:nvCxnSpPr>
        <p:spPr>
          <a:xfrm flipH="1" rot="10800000">
            <a:off x="1069848" y="4754880"/>
            <a:ext cx="777240" cy="777240"/>
          </a:xfrm>
          <a:prstGeom prst="straightConnector1">
            <a:avLst/>
          </a:prstGeom>
          <a:noFill/>
          <a:ln cap="flat" cmpd="sng" w="31750">
            <a:solidFill>
              <a:srgbClr val="E8833A"/>
            </a:solidFill>
            <a:prstDash val="solid"/>
            <a:round/>
            <a:headEnd len="sm" w="sm" type="none"/>
            <a:tailEnd len="sm" w="sm" type="none"/>
          </a:ln>
        </p:spPr>
      </p:cxnSp>
      <p:sp>
        <p:nvSpPr>
          <p:cNvPr id="949" name="Google Shape;949;p26"/>
          <p:cNvSpPr/>
          <p:nvPr/>
        </p:nvSpPr>
        <p:spPr>
          <a:xfrm>
            <a:off x="2670048" y="493776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g(z) = max{0, z}</a:t>
            </a:r>
            <a:endParaRPr b="0" i="0" sz="1400" u="none" cap="none" strike="noStrike">
              <a:solidFill>
                <a:schemeClr val="dk1"/>
              </a:solidFill>
              <a:latin typeface="Calibri"/>
              <a:ea typeface="Calibri"/>
              <a:cs typeface="Calibri"/>
              <a:sym typeface="Calibri"/>
            </a:endParaRPr>
          </a:p>
        </p:txBody>
      </p:sp>
      <p:sp>
        <p:nvSpPr>
          <p:cNvPr id="950" name="Google Shape;950;p26"/>
          <p:cNvSpPr/>
          <p:nvPr/>
        </p:nvSpPr>
        <p:spPr>
          <a:xfrm>
            <a:off x="2670048" y="5303520"/>
            <a:ext cx="3291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large, consistent gradients wherever the unit is active</a:t>
            </a:r>
            <a:endParaRPr b="0" i="0" sz="1100" u="none" cap="none" strike="noStrike">
              <a:solidFill>
                <a:schemeClr val="dk1"/>
              </a:solidFill>
              <a:latin typeface="Calibri"/>
              <a:ea typeface="Calibri"/>
              <a:cs typeface="Calibri"/>
              <a:sym typeface="Calibri"/>
            </a:endParaRPr>
          </a:p>
        </p:txBody>
      </p:sp>
      <p:sp>
        <p:nvSpPr>
          <p:cNvPr id="951" name="Google Shape;951;p26"/>
          <p:cNvSpPr/>
          <p:nvPr/>
        </p:nvSpPr>
        <p:spPr>
          <a:xfrm>
            <a:off x="6309360" y="1371600"/>
            <a:ext cx="5321808" cy="4343400"/>
          </a:xfrm>
          <a:prstGeom prst="roundRect">
            <a:avLst>
              <a:gd fmla="val 189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2" name="Google Shape;952;p26"/>
          <p:cNvCxnSpPr/>
          <p:nvPr/>
        </p:nvCxnSpPr>
        <p:spPr>
          <a:xfrm>
            <a:off x="7223760" y="3063240"/>
            <a:ext cx="1280160" cy="0"/>
          </a:xfrm>
          <a:prstGeom prst="straightConnector1">
            <a:avLst/>
          </a:prstGeom>
          <a:noFill/>
          <a:ln cap="flat" cmpd="sng" w="15225">
            <a:solidFill>
              <a:srgbClr val="6B5B95"/>
            </a:solidFill>
            <a:prstDash val="solid"/>
            <a:round/>
            <a:headEnd len="sm" w="sm" type="none"/>
            <a:tailEnd len="sm" w="sm" type="none"/>
          </a:ln>
        </p:spPr>
      </p:cxnSp>
      <p:cxnSp>
        <p:nvCxnSpPr>
          <p:cNvPr id="953" name="Google Shape;953;p26"/>
          <p:cNvCxnSpPr/>
          <p:nvPr/>
        </p:nvCxnSpPr>
        <p:spPr>
          <a:xfrm>
            <a:off x="7223760" y="3063240"/>
            <a:ext cx="1280160" cy="914400"/>
          </a:xfrm>
          <a:prstGeom prst="straightConnector1">
            <a:avLst/>
          </a:prstGeom>
          <a:noFill/>
          <a:ln cap="flat" cmpd="sng" w="15225">
            <a:solidFill>
              <a:srgbClr val="6B5B95"/>
            </a:solidFill>
            <a:prstDash val="solid"/>
            <a:round/>
            <a:headEnd len="sm" w="sm" type="none"/>
            <a:tailEnd len="sm" w="sm" type="none"/>
          </a:ln>
        </p:spPr>
      </p:cxnSp>
      <p:cxnSp>
        <p:nvCxnSpPr>
          <p:cNvPr id="954" name="Google Shape;954;p26"/>
          <p:cNvCxnSpPr/>
          <p:nvPr/>
        </p:nvCxnSpPr>
        <p:spPr>
          <a:xfrm flipH="1" rot="10800000">
            <a:off x="7223760" y="3063240"/>
            <a:ext cx="1280160" cy="914400"/>
          </a:xfrm>
          <a:prstGeom prst="straightConnector1">
            <a:avLst/>
          </a:prstGeom>
          <a:noFill/>
          <a:ln cap="flat" cmpd="sng" w="15225">
            <a:solidFill>
              <a:srgbClr val="6B5B95"/>
            </a:solidFill>
            <a:prstDash val="solid"/>
            <a:round/>
            <a:headEnd len="sm" w="sm" type="none"/>
            <a:tailEnd len="sm" w="sm" type="none"/>
          </a:ln>
        </p:spPr>
      </p:cxnSp>
      <p:cxnSp>
        <p:nvCxnSpPr>
          <p:cNvPr id="955" name="Google Shape;955;p26"/>
          <p:cNvCxnSpPr/>
          <p:nvPr/>
        </p:nvCxnSpPr>
        <p:spPr>
          <a:xfrm>
            <a:off x="7223760" y="3977640"/>
            <a:ext cx="1280160" cy="0"/>
          </a:xfrm>
          <a:prstGeom prst="straightConnector1">
            <a:avLst/>
          </a:prstGeom>
          <a:noFill/>
          <a:ln cap="flat" cmpd="sng" w="15225">
            <a:solidFill>
              <a:srgbClr val="6B5B95"/>
            </a:solidFill>
            <a:prstDash val="solid"/>
            <a:round/>
            <a:headEnd len="sm" w="sm" type="none"/>
            <a:tailEnd len="sm" w="sm" type="none"/>
          </a:ln>
        </p:spPr>
      </p:cxnSp>
      <p:cxnSp>
        <p:nvCxnSpPr>
          <p:cNvPr id="956" name="Google Shape;956;p26"/>
          <p:cNvCxnSpPr/>
          <p:nvPr/>
        </p:nvCxnSpPr>
        <p:spPr>
          <a:xfrm>
            <a:off x="8503920" y="3063240"/>
            <a:ext cx="1280160" cy="457200"/>
          </a:xfrm>
          <a:prstGeom prst="straightConnector1">
            <a:avLst/>
          </a:prstGeom>
          <a:noFill/>
          <a:ln cap="flat" cmpd="sng" w="15225">
            <a:solidFill>
              <a:srgbClr val="6B5B95"/>
            </a:solidFill>
            <a:prstDash val="solid"/>
            <a:round/>
            <a:headEnd len="sm" w="sm" type="none"/>
            <a:tailEnd len="sm" w="sm" type="none"/>
          </a:ln>
        </p:spPr>
      </p:cxnSp>
      <p:cxnSp>
        <p:nvCxnSpPr>
          <p:cNvPr id="957" name="Google Shape;957;p26"/>
          <p:cNvCxnSpPr/>
          <p:nvPr/>
        </p:nvCxnSpPr>
        <p:spPr>
          <a:xfrm flipH="1" rot="10800000">
            <a:off x="8503920" y="3520440"/>
            <a:ext cx="1280160" cy="457200"/>
          </a:xfrm>
          <a:prstGeom prst="straightConnector1">
            <a:avLst/>
          </a:prstGeom>
          <a:noFill/>
          <a:ln cap="flat" cmpd="sng" w="15225">
            <a:solidFill>
              <a:srgbClr val="6B5B95"/>
            </a:solidFill>
            <a:prstDash val="solid"/>
            <a:round/>
            <a:headEnd len="sm" w="sm" type="none"/>
            <a:tailEnd len="sm" w="sm" type="none"/>
          </a:ln>
        </p:spPr>
      </p:cxnSp>
      <p:sp>
        <p:nvSpPr>
          <p:cNvPr id="958" name="Google Shape;958;p26"/>
          <p:cNvSpPr/>
          <p:nvPr/>
        </p:nvSpPr>
        <p:spPr>
          <a:xfrm>
            <a:off x="6995160" y="2834640"/>
            <a:ext cx="457200" cy="457200"/>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6"/>
          <p:cNvSpPr/>
          <p:nvPr/>
        </p:nvSpPr>
        <p:spPr>
          <a:xfrm>
            <a:off x="6858000" y="2834640"/>
            <a:ext cx="73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x₁</a:t>
            </a:r>
            <a:endParaRPr b="0" i="0" sz="1100" u="none" cap="none" strike="noStrike">
              <a:solidFill>
                <a:schemeClr val="dk1"/>
              </a:solidFill>
              <a:latin typeface="Calibri"/>
              <a:ea typeface="Calibri"/>
              <a:cs typeface="Calibri"/>
              <a:sym typeface="Calibri"/>
            </a:endParaRPr>
          </a:p>
        </p:txBody>
      </p:sp>
      <p:sp>
        <p:nvSpPr>
          <p:cNvPr id="960" name="Google Shape;960;p26"/>
          <p:cNvSpPr/>
          <p:nvPr/>
        </p:nvSpPr>
        <p:spPr>
          <a:xfrm>
            <a:off x="6995160" y="3749040"/>
            <a:ext cx="457200" cy="457200"/>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6"/>
          <p:cNvSpPr/>
          <p:nvPr/>
        </p:nvSpPr>
        <p:spPr>
          <a:xfrm>
            <a:off x="6858000" y="3749040"/>
            <a:ext cx="73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x₂</a:t>
            </a:r>
            <a:endParaRPr b="0" i="0" sz="1100" u="none" cap="none" strike="noStrike">
              <a:solidFill>
                <a:schemeClr val="dk1"/>
              </a:solidFill>
              <a:latin typeface="Calibri"/>
              <a:ea typeface="Calibri"/>
              <a:cs typeface="Calibri"/>
              <a:sym typeface="Calibri"/>
            </a:endParaRPr>
          </a:p>
        </p:txBody>
      </p:sp>
      <p:sp>
        <p:nvSpPr>
          <p:cNvPr id="962" name="Google Shape;962;p26"/>
          <p:cNvSpPr/>
          <p:nvPr/>
        </p:nvSpPr>
        <p:spPr>
          <a:xfrm>
            <a:off x="8275320" y="2834640"/>
            <a:ext cx="457200" cy="457200"/>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6"/>
          <p:cNvSpPr/>
          <p:nvPr/>
        </p:nvSpPr>
        <p:spPr>
          <a:xfrm>
            <a:off x="8138160" y="2834640"/>
            <a:ext cx="73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h₁</a:t>
            </a:r>
            <a:endParaRPr b="0" i="0" sz="1100" u="none" cap="none" strike="noStrike">
              <a:solidFill>
                <a:schemeClr val="dk1"/>
              </a:solidFill>
              <a:latin typeface="Calibri"/>
              <a:ea typeface="Calibri"/>
              <a:cs typeface="Calibri"/>
              <a:sym typeface="Calibri"/>
            </a:endParaRPr>
          </a:p>
        </p:txBody>
      </p:sp>
      <p:sp>
        <p:nvSpPr>
          <p:cNvPr id="964" name="Google Shape;964;p26"/>
          <p:cNvSpPr/>
          <p:nvPr/>
        </p:nvSpPr>
        <p:spPr>
          <a:xfrm>
            <a:off x="8275320" y="3749040"/>
            <a:ext cx="457200" cy="457200"/>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6"/>
          <p:cNvSpPr/>
          <p:nvPr/>
        </p:nvSpPr>
        <p:spPr>
          <a:xfrm>
            <a:off x="8138160" y="3749040"/>
            <a:ext cx="73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h₂</a:t>
            </a:r>
            <a:endParaRPr b="0" i="0" sz="1100" u="none" cap="none" strike="noStrike">
              <a:solidFill>
                <a:schemeClr val="dk1"/>
              </a:solidFill>
              <a:latin typeface="Calibri"/>
              <a:ea typeface="Calibri"/>
              <a:cs typeface="Calibri"/>
              <a:sym typeface="Calibri"/>
            </a:endParaRPr>
          </a:p>
        </p:txBody>
      </p:sp>
      <p:sp>
        <p:nvSpPr>
          <p:cNvPr id="966" name="Google Shape;966;p26"/>
          <p:cNvSpPr/>
          <p:nvPr/>
        </p:nvSpPr>
        <p:spPr>
          <a:xfrm>
            <a:off x="9555480" y="3291840"/>
            <a:ext cx="457200" cy="457200"/>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6"/>
          <p:cNvSpPr/>
          <p:nvPr/>
        </p:nvSpPr>
        <p:spPr>
          <a:xfrm>
            <a:off x="9418320" y="3291840"/>
            <a:ext cx="7315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00"/>
              <a:buFont typeface="Calibri"/>
              <a:buNone/>
            </a:pPr>
            <a:r>
              <a:rPr b="1" i="0" lang="en-US" sz="1100" u="none" cap="none" strike="noStrike">
                <a:solidFill>
                  <a:srgbClr val="2D1B4E"/>
                </a:solidFill>
                <a:latin typeface="Calibri"/>
                <a:ea typeface="Calibri"/>
                <a:cs typeface="Calibri"/>
                <a:sym typeface="Calibri"/>
              </a:rPr>
              <a:t>y</a:t>
            </a:r>
            <a:endParaRPr b="0" i="0" sz="1100" u="none" cap="none" strike="noStrike">
              <a:solidFill>
                <a:schemeClr val="dk1"/>
              </a:solidFill>
              <a:latin typeface="Calibri"/>
              <a:ea typeface="Calibri"/>
              <a:cs typeface="Calibri"/>
              <a:sym typeface="Calibri"/>
            </a:endParaRPr>
          </a:p>
        </p:txBody>
      </p:sp>
      <p:sp>
        <p:nvSpPr>
          <p:cNvPr id="968" name="Google Shape;968;p26"/>
          <p:cNvSpPr/>
          <p:nvPr/>
        </p:nvSpPr>
        <p:spPr>
          <a:xfrm>
            <a:off x="7818120" y="2487168"/>
            <a:ext cx="20116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h = f⁽¹⁾(x; W, c)</a:t>
            </a:r>
            <a:endParaRPr b="0" i="0" sz="1150" u="none" cap="none" strike="noStrike">
              <a:solidFill>
                <a:schemeClr val="dk1"/>
              </a:solidFill>
              <a:latin typeface="Calibri"/>
              <a:ea typeface="Calibri"/>
              <a:cs typeface="Calibri"/>
              <a:sym typeface="Calibri"/>
            </a:endParaRPr>
          </a:p>
        </p:txBody>
      </p:sp>
      <p:sp>
        <p:nvSpPr>
          <p:cNvPr id="969" name="Google Shape;969;p26"/>
          <p:cNvSpPr/>
          <p:nvPr/>
        </p:nvSpPr>
        <p:spPr>
          <a:xfrm>
            <a:off x="9692640" y="292608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y = f⁽²⁾(h; w, b)</a:t>
            </a:r>
            <a:endParaRPr b="0" i="0" sz="1150" u="none" cap="none" strike="noStrike">
              <a:solidFill>
                <a:schemeClr val="dk1"/>
              </a:solidFill>
              <a:latin typeface="Calibri"/>
              <a:ea typeface="Calibri"/>
              <a:cs typeface="Calibri"/>
              <a:sym typeface="Calibri"/>
            </a:endParaRPr>
          </a:p>
        </p:txBody>
      </p:sp>
      <p:sp>
        <p:nvSpPr>
          <p:cNvPr id="970" name="Google Shape;970;p26"/>
          <p:cNvSpPr/>
          <p:nvPr/>
        </p:nvSpPr>
        <p:spPr>
          <a:xfrm>
            <a:off x="6629400" y="4572000"/>
            <a:ext cx="4663440" cy="960120"/>
          </a:xfrm>
          <a:prstGeom prst="roundRect">
            <a:avLst>
              <a:gd fmla="val 8571"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6"/>
          <p:cNvSpPr/>
          <p:nvPr/>
        </p:nvSpPr>
        <p:spPr>
          <a:xfrm>
            <a:off x="6629400" y="4572000"/>
            <a:ext cx="466344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libri"/>
              <a:buNone/>
            </a:pPr>
            <a:r>
              <a:rPr b="1" i="0" lang="en-US" sz="1400" u="none" cap="none" strike="noStrike">
                <a:solidFill>
                  <a:srgbClr val="E8833A"/>
                </a:solidFill>
                <a:latin typeface="Calibri"/>
                <a:ea typeface="Calibri"/>
                <a:cs typeface="Calibri"/>
                <a:sym typeface="Calibri"/>
              </a:rPr>
              <a:t>W = [1 1 ; 1 1]     c = [0, −1]     w = [1, −2]     b = 0</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6" name="Shape 976"/>
        <p:cNvGrpSpPr/>
        <p:nvPr/>
      </p:nvGrpSpPr>
      <p:grpSpPr>
        <a:xfrm>
          <a:off x="0" y="0"/>
          <a:ext cx="0" cy="0"/>
          <a:chOff x="0" y="0"/>
          <a:chExt cx="0" cy="0"/>
        </a:xfrm>
      </p:grpSpPr>
      <p:sp>
        <p:nvSpPr>
          <p:cNvPr id="977" name="Google Shape;977;p2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FEEDFORWARD NETWORKS</a:t>
            </a:r>
            <a:endParaRPr b="0" i="0" sz="1050" u="none" cap="none" strike="noStrike">
              <a:solidFill>
                <a:schemeClr val="dk1"/>
              </a:solidFill>
              <a:latin typeface="Calibri"/>
              <a:ea typeface="Calibri"/>
              <a:cs typeface="Calibri"/>
              <a:sym typeface="Calibri"/>
            </a:endParaRPr>
          </a:p>
        </p:txBody>
      </p:sp>
      <p:sp>
        <p:nvSpPr>
          <p:cNvPr id="978" name="Google Shape;978;p2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XOR: walking the four examples through</a:t>
            </a:r>
            <a:endParaRPr b="0" i="0" sz="2800" u="none" cap="none" strike="noStrike">
              <a:solidFill>
                <a:schemeClr val="dk1"/>
              </a:solidFill>
              <a:latin typeface="Calibri"/>
              <a:ea typeface="Calibri"/>
              <a:cs typeface="Calibri"/>
              <a:sym typeface="Calibri"/>
            </a:endParaRPr>
          </a:p>
        </p:txBody>
      </p:sp>
      <p:sp>
        <p:nvSpPr>
          <p:cNvPr id="979" name="Google Shape;979;p27"/>
          <p:cNvSpPr/>
          <p:nvPr/>
        </p:nvSpPr>
        <p:spPr>
          <a:xfrm>
            <a:off x="566928" y="1371600"/>
            <a:ext cx="260604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7"/>
          <p:cNvSpPr/>
          <p:nvPr/>
        </p:nvSpPr>
        <p:spPr>
          <a:xfrm>
            <a:off x="704088" y="1481328"/>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X</a:t>
            </a:r>
            <a:endParaRPr b="0" i="0" sz="1350" u="none" cap="none" strike="noStrike">
              <a:solidFill>
                <a:schemeClr val="dk1"/>
              </a:solidFill>
              <a:latin typeface="Calibri"/>
              <a:ea typeface="Calibri"/>
              <a:cs typeface="Calibri"/>
              <a:sym typeface="Calibri"/>
            </a:endParaRPr>
          </a:p>
        </p:txBody>
      </p:sp>
      <p:sp>
        <p:nvSpPr>
          <p:cNvPr id="981" name="Google Shape;981;p27"/>
          <p:cNvSpPr/>
          <p:nvPr/>
        </p:nvSpPr>
        <p:spPr>
          <a:xfrm>
            <a:off x="704088" y="1828800"/>
            <a:ext cx="2331720" cy="1188720"/>
          </a:xfrm>
          <a:prstGeom prst="rect">
            <a:avLst/>
          </a:prstGeom>
          <a:noFill/>
          <a:ln>
            <a:noFill/>
          </a:ln>
        </p:spPr>
        <p:txBody>
          <a:bodyPr anchorCtr="0" anchor="ctr" bIns="0" lIns="0" spcFirstLastPara="1" rIns="0" wrap="square" tIns="0">
            <a:noAutofit/>
          </a:bodyPr>
          <a:lstStyle/>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0 0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0 1</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1 1</a:t>
            </a:r>
            <a:endParaRPr b="0" i="0" sz="1400" u="none" cap="none" strike="noStrike">
              <a:solidFill>
                <a:schemeClr val="dk1"/>
              </a:solidFill>
              <a:latin typeface="Calibri"/>
              <a:ea typeface="Calibri"/>
              <a:cs typeface="Calibri"/>
              <a:sym typeface="Calibri"/>
            </a:endParaRPr>
          </a:p>
        </p:txBody>
      </p:sp>
      <p:sp>
        <p:nvSpPr>
          <p:cNvPr id="982" name="Google Shape;982;p27"/>
          <p:cNvSpPr/>
          <p:nvPr/>
        </p:nvSpPr>
        <p:spPr>
          <a:xfrm>
            <a:off x="704088" y="3127248"/>
            <a:ext cx="2331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the four inputs, one per row</a:t>
            </a:r>
            <a:endParaRPr b="0" i="0" sz="1050" u="none" cap="none" strike="noStrike">
              <a:solidFill>
                <a:schemeClr val="dk1"/>
              </a:solidFill>
              <a:latin typeface="Calibri"/>
              <a:ea typeface="Calibri"/>
              <a:cs typeface="Calibri"/>
              <a:sym typeface="Calibri"/>
            </a:endParaRPr>
          </a:p>
        </p:txBody>
      </p:sp>
      <p:cxnSp>
        <p:nvCxnSpPr>
          <p:cNvPr id="983" name="Google Shape;983;p27"/>
          <p:cNvCxnSpPr/>
          <p:nvPr/>
        </p:nvCxnSpPr>
        <p:spPr>
          <a:xfrm>
            <a:off x="3218688" y="2468880"/>
            <a:ext cx="164592" cy="0"/>
          </a:xfrm>
          <a:prstGeom prst="straightConnector1">
            <a:avLst/>
          </a:prstGeom>
          <a:noFill/>
          <a:ln cap="flat" cmpd="sng" w="25400">
            <a:solidFill>
              <a:srgbClr val="E8833A"/>
            </a:solidFill>
            <a:prstDash val="solid"/>
            <a:round/>
            <a:headEnd len="sm" w="sm" type="none"/>
            <a:tailEnd len="med" w="med" type="triangle"/>
          </a:ln>
        </p:spPr>
      </p:cxnSp>
      <p:sp>
        <p:nvSpPr>
          <p:cNvPr id="984" name="Google Shape;984;p27"/>
          <p:cNvSpPr/>
          <p:nvPr/>
        </p:nvSpPr>
        <p:spPr>
          <a:xfrm>
            <a:off x="3419856" y="1371600"/>
            <a:ext cx="260604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7"/>
          <p:cNvSpPr/>
          <p:nvPr/>
        </p:nvSpPr>
        <p:spPr>
          <a:xfrm>
            <a:off x="3557016" y="1481328"/>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XWᵀ</a:t>
            </a:r>
            <a:endParaRPr b="0" i="0" sz="1350" u="none" cap="none" strike="noStrike">
              <a:solidFill>
                <a:schemeClr val="dk1"/>
              </a:solidFill>
              <a:latin typeface="Calibri"/>
              <a:ea typeface="Calibri"/>
              <a:cs typeface="Calibri"/>
              <a:sym typeface="Calibri"/>
            </a:endParaRPr>
          </a:p>
        </p:txBody>
      </p:sp>
      <p:sp>
        <p:nvSpPr>
          <p:cNvPr id="986" name="Google Shape;986;p27"/>
          <p:cNvSpPr/>
          <p:nvPr/>
        </p:nvSpPr>
        <p:spPr>
          <a:xfrm>
            <a:off x="3557016" y="1828800"/>
            <a:ext cx="2331720" cy="1188720"/>
          </a:xfrm>
          <a:prstGeom prst="rect">
            <a:avLst/>
          </a:prstGeom>
          <a:noFill/>
          <a:ln>
            <a:noFill/>
          </a:ln>
        </p:spPr>
        <p:txBody>
          <a:bodyPr anchorCtr="0" anchor="ctr" bIns="0" lIns="0" spcFirstLastPara="1" rIns="0" wrap="square" tIns="0">
            <a:noAutofit/>
          </a:bodyPr>
          <a:lstStyle/>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0 0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1 1</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1 1</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2 2</a:t>
            </a:r>
            <a:endParaRPr b="0" i="0" sz="1400" u="none" cap="none" strike="noStrike">
              <a:solidFill>
                <a:schemeClr val="dk1"/>
              </a:solidFill>
              <a:latin typeface="Calibri"/>
              <a:ea typeface="Calibri"/>
              <a:cs typeface="Calibri"/>
              <a:sym typeface="Calibri"/>
            </a:endParaRPr>
          </a:p>
        </p:txBody>
      </p:sp>
      <p:sp>
        <p:nvSpPr>
          <p:cNvPr id="987" name="Google Shape;987;p27"/>
          <p:cNvSpPr/>
          <p:nvPr/>
        </p:nvSpPr>
        <p:spPr>
          <a:xfrm>
            <a:off x="3557016" y="3127248"/>
            <a:ext cx="2331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multiply by the weights</a:t>
            </a:r>
            <a:endParaRPr b="0" i="0" sz="1050" u="none" cap="none" strike="noStrike">
              <a:solidFill>
                <a:schemeClr val="dk1"/>
              </a:solidFill>
              <a:latin typeface="Calibri"/>
              <a:ea typeface="Calibri"/>
              <a:cs typeface="Calibri"/>
              <a:sym typeface="Calibri"/>
            </a:endParaRPr>
          </a:p>
        </p:txBody>
      </p:sp>
      <p:cxnSp>
        <p:nvCxnSpPr>
          <p:cNvPr id="988" name="Google Shape;988;p27"/>
          <p:cNvCxnSpPr/>
          <p:nvPr/>
        </p:nvCxnSpPr>
        <p:spPr>
          <a:xfrm>
            <a:off x="6071616" y="2468880"/>
            <a:ext cx="164592" cy="0"/>
          </a:xfrm>
          <a:prstGeom prst="straightConnector1">
            <a:avLst/>
          </a:prstGeom>
          <a:noFill/>
          <a:ln cap="flat" cmpd="sng" w="25400">
            <a:solidFill>
              <a:srgbClr val="E8833A"/>
            </a:solidFill>
            <a:prstDash val="solid"/>
            <a:round/>
            <a:headEnd len="sm" w="sm" type="none"/>
            <a:tailEnd len="med" w="med" type="triangle"/>
          </a:ln>
        </p:spPr>
      </p:cxnSp>
      <p:sp>
        <p:nvSpPr>
          <p:cNvPr id="989" name="Google Shape;989;p27"/>
          <p:cNvSpPr/>
          <p:nvPr/>
        </p:nvSpPr>
        <p:spPr>
          <a:xfrm>
            <a:off x="6272784" y="1371600"/>
            <a:ext cx="260604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7"/>
          <p:cNvSpPr/>
          <p:nvPr/>
        </p:nvSpPr>
        <p:spPr>
          <a:xfrm>
            <a:off x="6409944" y="1481328"/>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XWᵀ + c</a:t>
            </a:r>
            <a:endParaRPr b="0" i="0" sz="1350" u="none" cap="none" strike="noStrike">
              <a:solidFill>
                <a:schemeClr val="dk1"/>
              </a:solidFill>
              <a:latin typeface="Calibri"/>
              <a:ea typeface="Calibri"/>
              <a:cs typeface="Calibri"/>
              <a:sym typeface="Calibri"/>
            </a:endParaRPr>
          </a:p>
        </p:txBody>
      </p:sp>
      <p:sp>
        <p:nvSpPr>
          <p:cNvPr id="991" name="Google Shape;991;p27"/>
          <p:cNvSpPr/>
          <p:nvPr/>
        </p:nvSpPr>
        <p:spPr>
          <a:xfrm>
            <a:off x="6409944" y="1828800"/>
            <a:ext cx="2331720" cy="1188720"/>
          </a:xfrm>
          <a:prstGeom prst="rect">
            <a:avLst/>
          </a:prstGeom>
          <a:noFill/>
          <a:ln>
            <a:noFill/>
          </a:ln>
        </p:spPr>
        <p:txBody>
          <a:bodyPr anchorCtr="0" anchor="ctr" bIns="0" lIns="0" spcFirstLastPara="1" rIns="0" wrap="square" tIns="0">
            <a:noAutofit/>
          </a:bodyPr>
          <a:lstStyle/>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0 −1</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2 1</a:t>
            </a:r>
            <a:endParaRPr b="0" i="0" sz="1400" u="none" cap="none" strike="noStrike">
              <a:solidFill>
                <a:schemeClr val="dk1"/>
              </a:solidFill>
              <a:latin typeface="Calibri"/>
              <a:ea typeface="Calibri"/>
              <a:cs typeface="Calibri"/>
              <a:sym typeface="Calibri"/>
            </a:endParaRPr>
          </a:p>
        </p:txBody>
      </p:sp>
      <p:sp>
        <p:nvSpPr>
          <p:cNvPr id="992" name="Google Shape;992;p27"/>
          <p:cNvSpPr/>
          <p:nvPr/>
        </p:nvSpPr>
        <p:spPr>
          <a:xfrm>
            <a:off x="6409944" y="3127248"/>
            <a:ext cx="2331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add the bias vector</a:t>
            </a:r>
            <a:endParaRPr b="0" i="0" sz="1050" u="none" cap="none" strike="noStrike">
              <a:solidFill>
                <a:schemeClr val="dk1"/>
              </a:solidFill>
              <a:latin typeface="Calibri"/>
              <a:ea typeface="Calibri"/>
              <a:cs typeface="Calibri"/>
              <a:sym typeface="Calibri"/>
            </a:endParaRPr>
          </a:p>
        </p:txBody>
      </p:sp>
      <p:cxnSp>
        <p:nvCxnSpPr>
          <p:cNvPr id="993" name="Google Shape;993;p27"/>
          <p:cNvCxnSpPr/>
          <p:nvPr/>
        </p:nvCxnSpPr>
        <p:spPr>
          <a:xfrm>
            <a:off x="8924544" y="2468880"/>
            <a:ext cx="164592" cy="0"/>
          </a:xfrm>
          <a:prstGeom prst="straightConnector1">
            <a:avLst/>
          </a:prstGeom>
          <a:noFill/>
          <a:ln cap="flat" cmpd="sng" w="25400">
            <a:solidFill>
              <a:srgbClr val="E8833A"/>
            </a:solidFill>
            <a:prstDash val="solid"/>
            <a:round/>
            <a:headEnd len="sm" w="sm" type="none"/>
            <a:tailEnd len="med" w="med" type="triangle"/>
          </a:ln>
        </p:spPr>
      </p:cxnSp>
      <p:sp>
        <p:nvSpPr>
          <p:cNvPr id="994" name="Google Shape;994;p27"/>
          <p:cNvSpPr/>
          <p:nvPr/>
        </p:nvSpPr>
        <p:spPr>
          <a:xfrm>
            <a:off x="9125712" y="1371600"/>
            <a:ext cx="2606040" cy="2331720"/>
          </a:xfrm>
          <a:prstGeom prst="roundRect">
            <a:avLst>
              <a:gd fmla="val 3529" name="adj"/>
            </a:avLst>
          </a:prstGeom>
          <a:solidFill>
            <a:srgbClr val="F9E3C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7"/>
          <p:cNvSpPr/>
          <p:nvPr/>
        </p:nvSpPr>
        <p:spPr>
          <a:xfrm>
            <a:off x="9262872" y="1481328"/>
            <a:ext cx="2331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h = g(XWᵀ + c)</a:t>
            </a:r>
            <a:endParaRPr b="0" i="0" sz="1350" u="none" cap="none" strike="noStrike">
              <a:solidFill>
                <a:schemeClr val="dk1"/>
              </a:solidFill>
              <a:latin typeface="Calibri"/>
              <a:ea typeface="Calibri"/>
              <a:cs typeface="Calibri"/>
              <a:sym typeface="Calibri"/>
            </a:endParaRPr>
          </a:p>
        </p:txBody>
      </p:sp>
      <p:sp>
        <p:nvSpPr>
          <p:cNvPr id="996" name="Google Shape;996;p27"/>
          <p:cNvSpPr/>
          <p:nvPr/>
        </p:nvSpPr>
        <p:spPr>
          <a:xfrm>
            <a:off x="9262872" y="1828800"/>
            <a:ext cx="2331720" cy="1188720"/>
          </a:xfrm>
          <a:prstGeom prst="rect">
            <a:avLst/>
          </a:prstGeom>
          <a:noFill/>
          <a:ln>
            <a:noFill/>
          </a:ln>
        </p:spPr>
        <p:txBody>
          <a:bodyPr anchorCtr="0" anchor="ctr" bIns="0" lIns="0" spcFirstLastPara="1" rIns="0" wrap="square" tIns="0">
            <a:noAutofit/>
          </a:bodyPr>
          <a:lstStyle/>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0 0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1 0</a:t>
            </a:r>
            <a:endParaRPr b="0" i="0" sz="1400" u="none" cap="none" strike="noStrike">
              <a:solidFill>
                <a:schemeClr val="dk1"/>
              </a:solidFill>
              <a:latin typeface="Calibri"/>
              <a:ea typeface="Calibri"/>
              <a:cs typeface="Calibri"/>
              <a:sym typeface="Calibri"/>
            </a:endParaRPr>
          </a:p>
          <a:p>
            <a:pPr indent="0" lvl="0" marL="0" marR="0" rtl="0" algn="ctr">
              <a:lnSpc>
                <a:spcPct val="121428"/>
              </a:lnSpc>
              <a:spcBef>
                <a:spcPts val="0"/>
              </a:spcBef>
              <a:spcAft>
                <a:spcPts val="0"/>
              </a:spcAft>
              <a:buClr>
                <a:srgbClr val="241C2E"/>
              </a:buClr>
              <a:buSzPts val="1400"/>
              <a:buFont typeface="Calibri"/>
              <a:buNone/>
            </a:pPr>
            <a:r>
              <a:rPr b="0" i="0" lang="en-US" sz="1400" u="none" cap="none" strike="noStrike">
                <a:solidFill>
                  <a:srgbClr val="241C2E"/>
                </a:solidFill>
                <a:latin typeface="Calibri"/>
                <a:ea typeface="Calibri"/>
                <a:cs typeface="Calibri"/>
                <a:sym typeface="Calibri"/>
              </a:rPr>
              <a:t>2 1</a:t>
            </a:r>
            <a:endParaRPr b="0" i="0" sz="1400" u="none" cap="none" strike="noStrike">
              <a:solidFill>
                <a:schemeClr val="dk1"/>
              </a:solidFill>
              <a:latin typeface="Calibri"/>
              <a:ea typeface="Calibri"/>
              <a:cs typeface="Calibri"/>
              <a:sym typeface="Calibri"/>
            </a:endParaRPr>
          </a:p>
        </p:txBody>
      </p:sp>
      <p:sp>
        <p:nvSpPr>
          <p:cNvPr id="997" name="Google Shape;997;p27"/>
          <p:cNvSpPr/>
          <p:nvPr/>
        </p:nvSpPr>
        <p:spPr>
          <a:xfrm>
            <a:off x="9262872" y="3127248"/>
            <a:ext cx="233172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rectify: negatives become 0</a:t>
            </a:r>
            <a:endParaRPr b="0" i="0" sz="1050" u="none" cap="none" strike="noStrike">
              <a:solidFill>
                <a:schemeClr val="dk1"/>
              </a:solidFill>
              <a:latin typeface="Calibri"/>
              <a:ea typeface="Calibri"/>
              <a:cs typeface="Calibri"/>
              <a:sym typeface="Calibri"/>
            </a:endParaRPr>
          </a:p>
        </p:txBody>
      </p:sp>
      <p:sp>
        <p:nvSpPr>
          <p:cNvPr id="998" name="Google Shape;998;p27"/>
          <p:cNvSpPr/>
          <p:nvPr/>
        </p:nvSpPr>
        <p:spPr>
          <a:xfrm>
            <a:off x="566928" y="3931920"/>
            <a:ext cx="5486400" cy="914400"/>
          </a:xfrm>
          <a:prstGeom prst="roundRect">
            <a:avLst>
              <a:gd fmla="val 9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7"/>
          <p:cNvSpPr/>
          <p:nvPr/>
        </p:nvSpPr>
        <p:spPr>
          <a:xfrm>
            <a:off x="704088" y="3931920"/>
            <a:ext cx="52120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700"/>
              <a:buFont typeface="Calibri"/>
              <a:buNone/>
            </a:pPr>
            <a:r>
              <a:rPr b="1" i="0" lang="en-US" sz="1700" u="none" cap="none" strike="noStrike">
                <a:solidFill>
                  <a:srgbClr val="E8833A"/>
                </a:solidFill>
                <a:latin typeface="Calibri"/>
                <a:ea typeface="Calibri"/>
                <a:cs typeface="Calibri"/>
                <a:sym typeface="Calibri"/>
              </a:rPr>
              <a:t>y = h w ᵀ  =  [0, 1, 1, 0]ᵀ     ✓  XOR solved</a:t>
            </a:r>
            <a:endParaRPr b="0" i="0" sz="1700" u="none" cap="none" strike="noStrike">
              <a:solidFill>
                <a:schemeClr val="dk1"/>
              </a:solidFill>
              <a:latin typeface="Calibri"/>
              <a:ea typeface="Calibri"/>
              <a:cs typeface="Calibri"/>
              <a:sym typeface="Calibri"/>
            </a:endParaRPr>
          </a:p>
        </p:txBody>
      </p:sp>
      <p:sp>
        <p:nvSpPr>
          <p:cNvPr id="1000" name="Google Shape;1000;p27"/>
          <p:cNvSpPr/>
          <p:nvPr/>
        </p:nvSpPr>
        <p:spPr>
          <a:xfrm>
            <a:off x="566928" y="4983480"/>
            <a:ext cx="5486400" cy="12801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250"/>
              <a:buFont typeface="Calibri"/>
              <a:buChar char="•"/>
            </a:pPr>
            <a:r>
              <a:rPr b="0" i="0" lang="en-US" sz="1250" u="none" cap="none" strike="noStrike">
                <a:solidFill>
                  <a:srgbClr val="241C2E"/>
                </a:solidFill>
                <a:latin typeface="Calibri"/>
                <a:ea typeface="Calibri"/>
                <a:cs typeface="Calibri"/>
                <a:sym typeface="Calibri"/>
              </a:rPr>
              <a:t>The hidden layer has changed the representation: in h-space the two classes are now linearly separable.</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50"/>
              <a:buFont typeface="Calibri"/>
              <a:buChar char="•"/>
            </a:pPr>
            <a:r>
              <a:rPr b="0" i="0" lang="en-US" sz="1250" u="none" cap="none" strike="noStrike">
                <a:solidFill>
                  <a:srgbClr val="241C2E"/>
                </a:solidFill>
                <a:latin typeface="Calibri"/>
                <a:ea typeface="Calibri"/>
                <a:cs typeface="Calibri"/>
                <a:sym typeface="Calibri"/>
              </a:rPr>
              <a:t>The two middle examples, [0,1] and [1,0], are mapped to the same point h = (1, 0).</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50"/>
              <a:buFont typeface="Calibri"/>
              <a:buChar char="•"/>
            </a:pPr>
            <a:r>
              <a:rPr b="0" i="0" lang="en-US" sz="1250" u="none" cap="none" strike="noStrike">
                <a:solidFill>
                  <a:srgbClr val="241C2E"/>
                </a:solidFill>
                <a:latin typeface="Calibri"/>
                <a:ea typeface="Calibri"/>
                <a:cs typeface="Calibri"/>
                <a:sym typeface="Calibri"/>
              </a:rPr>
              <a:t>A linear output layer can now finish the job — which is exactly the “learn φ” idea in action.</a:t>
            </a:r>
            <a:endParaRPr b="0" i="0" sz="1250" u="none" cap="none" strike="noStrike">
              <a:solidFill>
                <a:schemeClr val="dk1"/>
              </a:solidFill>
              <a:latin typeface="Calibri"/>
              <a:ea typeface="Calibri"/>
              <a:cs typeface="Calibri"/>
              <a:sym typeface="Calibri"/>
            </a:endParaRPr>
          </a:p>
        </p:txBody>
      </p:sp>
      <p:sp>
        <p:nvSpPr>
          <p:cNvPr id="1001" name="Google Shape;1001;p27"/>
          <p:cNvSpPr/>
          <p:nvPr/>
        </p:nvSpPr>
        <p:spPr>
          <a:xfrm>
            <a:off x="6400800" y="3931920"/>
            <a:ext cx="5230368"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7"/>
          <p:cNvSpPr/>
          <p:nvPr/>
        </p:nvSpPr>
        <p:spPr>
          <a:xfrm>
            <a:off x="6629400" y="404164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1" i="0" lang="en-US" sz="1250" u="none" cap="none" strike="noStrike">
                <a:solidFill>
                  <a:srgbClr val="2D1B4E"/>
                </a:solidFill>
                <a:latin typeface="Calibri"/>
                <a:ea typeface="Calibri"/>
                <a:cs typeface="Calibri"/>
                <a:sym typeface="Calibri"/>
              </a:rPr>
              <a:t>Learned h space</a:t>
            </a:r>
            <a:endParaRPr b="0" i="0" sz="1250" u="none" cap="none" strike="noStrike">
              <a:solidFill>
                <a:schemeClr val="dk1"/>
              </a:solidFill>
              <a:latin typeface="Calibri"/>
              <a:ea typeface="Calibri"/>
              <a:cs typeface="Calibri"/>
              <a:sym typeface="Calibri"/>
            </a:endParaRPr>
          </a:p>
        </p:txBody>
      </p:sp>
      <p:cxnSp>
        <p:nvCxnSpPr>
          <p:cNvPr id="1003" name="Google Shape;1003;p27"/>
          <p:cNvCxnSpPr/>
          <p:nvPr/>
        </p:nvCxnSpPr>
        <p:spPr>
          <a:xfrm>
            <a:off x="7360920" y="5806440"/>
            <a:ext cx="3246120" cy="0"/>
          </a:xfrm>
          <a:prstGeom prst="straightConnector1">
            <a:avLst/>
          </a:prstGeom>
          <a:noFill/>
          <a:ln cap="flat" cmpd="sng" w="15225">
            <a:solidFill>
              <a:srgbClr val="2D1B4E"/>
            </a:solidFill>
            <a:prstDash val="solid"/>
            <a:round/>
            <a:headEnd len="sm" w="sm" type="none"/>
            <a:tailEnd len="sm" w="sm" type="none"/>
          </a:ln>
        </p:spPr>
      </p:cxnSp>
      <p:cxnSp>
        <p:nvCxnSpPr>
          <p:cNvPr id="1004" name="Google Shape;1004;p27"/>
          <p:cNvCxnSpPr/>
          <p:nvPr/>
        </p:nvCxnSpPr>
        <p:spPr>
          <a:xfrm>
            <a:off x="7498080" y="4434840"/>
            <a:ext cx="0" cy="1481328"/>
          </a:xfrm>
          <a:prstGeom prst="straightConnector1">
            <a:avLst/>
          </a:prstGeom>
          <a:noFill/>
          <a:ln cap="flat" cmpd="sng" w="15225">
            <a:solidFill>
              <a:srgbClr val="2D1B4E"/>
            </a:solidFill>
            <a:prstDash val="solid"/>
            <a:round/>
            <a:headEnd len="sm" w="sm" type="none"/>
            <a:tailEnd len="sm" w="sm" type="none"/>
          </a:ln>
        </p:spPr>
      </p:cxnSp>
      <p:sp>
        <p:nvSpPr>
          <p:cNvPr id="1005" name="Google Shape;1005;p27"/>
          <p:cNvSpPr/>
          <p:nvPr/>
        </p:nvSpPr>
        <p:spPr>
          <a:xfrm>
            <a:off x="7406640" y="5715000"/>
            <a:ext cx="182880" cy="18288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7"/>
          <p:cNvSpPr/>
          <p:nvPr/>
        </p:nvSpPr>
        <p:spPr>
          <a:xfrm>
            <a:off x="7589520" y="542239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100"/>
              <a:buFont typeface="Calibri"/>
              <a:buNone/>
            </a:pPr>
            <a:r>
              <a:rPr b="1" i="0" lang="en-US" sz="1100" u="none" cap="none" strike="noStrike">
                <a:solidFill>
                  <a:srgbClr val="E8833A"/>
                </a:solidFill>
                <a:latin typeface="Calibri"/>
                <a:ea typeface="Calibri"/>
                <a:cs typeface="Calibri"/>
                <a:sym typeface="Calibri"/>
              </a:rPr>
              <a:t>0</a:t>
            </a:r>
            <a:endParaRPr b="0" i="0" sz="1100" u="none" cap="none" strike="noStrike">
              <a:solidFill>
                <a:schemeClr val="dk1"/>
              </a:solidFill>
              <a:latin typeface="Calibri"/>
              <a:ea typeface="Calibri"/>
              <a:cs typeface="Calibri"/>
              <a:sym typeface="Calibri"/>
            </a:endParaRPr>
          </a:p>
        </p:txBody>
      </p:sp>
      <p:sp>
        <p:nvSpPr>
          <p:cNvPr id="1007" name="Google Shape;1007;p27"/>
          <p:cNvSpPr/>
          <p:nvPr/>
        </p:nvSpPr>
        <p:spPr>
          <a:xfrm>
            <a:off x="8732520" y="5715000"/>
            <a:ext cx="182880" cy="182880"/>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7"/>
          <p:cNvSpPr/>
          <p:nvPr/>
        </p:nvSpPr>
        <p:spPr>
          <a:xfrm>
            <a:off x="8915400" y="542239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2A69"/>
              </a:buClr>
              <a:buSzPts val="1100"/>
              <a:buFont typeface="Calibri"/>
              <a:buNone/>
            </a:pPr>
            <a:r>
              <a:rPr b="1" i="0" lang="en-US" sz="1100" u="none" cap="none" strike="noStrike">
                <a:solidFill>
                  <a:srgbClr val="3F2A69"/>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1009" name="Google Shape;1009;p27"/>
          <p:cNvSpPr/>
          <p:nvPr/>
        </p:nvSpPr>
        <p:spPr>
          <a:xfrm>
            <a:off x="10058400" y="4663440"/>
            <a:ext cx="182880" cy="18288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7"/>
          <p:cNvSpPr/>
          <p:nvPr/>
        </p:nvSpPr>
        <p:spPr>
          <a:xfrm>
            <a:off x="10241280" y="4370832"/>
            <a:ext cx="457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100"/>
              <a:buFont typeface="Calibri"/>
              <a:buNone/>
            </a:pPr>
            <a:r>
              <a:rPr b="1" i="0" lang="en-US" sz="1100" u="none" cap="none" strike="noStrike">
                <a:solidFill>
                  <a:srgbClr val="E8833A"/>
                </a:solidFill>
                <a:latin typeface="Calibri"/>
                <a:ea typeface="Calibri"/>
                <a:cs typeface="Calibri"/>
                <a:sym typeface="Calibri"/>
              </a:rPr>
              <a:t>0</a:t>
            </a:r>
            <a:endParaRPr b="0" i="0" sz="1100" u="none" cap="none" strike="noStrike">
              <a:solidFill>
                <a:schemeClr val="dk1"/>
              </a:solidFill>
              <a:latin typeface="Calibri"/>
              <a:ea typeface="Calibri"/>
              <a:cs typeface="Calibri"/>
              <a:sym typeface="Calibri"/>
            </a:endParaRPr>
          </a:p>
        </p:txBody>
      </p:sp>
      <p:cxnSp>
        <p:nvCxnSpPr>
          <p:cNvPr id="1011" name="Google Shape;1011;p27"/>
          <p:cNvCxnSpPr/>
          <p:nvPr/>
        </p:nvCxnSpPr>
        <p:spPr>
          <a:xfrm flipH="1" rot="10800000">
            <a:off x="7388352" y="4507992"/>
            <a:ext cx="3081528" cy="1444752"/>
          </a:xfrm>
          <a:prstGeom prst="straightConnector1">
            <a:avLst/>
          </a:prstGeom>
          <a:noFill/>
          <a:ln cap="flat" cmpd="sng" w="22225">
            <a:solidFill>
              <a:srgbClr val="1F8A7D"/>
            </a:solidFill>
            <a:prstDash val="dash"/>
            <a:round/>
            <a:headEnd len="sm" w="sm" type="none"/>
            <a:tailEnd len="sm" w="sm" type="none"/>
          </a:ln>
        </p:spPr>
      </p:cxnSp>
      <p:sp>
        <p:nvSpPr>
          <p:cNvPr id="1012" name="Google Shape;1012;p27"/>
          <p:cNvSpPr/>
          <p:nvPr/>
        </p:nvSpPr>
        <p:spPr>
          <a:xfrm>
            <a:off x="10424160" y="5833872"/>
            <a:ext cx="320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050"/>
              <a:buFont typeface="Calibri"/>
              <a:buNone/>
            </a:pPr>
            <a:r>
              <a:rPr b="0" i="0" lang="en-US" sz="1050" u="none" cap="none" strike="noStrike">
                <a:solidFill>
                  <a:srgbClr val="2D1B4E"/>
                </a:solidFill>
                <a:latin typeface="Calibri"/>
                <a:ea typeface="Calibri"/>
                <a:cs typeface="Calibri"/>
                <a:sym typeface="Calibri"/>
              </a:rPr>
              <a:t>h₁</a:t>
            </a:r>
            <a:endParaRPr b="0" i="0" sz="1050" u="none" cap="none" strike="noStrike">
              <a:solidFill>
                <a:schemeClr val="dk1"/>
              </a:solidFill>
              <a:latin typeface="Calibri"/>
              <a:ea typeface="Calibri"/>
              <a:cs typeface="Calibri"/>
              <a:sym typeface="Calibri"/>
            </a:endParaRPr>
          </a:p>
        </p:txBody>
      </p:sp>
      <p:sp>
        <p:nvSpPr>
          <p:cNvPr id="1013" name="Google Shape;1013;p27"/>
          <p:cNvSpPr/>
          <p:nvPr/>
        </p:nvSpPr>
        <p:spPr>
          <a:xfrm>
            <a:off x="7114032" y="4233672"/>
            <a:ext cx="32004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050"/>
              <a:buFont typeface="Calibri"/>
              <a:buNone/>
            </a:pPr>
            <a:r>
              <a:rPr b="0" i="0" lang="en-US" sz="1050" u="none" cap="none" strike="noStrike">
                <a:solidFill>
                  <a:srgbClr val="2D1B4E"/>
                </a:solidFill>
                <a:latin typeface="Calibri"/>
                <a:ea typeface="Calibri"/>
                <a:cs typeface="Calibri"/>
                <a:sym typeface="Calibri"/>
              </a:rPr>
              <a:t>h₂</a:t>
            </a:r>
            <a:endParaRPr b="0" i="0" sz="1050" u="none" cap="none" strike="noStrike">
              <a:solidFill>
                <a:schemeClr val="dk1"/>
              </a:solidFill>
              <a:latin typeface="Calibri"/>
              <a:ea typeface="Calibri"/>
              <a:cs typeface="Calibri"/>
              <a:sym typeface="Calibri"/>
            </a:endParaRPr>
          </a:p>
        </p:txBody>
      </p:sp>
      <p:sp>
        <p:nvSpPr>
          <p:cNvPr id="1014" name="Google Shape;1014;p27"/>
          <p:cNvSpPr/>
          <p:nvPr/>
        </p:nvSpPr>
        <p:spPr>
          <a:xfrm>
            <a:off x="9921240" y="4224528"/>
            <a:ext cx="164592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F8A7D"/>
              </a:buClr>
              <a:buSzPts val="1050"/>
              <a:buFont typeface="Calibri"/>
              <a:buNone/>
            </a:pPr>
            <a:r>
              <a:rPr b="0" i="1" lang="en-US" sz="1050" u="none" cap="none" strike="noStrike">
                <a:solidFill>
                  <a:srgbClr val="1F8A7D"/>
                </a:solidFill>
                <a:latin typeface="Calibri"/>
                <a:ea typeface="Calibri"/>
                <a:cs typeface="Calibri"/>
                <a:sym typeface="Calibri"/>
              </a:rPr>
              <a:t>now linearly separable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9" name="Shape 1019"/>
        <p:cNvGrpSpPr/>
        <p:nvPr/>
      </p:nvGrpSpPr>
      <p:grpSpPr>
        <a:xfrm>
          <a:off x="0" y="0"/>
          <a:ext cx="0" cy="0"/>
          <a:chOff x="0" y="0"/>
          <a:chExt cx="0" cy="0"/>
        </a:xfrm>
      </p:grpSpPr>
      <p:sp>
        <p:nvSpPr>
          <p:cNvPr id="1020" name="Google Shape;1020;p2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GRADIENT-BASED LEARNING</a:t>
            </a:r>
            <a:endParaRPr b="0" i="0" sz="1050" u="none" cap="none" strike="noStrike">
              <a:solidFill>
                <a:schemeClr val="dk1"/>
              </a:solidFill>
              <a:latin typeface="Calibri"/>
              <a:ea typeface="Calibri"/>
              <a:cs typeface="Calibri"/>
              <a:sym typeface="Calibri"/>
            </a:endParaRPr>
          </a:p>
        </p:txBody>
      </p:sp>
      <p:sp>
        <p:nvSpPr>
          <p:cNvPr id="1021" name="Google Shape;1021;p2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The forward pass</a:t>
            </a:r>
            <a:endParaRPr b="0" i="0" sz="2800" u="none" cap="none" strike="noStrike">
              <a:solidFill>
                <a:schemeClr val="dk1"/>
              </a:solidFill>
              <a:latin typeface="Calibri"/>
              <a:ea typeface="Calibri"/>
              <a:cs typeface="Calibri"/>
              <a:sym typeface="Calibri"/>
            </a:endParaRPr>
          </a:p>
        </p:txBody>
      </p:sp>
      <p:sp>
        <p:nvSpPr>
          <p:cNvPr id="1022" name="Google Shape;1022;p28"/>
          <p:cNvSpPr/>
          <p:nvPr/>
        </p:nvSpPr>
        <p:spPr>
          <a:xfrm>
            <a:off x="566928" y="1280160"/>
            <a:ext cx="5394960" cy="685800"/>
          </a:xfrm>
          <a:prstGeom prst="roundRect">
            <a:avLst>
              <a:gd fmla="val 12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8"/>
          <p:cNvSpPr/>
          <p:nvPr/>
        </p:nvSpPr>
        <p:spPr>
          <a:xfrm>
            <a:off x="841248" y="1280160"/>
            <a:ext cx="48463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Two algorithms:   forward pass → used for inference        backward pass → used for learning</a:t>
            </a:r>
            <a:endParaRPr b="0" i="0" sz="1300" u="none" cap="none" strike="noStrike">
              <a:solidFill>
                <a:schemeClr val="dk1"/>
              </a:solidFill>
              <a:latin typeface="Calibri"/>
              <a:ea typeface="Calibri"/>
              <a:cs typeface="Calibri"/>
              <a:sym typeface="Calibri"/>
            </a:endParaRPr>
          </a:p>
        </p:txBody>
      </p:sp>
      <p:sp>
        <p:nvSpPr>
          <p:cNvPr id="1024" name="Google Shape;1024;p28"/>
          <p:cNvSpPr/>
          <p:nvPr/>
        </p:nvSpPr>
        <p:spPr>
          <a:xfrm>
            <a:off x="566928" y="2194560"/>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350"/>
              <a:buFont typeface="Calibri"/>
              <a:buNone/>
            </a:pPr>
            <a:r>
              <a:rPr b="0" i="0" lang="en-US" sz="1350" u="none" cap="none" strike="noStrike">
                <a:solidFill>
                  <a:srgbClr val="6E6880"/>
                </a:solidFill>
                <a:latin typeface="Calibri"/>
                <a:ea typeface="Calibri"/>
                <a:cs typeface="Calibri"/>
                <a:sym typeface="Calibri"/>
              </a:rPr>
              <a:t>For a network with D inputs, J hidden nodes and K outputs:</a:t>
            </a:r>
            <a:endParaRPr b="0" i="0" sz="1350" u="none" cap="none" strike="noStrike">
              <a:solidFill>
                <a:schemeClr val="dk1"/>
              </a:solidFill>
              <a:latin typeface="Calibri"/>
              <a:ea typeface="Calibri"/>
              <a:cs typeface="Calibri"/>
              <a:sym typeface="Calibri"/>
            </a:endParaRPr>
          </a:p>
        </p:txBody>
      </p:sp>
      <p:sp>
        <p:nvSpPr>
          <p:cNvPr id="1025" name="Google Shape;1025;p28"/>
          <p:cNvSpPr/>
          <p:nvPr/>
        </p:nvSpPr>
        <p:spPr>
          <a:xfrm>
            <a:off x="566928" y="2606040"/>
            <a:ext cx="5394960" cy="1051560"/>
          </a:xfrm>
          <a:prstGeom prst="roundRect">
            <a:avLst>
              <a:gd fmla="val 7826"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8"/>
          <p:cNvSpPr/>
          <p:nvPr/>
        </p:nvSpPr>
        <p:spPr>
          <a:xfrm>
            <a:off x="704088" y="2606040"/>
            <a:ext cx="512064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800"/>
              <a:buFont typeface="Calibri"/>
              <a:buNone/>
            </a:pPr>
            <a:r>
              <a:rPr b="1" i="0" lang="en-US" sz="1800" u="none" cap="none" strike="noStrike">
                <a:solidFill>
                  <a:srgbClr val="2D1B4E"/>
                </a:solidFill>
                <a:latin typeface="Calibri"/>
                <a:ea typeface="Calibri"/>
                <a:cs typeface="Calibri"/>
                <a:sym typeface="Calibri"/>
              </a:rPr>
              <a:t>hⱼ = f ( vⱼ₀ + Σᵢ₌₁ᴰ xᵢ vⱼᵢ )</a:t>
            </a:r>
            <a:endParaRPr b="0" i="0" sz="1800" u="none" cap="none" strike="noStrike">
              <a:solidFill>
                <a:schemeClr val="dk1"/>
              </a:solidFill>
              <a:latin typeface="Calibri"/>
              <a:ea typeface="Calibri"/>
              <a:cs typeface="Calibri"/>
              <a:sym typeface="Calibri"/>
            </a:endParaRPr>
          </a:p>
        </p:txBody>
      </p:sp>
      <p:sp>
        <p:nvSpPr>
          <p:cNvPr id="1027" name="Google Shape;1027;p28"/>
          <p:cNvSpPr/>
          <p:nvPr/>
        </p:nvSpPr>
        <p:spPr>
          <a:xfrm>
            <a:off x="658368" y="3703320"/>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50"/>
              <a:buFont typeface="Calibri"/>
              <a:buNone/>
            </a:pPr>
            <a:r>
              <a:rPr b="0" i="1" lang="en-US" sz="1150" u="none" cap="none" strike="noStrike">
                <a:solidFill>
                  <a:srgbClr val="6E6880"/>
                </a:solidFill>
                <a:latin typeface="Calibri"/>
                <a:ea typeface="Calibri"/>
                <a:cs typeface="Calibri"/>
                <a:sym typeface="Calibri"/>
              </a:rPr>
              <a:t>xᵢ : input i        f : activation function of the hidden nodes</a:t>
            </a:r>
            <a:endParaRPr b="0" i="0" sz="1150" u="none" cap="none" strike="noStrike">
              <a:solidFill>
                <a:schemeClr val="dk1"/>
              </a:solidFill>
              <a:latin typeface="Calibri"/>
              <a:ea typeface="Calibri"/>
              <a:cs typeface="Calibri"/>
              <a:sym typeface="Calibri"/>
            </a:endParaRPr>
          </a:p>
        </p:txBody>
      </p:sp>
      <p:sp>
        <p:nvSpPr>
          <p:cNvPr id="1028" name="Google Shape;1028;p28"/>
          <p:cNvSpPr/>
          <p:nvPr/>
        </p:nvSpPr>
        <p:spPr>
          <a:xfrm>
            <a:off x="566928" y="4114800"/>
            <a:ext cx="5394960" cy="1051560"/>
          </a:xfrm>
          <a:prstGeom prst="roundRect">
            <a:avLst>
              <a:gd fmla="val 7826"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8"/>
          <p:cNvSpPr/>
          <p:nvPr/>
        </p:nvSpPr>
        <p:spPr>
          <a:xfrm>
            <a:off x="704088" y="4114800"/>
            <a:ext cx="512064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800"/>
              <a:buFont typeface="Calibri"/>
              <a:buNone/>
            </a:pPr>
            <a:r>
              <a:rPr b="1" i="0" lang="en-US" sz="1800" u="none" cap="none" strike="noStrike">
                <a:solidFill>
                  <a:srgbClr val="2D1B4E"/>
                </a:solidFill>
                <a:latin typeface="Calibri"/>
                <a:ea typeface="Calibri"/>
                <a:cs typeface="Calibri"/>
                <a:sym typeface="Calibri"/>
              </a:rPr>
              <a:t>yₖ = g ( wₖ₀ + Σⱼ₌₁ᴶ hⱼ wₖⱼ )</a:t>
            </a:r>
            <a:endParaRPr b="0" i="0" sz="1800" u="none" cap="none" strike="noStrike">
              <a:solidFill>
                <a:schemeClr val="dk1"/>
              </a:solidFill>
              <a:latin typeface="Calibri"/>
              <a:ea typeface="Calibri"/>
              <a:cs typeface="Calibri"/>
              <a:sym typeface="Calibri"/>
            </a:endParaRPr>
          </a:p>
        </p:txBody>
      </p:sp>
      <p:sp>
        <p:nvSpPr>
          <p:cNvPr id="1030" name="Google Shape;1030;p28"/>
          <p:cNvSpPr/>
          <p:nvPr/>
        </p:nvSpPr>
        <p:spPr>
          <a:xfrm>
            <a:off x="658368" y="5212080"/>
            <a:ext cx="5303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50"/>
              <a:buFont typeface="Calibri"/>
              <a:buNone/>
            </a:pPr>
            <a:r>
              <a:rPr b="0" i="1" lang="en-US" sz="1150" u="none" cap="none" strike="noStrike">
                <a:solidFill>
                  <a:srgbClr val="6E6880"/>
                </a:solidFill>
                <a:latin typeface="Calibri"/>
                <a:ea typeface="Calibri"/>
                <a:cs typeface="Calibri"/>
                <a:sym typeface="Calibri"/>
              </a:rPr>
              <a:t>g : activation function of the output nodes</a:t>
            </a:r>
            <a:endParaRPr b="0" i="0" sz="1150" u="none" cap="none" strike="noStrike">
              <a:solidFill>
                <a:schemeClr val="dk1"/>
              </a:solidFill>
              <a:latin typeface="Calibri"/>
              <a:ea typeface="Calibri"/>
              <a:cs typeface="Calibri"/>
              <a:sym typeface="Calibri"/>
            </a:endParaRPr>
          </a:p>
        </p:txBody>
      </p:sp>
      <p:sp>
        <p:nvSpPr>
          <p:cNvPr id="1031" name="Google Shape;1031;p28"/>
          <p:cNvSpPr/>
          <p:nvPr/>
        </p:nvSpPr>
        <p:spPr>
          <a:xfrm>
            <a:off x="6309360" y="1280160"/>
            <a:ext cx="5321808" cy="4206240"/>
          </a:xfrm>
          <a:prstGeom prst="roundRect">
            <a:avLst>
              <a:gd fmla="val 195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2" name="Google Shape;1032;p28"/>
          <p:cNvCxnSpPr/>
          <p:nvPr/>
        </p:nvCxnSpPr>
        <p:spPr>
          <a:xfrm flipH="1" rot="10800000">
            <a:off x="7223760" y="2194560"/>
            <a:ext cx="1760220" cy="121920"/>
          </a:xfrm>
          <a:prstGeom prst="straightConnector1">
            <a:avLst/>
          </a:prstGeom>
          <a:noFill/>
          <a:ln cap="flat" cmpd="sng" w="11425">
            <a:solidFill>
              <a:srgbClr val="D8D1E6"/>
            </a:solidFill>
            <a:prstDash val="solid"/>
            <a:round/>
            <a:headEnd len="sm" w="sm" type="none"/>
            <a:tailEnd len="sm" w="sm" type="none"/>
          </a:ln>
        </p:spPr>
      </p:cxnSp>
      <p:cxnSp>
        <p:nvCxnSpPr>
          <p:cNvPr id="1033" name="Google Shape;1033;p28"/>
          <p:cNvCxnSpPr/>
          <p:nvPr/>
        </p:nvCxnSpPr>
        <p:spPr>
          <a:xfrm>
            <a:off x="7223760" y="2316480"/>
            <a:ext cx="1760220" cy="609600"/>
          </a:xfrm>
          <a:prstGeom prst="straightConnector1">
            <a:avLst/>
          </a:prstGeom>
          <a:noFill/>
          <a:ln cap="flat" cmpd="sng" w="11425">
            <a:solidFill>
              <a:srgbClr val="D8D1E6"/>
            </a:solidFill>
            <a:prstDash val="solid"/>
            <a:round/>
            <a:headEnd len="sm" w="sm" type="none"/>
            <a:tailEnd len="sm" w="sm" type="none"/>
          </a:ln>
        </p:spPr>
      </p:cxnSp>
      <p:cxnSp>
        <p:nvCxnSpPr>
          <p:cNvPr id="1034" name="Google Shape;1034;p28"/>
          <p:cNvCxnSpPr/>
          <p:nvPr/>
        </p:nvCxnSpPr>
        <p:spPr>
          <a:xfrm>
            <a:off x="7223760" y="2316480"/>
            <a:ext cx="1760220" cy="1341120"/>
          </a:xfrm>
          <a:prstGeom prst="straightConnector1">
            <a:avLst/>
          </a:prstGeom>
          <a:noFill/>
          <a:ln cap="flat" cmpd="sng" w="11425">
            <a:solidFill>
              <a:srgbClr val="D8D1E6"/>
            </a:solidFill>
            <a:prstDash val="solid"/>
            <a:round/>
            <a:headEnd len="sm" w="sm" type="none"/>
            <a:tailEnd len="sm" w="sm" type="none"/>
          </a:ln>
        </p:spPr>
      </p:cxnSp>
      <p:cxnSp>
        <p:nvCxnSpPr>
          <p:cNvPr id="1035" name="Google Shape;1035;p28"/>
          <p:cNvCxnSpPr/>
          <p:nvPr/>
        </p:nvCxnSpPr>
        <p:spPr>
          <a:xfrm>
            <a:off x="7223760" y="2316480"/>
            <a:ext cx="1760220" cy="2072640"/>
          </a:xfrm>
          <a:prstGeom prst="straightConnector1">
            <a:avLst/>
          </a:prstGeom>
          <a:noFill/>
          <a:ln cap="flat" cmpd="sng" w="11425">
            <a:solidFill>
              <a:srgbClr val="D8D1E6"/>
            </a:solidFill>
            <a:prstDash val="solid"/>
            <a:round/>
            <a:headEnd len="sm" w="sm" type="none"/>
            <a:tailEnd len="sm" w="sm" type="none"/>
          </a:ln>
        </p:spPr>
      </p:cxnSp>
      <p:cxnSp>
        <p:nvCxnSpPr>
          <p:cNvPr id="1036" name="Google Shape;1036;p28"/>
          <p:cNvCxnSpPr/>
          <p:nvPr/>
        </p:nvCxnSpPr>
        <p:spPr>
          <a:xfrm flipH="1" rot="10800000">
            <a:off x="7223760" y="2194560"/>
            <a:ext cx="1760220" cy="1097280"/>
          </a:xfrm>
          <a:prstGeom prst="straightConnector1">
            <a:avLst/>
          </a:prstGeom>
          <a:noFill/>
          <a:ln cap="flat" cmpd="sng" w="11425">
            <a:solidFill>
              <a:srgbClr val="D8D1E6"/>
            </a:solidFill>
            <a:prstDash val="solid"/>
            <a:round/>
            <a:headEnd len="sm" w="sm" type="none"/>
            <a:tailEnd len="sm" w="sm" type="none"/>
          </a:ln>
        </p:spPr>
      </p:cxnSp>
      <p:cxnSp>
        <p:nvCxnSpPr>
          <p:cNvPr id="1037" name="Google Shape;1037;p28"/>
          <p:cNvCxnSpPr/>
          <p:nvPr/>
        </p:nvCxnSpPr>
        <p:spPr>
          <a:xfrm flipH="1" rot="10800000">
            <a:off x="7223760" y="2926080"/>
            <a:ext cx="1760220" cy="365760"/>
          </a:xfrm>
          <a:prstGeom prst="straightConnector1">
            <a:avLst/>
          </a:prstGeom>
          <a:noFill/>
          <a:ln cap="flat" cmpd="sng" w="11425">
            <a:solidFill>
              <a:srgbClr val="D8D1E6"/>
            </a:solidFill>
            <a:prstDash val="solid"/>
            <a:round/>
            <a:headEnd len="sm" w="sm" type="none"/>
            <a:tailEnd len="sm" w="sm" type="none"/>
          </a:ln>
        </p:spPr>
      </p:cxnSp>
      <p:cxnSp>
        <p:nvCxnSpPr>
          <p:cNvPr id="1038" name="Google Shape;1038;p28"/>
          <p:cNvCxnSpPr/>
          <p:nvPr/>
        </p:nvCxnSpPr>
        <p:spPr>
          <a:xfrm>
            <a:off x="7223760" y="3291840"/>
            <a:ext cx="1760220" cy="365760"/>
          </a:xfrm>
          <a:prstGeom prst="straightConnector1">
            <a:avLst/>
          </a:prstGeom>
          <a:noFill/>
          <a:ln cap="flat" cmpd="sng" w="11425">
            <a:solidFill>
              <a:srgbClr val="D8D1E6"/>
            </a:solidFill>
            <a:prstDash val="solid"/>
            <a:round/>
            <a:headEnd len="sm" w="sm" type="none"/>
            <a:tailEnd len="sm" w="sm" type="none"/>
          </a:ln>
        </p:spPr>
      </p:cxnSp>
      <p:cxnSp>
        <p:nvCxnSpPr>
          <p:cNvPr id="1039" name="Google Shape;1039;p28"/>
          <p:cNvCxnSpPr/>
          <p:nvPr/>
        </p:nvCxnSpPr>
        <p:spPr>
          <a:xfrm>
            <a:off x="7223760" y="3291840"/>
            <a:ext cx="1760220" cy="1097280"/>
          </a:xfrm>
          <a:prstGeom prst="straightConnector1">
            <a:avLst/>
          </a:prstGeom>
          <a:noFill/>
          <a:ln cap="flat" cmpd="sng" w="11425">
            <a:solidFill>
              <a:srgbClr val="D8D1E6"/>
            </a:solidFill>
            <a:prstDash val="solid"/>
            <a:round/>
            <a:headEnd len="sm" w="sm" type="none"/>
            <a:tailEnd len="sm" w="sm" type="none"/>
          </a:ln>
        </p:spPr>
      </p:cxnSp>
      <p:cxnSp>
        <p:nvCxnSpPr>
          <p:cNvPr id="1040" name="Google Shape;1040;p28"/>
          <p:cNvCxnSpPr/>
          <p:nvPr/>
        </p:nvCxnSpPr>
        <p:spPr>
          <a:xfrm flipH="1" rot="10800000">
            <a:off x="7223760" y="2194560"/>
            <a:ext cx="1760220" cy="2072640"/>
          </a:xfrm>
          <a:prstGeom prst="straightConnector1">
            <a:avLst/>
          </a:prstGeom>
          <a:noFill/>
          <a:ln cap="flat" cmpd="sng" w="11425">
            <a:solidFill>
              <a:srgbClr val="D8D1E6"/>
            </a:solidFill>
            <a:prstDash val="solid"/>
            <a:round/>
            <a:headEnd len="sm" w="sm" type="none"/>
            <a:tailEnd len="sm" w="sm" type="none"/>
          </a:ln>
        </p:spPr>
      </p:cxnSp>
      <p:cxnSp>
        <p:nvCxnSpPr>
          <p:cNvPr id="1041" name="Google Shape;1041;p28"/>
          <p:cNvCxnSpPr/>
          <p:nvPr/>
        </p:nvCxnSpPr>
        <p:spPr>
          <a:xfrm flipH="1" rot="10800000">
            <a:off x="7223760" y="2926080"/>
            <a:ext cx="1760220" cy="1341120"/>
          </a:xfrm>
          <a:prstGeom prst="straightConnector1">
            <a:avLst/>
          </a:prstGeom>
          <a:noFill/>
          <a:ln cap="flat" cmpd="sng" w="11425">
            <a:solidFill>
              <a:srgbClr val="D8D1E6"/>
            </a:solidFill>
            <a:prstDash val="solid"/>
            <a:round/>
            <a:headEnd len="sm" w="sm" type="none"/>
            <a:tailEnd len="sm" w="sm" type="none"/>
          </a:ln>
        </p:spPr>
      </p:cxnSp>
      <p:cxnSp>
        <p:nvCxnSpPr>
          <p:cNvPr id="1042" name="Google Shape;1042;p28"/>
          <p:cNvCxnSpPr/>
          <p:nvPr/>
        </p:nvCxnSpPr>
        <p:spPr>
          <a:xfrm flipH="1" rot="10800000">
            <a:off x="7223760" y="3657600"/>
            <a:ext cx="1760220" cy="609600"/>
          </a:xfrm>
          <a:prstGeom prst="straightConnector1">
            <a:avLst/>
          </a:prstGeom>
          <a:noFill/>
          <a:ln cap="flat" cmpd="sng" w="11425">
            <a:solidFill>
              <a:srgbClr val="D8D1E6"/>
            </a:solidFill>
            <a:prstDash val="solid"/>
            <a:round/>
            <a:headEnd len="sm" w="sm" type="none"/>
            <a:tailEnd len="sm" w="sm" type="none"/>
          </a:ln>
        </p:spPr>
      </p:cxnSp>
      <p:cxnSp>
        <p:nvCxnSpPr>
          <p:cNvPr id="1043" name="Google Shape;1043;p28"/>
          <p:cNvCxnSpPr/>
          <p:nvPr/>
        </p:nvCxnSpPr>
        <p:spPr>
          <a:xfrm>
            <a:off x="7223760" y="4267200"/>
            <a:ext cx="1760220" cy="121920"/>
          </a:xfrm>
          <a:prstGeom prst="straightConnector1">
            <a:avLst/>
          </a:prstGeom>
          <a:noFill/>
          <a:ln cap="flat" cmpd="sng" w="11425">
            <a:solidFill>
              <a:srgbClr val="D8D1E6"/>
            </a:solidFill>
            <a:prstDash val="solid"/>
            <a:round/>
            <a:headEnd len="sm" w="sm" type="none"/>
            <a:tailEnd len="sm" w="sm" type="none"/>
          </a:ln>
        </p:spPr>
      </p:cxnSp>
      <p:cxnSp>
        <p:nvCxnSpPr>
          <p:cNvPr id="1044" name="Google Shape;1044;p28"/>
          <p:cNvCxnSpPr/>
          <p:nvPr/>
        </p:nvCxnSpPr>
        <p:spPr>
          <a:xfrm>
            <a:off x="8983980" y="2194560"/>
            <a:ext cx="1760220" cy="365760"/>
          </a:xfrm>
          <a:prstGeom prst="straightConnector1">
            <a:avLst/>
          </a:prstGeom>
          <a:noFill/>
          <a:ln cap="flat" cmpd="sng" w="11425">
            <a:solidFill>
              <a:srgbClr val="D8D1E6"/>
            </a:solidFill>
            <a:prstDash val="solid"/>
            <a:round/>
            <a:headEnd len="sm" w="sm" type="none"/>
            <a:tailEnd len="sm" w="sm" type="none"/>
          </a:ln>
        </p:spPr>
      </p:cxnSp>
      <p:cxnSp>
        <p:nvCxnSpPr>
          <p:cNvPr id="1045" name="Google Shape;1045;p28"/>
          <p:cNvCxnSpPr/>
          <p:nvPr/>
        </p:nvCxnSpPr>
        <p:spPr>
          <a:xfrm>
            <a:off x="8983980" y="2194560"/>
            <a:ext cx="1760220" cy="1828800"/>
          </a:xfrm>
          <a:prstGeom prst="straightConnector1">
            <a:avLst/>
          </a:prstGeom>
          <a:noFill/>
          <a:ln cap="flat" cmpd="sng" w="11425">
            <a:solidFill>
              <a:srgbClr val="D8D1E6"/>
            </a:solidFill>
            <a:prstDash val="solid"/>
            <a:round/>
            <a:headEnd len="sm" w="sm" type="none"/>
            <a:tailEnd len="sm" w="sm" type="none"/>
          </a:ln>
        </p:spPr>
      </p:cxnSp>
      <p:cxnSp>
        <p:nvCxnSpPr>
          <p:cNvPr id="1046" name="Google Shape;1046;p28"/>
          <p:cNvCxnSpPr/>
          <p:nvPr/>
        </p:nvCxnSpPr>
        <p:spPr>
          <a:xfrm flipH="1" rot="10800000">
            <a:off x="8983980" y="2560320"/>
            <a:ext cx="1760220" cy="365760"/>
          </a:xfrm>
          <a:prstGeom prst="straightConnector1">
            <a:avLst/>
          </a:prstGeom>
          <a:noFill/>
          <a:ln cap="flat" cmpd="sng" w="11425">
            <a:solidFill>
              <a:srgbClr val="D8D1E6"/>
            </a:solidFill>
            <a:prstDash val="solid"/>
            <a:round/>
            <a:headEnd len="sm" w="sm" type="none"/>
            <a:tailEnd len="sm" w="sm" type="none"/>
          </a:ln>
        </p:spPr>
      </p:cxnSp>
      <p:cxnSp>
        <p:nvCxnSpPr>
          <p:cNvPr id="1047" name="Google Shape;1047;p28"/>
          <p:cNvCxnSpPr/>
          <p:nvPr/>
        </p:nvCxnSpPr>
        <p:spPr>
          <a:xfrm>
            <a:off x="8983980" y="2926080"/>
            <a:ext cx="1760220" cy="1097280"/>
          </a:xfrm>
          <a:prstGeom prst="straightConnector1">
            <a:avLst/>
          </a:prstGeom>
          <a:noFill/>
          <a:ln cap="flat" cmpd="sng" w="11425">
            <a:solidFill>
              <a:srgbClr val="D8D1E6"/>
            </a:solidFill>
            <a:prstDash val="solid"/>
            <a:round/>
            <a:headEnd len="sm" w="sm" type="none"/>
            <a:tailEnd len="sm" w="sm" type="none"/>
          </a:ln>
        </p:spPr>
      </p:cxnSp>
      <p:cxnSp>
        <p:nvCxnSpPr>
          <p:cNvPr id="1048" name="Google Shape;1048;p28"/>
          <p:cNvCxnSpPr/>
          <p:nvPr/>
        </p:nvCxnSpPr>
        <p:spPr>
          <a:xfrm flipH="1" rot="10800000">
            <a:off x="8983980" y="2560320"/>
            <a:ext cx="1760220" cy="1097280"/>
          </a:xfrm>
          <a:prstGeom prst="straightConnector1">
            <a:avLst/>
          </a:prstGeom>
          <a:noFill/>
          <a:ln cap="flat" cmpd="sng" w="11425">
            <a:solidFill>
              <a:srgbClr val="D8D1E6"/>
            </a:solidFill>
            <a:prstDash val="solid"/>
            <a:round/>
            <a:headEnd len="sm" w="sm" type="none"/>
            <a:tailEnd len="sm" w="sm" type="none"/>
          </a:ln>
        </p:spPr>
      </p:cxnSp>
      <p:cxnSp>
        <p:nvCxnSpPr>
          <p:cNvPr id="1049" name="Google Shape;1049;p28"/>
          <p:cNvCxnSpPr/>
          <p:nvPr/>
        </p:nvCxnSpPr>
        <p:spPr>
          <a:xfrm>
            <a:off x="8983980" y="3657600"/>
            <a:ext cx="1760220" cy="365760"/>
          </a:xfrm>
          <a:prstGeom prst="straightConnector1">
            <a:avLst/>
          </a:prstGeom>
          <a:noFill/>
          <a:ln cap="flat" cmpd="sng" w="11425">
            <a:solidFill>
              <a:srgbClr val="D8D1E6"/>
            </a:solidFill>
            <a:prstDash val="solid"/>
            <a:round/>
            <a:headEnd len="sm" w="sm" type="none"/>
            <a:tailEnd len="sm" w="sm" type="none"/>
          </a:ln>
        </p:spPr>
      </p:cxnSp>
      <p:cxnSp>
        <p:nvCxnSpPr>
          <p:cNvPr id="1050" name="Google Shape;1050;p28"/>
          <p:cNvCxnSpPr/>
          <p:nvPr/>
        </p:nvCxnSpPr>
        <p:spPr>
          <a:xfrm flipH="1" rot="10800000">
            <a:off x="8983980" y="2560320"/>
            <a:ext cx="1760220" cy="1828800"/>
          </a:xfrm>
          <a:prstGeom prst="straightConnector1">
            <a:avLst/>
          </a:prstGeom>
          <a:noFill/>
          <a:ln cap="flat" cmpd="sng" w="11425">
            <a:solidFill>
              <a:srgbClr val="D8D1E6"/>
            </a:solidFill>
            <a:prstDash val="solid"/>
            <a:round/>
            <a:headEnd len="sm" w="sm" type="none"/>
            <a:tailEnd len="sm" w="sm" type="none"/>
          </a:ln>
        </p:spPr>
      </p:cxnSp>
      <p:cxnSp>
        <p:nvCxnSpPr>
          <p:cNvPr id="1051" name="Google Shape;1051;p28"/>
          <p:cNvCxnSpPr/>
          <p:nvPr/>
        </p:nvCxnSpPr>
        <p:spPr>
          <a:xfrm flipH="1" rot="10800000">
            <a:off x="8983980" y="4023360"/>
            <a:ext cx="1760220" cy="365760"/>
          </a:xfrm>
          <a:prstGeom prst="straightConnector1">
            <a:avLst/>
          </a:prstGeom>
          <a:noFill/>
          <a:ln cap="flat" cmpd="sng" w="11425">
            <a:solidFill>
              <a:srgbClr val="D8D1E6"/>
            </a:solidFill>
            <a:prstDash val="solid"/>
            <a:round/>
            <a:headEnd len="sm" w="sm" type="none"/>
            <a:tailEnd len="sm" w="sm" type="none"/>
          </a:ln>
        </p:spPr>
      </p:cxnSp>
      <p:sp>
        <p:nvSpPr>
          <p:cNvPr id="1052" name="Google Shape;1052;p28"/>
          <p:cNvSpPr/>
          <p:nvPr/>
        </p:nvSpPr>
        <p:spPr>
          <a:xfrm>
            <a:off x="7022592" y="2115312"/>
            <a:ext cx="402336" cy="402336"/>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8"/>
          <p:cNvSpPr/>
          <p:nvPr/>
        </p:nvSpPr>
        <p:spPr>
          <a:xfrm>
            <a:off x="7022592" y="3090672"/>
            <a:ext cx="402336" cy="402336"/>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8"/>
          <p:cNvSpPr/>
          <p:nvPr/>
        </p:nvSpPr>
        <p:spPr>
          <a:xfrm>
            <a:off x="7022592" y="4066032"/>
            <a:ext cx="402336" cy="402336"/>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8"/>
          <p:cNvSpPr/>
          <p:nvPr/>
        </p:nvSpPr>
        <p:spPr>
          <a:xfrm>
            <a:off x="8782812" y="1993392"/>
            <a:ext cx="402336" cy="402336"/>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8"/>
          <p:cNvSpPr/>
          <p:nvPr/>
        </p:nvSpPr>
        <p:spPr>
          <a:xfrm>
            <a:off x="8782812" y="2724912"/>
            <a:ext cx="402336" cy="402336"/>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8"/>
          <p:cNvSpPr/>
          <p:nvPr/>
        </p:nvSpPr>
        <p:spPr>
          <a:xfrm>
            <a:off x="8782812" y="3456432"/>
            <a:ext cx="402336" cy="402336"/>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8"/>
          <p:cNvSpPr/>
          <p:nvPr/>
        </p:nvSpPr>
        <p:spPr>
          <a:xfrm>
            <a:off x="8782812" y="4187952"/>
            <a:ext cx="402336" cy="402336"/>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8"/>
          <p:cNvSpPr/>
          <p:nvPr/>
        </p:nvSpPr>
        <p:spPr>
          <a:xfrm>
            <a:off x="10543032" y="2359152"/>
            <a:ext cx="402336" cy="402336"/>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8"/>
          <p:cNvSpPr/>
          <p:nvPr/>
        </p:nvSpPr>
        <p:spPr>
          <a:xfrm>
            <a:off x="10543032" y="3822192"/>
            <a:ext cx="402336" cy="402336"/>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8"/>
          <p:cNvSpPr/>
          <p:nvPr/>
        </p:nvSpPr>
        <p:spPr>
          <a:xfrm>
            <a:off x="6720840" y="4892040"/>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input layer</a:t>
            </a:r>
            <a:endParaRPr b="0" i="0" sz="1150" u="none" cap="none" strike="noStrike">
              <a:solidFill>
                <a:schemeClr val="dk1"/>
              </a:solidFill>
              <a:latin typeface="Calibri"/>
              <a:ea typeface="Calibri"/>
              <a:cs typeface="Calibri"/>
              <a:sym typeface="Calibri"/>
            </a:endParaRPr>
          </a:p>
        </p:txBody>
      </p:sp>
      <p:sp>
        <p:nvSpPr>
          <p:cNvPr id="1062" name="Google Shape;1062;p28"/>
          <p:cNvSpPr/>
          <p:nvPr/>
        </p:nvSpPr>
        <p:spPr>
          <a:xfrm>
            <a:off x="8481060" y="4892040"/>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5B95"/>
              </a:buClr>
              <a:buSzPts val="1150"/>
              <a:buFont typeface="Calibri"/>
              <a:buNone/>
            </a:pPr>
            <a:r>
              <a:rPr b="1" i="0" lang="en-US" sz="1150" u="none" cap="none" strike="noStrike">
                <a:solidFill>
                  <a:srgbClr val="6B5B95"/>
                </a:solidFill>
                <a:latin typeface="Calibri"/>
                <a:ea typeface="Calibri"/>
                <a:cs typeface="Calibri"/>
                <a:sym typeface="Calibri"/>
              </a:rPr>
              <a:t>hidden layer</a:t>
            </a:r>
            <a:endParaRPr b="0" i="0" sz="1150" u="none" cap="none" strike="noStrike">
              <a:solidFill>
                <a:schemeClr val="dk1"/>
              </a:solidFill>
              <a:latin typeface="Calibri"/>
              <a:ea typeface="Calibri"/>
              <a:cs typeface="Calibri"/>
              <a:sym typeface="Calibri"/>
            </a:endParaRPr>
          </a:p>
        </p:txBody>
      </p:sp>
      <p:sp>
        <p:nvSpPr>
          <p:cNvPr id="1063" name="Google Shape;1063;p28"/>
          <p:cNvSpPr/>
          <p:nvPr/>
        </p:nvSpPr>
        <p:spPr>
          <a:xfrm>
            <a:off x="10241280" y="4892040"/>
            <a:ext cx="17373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661F"/>
              </a:buClr>
              <a:buSzPts val="1150"/>
              <a:buFont typeface="Calibri"/>
              <a:buNone/>
            </a:pPr>
            <a:r>
              <a:rPr b="1" i="0" lang="en-US" sz="1150" u="none" cap="none" strike="noStrike">
                <a:solidFill>
                  <a:srgbClr val="C4661F"/>
                </a:solidFill>
                <a:latin typeface="Calibri"/>
                <a:ea typeface="Calibri"/>
                <a:cs typeface="Calibri"/>
                <a:sym typeface="Calibri"/>
              </a:rPr>
              <a:t>output layer</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8" name="Shape 1068"/>
        <p:cNvGrpSpPr/>
        <p:nvPr/>
      </p:nvGrpSpPr>
      <p:grpSpPr>
        <a:xfrm>
          <a:off x="0" y="0"/>
          <a:ext cx="0" cy="0"/>
          <a:chOff x="0" y="0"/>
          <a:chExt cx="0" cy="0"/>
        </a:xfrm>
      </p:grpSpPr>
      <p:sp>
        <p:nvSpPr>
          <p:cNvPr id="1069" name="Google Shape;1069;p2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GRADIENT-BASED LEARNING</a:t>
            </a:r>
            <a:endParaRPr b="0" i="0" sz="1050" u="none" cap="none" strike="noStrike">
              <a:solidFill>
                <a:schemeClr val="dk1"/>
              </a:solidFill>
              <a:latin typeface="Calibri"/>
              <a:ea typeface="Calibri"/>
              <a:cs typeface="Calibri"/>
              <a:sym typeface="Calibri"/>
            </a:endParaRPr>
          </a:p>
        </p:txBody>
      </p:sp>
      <p:sp>
        <p:nvSpPr>
          <p:cNvPr id="1070" name="Google Shape;1070;p2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The backward pass: training the network</a:t>
            </a:r>
            <a:endParaRPr b="0" i="0" sz="2800" u="none" cap="none" strike="noStrike">
              <a:solidFill>
                <a:schemeClr val="dk1"/>
              </a:solidFill>
              <a:latin typeface="Calibri"/>
              <a:ea typeface="Calibri"/>
              <a:cs typeface="Calibri"/>
              <a:sym typeface="Calibri"/>
            </a:endParaRPr>
          </a:p>
        </p:txBody>
      </p:sp>
      <p:sp>
        <p:nvSpPr>
          <p:cNvPr id="1071" name="Google Shape;1071;p29"/>
          <p:cNvSpPr/>
          <p:nvPr/>
        </p:nvSpPr>
        <p:spPr>
          <a:xfrm>
            <a:off x="566928" y="1280160"/>
            <a:ext cx="11057839" cy="868680"/>
          </a:xfrm>
          <a:prstGeom prst="roundRect">
            <a:avLst>
              <a:gd fmla="val 9474"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a:off x="704088" y="1280160"/>
            <a:ext cx="10783519"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2000"/>
              <a:buFont typeface="Calibri"/>
              <a:buNone/>
            </a:pPr>
            <a:r>
              <a:rPr b="1" i="0" lang="en-US" sz="2000" u="none" cap="none" strike="noStrike">
                <a:solidFill>
                  <a:srgbClr val="E8833A"/>
                </a:solidFill>
                <a:latin typeface="Calibri"/>
                <a:ea typeface="Calibri"/>
                <a:cs typeface="Calibri"/>
                <a:sym typeface="Calibri"/>
              </a:rPr>
              <a:t>w*  =  arg min   Σₙ₌₁ᴺ  L ( y⁽ⁿ⁾ , t⁽ⁿ⁾ )</a:t>
            </a:r>
            <a:endParaRPr b="0" i="0" sz="2000" u="none" cap="none" strike="noStrike">
              <a:solidFill>
                <a:schemeClr val="dk1"/>
              </a:solidFill>
              <a:latin typeface="Calibri"/>
              <a:ea typeface="Calibri"/>
              <a:cs typeface="Calibri"/>
              <a:sym typeface="Calibri"/>
            </a:endParaRPr>
          </a:p>
        </p:txBody>
      </p:sp>
      <p:sp>
        <p:nvSpPr>
          <p:cNvPr id="1073" name="Google Shape;1073;p29"/>
          <p:cNvSpPr/>
          <p:nvPr/>
        </p:nvSpPr>
        <p:spPr>
          <a:xfrm>
            <a:off x="566928" y="2240280"/>
            <a:ext cx="11057839"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minimised over the weights w        L : loss / error function        y⁽ⁿ⁾ : network output for training point n        t⁽ⁿ⁾ : target output for point n</a:t>
            </a:r>
            <a:endParaRPr b="0" i="0" sz="1200" u="none" cap="none" strike="noStrike">
              <a:solidFill>
                <a:schemeClr val="dk1"/>
              </a:solidFill>
              <a:latin typeface="Calibri"/>
              <a:ea typeface="Calibri"/>
              <a:cs typeface="Calibri"/>
              <a:sym typeface="Calibri"/>
            </a:endParaRPr>
          </a:p>
        </p:txBody>
      </p:sp>
      <p:sp>
        <p:nvSpPr>
          <p:cNvPr id="1074" name="Google Shape;1074;p29"/>
          <p:cNvSpPr/>
          <p:nvPr/>
        </p:nvSpPr>
        <p:spPr>
          <a:xfrm>
            <a:off x="566928" y="2697480"/>
            <a:ext cx="2606040" cy="1828800"/>
          </a:xfrm>
          <a:prstGeom prst="roundRect">
            <a:avLst>
              <a:gd fmla="val 45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a:off x="822960" y="29352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a:off x="822960" y="29352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077" name="Google Shape;1077;p29"/>
          <p:cNvSpPr/>
          <p:nvPr/>
        </p:nvSpPr>
        <p:spPr>
          <a:xfrm>
            <a:off x="1408176" y="29169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Initialize</a:t>
            </a:r>
            <a:endParaRPr b="0" i="0" sz="1400" u="none" cap="none" strike="noStrike">
              <a:solidFill>
                <a:schemeClr val="dk1"/>
              </a:solidFill>
              <a:latin typeface="Calibri"/>
              <a:ea typeface="Calibri"/>
              <a:cs typeface="Calibri"/>
              <a:sym typeface="Calibri"/>
            </a:endParaRPr>
          </a:p>
        </p:txBody>
      </p:sp>
      <p:sp>
        <p:nvSpPr>
          <p:cNvPr id="1078" name="Google Shape;1078;p29"/>
          <p:cNvSpPr/>
          <p:nvPr/>
        </p:nvSpPr>
        <p:spPr>
          <a:xfrm>
            <a:off x="841248" y="3483864"/>
            <a:ext cx="2057400" cy="8595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Set the network weights to small random values.</a:t>
            </a:r>
            <a:endParaRPr b="0" i="0" sz="1200" u="none" cap="none" strike="noStrike">
              <a:solidFill>
                <a:schemeClr val="dk1"/>
              </a:solidFill>
              <a:latin typeface="Calibri"/>
              <a:ea typeface="Calibri"/>
              <a:cs typeface="Calibri"/>
              <a:sym typeface="Calibri"/>
            </a:endParaRPr>
          </a:p>
        </p:txBody>
      </p:sp>
      <p:cxnSp>
        <p:nvCxnSpPr>
          <p:cNvPr id="1079" name="Google Shape;1079;p29"/>
          <p:cNvCxnSpPr/>
          <p:nvPr/>
        </p:nvCxnSpPr>
        <p:spPr>
          <a:xfrm>
            <a:off x="3218688" y="3611880"/>
            <a:ext cx="164592" cy="0"/>
          </a:xfrm>
          <a:prstGeom prst="straightConnector1">
            <a:avLst/>
          </a:prstGeom>
          <a:noFill/>
          <a:ln cap="flat" cmpd="sng" w="25400">
            <a:solidFill>
              <a:srgbClr val="E8833A"/>
            </a:solidFill>
            <a:prstDash val="solid"/>
            <a:round/>
            <a:headEnd len="sm" w="sm" type="none"/>
            <a:tailEnd len="med" w="med" type="triangle"/>
          </a:ln>
        </p:spPr>
      </p:cxnSp>
      <p:sp>
        <p:nvSpPr>
          <p:cNvPr id="1080" name="Google Shape;1080;p29"/>
          <p:cNvSpPr/>
          <p:nvPr/>
        </p:nvSpPr>
        <p:spPr>
          <a:xfrm>
            <a:off x="3419856" y="2697480"/>
            <a:ext cx="2606040" cy="1828800"/>
          </a:xfrm>
          <a:prstGeom prst="roundRect">
            <a:avLst>
              <a:gd fmla="val 45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9"/>
          <p:cNvSpPr/>
          <p:nvPr/>
        </p:nvSpPr>
        <p:spPr>
          <a:xfrm>
            <a:off x="3675888" y="29352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a:off x="3675888" y="29352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083" name="Google Shape;1083;p29"/>
          <p:cNvSpPr/>
          <p:nvPr/>
        </p:nvSpPr>
        <p:spPr>
          <a:xfrm>
            <a:off x="4261104" y="29169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Forward</a:t>
            </a:r>
            <a:endParaRPr b="0" i="0" sz="1400" u="none" cap="none" strike="noStrike">
              <a:solidFill>
                <a:schemeClr val="dk1"/>
              </a:solidFill>
              <a:latin typeface="Calibri"/>
              <a:ea typeface="Calibri"/>
              <a:cs typeface="Calibri"/>
              <a:sym typeface="Calibri"/>
            </a:endParaRPr>
          </a:p>
        </p:txBody>
      </p:sp>
      <p:sp>
        <p:nvSpPr>
          <p:cNvPr id="1084" name="Google Shape;1084;p29"/>
          <p:cNvSpPr/>
          <p:nvPr/>
        </p:nvSpPr>
        <p:spPr>
          <a:xfrm>
            <a:off x="3694176" y="3483864"/>
            <a:ext cx="2057400" cy="8595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Propagate each training point forward to produce the output y⁽ⁿ⁾.</a:t>
            </a:r>
            <a:endParaRPr b="0" i="0" sz="1200" u="none" cap="none" strike="noStrike">
              <a:solidFill>
                <a:schemeClr val="dk1"/>
              </a:solidFill>
              <a:latin typeface="Calibri"/>
              <a:ea typeface="Calibri"/>
              <a:cs typeface="Calibri"/>
              <a:sym typeface="Calibri"/>
            </a:endParaRPr>
          </a:p>
        </p:txBody>
      </p:sp>
      <p:cxnSp>
        <p:nvCxnSpPr>
          <p:cNvPr id="1085" name="Google Shape;1085;p29"/>
          <p:cNvCxnSpPr/>
          <p:nvPr/>
        </p:nvCxnSpPr>
        <p:spPr>
          <a:xfrm>
            <a:off x="6071616" y="3611880"/>
            <a:ext cx="164592" cy="0"/>
          </a:xfrm>
          <a:prstGeom prst="straightConnector1">
            <a:avLst/>
          </a:prstGeom>
          <a:noFill/>
          <a:ln cap="flat" cmpd="sng" w="25400">
            <a:solidFill>
              <a:srgbClr val="E8833A"/>
            </a:solidFill>
            <a:prstDash val="solid"/>
            <a:round/>
            <a:headEnd len="sm" w="sm" type="none"/>
            <a:tailEnd len="med" w="med" type="triangle"/>
          </a:ln>
        </p:spPr>
      </p:cxnSp>
      <p:sp>
        <p:nvSpPr>
          <p:cNvPr id="1086" name="Google Shape;1086;p29"/>
          <p:cNvSpPr/>
          <p:nvPr/>
        </p:nvSpPr>
        <p:spPr>
          <a:xfrm>
            <a:off x="6272784" y="2697480"/>
            <a:ext cx="2606040" cy="1828800"/>
          </a:xfrm>
          <a:prstGeom prst="roundRect">
            <a:avLst>
              <a:gd fmla="val 45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a:off x="6528816" y="29352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a:off x="6528816" y="29352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089" name="Google Shape;1089;p29"/>
          <p:cNvSpPr/>
          <p:nvPr/>
        </p:nvSpPr>
        <p:spPr>
          <a:xfrm>
            <a:off x="7114032" y="29169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Backward</a:t>
            </a:r>
            <a:endParaRPr b="0" i="0" sz="1400" u="none" cap="none" strike="noStrike">
              <a:solidFill>
                <a:schemeClr val="dk1"/>
              </a:solidFill>
              <a:latin typeface="Calibri"/>
              <a:ea typeface="Calibri"/>
              <a:cs typeface="Calibri"/>
              <a:sym typeface="Calibri"/>
            </a:endParaRPr>
          </a:p>
        </p:txBody>
      </p:sp>
      <p:sp>
        <p:nvSpPr>
          <p:cNvPr id="1090" name="Google Shape;1090;p29"/>
          <p:cNvSpPr/>
          <p:nvPr/>
        </p:nvSpPr>
        <p:spPr>
          <a:xfrm>
            <a:off x="6547104" y="3483864"/>
            <a:ext cx="2057400" cy="8595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Propagate the gradients backward through the network using the chain rule.</a:t>
            </a:r>
            <a:endParaRPr b="0" i="0" sz="1200" u="none" cap="none" strike="noStrike">
              <a:solidFill>
                <a:schemeClr val="dk1"/>
              </a:solidFill>
              <a:latin typeface="Calibri"/>
              <a:ea typeface="Calibri"/>
              <a:cs typeface="Calibri"/>
              <a:sym typeface="Calibri"/>
            </a:endParaRPr>
          </a:p>
        </p:txBody>
      </p:sp>
      <p:cxnSp>
        <p:nvCxnSpPr>
          <p:cNvPr id="1091" name="Google Shape;1091;p29"/>
          <p:cNvCxnSpPr/>
          <p:nvPr/>
        </p:nvCxnSpPr>
        <p:spPr>
          <a:xfrm>
            <a:off x="8924544" y="3611880"/>
            <a:ext cx="164592" cy="0"/>
          </a:xfrm>
          <a:prstGeom prst="straightConnector1">
            <a:avLst/>
          </a:prstGeom>
          <a:noFill/>
          <a:ln cap="flat" cmpd="sng" w="25400">
            <a:solidFill>
              <a:srgbClr val="E8833A"/>
            </a:solidFill>
            <a:prstDash val="solid"/>
            <a:round/>
            <a:headEnd len="sm" w="sm" type="none"/>
            <a:tailEnd len="med" w="med" type="triangle"/>
          </a:ln>
        </p:spPr>
      </p:cxnSp>
      <p:sp>
        <p:nvSpPr>
          <p:cNvPr id="1092" name="Google Shape;1092;p29"/>
          <p:cNvSpPr/>
          <p:nvPr/>
        </p:nvSpPr>
        <p:spPr>
          <a:xfrm>
            <a:off x="9125712" y="2697480"/>
            <a:ext cx="2606040" cy="1828800"/>
          </a:xfrm>
          <a:prstGeom prst="roundRect">
            <a:avLst>
              <a:gd fmla="val 45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9"/>
          <p:cNvSpPr/>
          <p:nvPr/>
        </p:nvSpPr>
        <p:spPr>
          <a:xfrm>
            <a:off x="9381744" y="29352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9"/>
          <p:cNvSpPr/>
          <p:nvPr/>
        </p:nvSpPr>
        <p:spPr>
          <a:xfrm>
            <a:off x="9381744" y="29352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095" name="Google Shape;1095;p29"/>
          <p:cNvSpPr/>
          <p:nvPr/>
        </p:nvSpPr>
        <p:spPr>
          <a:xfrm>
            <a:off x="9966960" y="29169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Update</a:t>
            </a:r>
            <a:endParaRPr b="0" i="0" sz="1400" u="none" cap="none" strike="noStrike">
              <a:solidFill>
                <a:schemeClr val="dk1"/>
              </a:solidFill>
              <a:latin typeface="Calibri"/>
              <a:ea typeface="Calibri"/>
              <a:cs typeface="Calibri"/>
              <a:sym typeface="Calibri"/>
            </a:endParaRPr>
          </a:p>
        </p:txBody>
      </p:sp>
      <p:sp>
        <p:nvSpPr>
          <p:cNvPr id="1096" name="Google Shape;1096;p29"/>
          <p:cNvSpPr/>
          <p:nvPr/>
        </p:nvSpPr>
        <p:spPr>
          <a:xfrm>
            <a:off x="9400032" y="3483864"/>
            <a:ext cx="2057400" cy="8595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Update every weight by gradient descent, then loop until convergence.</a:t>
            </a:r>
            <a:endParaRPr b="0" i="0" sz="1200" u="none" cap="none" strike="noStrike">
              <a:solidFill>
                <a:schemeClr val="dk1"/>
              </a:solidFill>
              <a:latin typeface="Calibri"/>
              <a:ea typeface="Calibri"/>
              <a:cs typeface="Calibri"/>
              <a:sym typeface="Calibri"/>
            </a:endParaRPr>
          </a:p>
        </p:txBody>
      </p:sp>
      <p:sp>
        <p:nvSpPr>
          <p:cNvPr id="1097" name="Google Shape;1097;p29"/>
          <p:cNvSpPr/>
          <p:nvPr/>
        </p:nvSpPr>
        <p:spPr>
          <a:xfrm>
            <a:off x="566928" y="4800600"/>
            <a:ext cx="11057839" cy="868680"/>
          </a:xfrm>
          <a:prstGeom prst="roundRect">
            <a:avLst>
              <a:gd fmla="val 9474"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9"/>
          <p:cNvSpPr/>
          <p:nvPr/>
        </p:nvSpPr>
        <p:spPr>
          <a:xfrm>
            <a:off x="704088" y="4800600"/>
            <a:ext cx="10783519"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700"/>
              <a:buFont typeface="Calibri"/>
              <a:buNone/>
            </a:pPr>
            <a:r>
              <a:rPr b="1" i="0" lang="en-US" sz="1700" u="none" cap="none" strike="noStrike">
                <a:solidFill>
                  <a:srgbClr val="2D1B4E"/>
                </a:solidFill>
                <a:latin typeface="Calibri"/>
                <a:ea typeface="Calibri"/>
                <a:cs typeface="Calibri"/>
                <a:sym typeface="Calibri"/>
              </a:rPr>
              <a:t>w⁺ = w − η ∂E/∂w            v⁺ = v − η ∂E/∂v            (η = learning rate)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3" name="Shape 1103"/>
        <p:cNvGrpSpPr/>
        <p:nvPr/>
      </p:nvGrpSpPr>
      <p:grpSpPr>
        <a:xfrm>
          <a:off x="0" y="0"/>
          <a:ext cx="0" cy="0"/>
          <a:chOff x="0" y="0"/>
          <a:chExt cx="0" cy="0"/>
        </a:xfrm>
      </p:grpSpPr>
      <p:sp>
        <p:nvSpPr>
          <p:cNvPr id="1104" name="Google Shape;1104;p30"/>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GRADIENT-BASED LEARNING</a:t>
            </a:r>
            <a:endParaRPr b="0" i="0" sz="1050" u="none" cap="none" strike="noStrike">
              <a:solidFill>
                <a:schemeClr val="dk1"/>
              </a:solidFill>
              <a:latin typeface="Calibri"/>
              <a:ea typeface="Calibri"/>
              <a:cs typeface="Calibri"/>
              <a:sym typeface="Calibri"/>
            </a:endParaRPr>
          </a:p>
        </p:txBody>
      </p:sp>
      <p:sp>
        <p:nvSpPr>
          <p:cNvPr id="1105" name="Google Shape;1105;p30"/>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Useful derivatives</a:t>
            </a:r>
            <a:endParaRPr b="0" i="0" sz="2800" u="none" cap="none" strike="noStrike">
              <a:solidFill>
                <a:schemeClr val="dk1"/>
              </a:solidFill>
              <a:latin typeface="Calibri"/>
              <a:ea typeface="Calibri"/>
              <a:cs typeface="Calibri"/>
              <a:sym typeface="Calibri"/>
            </a:endParaRPr>
          </a:p>
        </p:txBody>
      </p:sp>
      <p:sp>
        <p:nvSpPr>
          <p:cNvPr id="1106" name="Google Shape;1106;p30"/>
          <p:cNvSpPr/>
          <p:nvPr/>
        </p:nvSpPr>
        <p:spPr>
          <a:xfrm>
            <a:off x="566928" y="1325880"/>
            <a:ext cx="11057839" cy="502920"/>
          </a:xfrm>
          <a:prstGeom prst="roundRect">
            <a:avLst>
              <a:gd fmla="val 12727"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0"/>
          <p:cNvSpPr/>
          <p:nvPr/>
        </p:nvSpPr>
        <p:spPr>
          <a:xfrm>
            <a:off x="841248" y="1325880"/>
            <a:ext cx="21945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300"/>
              <a:buFont typeface="Calibri"/>
              <a:buNone/>
            </a:pPr>
            <a:r>
              <a:rPr b="1" i="0" lang="en-US" sz="1300" u="none" cap="none" strike="noStrike">
                <a:solidFill>
                  <a:srgbClr val="E8833A"/>
                </a:solidFill>
                <a:latin typeface="Calibri"/>
                <a:ea typeface="Calibri"/>
                <a:cs typeface="Calibri"/>
                <a:sym typeface="Calibri"/>
              </a:rPr>
              <a:t>Function</a:t>
            </a:r>
            <a:endParaRPr b="0" i="0" sz="1300" u="none" cap="none" strike="noStrike">
              <a:solidFill>
                <a:schemeClr val="dk1"/>
              </a:solidFill>
              <a:latin typeface="Calibri"/>
              <a:ea typeface="Calibri"/>
              <a:cs typeface="Calibri"/>
              <a:sym typeface="Calibri"/>
            </a:endParaRPr>
          </a:p>
        </p:txBody>
      </p:sp>
      <p:sp>
        <p:nvSpPr>
          <p:cNvPr id="1108" name="Google Shape;1108;p30"/>
          <p:cNvSpPr/>
          <p:nvPr/>
        </p:nvSpPr>
        <p:spPr>
          <a:xfrm>
            <a:off x="3218688" y="1325880"/>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300"/>
              <a:buFont typeface="Calibri"/>
              <a:buNone/>
            </a:pPr>
            <a:r>
              <a:rPr b="1" i="0" lang="en-US" sz="1300" u="none" cap="none" strike="noStrike">
                <a:solidFill>
                  <a:srgbClr val="E8833A"/>
                </a:solidFill>
                <a:latin typeface="Calibri"/>
                <a:ea typeface="Calibri"/>
                <a:cs typeface="Calibri"/>
                <a:sym typeface="Calibri"/>
              </a:rPr>
              <a:t>Definition</a:t>
            </a:r>
            <a:endParaRPr b="0" i="0" sz="1300" u="none" cap="none" strike="noStrike">
              <a:solidFill>
                <a:schemeClr val="dk1"/>
              </a:solidFill>
              <a:latin typeface="Calibri"/>
              <a:ea typeface="Calibri"/>
              <a:cs typeface="Calibri"/>
              <a:sym typeface="Calibri"/>
            </a:endParaRPr>
          </a:p>
        </p:txBody>
      </p:sp>
      <p:sp>
        <p:nvSpPr>
          <p:cNvPr id="1109" name="Google Shape;1109;p30"/>
          <p:cNvSpPr/>
          <p:nvPr/>
        </p:nvSpPr>
        <p:spPr>
          <a:xfrm>
            <a:off x="6236208" y="132588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300"/>
              <a:buFont typeface="Calibri"/>
              <a:buNone/>
            </a:pPr>
            <a:r>
              <a:rPr b="1" i="0" lang="en-US" sz="1300" u="none" cap="none" strike="noStrike">
                <a:solidFill>
                  <a:srgbClr val="E8833A"/>
                </a:solidFill>
                <a:latin typeface="Calibri"/>
                <a:ea typeface="Calibri"/>
                <a:cs typeface="Calibri"/>
                <a:sym typeface="Calibri"/>
              </a:rPr>
              <a:t>Derivative</a:t>
            </a:r>
            <a:endParaRPr b="0" i="0" sz="1300" u="none" cap="none" strike="noStrike">
              <a:solidFill>
                <a:schemeClr val="dk1"/>
              </a:solidFill>
              <a:latin typeface="Calibri"/>
              <a:ea typeface="Calibri"/>
              <a:cs typeface="Calibri"/>
              <a:sym typeface="Calibri"/>
            </a:endParaRPr>
          </a:p>
        </p:txBody>
      </p:sp>
      <p:sp>
        <p:nvSpPr>
          <p:cNvPr id="1110" name="Google Shape;1110;p30"/>
          <p:cNvSpPr/>
          <p:nvPr/>
        </p:nvSpPr>
        <p:spPr>
          <a:xfrm>
            <a:off x="8705088" y="1325880"/>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300"/>
              <a:buFont typeface="Calibri"/>
              <a:buNone/>
            </a:pPr>
            <a:r>
              <a:rPr b="1" i="0" lang="en-US" sz="1300" u="none" cap="none" strike="noStrike">
                <a:solidFill>
                  <a:srgbClr val="E8833A"/>
                </a:solidFill>
                <a:latin typeface="Calibri"/>
                <a:ea typeface="Calibri"/>
                <a:cs typeface="Calibri"/>
                <a:sym typeface="Calibri"/>
              </a:rPr>
              <a:t>Note</a:t>
            </a:r>
            <a:endParaRPr b="0" i="0" sz="1300" u="none" cap="none" strike="noStrike">
              <a:solidFill>
                <a:schemeClr val="dk1"/>
              </a:solidFill>
              <a:latin typeface="Calibri"/>
              <a:ea typeface="Calibri"/>
              <a:cs typeface="Calibri"/>
              <a:sym typeface="Calibri"/>
            </a:endParaRPr>
          </a:p>
        </p:txBody>
      </p:sp>
      <p:sp>
        <p:nvSpPr>
          <p:cNvPr id="1111" name="Google Shape;1111;p30"/>
          <p:cNvSpPr/>
          <p:nvPr/>
        </p:nvSpPr>
        <p:spPr>
          <a:xfrm>
            <a:off x="566928" y="1920240"/>
            <a:ext cx="11057839" cy="868680"/>
          </a:xfrm>
          <a:prstGeom prst="roundRect">
            <a:avLst>
              <a:gd fmla="val 9474"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
          <p:cNvSpPr/>
          <p:nvPr/>
        </p:nvSpPr>
        <p:spPr>
          <a:xfrm>
            <a:off x="841248" y="1920240"/>
            <a:ext cx="2194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Sigmoid  σ(z)</a:t>
            </a:r>
            <a:endParaRPr b="0" i="0" sz="1400" u="none" cap="none" strike="noStrike">
              <a:solidFill>
                <a:schemeClr val="dk1"/>
              </a:solidFill>
              <a:latin typeface="Calibri"/>
              <a:ea typeface="Calibri"/>
              <a:cs typeface="Calibri"/>
              <a:sym typeface="Calibri"/>
            </a:endParaRPr>
          </a:p>
        </p:txBody>
      </p:sp>
      <p:sp>
        <p:nvSpPr>
          <p:cNvPr id="1113" name="Google Shape;1113;p30"/>
          <p:cNvSpPr/>
          <p:nvPr/>
        </p:nvSpPr>
        <p:spPr>
          <a:xfrm>
            <a:off x="3218688" y="1920240"/>
            <a:ext cx="28346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0" i="0" lang="en-US" sz="1400" u="none" cap="none" strike="noStrike">
                <a:solidFill>
                  <a:srgbClr val="2D1B4E"/>
                </a:solidFill>
                <a:latin typeface="Calibri"/>
                <a:ea typeface="Calibri"/>
                <a:cs typeface="Calibri"/>
                <a:sym typeface="Calibri"/>
              </a:rPr>
              <a:t>1 / (1 + e⁻ᶻ)</a:t>
            </a:r>
            <a:endParaRPr b="0" i="0" sz="1400" u="none" cap="none" strike="noStrike">
              <a:solidFill>
                <a:schemeClr val="dk1"/>
              </a:solidFill>
              <a:latin typeface="Calibri"/>
              <a:ea typeface="Calibri"/>
              <a:cs typeface="Calibri"/>
              <a:sym typeface="Calibri"/>
            </a:endParaRPr>
          </a:p>
        </p:txBody>
      </p:sp>
      <p:sp>
        <p:nvSpPr>
          <p:cNvPr id="1114" name="Google Shape;1114;p30"/>
          <p:cNvSpPr/>
          <p:nvPr/>
        </p:nvSpPr>
        <p:spPr>
          <a:xfrm>
            <a:off x="6236208" y="1920240"/>
            <a:ext cx="2286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0" i="0" lang="en-US" sz="1400" u="none" cap="none" strike="noStrike">
                <a:solidFill>
                  <a:srgbClr val="2D1B4E"/>
                </a:solidFill>
                <a:latin typeface="Calibri"/>
                <a:ea typeface="Calibri"/>
                <a:cs typeface="Calibri"/>
                <a:sym typeface="Calibri"/>
              </a:rPr>
              <a:t>σ(z) · (1 − σ(z))</a:t>
            </a:r>
            <a:endParaRPr b="0" i="0" sz="1400" u="none" cap="none" strike="noStrike">
              <a:solidFill>
                <a:schemeClr val="dk1"/>
              </a:solidFill>
              <a:latin typeface="Calibri"/>
              <a:ea typeface="Calibri"/>
              <a:cs typeface="Calibri"/>
              <a:sym typeface="Calibri"/>
            </a:endParaRPr>
          </a:p>
        </p:txBody>
      </p:sp>
      <p:sp>
        <p:nvSpPr>
          <p:cNvPr id="1115" name="Google Shape;1115;p30"/>
          <p:cNvSpPr/>
          <p:nvPr/>
        </p:nvSpPr>
        <p:spPr>
          <a:xfrm>
            <a:off x="8705088" y="1920240"/>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Output in (0, 1); saturates at both ends.</a:t>
            </a:r>
            <a:endParaRPr b="0" i="0" sz="1200" u="none" cap="none" strike="noStrike">
              <a:solidFill>
                <a:schemeClr val="dk1"/>
              </a:solidFill>
              <a:latin typeface="Calibri"/>
              <a:ea typeface="Calibri"/>
              <a:cs typeface="Calibri"/>
              <a:sym typeface="Calibri"/>
            </a:endParaRPr>
          </a:p>
        </p:txBody>
      </p:sp>
      <p:sp>
        <p:nvSpPr>
          <p:cNvPr id="1116" name="Google Shape;1116;p30"/>
          <p:cNvSpPr/>
          <p:nvPr/>
        </p:nvSpPr>
        <p:spPr>
          <a:xfrm>
            <a:off x="566928" y="2926080"/>
            <a:ext cx="11057839" cy="868680"/>
          </a:xfrm>
          <a:prstGeom prst="roundRect">
            <a:avLst>
              <a:gd fmla="val 9474"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0"/>
          <p:cNvSpPr/>
          <p:nvPr/>
        </p:nvSpPr>
        <p:spPr>
          <a:xfrm>
            <a:off x="841248" y="2926080"/>
            <a:ext cx="2194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Tanh</a:t>
            </a:r>
            <a:endParaRPr b="0" i="0" sz="1400" u="none" cap="none" strike="noStrike">
              <a:solidFill>
                <a:schemeClr val="dk1"/>
              </a:solidFill>
              <a:latin typeface="Calibri"/>
              <a:ea typeface="Calibri"/>
              <a:cs typeface="Calibri"/>
              <a:sym typeface="Calibri"/>
            </a:endParaRPr>
          </a:p>
        </p:txBody>
      </p:sp>
      <p:sp>
        <p:nvSpPr>
          <p:cNvPr id="1118" name="Google Shape;1118;p30"/>
          <p:cNvSpPr/>
          <p:nvPr/>
        </p:nvSpPr>
        <p:spPr>
          <a:xfrm>
            <a:off x="3218688" y="2926080"/>
            <a:ext cx="28346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0" i="0" lang="en-US" sz="1400" u="none" cap="none" strike="noStrike">
                <a:solidFill>
                  <a:srgbClr val="2D1B4E"/>
                </a:solidFill>
                <a:latin typeface="Calibri"/>
                <a:ea typeface="Calibri"/>
                <a:cs typeface="Calibri"/>
                <a:sym typeface="Calibri"/>
              </a:rPr>
              <a:t>(eᶻ − e⁻ᶻ) / (eᶻ + e⁻ᶻ)</a:t>
            </a:r>
            <a:endParaRPr b="0" i="0" sz="1400" u="none" cap="none" strike="noStrike">
              <a:solidFill>
                <a:schemeClr val="dk1"/>
              </a:solidFill>
              <a:latin typeface="Calibri"/>
              <a:ea typeface="Calibri"/>
              <a:cs typeface="Calibri"/>
              <a:sym typeface="Calibri"/>
            </a:endParaRPr>
          </a:p>
        </p:txBody>
      </p:sp>
      <p:sp>
        <p:nvSpPr>
          <p:cNvPr id="1119" name="Google Shape;1119;p30"/>
          <p:cNvSpPr/>
          <p:nvPr/>
        </p:nvSpPr>
        <p:spPr>
          <a:xfrm>
            <a:off x="6236208" y="2926080"/>
            <a:ext cx="2286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0" i="0" lang="en-US" sz="1400" u="none" cap="none" strike="noStrike">
                <a:solidFill>
                  <a:srgbClr val="2D1B4E"/>
                </a:solidFill>
                <a:latin typeface="Calibri"/>
                <a:ea typeface="Calibri"/>
                <a:cs typeface="Calibri"/>
                <a:sym typeface="Calibri"/>
              </a:rPr>
              <a:t>1 / cosh²(z)</a:t>
            </a:r>
            <a:endParaRPr b="0" i="0" sz="1400" u="none" cap="none" strike="noStrike">
              <a:solidFill>
                <a:schemeClr val="dk1"/>
              </a:solidFill>
              <a:latin typeface="Calibri"/>
              <a:ea typeface="Calibri"/>
              <a:cs typeface="Calibri"/>
              <a:sym typeface="Calibri"/>
            </a:endParaRPr>
          </a:p>
        </p:txBody>
      </p:sp>
      <p:sp>
        <p:nvSpPr>
          <p:cNvPr id="1120" name="Google Shape;1120;p30"/>
          <p:cNvSpPr/>
          <p:nvPr/>
        </p:nvSpPr>
        <p:spPr>
          <a:xfrm>
            <a:off x="8705088" y="2926080"/>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Output in (−1, 1); zero-centred.</a:t>
            </a:r>
            <a:endParaRPr b="0" i="0" sz="1200" u="none" cap="none" strike="noStrike">
              <a:solidFill>
                <a:schemeClr val="dk1"/>
              </a:solidFill>
              <a:latin typeface="Calibri"/>
              <a:ea typeface="Calibri"/>
              <a:cs typeface="Calibri"/>
              <a:sym typeface="Calibri"/>
            </a:endParaRPr>
          </a:p>
        </p:txBody>
      </p:sp>
      <p:sp>
        <p:nvSpPr>
          <p:cNvPr id="1121" name="Google Shape;1121;p30"/>
          <p:cNvSpPr/>
          <p:nvPr/>
        </p:nvSpPr>
        <p:spPr>
          <a:xfrm>
            <a:off x="566928" y="3931920"/>
            <a:ext cx="11057839" cy="868680"/>
          </a:xfrm>
          <a:prstGeom prst="roundRect">
            <a:avLst>
              <a:gd fmla="val 9474"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0"/>
          <p:cNvSpPr/>
          <p:nvPr/>
        </p:nvSpPr>
        <p:spPr>
          <a:xfrm>
            <a:off x="841248" y="3931920"/>
            <a:ext cx="2194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ReLU</a:t>
            </a:r>
            <a:endParaRPr b="0" i="0" sz="1400" u="none" cap="none" strike="noStrike">
              <a:solidFill>
                <a:schemeClr val="dk1"/>
              </a:solidFill>
              <a:latin typeface="Calibri"/>
              <a:ea typeface="Calibri"/>
              <a:cs typeface="Calibri"/>
              <a:sym typeface="Calibri"/>
            </a:endParaRPr>
          </a:p>
        </p:txBody>
      </p:sp>
      <p:sp>
        <p:nvSpPr>
          <p:cNvPr id="1123" name="Google Shape;1123;p30"/>
          <p:cNvSpPr/>
          <p:nvPr/>
        </p:nvSpPr>
        <p:spPr>
          <a:xfrm>
            <a:off x="3218688" y="3931920"/>
            <a:ext cx="283464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0" i="0" lang="en-US" sz="1400" u="none" cap="none" strike="noStrike">
                <a:solidFill>
                  <a:srgbClr val="2D1B4E"/>
                </a:solidFill>
                <a:latin typeface="Calibri"/>
                <a:ea typeface="Calibri"/>
                <a:cs typeface="Calibri"/>
                <a:sym typeface="Calibri"/>
              </a:rPr>
              <a:t>max(0, z)</a:t>
            </a:r>
            <a:endParaRPr b="0" i="0" sz="1400" u="none" cap="none" strike="noStrike">
              <a:solidFill>
                <a:schemeClr val="dk1"/>
              </a:solidFill>
              <a:latin typeface="Calibri"/>
              <a:ea typeface="Calibri"/>
              <a:cs typeface="Calibri"/>
              <a:sym typeface="Calibri"/>
            </a:endParaRPr>
          </a:p>
        </p:txBody>
      </p:sp>
      <p:sp>
        <p:nvSpPr>
          <p:cNvPr id="1124" name="Google Shape;1124;p30"/>
          <p:cNvSpPr/>
          <p:nvPr/>
        </p:nvSpPr>
        <p:spPr>
          <a:xfrm>
            <a:off x="6236208" y="3931920"/>
            <a:ext cx="22860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libri"/>
              <a:buNone/>
            </a:pPr>
            <a:r>
              <a:rPr b="0" i="0" lang="en-US" sz="1400" u="none" cap="none" strike="noStrike">
                <a:solidFill>
                  <a:srgbClr val="2D1B4E"/>
                </a:solidFill>
                <a:latin typeface="Calibri"/>
                <a:ea typeface="Calibri"/>
                <a:cs typeface="Calibri"/>
                <a:sym typeface="Calibri"/>
              </a:rPr>
              <a:t>1 if z &gt; 0,  0 if z ≤ 0</a:t>
            </a:r>
            <a:endParaRPr b="0" i="0" sz="1400" u="none" cap="none" strike="noStrike">
              <a:solidFill>
                <a:schemeClr val="dk1"/>
              </a:solidFill>
              <a:latin typeface="Calibri"/>
              <a:ea typeface="Calibri"/>
              <a:cs typeface="Calibri"/>
              <a:sym typeface="Calibri"/>
            </a:endParaRPr>
          </a:p>
        </p:txBody>
      </p:sp>
      <p:sp>
        <p:nvSpPr>
          <p:cNvPr id="1125" name="Google Shape;1125;p30"/>
          <p:cNvSpPr/>
          <p:nvPr/>
        </p:nvSpPr>
        <p:spPr>
          <a:xfrm>
            <a:off x="8705088" y="3931920"/>
            <a:ext cx="29260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Gradient is constant wherever the unit is active.</a:t>
            </a:r>
            <a:endParaRPr b="0" i="0" sz="1200" u="none" cap="none" strike="noStrike">
              <a:solidFill>
                <a:schemeClr val="dk1"/>
              </a:solidFill>
              <a:latin typeface="Calibri"/>
              <a:ea typeface="Calibri"/>
              <a:cs typeface="Calibri"/>
              <a:sym typeface="Calibri"/>
            </a:endParaRPr>
          </a:p>
        </p:txBody>
      </p:sp>
      <p:sp>
        <p:nvSpPr>
          <p:cNvPr id="1126" name="Google Shape;1126;p30"/>
          <p:cNvSpPr/>
          <p:nvPr/>
        </p:nvSpPr>
        <p:spPr>
          <a:xfrm>
            <a:off x="566928" y="5029200"/>
            <a:ext cx="11057839" cy="777240"/>
          </a:xfrm>
          <a:prstGeom prst="roundRect">
            <a:avLst>
              <a:gd fmla="val 10588"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0"/>
          <p:cNvSpPr/>
          <p:nvPr/>
        </p:nvSpPr>
        <p:spPr>
          <a:xfrm>
            <a:off x="886968" y="5029200"/>
            <a:ext cx="10417759"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These three derivatives are all we need for the worked example that follows — and for almost every network you will build by hand.</a:t>
            </a:r>
            <a:endParaRPr b="0" i="0" sz="1300" u="none" cap="none" strike="noStrike">
              <a:solidFill>
                <a:schemeClr val="dk1"/>
              </a:solidFill>
              <a:latin typeface="Calibri"/>
              <a:ea typeface="Calibri"/>
              <a:cs typeface="Calibri"/>
              <a:sym typeface="Calibri"/>
            </a:endParaRPr>
          </a:p>
        </p:txBody>
      </p:sp>
      <p:sp>
        <p:nvSpPr>
          <p:cNvPr id="1128" name="Google Shape;1128;p30"/>
          <p:cNvSpPr/>
          <p:nvPr/>
        </p:nvSpPr>
        <p:spPr>
          <a:xfrm>
            <a:off x="566928" y="6327648"/>
            <a:ext cx="1105783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3" name="Shape 1133"/>
        <p:cNvGrpSpPr/>
        <p:nvPr/>
      </p:nvGrpSpPr>
      <p:grpSpPr>
        <a:xfrm>
          <a:off x="0" y="0"/>
          <a:ext cx="0" cy="0"/>
          <a:chOff x="0" y="0"/>
          <a:chExt cx="0" cy="0"/>
        </a:xfrm>
      </p:grpSpPr>
      <p:sp>
        <p:nvSpPr>
          <p:cNvPr id="1134" name="Google Shape;1134;p31"/>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BACK-PROPAGATION, STEP BY STEP</a:t>
            </a:r>
            <a:endParaRPr b="0" i="0" sz="1050" u="none" cap="none" strike="noStrike">
              <a:solidFill>
                <a:schemeClr val="dk1"/>
              </a:solidFill>
              <a:latin typeface="Calibri"/>
              <a:ea typeface="Calibri"/>
              <a:cs typeface="Calibri"/>
              <a:sym typeface="Calibri"/>
            </a:endParaRPr>
          </a:p>
        </p:txBody>
      </p:sp>
      <p:sp>
        <p:nvSpPr>
          <p:cNvPr id="1135" name="Google Shape;1135;p31"/>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Worked example — forward pass</a:t>
            </a:r>
            <a:endParaRPr b="0" i="0" sz="2800" u="none" cap="none" strike="noStrike">
              <a:solidFill>
                <a:schemeClr val="dk1"/>
              </a:solidFill>
              <a:latin typeface="Calibri"/>
              <a:ea typeface="Calibri"/>
              <a:cs typeface="Calibri"/>
              <a:sym typeface="Calibri"/>
            </a:endParaRPr>
          </a:p>
        </p:txBody>
      </p:sp>
      <p:sp>
        <p:nvSpPr>
          <p:cNvPr id="1136" name="Google Shape;1136;p31"/>
          <p:cNvSpPr/>
          <p:nvPr/>
        </p:nvSpPr>
        <p:spPr>
          <a:xfrm>
            <a:off x="566928" y="1298448"/>
            <a:ext cx="4114800" cy="4434840"/>
          </a:xfrm>
          <a:prstGeom prst="roundRect">
            <a:avLst>
              <a:gd fmla="val 2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a:off x="841248" y="1417320"/>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Setup</a:t>
            </a:r>
            <a:endParaRPr b="0" i="0" sz="1500" u="none" cap="none" strike="noStrike">
              <a:solidFill>
                <a:schemeClr val="dk1"/>
              </a:solidFill>
              <a:latin typeface="Calibri"/>
              <a:ea typeface="Calibri"/>
              <a:cs typeface="Calibri"/>
              <a:sym typeface="Calibri"/>
            </a:endParaRPr>
          </a:p>
        </p:txBody>
      </p:sp>
      <p:sp>
        <p:nvSpPr>
          <p:cNvPr id="1138" name="Google Shape;1138;p31"/>
          <p:cNvSpPr/>
          <p:nvPr/>
        </p:nvSpPr>
        <p:spPr>
          <a:xfrm>
            <a:off x="841248" y="1783080"/>
            <a:ext cx="3566160" cy="27432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Training point:  x₁ = 0.05,  x₂ = 0.1</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Target output:   t₁ = 0.01,  t₂ = 0.99</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v₁ (for h₁):  v₁₀ = 0.35,  v₁₁ = 0.15,  v₁₂ = 0.2</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v₂ (for h₂):  v₂₀ = 0.25,  v₂₁ = 0.3,   v₂₂ = 0.35</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w₁ (for y₁):  w₁₀ = 0.6,  w₁₁ = 0.4,  w₁₂ = 0.45</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w₂ (for y₂):  w₂₀ = 0.6,  w₂₁ = 0.5,  w₂₂ = 0.55</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3333"/>
              </a:lnSpc>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Sigmoid activation in both layers.</a:t>
            </a:r>
            <a:endParaRPr b="0" i="0" sz="1200" u="none" cap="none" strike="noStrike">
              <a:solidFill>
                <a:schemeClr val="dk1"/>
              </a:solidFill>
              <a:latin typeface="Calibri"/>
              <a:ea typeface="Calibri"/>
              <a:cs typeface="Calibri"/>
              <a:sym typeface="Calibri"/>
            </a:endParaRPr>
          </a:p>
        </p:txBody>
      </p:sp>
      <p:cxnSp>
        <p:nvCxnSpPr>
          <p:cNvPr id="1139" name="Google Shape;1139;p31"/>
          <p:cNvCxnSpPr/>
          <p:nvPr/>
        </p:nvCxnSpPr>
        <p:spPr>
          <a:xfrm>
            <a:off x="1389888" y="4434840"/>
            <a:ext cx="1325880" cy="0"/>
          </a:xfrm>
          <a:prstGeom prst="straightConnector1">
            <a:avLst/>
          </a:prstGeom>
          <a:noFill/>
          <a:ln cap="flat" cmpd="sng" w="12700">
            <a:solidFill>
              <a:srgbClr val="D8D1E6"/>
            </a:solidFill>
            <a:prstDash val="solid"/>
            <a:round/>
            <a:headEnd len="sm" w="sm" type="none"/>
            <a:tailEnd len="sm" w="sm" type="none"/>
          </a:ln>
        </p:spPr>
      </p:cxnSp>
      <p:cxnSp>
        <p:nvCxnSpPr>
          <p:cNvPr id="1140" name="Google Shape;1140;p31"/>
          <p:cNvCxnSpPr/>
          <p:nvPr/>
        </p:nvCxnSpPr>
        <p:spPr>
          <a:xfrm>
            <a:off x="1389888" y="4434840"/>
            <a:ext cx="1325880" cy="548640"/>
          </a:xfrm>
          <a:prstGeom prst="straightConnector1">
            <a:avLst/>
          </a:prstGeom>
          <a:noFill/>
          <a:ln cap="flat" cmpd="sng" w="12700">
            <a:solidFill>
              <a:srgbClr val="D8D1E6"/>
            </a:solidFill>
            <a:prstDash val="solid"/>
            <a:round/>
            <a:headEnd len="sm" w="sm" type="none"/>
            <a:tailEnd len="sm" w="sm" type="none"/>
          </a:ln>
        </p:spPr>
      </p:cxnSp>
      <p:cxnSp>
        <p:nvCxnSpPr>
          <p:cNvPr id="1141" name="Google Shape;1141;p31"/>
          <p:cNvCxnSpPr/>
          <p:nvPr/>
        </p:nvCxnSpPr>
        <p:spPr>
          <a:xfrm flipH="1" rot="10800000">
            <a:off x="1389888" y="4434840"/>
            <a:ext cx="1325880" cy="548640"/>
          </a:xfrm>
          <a:prstGeom prst="straightConnector1">
            <a:avLst/>
          </a:prstGeom>
          <a:noFill/>
          <a:ln cap="flat" cmpd="sng" w="12700">
            <a:solidFill>
              <a:srgbClr val="D8D1E6"/>
            </a:solidFill>
            <a:prstDash val="solid"/>
            <a:round/>
            <a:headEnd len="sm" w="sm" type="none"/>
            <a:tailEnd len="sm" w="sm" type="none"/>
          </a:ln>
        </p:spPr>
      </p:cxnSp>
      <p:cxnSp>
        <p:nvCxnSpPr>
          <p:cNvPr id="1142" name="Google Shape;1142;p31"/>
          <p:cNvCxnSpPr/>
          <p:nvPr/>
        </p:nvCxnSpPr>
        <p:spPr>
          <a:xfrm>
            <a:off x="1389888" y="4983480"/>
            <a:ext cx="1325880" cy="0"/>
          </a:xfrm>
          <a:prstGeom prst="straightConnector1">
            <a:avLst/>
          </a:prstGeom>
          <a:noFill/>
          <a:ln cap="flat" cmpd="sng" w="12700">
            <a:solidFill>
              <a:srgbClr val="D8D1E6"/>
            </a:solidFill>
            <a:prstDash val="solid"/>
            <a:round/>
            <a:headEnd len="sm" w="sm" type="none"/>
            <a:tailEnd len="sm" w="sm" type="none"/>
          </a:ln>
        </p:spPr>
      </p:cxnSp>
      <p:cxnSp>
        <p:nvCxnSpPr>
          <p:cNvPr id="1143" name="Google Shape;1143;p31"/>
          <p:cNvCxnSpPr/>
          <p:nvPr/>
        </p:nvCxnSpPr>
        <p:spPr>
          <a:xfrm>
            <a:off x="2715768" y="4434840"/>
            <a:ext cx="1325880" cy="73152"/>
          </a:xfrm>
          <a:prstGeom prst="straightConnector1">
            <a:avLst/>
          </a:prstGeom>
          <a:noFill/>
          <a:ln cap="flat" cmpd="sng" w="12700">
            <a:solidFill>
              <a:srgbClr val="D8D1E6"/>
            </a:solidFill>
            <a:prstDash val="solid"/>
            <a:round/>
            <a:headEnd len="sm" w="sm" type="none"/>
            <a:tailEnd len="sm" w="sm" type="none"/>
          </a:ln>
        </p:spPr>
      </p:cxnSp>
      <p:cxnSp>
        <p:nvCxnSpPr>
          <p:cNvPr id="1144" name="Google Shape;1144;p31"/>
          <p:cNvCxnSpPr/>
          <p:nvPr/>
        </p:nvCxnSpPr>
        <p:spPr>
          <a:xfrm>
            <a:off x="2715768" y="4434840"/>
            <a:ext cx="1325880" cy="621792"/>
          </a:xfrm>
          <a:prstGeom prst="straightConnector1">
            <a:avLst/>
          </a:prstGeom>
          <a:noFill/>
          <a:ln cap="flat" cmpd="sng" w="12700">
            <a:solidFill>
              <a:srgbClr val="D8D1E6"/>
            </a:solidFill>
            <a:prstDash val="solid"/>
            <a:round/>
            <a:headEnd len="sm" w="sm" type="none"/>
            <a:tailEnd len="sm" w="sm" type="none"/>
          </a:ln>
        </p:spPr>
      </p:cxnSp>
      <p:cxnSp>
        <p:nvCxnSpPr>
          <p:cNvPr id="1145" name="Google Shape;1145;p31"/>
          <p:cNvCxnSpPr/>
          <p:nvPr/>
        </p:nvCxnSpPr>
        <p:spPr>
          <a:xfrm flipH="1" rot="10800000">
            <a:off x="2715768" y="4507992"/>
            <a:ext cx="1325880" cy="475488"/>
          </a:xfrm>
          <a:prstGeom prst="straightConnector1">
            <a:avLst/>
          </a:prstGeom>
          <a:noFill/>
          <a:ln cap="flat" cmpd="sng" w="12700">
            <a:solidFill>
              <a:srgbClr val="D8D1E6"/>
            </a:solidFill>
            <a:prstDash val="solid"/>
            <a:round/>
            <a:headEnd len="sm" w="sm" type="none"/>
            <a:tailEnd len="sm" w="sm" type="none"/>
          </a:ln>
        </p:spPr>
      </p:cxnSp>
      <p:cxnSp>
        <p:nvCxnSpPr>
          <p:cNvPr id="1146" name="Google Shape;1146;p31"/>
          <p:cNvCxnSpPr/>
          <p:nvPr/>
        </p:nvCxnSpPr>
        <p:spPr>
          <a:xfrm>
            <a:off x="2715768" y="4983480"/>
            <a:ext cx="1325880" cy="73152"/>
          </a:xfrm>
          <a:prstGeom prst="straightConnector1">
            <a:avLst/>
          </a:prstGeom>
          <a:noFill/>
          <a:ln cap="flat" cmpd="sng" w="12700">
            <a:solidFill>
              <a:srgbClr val="D8D1E6"/>
            </a:solidFill>
            <a:prstDash val="solid"/>
            <a:round/>
            <a:headEnd len="sm" w="sm" type="none"/>
            <a:tailEnd len="sm" w="sm" type="none"/>
          </a:ln>
        </p:spPr>
      </p:cxnSp>
      <p:cxnSp>
        <p:nvCxnSpPr>
          <p:cNvPr id="1147" name="Google Shape;1147;p31"/>
          <p:cNvCxnSpPr/>
          <p:nvPr/>
        </p:nvCxnSpPr>
        <p:spPr>
          <a:xfrm flipH="1" rot="10800000">
            <a:off x="1389888" y="4434840"/>
            <a:ext cx="1325880" cy="1133856"/>
          </a:xfrm>
          <a:prstGeom prst="straightConnector1">
            <a:avLst/>
          </a:prstGeom>
          <a:noFill/>
          <a:ln cap="flat" cmpd="sng" w="12700">
            <a:solidFill>
              <a:srgbClr val="D8D1E6"/>
            </a:solidFill>
            <a:prstDash val="solid"/>
            <a:round/>
            <a:headEnd len="sm" w="sm" type="none"/>
            <a:tailEnd len="sm" w="sm" type="none"/>
          </a:ln>
        </p:spPr>
      </p:cxnSp>
      <p:cxnSp>
        <p:nvCxnSpPr>
          <p:cNvPr id="1148" name="Google Shape;1148;p31"/>
          <p:cNvCxnSpPr/>
          <p:nvPr/>
        </p:nvCxnSpPr>
        <p:spPr>
          <a:xfrm flipH="1" rot="10800000">
            <a:off x="1389888" y="4983480"/>
            <a:ext cx="1325880" cy="585216"/>
          </a:xfrm>
          <a:prstGeom prst="straightConnector1">
            <a:avLst/>
          </a:prstGeom>
          <a:noFill/>
          <a:ln cap="flat" cmpd="sng" w="12700">
            <a:solidFill>
              <a:srgbClr val="D8D1E6"/>
            </a:solidFill>
            <a:prstDash val="solid"/>
            <a:round/>
            <a:headEnd len="sm" w="sm" type="none"/>
            <a:tailEnd len="sm" w="sm" type="none"/>
          </a:ln>
        </p:spPr>
      </p:cxnSp>
      <p:cxnSp>
        <p:nvCxnSpPr>
          <p:cNvPr id="1149" name="Google Shape;1149;p31"/>
          <p:cNvCxnSpPr/>
          <p:nvPr/>
        </p:nvCxnSpPr>
        <p:spPr>
          <a:xfrm flipH="1" rot="10800000">
            <a:off x="2715768" y="4507992"/>
            <a:ext cx="1325880" cy="1060704"/>
          </a:xfrm>
          <a:prstGeom prst="straightConnector1">
            <a:avLst/>
          </a:prstGeom>
          <a:noFill/>
          <a:ln cap="flat" cmpd="sng" w="12700">
            <a:solidFill>
              <a:srgbClr val="D8D1E6"/>
            </a:solidFill>
            <a:prstDash val="solid"/>
            <a:round/>
            <a:headEnd len="sm" w="sm" type="none"/>
            <a:tailEnd len="sm" w="sm" type="none"/>
          </a:ln>
        </p:spPr>
      </p:cxnSp>
      <p:cxnSp>
        <p:nvCxnSpPr>
          <p:cNvPr id="1150" name="Google Shape;1150;p31"/>
          <p:cNvCxnSpPr/>
          <p:nvPr/>
        </p:nvCxnSpPr>
        <p:spPr>
          <a:xfrm flipH="1" rot="10800000">
            <a:off x="2715768" y="5056632"/>
            <a:ext cx="1325880" cy="512064"/>
          </a:xfrm>
          <a:prstGeom prst="straightConnector1">
            <a:avLst/>
          </a:prstGeom>
          <a:noFill/>
          <a:ln cap="flat" cmpd="sng" w="12700">
            <a:solidFill>
              <a:srgbClr val="D8D1E6"/>
            </a:solidFill>
            <a:prstDash val="solid"/>
            <a:round/>
            <a:headEnd len="sm" w="sm" type="none"/>
            <a:tailEnd len="sm" w="sm" type="none"/>
          </a:ln>
        </p:spPr>
      </p:cxnSp>
      <p:sp>
        <p:nvSpPr>
          <p:cNvPr id="1151" name="Google Shape;1151;p31"/>
          <p:cNvSpPr/>
          <p:nvPr/>
        </p:nvSpPr>
        <p:spPr>
          <a:xfrm>
            <a:off x="1216152" y="4261104"/>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a:off x="1078992" y="426110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x₁</a:t>
            </a:r>
            <a:endParaRPr b="0" i="0" sz="900" u="none" cap="none" strike="noStrike">
              <a:solidFill>
                <a:schemeClr val="dk1"/>
              </a:solidFill>
              <a:latin typeface="Calibri"/>
              <a:ea typeface="Calibri"/>
              <a:cs typeface="Calibri"/>
              <a:sym typeface="Calibri"/>
            </a:endParaRPr>
          </a:p>
        </p:txBody>
      </p:sp>
      <p:sp>
        <p:nvSpPr>
          <p:cNvPr id="1153" name="Google Shape;1153;p31"/>
          <p:cNvSpPr/>
          <p:nvPr/>
        </p:nvSpPr>
        <p:spPr>
          <a:xfrm>
            <a:off x="1216152" y="4809744"/>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a:off x="1078992" y="480974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x₂</a:t>
            </a:r>
            <a:endParaRPr b="0" i="0" sz="900" u="none" cap="none" strike="noStrike">
              <a:solidFill>
                <a:schemeClr val="dk1"/>
              </a:solidFill>
              <a:latin typeface="Calibri"/>
              <a:ea typeface="Calibri"/>
              <a:cs typeface="Calibri"/>
              <a:sym typeface="Calibri"/>
            </a:endParaRPr>
          </a:p>
        </p:txBody>
      </p:sp>
      <p:sp>
        <p:nvSpPr>
          <p:cNvPr id="1155" name="Google Shape;1155;p31"/>
          <p:cNvSpPr/>
          <p:nvPr/>
        </p:nvSpPr>
        <p:spPr>
          <a:xfrm>
            <a:off x="2542032" y="426110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a:off x="2404872" y="426110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h₁</a:t>
            </a:r>
            <a:endParaRPr b="0" i="0" sz="900" u="none" cap="none" strike="noStrike">
              <a:solidFill>
                <a:schemeClr val="dk1"/>
              </a:solidFill>
              <a:latin typeface="Calibri"/>
              <a:ea typeface="Calibri"/>
              <a:cs typeface="Calibri"/>
              <a:sym typeface="Calibri"/>
            </a:endParaRPr>
          </a:p>
        </p:txBody>
      </p:sp>
      <p:sp>
        <p:nvSpPr>
          <p:cNvPr id="1157" name="Google Shape;1157;p31"/>
          <p:cNvSpPr/>
          <p:nvPr/>
        </p:nvSpPr>
        <p:spPr>
          <a:xfrm>
            <a:off x="2542032" y="4809744"/>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2404872" y="480974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h₂</a:t>
            </a:r>
            <a:endParaRPr b="0" i="0" sz="900" u="none" cap="none" strike="noStrike">
              <a:solidFill>
                <a:schemeClr val="dk1"/>
              </a:solidFill>
              <a:latin typeface="Calibri"/>
              <a:ea typeface="Calibri"/>
              <a:cs typeface="Calibri"/>
              <a:sym typeface="Calibri"/>
            </a:endParaRPr>
          </a:p>
        </p:txBody>
      </p:sp>
      <p:sp>
        <p:nvSpPr>
          <p:cNvPr id="1159" name="Google Shape;1159;p31"/>
          <p:cNvSpPr/>
          <p:nvPr/>
        </p:nvSpPr>
        <p:spPr>
          <a:xfrm>
            <a:off x="3867912" y="4334256"/>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3730752" y="4334256"/>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y₁</a:t>
            </a:r>
            <a:endParaRPr b="0" i="0" sz="900" u="none" cap="none" strike="noStrike">
              <a:solidFill>
                <a:schemeClr val="dk1"/>
              </a:solidFill>
              <a:latin typeface="Calibri"/>
              <a:ea typeface="Calibri"/>
              <a:cs typeface="Calibri"/>
              <a:sym typeface="Calibri"/>
            </a:endParaRPr>
          </a:p>
        </p:txBody>
      </p:sp>
      <p:sp>
        <p:nvSpPr>
          <p:cNvPr id="1161" name="Google Shape;1161;p31"/>
          <p:cNvSpPr/>
          <p:nvPr/>
        </p:nvSpPr>
        <p:spPr>
          <a:xfrm>
            <a:off x="3867912" y="4882896"/>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3730752" y="4882896"/>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y₂</a:t>
            </a:r>
            <a:endParaRPr b="0" i="0" sz="900" u="none" cap="none" strike="noStrike">
              <a:solidFill>
                <a:schemeClr val="dk1"/>
              </a:solidFill>
              <a:latin typeface="Calibri"/>
              <a:ea typeface="Calibri"/>
              <a:cs typeface="Calibri"/>
              <a:sym typeface="Calibri"/>
            </a:endParaRPr>
          </a:p>
        </p:txBody>
      </p:sp>
      <p:sp>
        <p:nvSpPr>
          <p:cNvPr id="1163" name="Google Shape;1163;p31"/>
          <p:cNvSpPr/>
          <p:nvPr/>
        </p:nvSpPr>
        <p:spPr>
          <a:xfrm>
            <a:off x="1216152" y="5394960"/>
            <a:ext cx="347472" cy="347472"/>
          </a:xfrm>
          <a:prstGeom prst="ellipse">
            <a:avLst/>
          </a:prstGeom>
          <a:solidFill>
            <a:srgbClr val="F4F1F9"/>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a:off x="1078992" y="5394960"/>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165" name="Google Shape;1165;p31"/>
          <p:cNvSpPr/>
          <p:nvPr/>
        </p:nvSpPr>
        <p:spPr>
          <a:xfrm>
            <a:off x="2542032" y="5394960"/>
            <a:ext cx="347472" cy="347472"/>
          </a:xfrm>
          <a:prstGeom prst="ellipse">
            <a:avLst/>
          </a:prstGeom>
          <a:solidFill>
            <a:srgbClr val="F4F1F9"/>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a:off x="2404872" y="5394960"/>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167" name="Google Shape;1167;p31"/>
          <p:cNvSpPr/>
          <p:nvPr/>
        </p:nvSpPr>
        <p:spPr>
          <a:xfrm>
            <a:off x="4937760" y="1298448"/>
            <a:ext cx="6693408" cy="2286000"/>
          </a:xfrm>
          <a:prstGeom prst="roundRect">
            <a:avLst>
              <a:gd fmla="val 3600"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1"/>
          <p:cNvSpPr/>
          <p:nvPr/>
        </p:nvSpPr>
        <p:spPr>
          <a:xfrm>
            <a:off x="5212080" y="14173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Forward pass</a:t>
            </a:r>
            <a:endParaRPr b="0" i="0" sz="1500" u="none" cap="none" strike="noStrike">
              <a:solidFill>
                <a:schemeClr val="dk1"/>
              </a:solidFill>
              <a:latin typeface="Calibri"/>
              <a:ea typeface="Calibri"/>
              <a:cs typeface="Calibri"/>
              <a:sym typeface="Calibri"/>
            </a:endParaRPr>
          </a:p>
        </p:txBody>
      </p:sp>
      <p:sp>
        <p:nvSpPr>
          <p:cNvPr id="1169" name="Google Shape;1169;p31"/>
          <p:cNvSpPr/>
          <p:nvPr/>
        </p:nvSpPr>
        <p:spPr>
          <a:xfrm>
            <a:off x="5212080" y="1783080"/>
            <a:ext cx="6217920" cy="164592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h₁ = f(v₁₀ + v₁₁x₁ + v₁₂x₂) = σ(0.05·0.15 + 0.1·0.2 + 0.35) = 0.5933</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h₂ = f(v₂₀ + v₂₁x₁ + v₂₂x₂) = σ(0.05·0.25 + 0.1·0.3 + 0.35) = 0.5969</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y₁ = g(w₁₀ + w₁₁h₁ + w₁₂h₂) = σ(0.4·0.5933 + 0.45·0.5969 + 0.6) = 0.7514</a:t>
            </a:r>
            <a:endParaRPr b="0" i="0" sz="1250" u="none" cap="none" strike="noStrike">
              <a:solidFill>
                <a:schemeClr val="dk1"/>
              </a:solidFill>
              <a:latin typeface="Calibri"/>
              <a:ea typeface="Calibri"/>
              <a:cs typeface="Calibri"/>
              <a:sym typeface="Calibri"/>
            </a:endParaRPr>
          </a:p>
          <a:p>
            <a:pPr indent="0" lvl="0" marL="0" marR="0" rtl="0" algn="l">
              <a:lnSpc>
                <a:spcPct val="144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y₂ = g(w₂₀ + w₂₁h₁ + w₂₂h₂) = σ(0.5·0.5933 + 0.55·0.5969 + 0.6) = 0.7729</a:t>
            </a:r>
            <a:endParaRPr b="0" i="0" sz="1250" u="none" cap="none" strike="noStrike">
              <a:solidFill>
                <a:schemeClr val="dk1"/>
              </a:solidFill>
              <a:latin typeface="Calibri"/>
              <a:ea typeface="Calibri"/>
              <a:cs typeface="Calibri"/>
              <a:sym typeface="Calibri"/>
            </a:endParaRPr>
          </a:p>
        </p:txBody>
      </p:sp>
      <p:sp>
        <p:nvSpPr>
          <p:cNvPr id="1170" name="Google Shape;1170;p31"/>
          <p:cNvSpPr/>
          <p:nvPr/>
        </p:nvSpPr>
        <p:spPr>
          <a:xfrm>
            <a:off x="4937760" y="3749040"/>
            <a:ext cx="6693408" cy="1984248"/>
          </a:xfrm>
          <a:prstGeom prst="roundRect">
            <a:avLst>
              <a:gd fmla="val 4147"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1"/>
          <p:cNvSpPr/>
          <p:nvPr/>
        </p:nvSpPr>
        <p:spPr>
          <a:xfrm>
            <a:off x="5212080" y="388620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Calculate the error</a:t>
            </a:r>
            <a:endParaRPr b="0" i="0" sz="1500" u="none" cap="none" strike="noStrike">
              <a:solidFill>
                <a:schemeClr val="dk1"/>
              </a:solidFill>
              <a:latin typeface="Calibri"/>
              <a:ea typeface="Calibri"/>
              <a:cs typeface="Calibri"/>
              <a:sym typeface="Calibri"/>
            </a:endParaRPr>
          </a:p>
        </p:txBody>
      </p:sp>
      <p:sp>
        <p:nvSpPr>
          <p:cNvPr id="1172" name="Google Shape;1172;p31"/>
          <p:cNvSpPr/>
          <p:nvPr/>
        </p:nvSpPr>
        <p:spPr>
          <a:xfrm>
            <a:off x="5212080" y="4251960"/>
            <a:ext cx="6217920" cy="1280160"/>
          </a:xfrm>
          <a:prstGeom prst="rect">
            <a:avLst/>
          </a:prstGeom>
          <a:noFill/>
          <a:ln>
            <a:noFill/>
          </a:ln>
        </p:spPr>
        <p:txBody>
          <a:bodyPr anchorCtr="0" anchor="t" bIns="0" lIns="0" spcFirstLastPara="1" rIns="0" wrap="square" tIns="0">
            <a:noAutofit/>
          </a:bodyPr>
          <a:lstStyle/>
          <a:p>
            <a:pPr indent="0" lvl="0" marL="0" marR="0" rtl="0" algn="l">
              <a:lnSpc>
                <a:spcPct val="153846"/>
              </a:lnSpc>
              <a:spcBef>
                <a:spcPts val="0"/>
              </a:spcBef>
              <a:spcAft>
                <a:spcPts val="0"/>
              </a:spcAft>
              <a:buClr>
                <a:srgbClr val="E9E3F3"/>
              </a:buClr>
              <a:buSzPts val="1300"/>
              <a:buFont typeface="Calibri"/>
              <a:buNone/>
            </a:pPr>
            <a:r>
              <a:rPr b="0" i="0" lang="en-US" sz="1300" u="none" cap="none" strike="noStrike">
                <a:solidFill>
                  <a:srgbClr val="E9E3F3"/>
                </a:solidFill>
                <a:latin typeface="Calibri"/>
                <a:ea typeface="Calibri"/>
                <a:cs typeface="Calibri"/>
                <a:sym typeface="Calibri"/>
              </a:rPr>
              <a:t>E_y1 = 0.5 (t₁ − y₁)² = 0.5 (0.01 − 0.7514)² = 0.2748</a:t>
            </a:r>
            <a:endParaRPr b="0" i="0" sz="1300" u="none" cap="none" strike="noStrike">
              <a:solidFill>
                <a:schemeClr val="dk1"/>
              </a:solidFill>
              <a:latin typeface="Calibri"/>
              <a:ea typeface="Calibri"/>
              <a:cs typeface="Calibri"/>
              <a:sym typeface="Calibri"/>
            </a:endParaRPr>
          </a:p>
          <a:p>
            <a:pPr indent="0" lvl="0" marL="0" marR="0" rtl="0" algn="l">
              <a:lnSpc>
                <a:spcPct val="153846"/>
              </a:lnSpc>
              <a:spcBef>
                <a:spcPts val="0"/>
              </a:spcBef>
              <a:spcAft>
                <a:spcPts val="0"/>
              </a:spcAft>
              <a:buClr>
                <a:srgbClr val="E9E3F3"/>
              </a:buClr>
              <a:buSzPts val="1300"/>
              <a:buFont typeface="Calibri"/>
              <a:buNone/>
            </a:pPr>
            <a:r>
              <a:rPr b="0" i="0" lang="en-US" sz="1300" u="none" cap="none" strike="noStrike">
                <a:solidFill>
                  <a:srgbClr val="E9E3F3"/>
                </a:solidFill>
                <a:latin typeface="Calibri"/>
                <a:ea typeface="Calibri"/>
                <a:cs typeface="Calibri"/>
                <a:sym typeface="Calibri"/>
              </a:rPr>
              <a:t>E_y2 = 0.5 (t₂ − y₂)² = 0.5 (0.99 − 0.7729)² = 0.0236</a:t>
            </a:r>
            <a:endParaRPr b="0" i="0" sz="1300" u="none" cap="none" strike="noStrike">
              <a:solidFill>
                <a:schemeClr val="dk1"/>
              </a:solidFill>
              <a:latin typeface="Calibri"/>
              <a:ea typeface="Calibri"/>
              <a:cs typeface="Calibri"/>
              <a:sym typeface="Calibri"/>
            </a:endParaRPr>
          </a:p>
          <a:p>
            <a:pPr indent="0" lvl="0" marL="0" marR="0" rtl="0" algn="l">
              <a:lnSpc>
                <a:spcPct val="153846"/>
              </a:lnSpc>
              <a:spcBef>
                <a:spcPts val="0"/>
              </a:spcBef>
              <a:spcAft>
                <a:spcPts val="0"/>
              </a:spcAft>
              <a:buClr>
                <a:srgbClr val="E9E3F3"/>
              </a:buClr>
              <a:buSzPts val="1300"/>
              <a:buFont typeface="Calibri"/>
              <a:buNone/>
            </a:pPr>
            <a:r>
              <a:rPr b="0" i="0" lang="en-US" sz="1300" u="none" cap="none" strike="noStrike">
                <a:solidFill>
                  <a:srgbClr val="E9E3F3"/>
                </a:solidFill>
                <a:latin typeface="Calibri"/>
                <a:ea typeface="Calibri"/>
                <a:cs typeface="Calibri"/>
                <a:sym typeface="Calibri"/>
              </a:rPr>
              <a:t>E    = E_y1 + E_y2 = 0.2984</a:t>
            </a:r>
            <a:endParaRPr b="0" i="0" sz="1300" u="none" cap="none" strike="noStrike">
              <a:solidFill>
                <a:schemeClr val="dk1"/>
              </a:solidFill>
              <a:latin typeface="Calibri"/>
              <a:ea typeface="Calibri"/>
              <a:cs typeface="Calibri"/>
              <a:sym typeface="Calibri"/>
            </a:endParaRPr>
          </a:p>
        </p:txBody>
      </p:sp>
      <p:sp>
        <p:nvSpPr>
          <p:cNvPr id="1173" name="Google Shape;1173;p31"/>
          <p:cNvSpPr/>
          <p:nvPr/>
        </p:nvSpPr>
        <p:spPr>
          <a:xfrm>
            <a:off x="566928" y="6327648"/>
            <a:ext cx="1105783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8" name="Shape 1178"/>
        <p:cNvGrpSpPr/>
        <p:nvPr/>
      </p:nvGrpSpPr>
      <p:grpSpPr>
        <a:xfrm>
          <a:off x="0" y="0"/>
          <a:ext cx="0" cy="0"/>
          <a:chOff x="0" y="0"/>
          <a:chExt cx="0" cy="0"/>
        </a:xfrm>
      </p:grpSpPr>
      <p:sp>
        <p:nvSpPr>
          <p:cNvPr id="1179" name="Google Shape;1179;p32"/>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BACK-PROPAGATION, STEP BY STEP</a:t>
            </a:r>
            <a:endParaRPr b="0" i="0" sz="1050" u="none" cap="none" strike="noStrike">
              <a:solidFill>
                <a:schemeClr val="dk1"/>
              </a:solidFill>
              <a:latin typeface="Calibri"/>
              <a:ea typeface="Calibri"/>
              <a:cs typeface="Calibri"/>
              <a:sym typeface="Calibri"/>
            </a:endParaRPr>
          </a:p>
        </p:txBody>
      </p:sp>
      <p:sp>
        <p:nvSpPr>
          <p:cNvPr id="1180" name="Google Shape;1180;p32"/>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Worked example — updating an output weight</a:t>
            </a:r>
            <a:endParaRPr b="0" i="0" sz="2800" u="none" cap="none" strike="noStrike">
              <a:solidFill>
                <a:schemeClr val="dk1"/>
              </a:solidFill>
              <a:latin typeface="Calibri"/>
              <a:ea typeface="Calibri"/>
              <a:cs typeface="Calibri"/>
              <a:sym typeface="Calibri"/>
            </a:endParaRPr>
          </a:p>
        </p:txBody>
      </p:sp>
      <p:sp>
        <p:nvSpPr>
          <p:cNvPr id="1181" name="Google Shape;1181;p32"/>
          <p:cNvSpPr/>
          <p:nvPr/>
        </p:nvSpPr>
        <p:spPr>
          <a:xfrm>
            <a:off x="566928" y="1261872"/>
            <a:ext cx="11057839"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880"/>
              </a:buClr>
              <a:buSzPts val="1350"/>
              <a:buFont typeface="Calibri"/>
              <a:buNone/>
            </a:pPr>
            <a:r>
              <a:rPr b="0" i="0" lang="en-US" sz="1350" u="none" cap="none" strike="noStrike">
                <a:solidFill>
                  <a:srgbClr val="6E6880"/>
                </a:solidFill>
                <a:latin typeface="Calibri"/>
                <a:ea typeface="Calibri"/>
                <a:cs typeface="Calibri"/>
                <a:sym typeface="Calibri"/>
              </a:rPr>
              <a:t>To update w₁₁ we need ∂E/∂w₁₁. Write down the chain that connects the weight to the error, then apply the chain rule.</a:t>
            </a:r>
            <a:endParaRPr b="0" i="0" sz="1350" u="none" cap="none" strike="noStrike">
              <a:solidFill>
                <a:schemeClr val="dk1"/>
              </a:solidFill>
              <a:latin typeface="Calibri"/>
              <a:ea typeface="Calibri"/>
              <a:cs typeface="Calibri"/>
              <a:sym typeface="Calibri"/>
            </a:endParaRPr>
          </a:p>
        </p:txBody>
      </p:sp>
      <p:sp>
        <p:nvSpPr>
          <p:cNvPr id="1182" name="Google Shape;1182;p32"/>
          <p:cNvSpPr/>
          <p:nvPr/>
        </p:nvSpPr>
        <p:spPr>
          <a:xfrm>
            <a:off x="566928" y="1691640"/>
            <a:ext cx="3931920" cy="2011680"/>
          </a:xfrm>
          <a:prstGeom prst="roundRect">
            <a:avLst>
              <a:gd fmla="val 4091"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2"/>
          <p:cNvSpPr/>
          <p:nvPr/>
        </p:nvSpPr>
        <p:spPr>
          <a:xfrm>
            <a:off x="841248" y="1828800"/>
            <a:ext cx="3383280" cy="1737360"/>
          </a:xfrm>
          <a:prstGeom prst="rect">
            <a:avLst/>
          </a:prstGeom>
          <a:noFill/>
          <a:ln>
            <a:noFill/>
          </a:ln>
        </p:spPr>
        <p:txBody>
          <a:bodyPr anchorCtr="0" anchor="ctr" bIns="0" lIns="0" spcFirstLastPara="1" rIns="0" wrap="square" tIns="0">
            <a:noAutofit/>
          </a:bodyPr>
          <a:lstStyle/>
          <a:p>
            <a:pPr indent="0" lvl="0" marL="0" marR="0" rtl="0" algn="l">
              <a:lnSpc>
                <a:spcPct val="162962"/>
              </a:lnSpc>
              <a:spcBef>
                <a:spcPts val="0"/>
              </a:spcBef>
              <a:spcAft>
                <a:spcPts val="0"/>
              </a:spcAft>
              <a:buClr>
                <a:srgbClr val="241C2E"/>
              </a:buClr>
              <a:buSzPts val="1350"/>
              <a:buFont typeface="Calibri"/>
              <a:buNone/>
            </a:pPr>
            <a:r>
              <a:rPr b="0" i="0" lang="en-US" sz="1350" u="none" cap="none" strike="noStrike">
                <a:solidFill>
                  <a:srgbClr val="241C2E"/>
                </a:solidFill>
                <a:latin typeface="Calibri"/>
                <a:ea typeface="Calibri"/>
                <a:cs typeface="Calibri"/>
                <a:sym typeface="Calibri"/>
              </a:rPr>
              <a:t>E = E_y1 + E_y2</a:t>
            </a:r>
            <a:endParaRPr b="0" i="0" sz="1350" u="none" cap="none" strike="noStrike">
              <a:solidFill>
                <a:schemeClr val="dk1"/>
              </a:solidFill>
              <a:latin typeface="Calibri"/>
              <a:ea typeface="Calibri"/>
              <a:cs typeface="Calibri"/>
              <a:sym typeface="Calibri"/>
            </a:endParaRPr>
          </a:p>
          <a:p>
            <a:pPr indent="0" lvl="0" marL="0" marR="0" rtl="0" algn="l">
              <a:lnSpc>
                <a:spcPct val="162962"/>
              </a:lnSpc>
              <a:spcBef>
                <a:spcPts val="0"/>
              </a:spcBef>
              <a:spcAft>
                <a:spcPts val="0"/>
              </a:spcAft>
              <a:buClr>
                <a:srgbClr val="241C2E"/>
              </a:buClr>
              <a:buSzPts val="1350"/>
              <a:buFont typeface="Calibri"/>
              <a:buNone/>
            </a:pPr>
            <a:r>
              <a:rPr b="0" i="0" lang="en-US" sz="1350" u="none" cap="none" strike="noStrike">
                <a:solidFill>
                  <a:srgbClr val="241C2E"/>
                </a:solidFill>
                <a:latin typeface="Calibri"/>
                <a:ea typeface="Calibri"/>
                <a:cs typeface="Calibri"/>
                <a:sym typeface="Calibri"/>
              </a:rPr>
              <a:t>E_y1 = 0.5 (t₁ − y₁)²</a:t>
            </a:r>
            <a:endParaRPr b="0" i="0" sz="1350" u="none" cap="none" strike="noStrike">
              <a:solidFill>
                <a:schemeClr val="dk1"/>
              </a:solidFill>
              <a:latin typeface="Calibri"/>
              <a:ea typeface="Calibri"/>
              <a:cs typeface="Calibri"/>
              <a:sym typeface="Calibri"/>
            </a:endParaRPr>
          </a:p>
          <a:p>
            <a:pPr indent="0" lvl="0" marL="0" marR="0" rtl="0" algn="l">
              <a:lnSpc>
                <a:spcPct val="162962"/>
              </a:lnSpc>
              <a:spcBef>
                <a:spcPts val="0"/>
              </a:spcBef>
              <a:spcAft>
                <a:spcPts val="0"/>
              </a:spcAft>
              <a:buClr>
                <a:srgbClr val="241C2E"/>
              </a:buClr>
              <a:buSzPts val="1350"/>
              <a:buFont typeface="Calibri"/>
              <a:buNone/>
            </a:pPr>
            <a:r>
              <a:rPr b="0" i="0" lang="en-US" sz="1350" u="none" cap="none" strike="noStrike">
                <a:solidFill>
                  <a:srgbClr val="241C2E"/>
                </a:solidFill>
                <a:latin typeface="Calibri"/>
                <a:ea typeface="Calibri"/>
                <a:cs typeface="Calibri"/>
                <a:sym typeface="Calibri"/>
              </a:rPr>
              <a:t>y₁ = g(z₁)</a:t>
            </a:r>
            <a:endParaRPr b="0" i="0" sz="1350" u="none" cap="none" strike="noStrike">
              <a:solidFill>
                <a:schemeClr val="dk1"/>
              </a:solidFill>
              <a:latin typeface="Calibri"/>
              <a:ea typeface="Calibri"/>
              <a:cs typeface="Calibri"/>
              <a:sym typeface="Calibri"/>
            </a:endParaRPr>
          </a:p>
          <a:p>
            <a:pPr indent="0" lvl="0" marL="0" marR="0" rtl="0" algn="l">
              <a:lnSpc>
                <a:spcPct val="162962"/>
              </a:lnSpc>
              <a:spcBef>
                <a:spcPts val="0"/>
              </a:spcBef>
              <a:spcAft>
                <a:spcPts val="0"/>
              </a:spcAft>
              <a:buClr>
                <a:srgbClr val="241C2E"/>
              </a:buClr>
              <a:buSzPts val="1350"/>
              <a:buFont typeface="Calibri"/>
              <a:buNone/>
            </a:pPr>
            <a:r>
              <a:rPr b="0" i="0" lang="en-US" sz="1350" u="none" cap="none" strike="noStrike">
                <a:solidFill>
                  <a:srgbClr val="241C2E"/>
                </a:solidFill>
                <a:latin typeface="Calibri"/>
                <a:ea typeface="Calibri"/>
                <a:cs typeface="Calibri"/>
                <a:sym typeface="Calibri"/>
              </a:rPr>
              <a:t>z₁ = w₁₀ + h₁w₁₁ + h₂w₁₂</a:t>
            </a:r>
            <a:endParaRPr b="0" i="0" sz="1350" u="none" cap="none" strike="noStrike">
              <a:solidFill>
                <a:schemeClr val="dk1"/>
              </a:solidFill>
              <a:latin typeface="Calibri"/>
              <a:ea typeface="Calibri"/>
              <a:cs typeface="Calibri"/>
              <a:sym typeface="Calibri"/>
            </a:endParaRPr>
          </a:p>
        </p:txBody>
      </p:sp>
      <p:sp>
        <p:nvSpPr>
          <p:cNvPr id="1184" name="Google Shape;1184;p32"/>
          <p:cNvSpPr/>
          <p:nvPr/>
        </p:nvSpPr>
        <p:spPr>
          <a:xfrm>
            <a:off x="4663440" y="1691640"/>
            <a:ext cx="6967728" cy="777240"/>
          </a:xfrm>
          <a:prstGeom prst="roundRect">
            <a:avLst>
              <a:gd fmla="val 10588"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2"/>
          <p:cNvSpPr/>
          <p:nvPr/>
        </p:nvSpPr>
        <p:spPr>
          <a:xfrm>
            <a:off x="4800600" y="1691640"/>
            <a:ext cx="669340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700"/>
              <a:buFont typeface="Calibri"/>
              <a:buNone/>
            </a:pPr>
            <a:r>
              <a:rPr b="1" i="0" lang="en-US" sz="1700" u="none" cap="none" strike="noStrike">
                <a:solidFill>
                  <a:srgbClr val="E8833A"/>
                </a:solidFill>
                <a:latin typeface="Calibri"/>
                <a:ea typeface="Calibri"/>
                <a:cs typeface="Calibri"/>
                <a:sym typeface="Calibri"/>
              </a:rPr>
              <a:t>∂E/∂w₁₁  =  (∂E_y1/∂y₁) · (∂y₁/∂z₁) · (∂z₁/∂w₁₁)</a:t>
            </a:r>
            <a:endParaRPr b="0" i="0" sz="1700" u="none" cap="none" strike="noStrike">
              <a:solidFill>
                <a:schemeClr val="dk1"/>
              </a:solidFill>
              <a:latin typeface="Calibri"/>
              <a:ea typeface="Calibri"/>
              <a:cs typeface="Calibri"/>
              <a:sym typeface="Calibri"/>
            </a:endParaRPr>
          </a:p>
        </p:txBody>
      </p:sp>
      <p:sp>
        <p:nvSpPr>
          <p:cNvPr id="1186" name="Google Shape;1186;p32"/>
          <p:cNvSpPr/>
          <p:nvPr/>
        </p:nvSpPr>
        <p:spPr>
          <a:xfrm>
            <a:off x="4663440" y="2606040"/>
            <a:ext cx="6967728"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4892040" y="2606040"/>
            <a:ext cx="1463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∂E_y1/∂y₁</a:t>
            </a:r>
            <a:endParaRPr b="0" i="0" sz="1350" u="none" cap="none" strike="noStrike">
              <a:solidFill>
                <a:schemeClr val="dk1"/>
              </a:solidFill>
              <a:latin typeface="Calibri"/>
              <a:ea typeface="Calibri"/>
              <a:cs typeface="Calibri"/>
              <a:sym typeface="Calibri"/>
            </a:endParaRPr>
          </a:p>
        </p:txBody>
      </p:sp>
      <p:sp>
        <p:nvSpPr>
          <p:cNvPr id="1188" name="Google Shape;1188;p32"/>
          <p:cNvSpPr/>
          <p:nvPr/>
        </p:nvSpPr>
        <p:spPr>
          <a:xfrm>
            <a:off x="6355080" y="2606040"/>
            <a:ext cx="31089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 −(t₁ − y₁) = y₁ − t₁</a:t>
            </a:r>
            <a:endParaRPr b="0" i="0" sz="1300" u="none" cap="none" strike="noStrike">
              <a:solidFill>
                <a:schemeClr val="dk1"/>
              </a:solidFill>
              <a:latin typeface="Calibri"/>
              <a:ea typeface="Calibri"/>
              <a:cs typeface="Calibri"/>
              <a:sym typeface="Calibri"/>
            </a:endParaRPr>
          </a:p>
        </p:txBody>
      </p:sp>
      <p:sp>
        <p:nvSpPr>
          <p:cNvPr id="1189" name="Google Shape;1189;p32"/>
          <p:cNvSpPr/>
          <p:nvPr/>
        </p:nvSpPr>
        <p:spPr>
          <a:xfrm>
            <a:off x="9509760" y="2606040"/>
            <a:ext cx="1920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300"/>
              <a:buFont typeface="Calibri"/>
              <a:buNone/>
            </a:pPr>
            <a:r>
              <a:rPr b="1" i="0" lang="en-US" sz="1300" u="none" cap="none" strike="noStrike">
                <a:solidFill>
                  <a:srgbClr val="C4661F"/>
                </a:solidFill>
                <a:latin typeface="Calibri"/>
                <a:ea typeface="Calibri"/>
                <a:cs typeface="Calibri"/>
                <a:sym typeface="Calibri"/>
              </a:rPr>
              <a:t>= 0.7514 − 0.01 = 0.7414</a:t>
            </a:r>
            <a:endParaRPr b="0" i="0" sz="1300" u="none" cap="none" strike="noStrike">
              <a:solidFill>
                <a:schemeClr val="dk1"/>
              </a:solidFill>
              <a:latin typeface="Calibri"/>
              <a:ea typeface="Calibri"/>
              <a:cs typeface="Calibri"/>
              <a:sym typeface="Calibri"/>
            </a:endParaRPr>
          </a:p>
        </p:txBody>
      </p:sp>
      <p:sp>
        <p:nvSpPr>
          <p:cNvPr id="1190" name="Google Shape;1190;p32"/>
          <p:cNvSpPr/>
          <p:nvPr/>
        </p:nvSpPr>
        <p:spPr>
          <a:xfrm>
            <a:off x="4663440" y="3264408"/>
            <a:ext cx="6967728" cy="566928"/>
          </a:xfrm>
          <a:prstGeom prst="roundRect">
            <a:avLst>
              <a:gd fmla="val 14516"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2"/>
          <p:cNvSpPr/>
          <p:nvPr/>
        </p:nvSpPr>
        <p:spPr>
          <a:xfrm>
            <a:off x="4892040" y="3264408"/>
            <a:ext cx="1463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∂y₁/∂z₁</a:t>
            </a:r>
            <a:endParaRPr b="0" i="0" sz="1350" u="none" cap="none" strike="noStrike">
              <a:solidFill>
                <a:schemeClr val="dk1"/>
              </a:solidFill>
              <a:latin typeface="Calibri"/>
              <a:ea typeface="Calibri"/>
              <a:cs typeface="Calibri"/>
              <a:sym typeface="Calibri"/>
            </a:endParaRPr>
          </a:p>
        </p:txBody>
      </p:sp>
      <p:sp>
        <p:nvSpPr>
          <p:cNvPr id="1192" name="Google Shape;1192;p32"/>
          <p:cNvSpPr/>
          <p:nvPr/>
        </p:nvSpPr>
        <p:spPr>
          <a:xfrm>
            <a:off x="6355080" y="3264408"/>
            <a:ext cx="31089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 y₁(1 − y₁)   (sigmoid)</a:t>
            </a:r>
            <a:endParaRPr b="0" i="0" sz="1300" u="none" cap="none" strike="noStrike">
              <a:solidFill>
                <a:schemeClr val="dk1"/>
              </a:solidFill>
              <a:latin typeface="Calibri"/>
              <a:ea typeface="Calibri"/>
              <a:cs typeface="Calibri"/>
              <a:sym typeface="Calibri"/>
            </a:endParaRPr>
          </a:p>
        </p:txBody>
      </p:sp>
      <p:sp>
        <p:nvSpPr>
          <p:cNvPr id="1193" name="Google Shape;1193;p32"/>
          <p:cNvSpPr/>
          <p:nvPr/>
        </p:nvSpPr>
        <p:spPr>
          <a:xfrm>
            <a:off x="9509760" y="3264408"/>
            <a:ext cx="1920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300"/>
              <a:buFont typeface="Calibri"/>
              <a:buNone/>
            </a:pPr>
            <a:r>
              <a:rPr b="1" i="0" lang="en-US" sz="1300" u="none" cap="none" strike="noStrike">
                <a:solidFill>
                  <a:srgbClr val="C4661F"/>
                </a:solidFill>
                <a:latin typeface="Calibri"/>
                <a:ea typeface="Calibri"/>
                <a:cs typeface="Calibri"/>
                <a:sym typeface="Calibri"/>
              </a:rPr>
              <a:t>= 0.1868</a:t>
            </a:r>
            <a:endParaRPr b="0" i="0" sz="1300" u="none" cap="none" strike="noStrike">
              <a:solidFill>
                <a:schemeClr val="dk1"/>
              </a:solidFill>
              <a:latin typeface="Calibri"/>
              <a:ea typeface="Calibri"/>
              <a:cs typeface="Calibri"/>
              <a:sym typeface="Calibri"/>
            </a:endParaRPr>
          </a:p>
        </p:txBody>
      </p:sp>
      <p:sp>
        <p:nvSpPr>
          <p:cNvPr id="1194" name="Google Shape;1194;p32"/>
          <p:cNvSpPr/>
          <p:nvPr/>
        </p:nvSpPr>
        <p:spPr>
          <a:xfrm>
            <a:off x="4663440" y="3922776"/>
            <a:ext cx="6967728"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2"/>
          <p:cNvSpPr/>
          <p:nvPr/>
        </p:nvSpPr>
        <p:spPr>
          <a:xfrm>
            <a:off x="4892040" y="3922776"/>
            <a:ext cx="1463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∂z₁/∂w₁₁</a:t>
            </a:r>
            <a:endParaRPr b="0" i="0" sz="1350" u="none" cap="none" strike="noStrike">
              <a:solidFill>
                <a:schemeClr val="dk1"/>
              </a:solidFill>
              <a:latin typeface="Calibri"/>
              <a:ea typeface="Calibri"/>
              <a:cs typeface="Calibri"/>
              <a:sym typeface="Calibri"/>
            </a:endParaRPr>
          </a:p>
        </p:txBody>
      </p:sp>
      <p:sp>
        <p:nvSpPr>
          <p:cNvPr id="1196" name="Google Shape;1196;p32"/>
          <p:cNvSpPr/>
          <p:nvPr/>
        </p:nvSpPr>
        <p:spPr>
          <a:xfrm>
            <a:off x="6355080" y="3922776"/>
            <a:ext cx="31089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 h₁</a:t>
            </a:r>
            <a:endParaRPr b="0" i="0" sz="1300" u="none" cap="none" strike="noStrike">
              <a:solidFill>
                <a:schemeClr val="dk1"/>
              </a:solidFill>
              <a:latin typeface="Calibri"/>
              <a:ea typeface="Calibri"/>
              <a:cs typeface="Calibri"/>
              <a:sym typeface="Calibri"/>
            </a:endParaRPr>
          </a:p>
        </p:txBody>
      </p:sp>
      <p:sp>
        <p:nvSpPr>
          <p:cNvPr id="1197" name="Google Shape;1197;p32"/>
          <p:cNvSpPr/>
          <p:nvPr/>
        </p:nvSpPr>
        <p:spPr>
          <a:xfrm>
            <a:off x="9509760" y="3922776"/>
            <a:ext cx="19202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300"/>
              <a:buFont typeface="Calibri"/>
              <a:buNone/>
            </a:pPr>
            <a:r>
              <a:rPr b="1" i="0" lang="en-US" sz="1300" u="none" cap="none" strike="noStrike">
                <a:solidFill>
                  <a:srgbClr val="C4661F"/>
                </a:solidFill>
                <a:latin typeface="Calibri"/>
                <a:ea typeface="Calibri"/>
                <a:cs typeface="Calibri"/>
                <a:sym typeface="Calibri"/>
              </a:rPr>
              <a:t>= 0.5933</a:t>
            </a:r>
            <a:endParaRPr b="0" i="0" sz="1300" u="none" cap="none" strike="noStrike">
              <a:solidFill>
                <a:schemeClr val="dk1"/>
              </a:solidFill>
              <a:latin typeface="Calibri"/>
              <a:ea typeface="Calibri"/>
              <a:cs typeface="Calibri"/>
              <a:sym typeface="Calibri"/>
            </a:endParaRPr>
          </a:p>
        </p:txBody>
      </p:sp>
      <p:sp>
        <p:nvSpPr>
          <p:cNvPr id="1198" name="Google Shape;1198;p32"/>
          <p:cNvSpPr/>
          <p:nvPr/>
        </p:nvSpPr>
        <p:spPr>
          <a:xfrm>
            <a:off x="566928" y="3977640"/>
            <a:ext cx="3931920" cy="1737360"/>
          </a:xfrm>
          <a:prstGeom prst="roundRect">
            <a:avLst>
              <a:gd fmla="val 4737"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9" name="Google Shape;1199;p32"/>
          <p:cNvCxnSpPr/>
          <p:nvPr/>
        </p:nvCxnSpPr>
        <p:spPr>
          <a:xfrm>
            <a:off x="1435608" y="4224528"/>
            <a:ext cx="1325880" cy="0"/>
          </a:xfrm>
          <a:prstGeom prst="straightConnector1">
            <a:avLst/>
          </a:prstGeom>
          <a:noFill/>
          <a:ln cap="flat" cmpd="sng" w="12700">
            <a:solidFill>
              <a:srgbClr val="D8D1E6"/>
            </a:solidFill>
            <a:prstDash val="solid"/>
            <a:round/>
            <a:headEnd len="sm" w="sm" type="none"/>
            <a:tailEnd len="sm" w="sm" type="none"/>
          </a:ln>
        </p:spPr>
      </p:cxnSp>
      <p:cxnSp>
        <p:nvCxnSpPr>
          <p:cNvPr id="1200" name="Google Shape;1200;p32"/>
          <p:cNvCxnSpPr/>
          <p:nvPr/>
        </p:nvCxnSpPr>
        <p:spPr>
          <a:xfrm>
            <a:off x="1435608" y="4224528"/>
            <a:ext cx="1325880" cy="548640"/>
          </a:xfrm>
          <a:prstGeom prst="straightConnector1">
            <a:avLst/>
          </a:prstGeom>
          <a:noFill/>
          <a:ln cap="flat" cmpd="sng" w="12700">
            <a:solidFill>
              <a:srgbClr val="D8D1E6"/>
            </a:solidFill>
            <a:prstDash val="solid"/>
            <a:round/>
            <a:headEnd len="sm" w="sm" type="none"/>
            <a:tailEnd len="sm" w="sm" type="none"/>
          </a:ln>
        </p:spPr>
      </p:cxnSp>
      <p:cxnSp>
        <p:nvCxnSpPr>
          <p:cNvPr id="1201" name="Google Shape;1201;p32"/>
          <p:cNvCxnSpPr/>
          <p:nvPr/>
        </p:nvCxnSpPr>
        <p:spPr>
          <a:xfrm flipH="1" rot="10800000">
            <a:off x="1435608" y="4224528"/>
            <a:ext cx="1325880" cy="548640"/>
          </a:xfrm>
          <a:prstGeom prst="straightConnector1">
            <a:avLst/>
          </a:prstGeom>
          <a:noFill/>
          <a:ln cap="flat" cmpd="sng" w="12700">
            <a:solidFill>
              <a:srgbClr val="D8D1E6"/>
            </a:solidFill>
            <a:prstDash val="solid"/>
            <a:round/>
            <a:headEnd len="sm" w="sm" type="none"/>
            <a:tailEnd len="sm" w="sm" type="none"/>
          </a:ln>
        </p:spPr>
      </p:cxnSp>
      <p:cxnSp>
        <p:nvCxnSpPr>
          <p:cNvPr id="1202" name="Google Shape;1202;p32"/>
          <p:cNvCxnSpPr/>
          <p:nvPr/>
        </p:nvCxnSpPr>
        <p:spPr>
          <a:xfrm>
            <a:off x="1435608" y="4773168"/>
            <a:ext cx="1325880" cy="0"/>
          </a:xfrm>
          <a:prstGeom prst="straightConnector1">
            <a:avLst/>
          </a:prstGeom>
          <a:noFill/>
          <a:ln cap="flat" cmpd="sng" w="12700">
            <a:solidFill>
              <a:srgbClr val="D8D1E6"/>
            </a:solidFill>
            <a:prstDash val="solid"/>
            <a:round/>
            <a:headEnd len="sm" w="sm" type="none"/>
            <a:tailEnd len="sm" w="sm" type="none"/>
          </a:ln>
        </p:spPr>
      </p:cxnSp>
      <p:cxnSp>
        <p:nvCxnSpPr>
          <p:cNvPr id="1203" name="Google Shape;1203;p32"/>
          <p:cNvCxnSpPr/>
          <p:nvPr/>
        </p:nvCxnSpPr>
        <p:spPr>
          <a:xfrm>
            <a:off x="2761488" y="4224528"/>
            <a:ext cx="1325880" cy="73152"/>
          </a:xfrm>
          <a:prstGeom prst="straightConnector1">
            <a:avLst/>
          </a:prstGeom>
          <a:noFill/>
          <a:ln cap="flat" cmpd="sng" w="12700">
            <a:solidFill>
              <a:srgbClr val="D8D1E6"/>
            </a:solidFill>
            <a:prstDash val="solid"/>
            <a:round/>
            <a:headEnd len="sm" w="sm" type="none"/>
            <a:tailEnd len="sm" w="sm" type="none"/>
          </a:ln>
        </p:spPr>
      </p:cxnSp>
      <p:cxnSp>
        <p:nvCxnSpPr>
          <p:cNvPr id="1204" name="Google Shape;1204;p32"/>
          <p:cNvCxnSpPr/>
          <p:nvPr/>
        </p:nvCxnSpPr>
        <p:spPr>
          <a:xfrm>
            <a:off x="2761488" y="4224528"/>
            <a:ext cx="1325880" cy="621792"/>
          </a:xfrm>
          <a:prstGeom prst="straightConnector1">
            <a:avLst/>
          </a:prstGeom>
          <a:noFill/>
          <a:ln cap="flat" cmpd="sng" w="12700">
            <a:solidFill>
              <a:srgbClr val="D8D1E6"/>
            </a:solidFill>
            <a:prstDash val="solid"/>
            <a:round/>
            <a:headEnd len="sm" w="sm" type="none"/>
            <a:tailEnd len="sm" w="sm" type="none"/>
          </a:ln>
        </p:spPr>
      </p:cxnSp>
      <p:cxnSp>
        <p:nvCxnSpPr>
          <p:cNvPr id="1205" name="Google Shape;1205;p32"/>
          <p:cNvCxnSpPr/>
          <p:nvPr/>
        </p:nvCxnSpPr>
        <p:spPr>
          <a:xfrm flipH="1" rot="10800000">
            <a:off x="2761488" y="4297680"/>
            <a:ext cx="1325880" cy="475488"/>
          </a:xfrm>
          <a:prstGeom prst="straightConnector1">
            <a:avLst/>
          </a:prstGeom>
          <a:noFill/>
          <a:ln cap="flat" cmpd="sng" w="12700">
            <a:solidFill>
              <a:srgbClr val="D8D1E6"/>
            </a:solidFill>
            <a:prstDash val="solid"/>
            <a:round/>
            <a:headEnd len="sm" w="sm" type="none"/>
            <a:tailEnd len="sm" w="sm" type="none"/>
          </a:ln>
        </p:spPr>
      </p:cxnSp>
      <p:cxnSp>
        <p:nvCxnSpPr>
          <p:cNvPr id="1206" name="Google Shape;1206;p32"/>
          <p:cNvCxnSpPr/>
          <p:nvPr/>
        </p:nvCxnSpPr>
        <p:spPr>
          <a:xfrm>
            <a:off x="2761488" y="4773168"/>
            <a:ext cx="1325880" cy="73152"/>
          </a:xfrm>
          <a:prstGeom prst="straightConnector1">
            <a:avLst/>
          </a:prstGeom>
          <a:noFill/>
          <a:ln cap="flat" cmpd="sng" w="12700">
            <a:solidFill>
              <a:srgbClr val="D8D1E6"/>
            </a:solidFill>
            <a:prstDash val="solid"/>
            <a:round/>
            <a:headEnd len="sm" w="sm" type="none"/>
            <a:tailEnd len="sm" w="sm" type="none"/>
          </a:ln>
        </p:spPr>
      </p:cxnSp>
      <p:cxnSp>
        <p:nvCxnSpPr>
          <p:cNvPr id="1207" name="Google Shape;1207;p32"/>
          <p:cNvCxnSpPr/>
          <p:nvPr/>
        </p:nvCxnSpPr>
        <p:spPr>
          <a:xfrm flipH="1" rot="10800000">
            <a:off x="1435608" y="4224528"/>
            <a:ext cx="1325880" cy="1133856"/>
          </a:xfrm>
          <a:prstGeom prst="straightConnector1">
            <a:avLst/>
          </a:prstGeom>
          <a:noFill/>
          <a:ln cap="flat" cmpd="sng" w="12700">
            <a:solidFill>
              <a:srgbClr val="D8D1E6"/>
            </a:solidFill>
            <a:prstDash val="solid"/>
            <a:round/>
            <a:headEnd len="sm" w="sm" type="none"/>
            <a:tailEnd len="sm" w="sm" type="none"/>
          </a:ln>
        </p:spPr>
      </p:cxnSp>
      <p:cxnSp>
        <p:nvCxnSpPr>
          <p:cNvPr id="1208" name="Google Shape;1208;p32"/>
          <p:cNvCxnSpPr/>
          <p:nvPr/>
        </p:nvCxnSpPr>
        <p:spPr>
          <a:xfrm flipH="1" rot="10800000">
            <a:off x="1435608" y="4773168"/>
            <a:ext cx="1325880" cy="585216"/>
          </a:xfrm>
          <a:prstGeom prst="straightConnector1">
            <a:avLst/>
          </a:prstGeom>
          <a:noFill/>
          <a:ln cap="flat" cmpd="sng" w="12700">
            <a:solidFill>
              <a:srgbClr val="D8D1E6"/>
            </a:solidFill>
            <a:prstDash val="solid"/>
            <a:round/>
            <a:headEnd len="sm" w="sm" type="none"/>
            <a:tailEnd len="sm" w="sm" type="none"/>
          </a:ln>
        </p:spPr>
      </p:cxnSp>
      <p:cxnSp>
        <p:nvCxnSpPr>
          <p:cNvPr id="1209" name="Google Shape;1209;p32"/>
          <p:cNvCxnSpPr/>
          <p:nvPr/>
        </p:nvCxnSpPr>
        <p:spPr>
          <a:xfrm flipH="1" rot="10800000">
            <a:off x="2761488" y="4297680"/>
            <a:ext cx="1325880" cy="1060704"/>
          </a:xfrm>
          <a:prstGeom prst="straightConnector1">
            <a:avLst/>
          </a:prstGeom>
          <a:noFill/>
          <a:ln cap="flat" cmpd="sng" w="12700">
            <a:solidFill>
              <a:srgbClr val="D8D1E6"/>
            </a:solidFill>
            <a:prstDash val="solid"/>
            <a:round/>
            <a:headEnd len="sm" w="sm" type="none"/>
            <a:tailEnd len="sm" w="sm" type="none"/>
          </a:ln>
        </p:spPr>
      </p:cxnSp>
      <p:cxnSp>
        <p:nvCxnSpPr>
          <p:cNvPr id="1210" name="Google Shape;1210;p32"/>
          <p:cNvCxnSpPr/>
          <p:nvPr/>
        </p:nvCxnSpPr>
        <p:spPr>
          <a:xfrm flipH="1" rot="10800000">
            <a:off x="2761488" y="4846320"/>
            <a:ext cx="1325880" cy="512064"/>
          </a:xfrm>
          <a:prstGeom prst="straightConnector1">
            <a:avLst/>
          </a:prstGeom>
          <a:noFill/>
          <a:ln cap="flat" cmpd="sng" w="12700">
            <a:solidFill>
              <a:srgbClr val="D8D1E6"/>
            </a:solidFill>
            <a:prstDash val="solid"/>
            <a:round/>
            <a:headEnd len="sm" w="sm" type="none"/>
            <a:tailEnd len="sm" w="sm" type="none"/>
          </a:ln>
        </p:spPr>
      </p:cxnSp>
      <p:cxnSp>
        <p:nvCxnSpPr>
          <p:cNvPr id="1211" name="Google Shape;1211;p32"/>
          <p:cNvCxnSpPr/>
          <p:nvPr/>
        </p:nvCxnSpPr>
        <p:spPr>
          <a:xfrm>
            <a:off x="2761488" y="4224528"/>
            <a:ext cx="1325880" cy="73152"/>
          </a:xfrm>
          <a:prstGeom prst="straightConnector1">
            <a:avLst/>
          </a:prstGeom>
          <a:noFill/>
          <a:ln cap="flat" cmpd="sng" w="31750">
            <a:solidFill>
              <a:srgbClr val="E8833A"/>
            </a:solidFill>
            <a:prstDash val="solid"/>
            <a:round/>
            <a:headEnd len="sm" w="sm" type="none"/>
            <a:tailEnd len="sm" w="sm" type="none"/>
          </a:ln>
        </p:spPr>
      </p:cxnSp>
      <p:sp>
        <p:nvSpPr>
          <p:cNvPr id="1212" name="Google Shape;1212;p32"/>
          <p:cNvSpPr/>
          <p:nvPr/>
        </p:nvSpPr>
        <p:spPr>
          <a:xfrm>
            <a:off x="1261872" y="4050792"/>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2"/>
          <p:cNvSpPr/>
          <p:nvPr/>
        </p:nvSpPr>
        <p:spPr>
          <a:xfrm>
            <a:off x="1124712" y="405079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x₁</a:t>
            </a:r>
            <a:endParaRPr b="0" i="0" sz="900" u="none" cap="none" strike="noStrike">
              <a:solidFill>
                <a:schemeClr val="dk1"/>
              </a:solidFill>
              <a:latin typeface="Calibri"/>
              <a:ea typeface="Calibri"/>
              <a:cs typeface="Calibri"/>
              <a:sym typeface="Calibri"/>
            </a:endParaRPr>
          </a:p>
        </p:txBody>
      </p:sp>
      <p:sp>
        <p:nvSpPr>
          <p:cNvPr id="1214" name="Google Shape;1214;p32"/>
          <p:cNvSpPr/>
          <p:nvPr/>
        </p:nvSpPr>
        <p:spPr>
          <a:xfrm>
            <a:off x="1261872" y="4599432"/>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2"/>
          <p:cNvSpPr/>
          <p:nvPr/>
        </p:nvSpPr>
        <p:spPr>
          <a:xfrm>
            <a:off x="1124712" y="459943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x₂</a:t>
            </a:r>
            <a:endParaRPr b="0" i="0" sz="900" u="none" cap="none" strike="noStrike">
              <a:solidFill>
                <a:schemeClr val="dk1"/>
              </a:solidFill>
              <a:latin typeface="Calibri"/>
              <a:ea typeface="Calibri"/>
              <a:cs typeface="Calibri"/>
              <a:sym typeface="Calibri"/>
            </a:endParaRPr>
          </a:p>
        </p:txBody>
      </p:sp>
      <p:sp>
        <p:nvSpPr>
          <p:cNvPr id="1216" name="Google Shape;1216;p32"/>
          <p:cNvSpPr/>
          <p:nvPr/>
        </p:nvSpPr>
        <p:spPr>
          <a:xfrm>
            <a:off x="2587752" y="4050792"/>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2"/>
          <p:cNvSpPr/>
          <p:nvPr/>
        </p:nvSpPr>
        <p:spPr>
          <a:xfrm>
            <a:off x="2450592" y="405079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h₁</a:t>
            </a:r>
            <a:endParaRPr b="0" i="0" sz="900" u="none" cap="none" strike="noStrike">
              <a:solidFill>
                <a:schemeClr val="dk1"/>
              </a:solidFill>
              <a:latin typeface="Calibri"/>
              <a:ea typeface="Calibri"/>
              <a:cs typeface="Calibri"/>
              <a:sym typeface="Calibri"/>
            </a:endParaRPr>
          </a:p>
        </p:txBody>
      </p:sp>
      <p:sp>
        <p:nvSpPr>
          <p:cNvPr id="1218" name="Google Shape;1218;p32"/>
          <p:cNvSpPr/>
          <p:nvPr/>
        </p:nvSpPr>
        <p:spPr>
          <a:xfrm>
            <a:off x="2587752" y="4599432"/>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2"/>
          <p:cNvSpPr/>
          <p:nvPr/>
        </p:nvSpPr>
        <p:spPr>
          <a:xfrm>
            <a:off x="2450592" y="459943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h₂</a:t>
            </a:r>
            <a:endParaRPr b="0" i="0" sz="900" u="none" cap="none" strike="noStrike">
              <a:solidFill>
                <a:schemeClr val="dk1"/>
              </a:solidFill>
              <a:latin typeface="Calibri"/>
              <a:ea typeface="Calibri"/>
              <a:cs typeface="Calibri"/>
              <a:sym typeface="Calibri"/>
            </a:endParaRPr>
          </a:p>
        </p:txBody>
      </p:sp>
      <p:sp>
        <p:nvSpPr>
          <p:cNvPr id="1220" name="Google Shape;1220;p32"/>
          <p:cNvSpPr/>
          <p:nvPr/>
        </p:nvSpPr>
        <p:spPr>
          <a:xfrm>
            <a:off x="3913632" y="4123944"/>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2"/>
          <p:cNvSpPr/>
          <p:nvPr/>
        </p:nvSpPr>
        <p:spPr>
          <a:xfrm>
            <a:off x="3776472" y="412394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y₁</a:t>
            </a:r>
            <a:endParaRPr b="0" i="0" sz="900" u="none" cap="none" strike="noStrike">
              <a:solidFill>
                <a:schemeClr val="dk1"/>
              </a:solidFill>
              <a:latin typeface="Calibri"/>
              <a:ea typeface="Calibri"/>
              <a:cs typeface="Calibri"/>
              <a:sym typeface="Calibri"/>
            </a:endParaRPr>
          </a:p>
        </p:txBody>
      </p:sp>
      <p:sp>
        <p:nvSpPr>
          <p:cNvPr id="1222" name="Google Shape;1222;p32"/>
          <p:cNvSpPr/>
          <p:nvPr/>
        </p:nvSpPr>
        <p:spPr>
          <a:xfrm>
            <a:off x="3913632" y="4672584"/>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2"/>
          <p:cNvSpPr/>
          <p:nvPr/>
        </p:nvSpPr>
        <p:spPr>
          <a:xfrm>
            <a:off x="3776472" y="467258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y₂</a:t>
            </a:r>
            <a:endParaRPr b="0" i="0" sz="900" u="none" cap="none" strike="noStrike">
              <a:solidFill>
                <a:schemeClr val="dk1"/>
              </a:solidFill>
              <a:latin typeface="Calibri"/>
              <a:ea typeface="Calibri"/>
              <a:cs typeface="Calibri"/>
              <a:sym typeface="Calibri"/>
            </a:endParaRPr>
          </a:p>
        </p:txBody>
      </p:sp>
      <p:sp>
        <p:nvSpPr>
          <p:cNvPr id="1224" name="Google Shape;1224;p32"/>
          <p:cNvSpPr/>
          <p:nvPr/>
        </p:nvSpPr>
        <p:spPr>
          <a:xfrm>
            <a:off x="1261872" y="5184648"/>
            <a:ext cx="347472" cy="347472"/>
          </a:xfrm>
          <a:prstGeom prst="ellipse">
            <a:avLst/>
          </a:prstGeom>
          <a:solidFill>
            <a:srgbClr val="F4F1F9"/>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2"/>
          <p:cNvSpPr/>
          <p:nvPr/>
        </p:nvSpPr>
        <p:spPr>
          <a:xfrm>
            <a:off x="1124712" y="5184648"/>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226" name="Google Shape;1226;p32"/>
          <p:cNvSpPr/>
          <p:nvPr/>
        </p:nvSpPr>
        <p:spPr>
          <a:xfrm>
            <a:off x="2587752" y="5184648"/>
            <a:ext cx="347472" cy="347472"/>
          </a:xfrm>
          <a:prstGeom prst="ellipse">
            <a:avLst/>
          </a:prstGeom>
          <a:solidFill>
            <a:srgbClr val="F4F1F9"/>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2"/>
          <p:cNvSpPr/>
          <p:nvPr/>
        </p:nvSpPr>
        <p:spPr>
          <a:xfrm>
            <a:off x="2450592" y="5184648"/>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228" name="Google Shape;1228;p32"/>
          <p:cNvSpPr/>
          <p:nvPr/>
        </p:nvSpPr>
        <p:spPr>
          <a:xfrm>
            <a:off x="3035808" y="4023360"/>
            <a:ext cx="731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00"/>
              <a:buFont typeface="Calibri"/>
              <a:buNone/>
            </a:pPr>
            <a:r>
              <a:rPr b="1" i="0" lang="en-US" sz="1200" u="none" cap="none" strike="noStrike">
                <a:solidFill>
                  <a:srgbClr val="C4661F"/>
                </a:solidFill>
                <a:latin typeface="Calibri"/>
                <a:ea typeface="Calibri"/>
                <a:cs typeface="Calibri"/>
                <a:sym typeface="Calibri"/>
              </a:rPr>
              <a:t>w₁₁</a:t>
            </a:r>
            <a:endParaRPr b="0" i="0" sz="1200" u="none" cap="none" strike="noStrike">
              <a:solidFill>
                <a:schemeClr val="dk1"/>
              </a:solidFill>
              <a:latin typeface="Calibri"/>
              <a:ea typeface="Calibri"/>
              <a:cs typeface="Calibri"/>
              <a:sym typeface="Calibri"/>
            </a:endParaRPr>
          </a:p>
        </p:txBody>
      </p:sp>
      <p:sp>
        <p:nvSpPr>
          <p:cNvPr id="1229" name="Google Shape;1229;p32"/>
          <p:cNvSpPr/>
          <p:nvPr/>
        </p:nvSpPr>
        <p:spPr>
          <a:xfrm>
            <a:off x="4663440" y="4617720"/>
            <a:ext cx="6967728" cy="548640"/>
          </a:xfrm>
          <a:prstGeom prst="roundRect">
            <a:avLst>
              <a:gd fmla="val 15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2"/>
          <p:cNvSpPr/>
          <p:nvPr/>
        </p:nvSpPr>
        <p:spPr>
          <a:xfrm>
            <a:off x="4800600" y="4617720"/>
            <a:ext cx="6693408"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∂E/∂w₁₁ = 0.7414 · 0.1868 · 0.5933 = 0.0822</a:t>
            </a:r>
            <a:endParaRPr b="0" i="0" sz="1500" u="none" cap="none" strike="noStrike">
              <a:solidFill>
                <a:schemeClr val="dk1"/>
              </a:solidFill>
              <a:latin typeface="Calibri"/>
              <a:ea typeface="Calibri"/>
              <a:cs typeface="Calibri"/>
              <a:sym typeface="Calibri"/>
            </a:endParaRPr>
          </a:p>
        </p:txBody>
      </p:sp>
      <p:sp>
        <p:nvSpPr>
          <p:cNvPr id="1231" name="Google Shape;1231;p32"/>
          <p:cNvSpPr/>
          <p:nvPr/>
        </p:nvSpPr>
        <p:spPr>
          <a:xfrm>
            <a:off x="4663440" y="5257800"/>
            <a:ext cx="6967728" cy="548640"/>
          </a:xfrm>
          <a:prstGeom prst="roundRect">
            <a:avLst>
              <a:gd fmla="val 15000"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2"/>
          <p:cNvSpPr/>
          <p:nvPr/>
        </p:nvSpPr>
        <p:spPr>
          <a:xfrm>
            <a:off x="4800600" y="5257800"/>
            <a:ext cx="6693408"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w₁₁⁺ = w₁₁ − η ∂E/∂w₁₁ = 0.4 − 0.5 · 0.0822 = 0.3589   (η = 0.5)</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7" name="Shape 1237"/>
        <p:cNvGrpSpPr/>
        <p:nvPr/>
      </p:nvGrpSpPr>
      <p:grpSpPr>
        <a:xfrm>
          <a:off x="0" y="0"/>
          <a:ext cx="0" cy="0"/>
          <a:chOff x="0" y="0"/>
          <a:chExt cx="0" cy="0"/>
        </a:xfrm>
      </p:grpSpPr>
      <p:sp>
        <p:nvSpPr>
          <p:cNvPr id="1238" name="Google Shape;1238;p3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BACK-PROPAGATION, STEP BY STEP</a:t>
            </a:r>
            <a:endParaRPr b="0" i="0" sz="1050" u="none" cap="none" strike="noStrike">
              <a:solidFill>
                <a:schemeClr val="dk1"/>
              </a:solidFill>
              <a:latin typeface="Calibri"/>
              <a:ea typeface="Calibri"/>
              <a:cs typeface="Calibri"/>
              <a:sym typeface="Calibri"/>
            </a:endParaRPr>
          </a:p>
        </p:txBody>
      </p:sp>
      <p:sp>
        <p:nvSpPr>
          <p:cNvPr id="1239" name="Google Shape;1239;p3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Worked example — updating a hidden weight</a:t>
            </a:r>
            <a:endParaRPr b="0" i="0" sz="2800" u="none" cap="none" strike="noStrike">
              <a:solidFill>
                <a:schemeClr val="dk1"/>
              </a:solidFill>
              <a:latin typeface="Calibri"/>
              <a:ea typeface="Calibri"/>
              <a:cs typeface="Calibri"/>
              <a:sym typeface="Calibri"/>
            </a:endParaRPr>
          </a:p>
        </p:txBody>
      </p:sp>
      <p:sp>
        <p:nvSpPr>
          <p:cNvPr id="1240" name="Google Shape;1240;p33"/>
          <p:cNvSpPr/>
          <p:nvPr/>
        </p:nvSpPr>
        <p:spPr>
          <a:xfrm>
            <a:off x="566928" y="1261872"/>
            <a:ext cx="11057839" cy="2926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880"/>
              </a:buClr>
              <a:buSzPts val="1350"/>
              <a:buFont typeface="Calibri"/>
              <a:buNone/>
            </a:pPr>
            <a:r>
              <a:rPr b="0" i="0" lang="en-US" sz="1350" u="none" cap="none" strike="noStrike">
                <a:solidFill>
                  <a:srgbClr val="6E6880"/>
                </a:solidFill>
                <a:latin typeface="Calibri"/>
                <a:ea typeface="Calibri"/>
                <a:cs typeface="Calibri"/>
                <a:sym typeface="Calibri"/>
              </a:rPr>
              <a:t>For v₁₁ the chain is longer, and h₁ influences the error through both outputs.</a:t>
            </a:r>
            <a:endParaRPr b="0" i="0" sz="1350" u="none" cap="none" strike="noStrike">
              <a:solidFill>
                <a:schemeClr val="dk1"/>
              </a:solidFill>
              <a:latin typeface="Calibri"/>
              <a:ea typeface="Calibri"/>
              <a:cs typeface="Calibri"/>
              <a:sym typeface="Calibri"/>
            </a:endParaRPr>
          </a:p>
        </p:txBody>
      </p:sp>
      <p:sp>
        <p:nvSpPr>
          <p:cNvPr id="1241" name="Google Shape;1241;p33"/>
          <p:cNvSpPr/>
          <p:nvPr/>
        </p:nvSpPr>
        <p:spPr>
          <a:xfrm>
            <a:off x="566928" y="1627632"/>
            <a:ext cx="6858000" cy="731520"/>
          </a:xfrm>
          <a:prstGeom prst="roundRect">
            <a:avLst>
              <a:gd fmla="val 1125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3"/>
          <p:cNvSpPr/>
          <p:nvPr/>
        </p:nvSpPr>
        <p:spPr>
          <a:xfrm>
            <a:off x="704088" y="1627632"/>
            <a:ext cx="65836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700"/>
              <a:buFont typeface="Calibri"/>
              <a:buNone/>
            </a:pPr>
            <a:r>
              <a:rPr b="1" i="0" lang="en-US" sz="1700" u="none" cap="none" strike="noStrike">
                <a:solidFill>
                  <a:srgbClr val="E8833A"/>
                </a:solidFill>
                <a:latin typeface="Calibri"/>
                <a:ea typeface="Calibri"/>
                <a:cs typeface="Calibri"/>
                <a:sym typeface="Calibri"/>
              </a:rPr>
              <a:t>∂E/∂v₁₁ = (∂E/∂h₁) · (∂h₁/∂u₁) · (∂u₁/∂v₁₁)</a:t>
            </a:r>
            <a:endParaRPr b="0" i="0" sz="1700" u="none" cap="none" strike="noStrike">
              <a:solidFill>
                <a:schemeClr val="dk1"/>
              </a:solidFill>
              <a:latin typeface="Calibri"/>
              <a:ea typeface="Calibri"/>
              <a:cs typeface="Calibri"/>
              <a:sym typeface="Calibri"/>
            </a:endParaRPr>
          </a:p>
        </p:txBody>
      </p:sp>
      <p:sp>
        <p:nvSpPr>
          <p:cNvPr id="1243" name="Google Shape;1243;p33"/>
          <p:cNvSpPr/>
          <p:nvPr/>
        </p:nvSpPr>
        <p:spPr>
          <a:xfrm>
            <a:off x="566928" y="2432304"/>
            <a:ext cx="6858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with  h₁ = f(u₁)   and   u₁ = v₁₀ + x₁v₁₁ + x₂v₁₂</a:t>
            </a:r>
            <a:endParaRPr b="0" i="0" sz="1200" u="none" cap="none" strike="noStrike">
              <a:solidFill>
                <a:schemeClr val="dk1"/>
              </a:solidFill>
              <a:latin typeface="Calibri"/>
              <a:ea typeface="Calibri"/>
              <a:cs typeface="Calibri"/>
              <a:sym typeface="Calibri"/>
            </a:endParaRPr>
          </a:p>
        </p:txBody>
      </p:sp>
      <p:sp>
        <p:nvSpPr>
          <p:cNvPr id="1244" name="Google Shape;1244;p33"/>
          <p:cNvSpPr/>
          <p:nvPr/>
        </p:nvSpPr>
        <p:spPr>
          <a:xfrm>
            <a:off x="566928" y="2834640"/>
            <a:ext cx="6858000"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3"/>
          <p:cNvSpPr/>
          <p:nvPr/>
        </p:nvSpPr>
        <p:spPr>
          <a:xfrm>
            <a:off x="795528" y="2834640"/>
            <a:ext cx="1280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∂E/∂h₁</a:t>
            </a:r>
            <a:endParaRPr b="0" i="0" sz="1350" u="none" cap="none" strike="noStrike">
              <a:solidFill>
                <a:schemeClr val="dk1"/>
              </a:solidFill>
              <a:latin typeface="Calibri"/>
              <a:ea typeface="Calibri"/>
              <a:cs typeface="Calibri"/>
              <a:sym typeface="Calibri"/>
            </a:endParaRPr>
          </a:p>
        </p:txBody>
      </p:sp>
      <p:sp>
        <p:nvSpPr>
          <p:cNvPr id="1246" name="Google Shape;1246;p33"/>
          <p:cNvSpPr/>
          <p:nvPr/>
        </p:nvSpPr>
        <p:spPr>
          <a:xfrm>
            <a:off x="2075688" y="2834640"/>
            <a:ext cx="28346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 ∂E_y1/∂h₁ + ∂E_y2/∂h₁</a:t>
            </a:r>
            <a:endParaRPr b="0" i="0" sz="1250" u="none" cap="none" strike="noStrike">
              <a:solidFill>
                <a:schemeClr val="dk1"/>
              </a:solidFill>
              <a:latin typeface="Calibri"/>
              <a:ea typeface="Calibri"/>
              <a:cs typeface="Calibri"/>
              <a:sym typeface="Calibri"/>
            </a:endParaRPr>
          </a:p>
        </p:txBody>
      </p:sp>
      <p:sp>
        <p:nvSpPr>
          <p:cNvPr id="1247" name="Google Shape;1247;p33"/>
          <p:cNvSpPr/>
          <p:nvPr/>
        </p:nvSpPr>
        <p:spPr>
          <a:xfrm>
            <a:off x="4910328" y="283464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50"/>
              <a:buFont typeface="Calibri"/>
              <a:buNone/>
            </a:pPr>
            <a:r>
              <a:rPr b="1" i="0" lang="en-US" sz="1250" u="none" cap="none" strike="noStrike">
                <a:solidFill>
                  <a:srgbClr val="C4661F"/>
                </a:solidFill>
                <a:latin typeface="Calibri"/>
                <a:ea typeface="Calibri"/>
                <a:cs typeface="Calibri"/>
                <a:sym typeface="Calibri"/>
              </a:rPr>
              <a:t>= 0.0554 + (−0.0190) = 0.0364</a:t>
            </a:r>
            <a:endParaRPr b="0" i="0" sz="1250" u="none" cap="none" strike="noStrike">
              <a:solidFill>
                <a:schemeClr val="dk1"/>
              </a:solidFill>
              <a:latin typeface="Calibri"/>
              <a:ea typeface="Calibri"/>
              <a:cs typeface="Calibri"/>
              <a:sym typeface="Calibri"/>
            </a:endParaRPr>
          </a:p>
        </p:txBody>
      </p:sp>
      <p:sp>
        <p:nvSpPr>
          <p:cNvPr id="1248" name="Google Shape;1248;p33"/>
          <p:cNvSpPr/>
          <p:nvPr/>
        </p:nvSpPr>
        <p:spPr>
          <a:xfrm>
            <a:off x="566928" y="3493008"/>
            <a:ext cx="6858000" cy="566928"/>
          </a:xfrm>
          <a:prstGeom prst="roundRect">
            <a:avLst>
              <a:gd fmla="val 14516"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3"/>
          <p:cNvSpPr/>
          <p:nvPr/>
        </p:nvSpPr>
        <p:spPr>
          <a:xfrm>
            <a:off x="795528" y="3493008"/>
            <a:ext cx="1280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∂h₁/∂u₁</a:t>
            </a:r>
            <a:endParaRPr b="0" i="0" sz="1350" u="none" cap="none" strike="noStrike">
              <a:solidFill>
                <a:schemeClr val="dk1"/>
              </a:solidFill>
              <a:latin typeface="Calibri"/>
              <a:ea typeface="Calibri"/>
              <a:cs typeface="Calibri"/>
              <a:sym typeface="Calibri"/>
            </a:endParaRPr>
          </a:p>
        </p:txBody>
      </p:sp>
      <p:sp>
        <p:nvSpPr>
          <p:cNvPr id="1250" name="Google Shape;1250;p33"/>
          <p:cNvSpPr/>
          <p:nvPr/>
        </p:nvSpPr>
        <p:spPr>
          <a:xfrm>
            <a:off x="2075688" y="3493008"/>
            <a:ext cx="28346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 h₁(1 − h₁)   (sigmoid)</a:t>
            </a:r>
            <a:endParaRPr b="0" i="0" sz="1250" u="none" cap="none" strike="noStrike">
              <a:solidFill>
                <a:schemeClr val="dk1"/>
              </a:solidFill>
              <a:latin typeface="Calibri"/>
              <a:ea typeface="Calibri"/>
              <a:cs typeface="Calibri"/>
              <a:sym typeface="Calibri"/>
            </a:endParaRPr>
          </a:p>
        </p:txBody>
      </p:sp>
      <p:sp>
        <p:nvSpPr>
          <p:cNvPr id="1251" name="Google Shape;1251;p33"/>
          <p:cNvSpPr/>
          <p:nvPr/>
        </p:nvSpPr>
        <p:spPr>
          <a:xfrm>
            <a:off x="4910328" y="3493008"/>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50"/>
              <a:buFont typeface="Calibri"/>
              <a:buNone/>
            </a:pPr>
            <a:r>
              <a:rPr b="1" i="0" lang="en-US" sz="1250" u="none" cap="none" strike="noStrike">
                <a:solidFill>
                  <a:srgbClr val="C4661F"/>
                </a:solidFill>
                <a:latin typeface="Calibri"/>
                <a:ea typeface="Calibri"/>
                <a:cs typeface="Calibri"/>
                <a:sym typeface="Calibri"/>
              </a:rPr>
              <a:t>= 0.2413</a:t>
            </a:r>
            <a:endParaRPr b="0" i="0" sz="1250" u="none" cap="none" strike="noStrike">
              <a:solidFill>
                <a:schemeClr val="dk1"/>
              </a:solidFill>
              <a:latin typeface="Calibri"/>
              <a:ea typeface="Calibri"/>
              <a:cs typeface="Calibri"/>
              <a:sym typeface="Calibri"/>
            </a:endParaRPr>
          </a:p>
        </p:txBody>
      </p:sp>
      <p:sp>
        <p:nvSpPr>
          <p:cNvPr id="1252" name="Google Shape;1252;p33"/>
          <p:cNvSpPr/>
          <p:nvPr/>
        </p:nvSpPr>
        <p:spPr>
          <a:xfrm>
            <a:off x="566928" y="4151376"/>
            <a:ext cx="6858000"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3"/>
          <p:cNvSpPr/>
          <p:nvPr/>
        </p:nvSpPr>
        <p:spPr>
          <a:xfrm>
            <a:off x="795528" y="4151376"/>
            <a:ext cx="1280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1" i="0" lang="en-US" sz="1350" u="none" cap="none" strike="noStrike">
                <a:solidFill>
                  <a:srgbClr val="2D1B4E"/>
                </a:solidFill>
                <a:latin typeface="Calibri"/>
                <a:ea typeface="Calibri"/>
                <a:cs typeface="Calibri"/>
                <a:sym typeface="Calibri"/>
              </a:rPr>
              <a:t>∂u₁/∂v₁₁</a:t>
            </a:r>
            <a:endParaRPr b="0" i="0" sz="1350" u="none" cap="none" strike="noStrike">
              <a:solidFill>
                <a:schemeClr val="dk1"/>
              </a:solidFill>
              <a:latin typeface="Calibri"/>
              <a:ea typeface="Calibri"/>
              <a:cs typeface="Calibri"/>
              <a:sym typeface="Calibri"/>
            </a:endParaRPr>
          </a:p>
        </p:txBody>
      </p:sp>
      <p:sp>
        <p:nvSpPr>
          <p:cNvPr id="1254" name="Google Shape;1254;p33"/>
          <p:cNvSpPr/>
          <p:nvPr/>
        </p:nvSpPr>
        <p:spPr>
          <a:xfrm>
            <a:off x="2075688" y="4151376"/>
            <a:ext cx="28346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 x₁</a:t>
            </a:r>
            <a:endParaRPr b="0" i="0" sz="1250" u="none" cap="none" strike="noStrike">
              <a:solidFill>
                <a:schemeClr val="dk1"/>
              </a:solidFill>
              <a:latin typeface="Calibri"/>
              <a:ea typeface="Calibri"/>
              <a:cs typeface="Calibri"/>
              <a:sym typeface="Calibri"/>
            </a:endParaRPr>
          </a:p>
        </p:txBody>
      </p:sp>
      <p:sp>
        <p:nvSpPr>
          <p:cNvPr id="1255" name="Google Shape;1255;p33"/>
          <p:cNvSpPr/>
          <p:nvPr/>
        </p:nvSpPr>
        <p:spPr>
          <a:xfrm>
            <a:off x="4910328" y="4151376"/>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50"/>
              <a:buFont typeface="Calibri"/>
              <a:buNone/>
            </a:pPr>
            <a:r>
              <a:rPr b="1" i="0" lang="en-US" sz="1250" u="none" cap="none" strike="noStrike">
                <a:solidFill>
                  <a:srgbClr val="C4661F"/>
                </a:solidFill>
                <a:latin typeface="Calibri"/>
                <a:ea typeface="Calibri"/>
                <a:cs typeface="Calibri"/>
                <a:sym typeface="Calibri"/>
              </a:rPr>
              <a:t>= 0.05</a:t>
            </a:r>
            <a:endParaRPr b="0" i="0" sz="1250" u="none" cap="none" strike="noStrike">
              <a:solidFill>
                <a:schemeClr val="dk1"/>
              </a:solidFill>
              <a:latin typeface="Calibri"/>
              <a:ea typeface="Calibri"/>
              <a:cs typeface="Calibri"/>
              <a:sym typeface="Calibri"/>
            </a:endParaRPr>
          </a:p>
        </p:txBody>
      </p:sp>
      <p:sp>
        <p:nvSpPr>
          <p:cNvPr id="1256" name="Google Shape;1256;p33"/>
          <p:cNvSpPr/>
          <p:nvPr/>
        </p:nvSpPr>
        <p:spPr>
          <a:xfrm>
            <a:off x="566928" y="4846320"/>
            <a:ext cx="6858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455F"/>
              </a:buClr>
              <a:buSzPts val="1200"/>
              <a:buFont typeface="Calibri"/>
              <a:buNone/>
            </a:pPr>
            <a:r>
              <a:rPr b="0" i="1" lang="en-US" sz="1200" u="none" cap="none" strike="noStrike">
                <a:solidFill>
                  <a:srgbClr val="B8455F"/>
                </a:solidFill>
                <a:latin typeface="Calibri"/>
                <a:ea typeface="Calibri"/>
                <a:cs typeface="Calibri"/>
                <a:sym typeface="Calibri"/>
              </a:rPr>
              <a:t>E depends on h₁ through BOTH output units, so the two contributions are summed.</a:t>
            </a:r>
            <a:endParaRPr b="0" i="0" sz="1200" u="none" cap="none" strike="noStrike">
              <a:solidFill>
                <a:schemeClr val="dk1"/>
              </a:solidFill>
              <a:latin typeface="Calibri"/>
              <a:ea typeface="Calibri"/>
              <a:cs typeface="Calibri"/>
              <a:sym typeface="Calibri"/>
            </a:endParaRPr>
          </a:p>
        </p:txBody>
      </p:sp>
      <p:sp>
        <p:nvSpPr>
          <p:cNvPr id="1257" name="Google Shape;1257;p33"/>
          <p:cNvSpPr/>
          <p:nvPr/>
        </p:nvSpPr>
        <p:spPr>
          <a:xfrm>
            <a:off x="566928" y="5166360"/>
            <a:ext cx="6858000" cy="566928"/>
          </a:xfrm>
          <a:prstGeom prst="roundRect">
            <a:avLst>
              <a:gd fmla="val 14516"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3"/>
          <p:cNvSpPr/>
          <p:nvPr/>
        </p:nvSpPr>
        <p:spPr>
          <a:xfrm>
            <a:off x="704088" y="5166360"/>
            <a:ext cx="65836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∂E/∂v₁₁ = 0.0004   →   v₁₁⁺ = 0.1498</a:t>
            </a:r>
            <a:endParaRPr b="0" i="0" sz="1500" u="none" cap="none" strike="noStrike">
              <a:solidFill>
                <a:schemeClr val="dk1"/>
              </a:solidFill>
              <a:latin typeface="Calibri"/>
              <a:ea typeface="Calibri"/>
              <a:cs typeface="Calibri"/>
              <a:sym typeface="Calibri"/>
            </a:endParaRPr>
          </a:p>
        </p:txBody>
      </p:sp>
      <p:sp>
        <p:nvSpPr>
          <p:cNvPr id="1259" name="Google Shape;1259;p33"/>
          <p:cNvSpPr/>
          <p:nvPr/>
        </p:nvSpPr>
        <p:spPr>
          <a:xfrm>
            <a:off x="7589520" y="1627632"/>
            <a:ext cx="4041648" cy="2011680"/>
          </a:xfrm>
          <a:prstGeom prst="roundRect">
            <a:avLst>
              <a:gd fmla="val 4091"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0" name="Google Shape;1260;p33"/>
          <p:cNvCxnSpPr/>
          <p:nvPr/>
        </p:nvCxnSpPr>
        <p:spPr>
          <a:xfrm>
            <a:off x="8412480" y="1938528"/>
            <a:ext cx="1325880" cy="0"/>
          </a:xfrm>
          <a:prstGeom prst="straightConnector1">
            <a:avLst/>
          </a:prstGeom>
          <a:noFill/>
          <a:ln cap="flat" cmpd="sng" w="12700">
            <a:solidFill>
              <a:srgbClr val="D8D1E6"/>
            </a:solidFill>
            <a:prstDash val="solid"/>
            <a:round/>
            <a:headEnd len="sm" w="sm" type="none"/>
            <a:tailEnd len="sm" w="sm" type="none"/>
          </a:ln>
        </p:spPr>
      </p:cxnSp>
      <p:cxnSp>
        <p:nvCxnSpPr>
          <p:cNvPr id="1261" name="Google Shape;1261;p33"/>
          <p:cNvCxnSpPr/>
          <p:nvPr/>
        </p:nvCxnSpPr>
        <p:spPr>
          <a:xfrm>
            <a:off x="8412480" y="1938528"/>
            <a:ext cx="1325880" cy="548640"/>
          </a:xfrm>
          <a:prstGeom prst="straightConnector1">
            <a:avLst/>
          </a:prstGeom>
          <a:noFill/>
          <a:ln cap="flat" cmpd="sng" w="12700">
            <a:solidFill>
              <a:srgbClr val="D8D1E6"/>
            </a:solidFill>
            <a:prstDash val="solid"/>
            <a:round/>
            <a:headEnd len="sm" w="sm" type="none"/>
            <a:tailEnd len="sm" w="sm" type="none"/>
          </a:ln>
        </p:spPr>
      </p:cxnSp>
      <p:cxnSp>
        <p:nvCxnSpPr>
          <p:cNvPr id="1262" name="Google Shape;1262;p33"/>
          <p:cNvCxnSpPr/>
          <p:nvPr/>
        </p:nvCxnSpPr>
        <p:spPr>
          <a:xfrm flipH="1" rot="10800000">
            <a:off x="8412480" y="1938528"/>
            <a:ext cx="1325880" cy="548640"/>
          </a:xfrm>
          <a:prstGeom prst="straightConnector1">
            <a:avLst/>
          </a:prstGeom>
          <a:noFill/>
          <a:ln cap="flat" cmpd="sng" w="12700">
            <a:solidFill>
              <a:srgbClr val="D8D1E6"/>
            </a:solidFill>
            <a:prstDash val="solid"/>
            <a:round/>
            <a:headEnd len="sm" w="sm" type="none"/>
            <a:tailEnd len="sm" w="sm" type="none"/>
          </a:ln>
        </p:spPr>
      </p:cxnSp>
      <p:cxnSp>
        <p:nvCxnSpPr>
          <p:cNvPr id="1263" name="Google Shape;1263;p33"/>
          <p:cNvCxnSpPr/>
          <p:nvPr/>
        </p:nvCxnSpPr>
        <p:spPr>
          <a:xfrm>
            <a:off x="8412480" y="2487168"/>
            <a:ext cx="1325880" cy="0"/>
          </a:xfrm>
          <a:prstGeom prst="straightConnector1">
            <a:avLst/>
          </a:prstGeom>
          <a:noFill/>
          <a:ln cap="flat" cmpd="sng" w="12700">
            <a:solidFill>
              <a:srgbClr val="D8D1E6"/>
            </a:solidFill>
            <a:prstDash val="solid"/>
            <a:round/>
            <a:headEnd len="sm" w="sm" type="none"/>
            <a:tailEnd len="sm" w="sm" type="none"/>
          </a:ln>
        </p:spPr>
      </p:cxnSp>
      <p:cxnSp>
        <p:nvCxnSpPr>
          <p:cNvPr id="1264" name="Google Shape;1264;p33"/>
          <p:cNvCxnSpPr/>
          <p:nvPr/>
        </p:nvCxnSpPr>
        <p:spPr>
          <a:xfrm>
            <a:off x="9738360" y="1938528"/>
            <a:ext cx="1325880" cy="73152"/>
          </a:xfrm>
          <a:prstGeom prst="straightConnector1">
            <a:avLst/>
          </a:prstGeom>
          <a:noFill/>
          <a:ln cap="flat" cmpd="sng" w="12700">
            <a:solidFill>
              <a:srgbClr val="D8D1E6"/>
            </a:solidFill>
            <a:prstDash val="solid"/>
            <a:round/>
            <a:headEnd len="sm" w="sm" type="none"/>
            <a:tailEnd len="sm" w="sm" type="none"/>
          </a:ln>
        </p:spPr>
      </p:cxnSp>
      <p:cxnSp>
        <p:nvCxnSpPr>
          <p:cNvPr id="1265" name="Google Shape;1265;p33"/>
          <p:cNvCxnSpPr/>
          <p:nvPr/>
        </p:nvCxnSpPr>
        <p:spPr>
          <a:xfrm>
            <a:off x="9738360" y="1938528"/>
            <a:ext cx="1325880" cy="621792"/>
          </a:xfrm>
          <a:prstGeom prst="straightConnector1">
            <a:avLst/>
          </a:prstGeom>
          <a:noFill/>
          <a:ln cap="flat" cmpd="sng" w="12700">
            <a:solidFill>
              <a:srgbClr val="D8D1E6"/>
            </a:solidFill>
            <a:prstDash val="solid"/>
            <a:round/>
            <a:headEnd len="sm" w="sm" type="none"/>
            <a:tailEnd len="sm" w="sm" type="none"/>
          </a:ln>
        </p:spPr>
      </p:cxnSp>
      <p:cxnSp>
        <p:nvCxnSpPr>
          <p:cNvPr id="1266" name="Google Shape;1266;p33"/>
          <p:cNvCxnSpPr/>
          <p:nvPr/>
        </p:nvCxnSpPr>
        <p:spPr>
          <a:xfrm flipH="1" rot="10800000">
            <a:off x="9738360" y="2011680"/>
            <a:ext cx="1325880" cy="475488"/>
          </a:xfrm>
          <a:prstGeom prst="straightConnector1">
            <a:avLst/>
          </a:prstGeom>
          <a:noFill/>
          <a:ln cap="flat" cmpd="sng" w="12700">
            <a:solidFill>
              <a:srgbClr val="D8D1E6"/>
            </a:solidFill>
            <a:prstDash val="solid"/>
            <a:round/>
            <a:headEnd len="sm" w="sm" type="none"/>
            <a:tailEnd len="sm" w="sm" type="none"/>
          </a:ln>
        </p:spPr>
      </p:cxnSp>
      <p:cxnSp>
        <p:nvCxnSpPr>
          <p:cNvPr id="1267" name="Google Shape;1267;p33"/>
          <p:cNvCxnSpPr/>
          <p:nvPr/>
        </p:nvCxnSpPr>
        <p:spPr>
          <a:xfrm>
            <a:off x="9738360" y="2487168"/>
            <a:ext cx="1325880" cy="73152"/>
          </a:xfrm>
          <a:prstGeom prst="straightConnector1">
            <a:avLst/>
          </a:prstGeom>
          <a:noFill/>
          <a:ln cap="flat" cmpd="sng" w="12700">
            <a:solidFill>
              <a:srgbClr val="D8D1E6"/>
            </a:solidFill>
            <a:prstDash val="solid"/>
            <a:round/>
            <a:headEnd len="sm" w="sm" type="none"/>
            <a:tailEnd len="sm" w="sm" type="none"/>
          </a:ln>
        </p:spPr>
      </p:cxnSp>
      <p:cxnSp>
        <p:nvCxnSpPr>
          <p:cNvPr id="1268" name="Google Shape;1268;p33"/>
          <p:cNvCxnSpPr/>
          <p:nvPr/>
        </p:nvCxnSpPr>
        <p:spPr>
          <a:xfrm flipH="1" rot="10800000">
            <a:off x="8412480" y="1938528"/>
            <a:ext cx="1325880" cy="1133856"/>
          </a:xfrm>
          <a:prstGeom prst="straightConnector1">
            <a:avLst/>
          </a:prstGeom>
          <a:noFill/>
          <a:ln cap="flat" cmpd="sng" w="12700">
            <a:solidFill>
              <a:srgbClr val="D8D1E6"/>
            </a:solidFill>
            <a:prstDash val="solid"/>
            <a:round/>
            <a:headEnd len="sm" w="sm" type="none"/>
            <a:tailEnd len="sm" w="sm" type="none"/>
          </a:ln>
        </p:spPr>
      </p:cxnSp>
      <p:cxnSp>
        <p:nvCxnSpPr>
          <p:cNvPr id="1269" name="Google Shape;1269;p33"/>
          <p:cNvCxnSpPr/>
          <p:nvPr/>
        </p:nvCxnSpPr>
        <p:spPr>
          <a:xfrm flipH="1" rot="10800000">
            <a:off x="8412480" y="2487168"/>
            <a:ext cx="1325880" cy="585216"/>
          </a:xfrm>
          <a:prstGeom prst="straightConnector1">
            <a:avLst/>
          </a:prstGeom>
          <a:noFill/>
          <a:ln cap="flat" cmpd="sng" w="12700">
            <a:solidFill>
              <a:srgbClr val="D8D1E6"/>
            </a:solidFill>
            <a:prstDash val="solid"/>
            <a:round/>
            <a:headEnd len="sm" w="sm" type="none"/>
            <a:tailEnd len="sm" w="sm" type="none"/>
          </a:ln>
        </p:spPr>
      </p:cxnSp>
      <p:cxnSp>
        <p:nvCxnSpPr>
          <p:cNvPr id="1270" name="Google Shape;1270;p33"/>
          <p:cNvCxnSpPr/>
          <p:nvPr/>
        </p:nvCxnSpPr>
        <p:spPr>
          <a:xfrm flipH="1" rot="10800000">
            <a:off x="9738360" y="2011680"/>
            <a:ext cx="1325880" cy="1060704"/>
          </a:xfrm>
          <a:prstGeom prst="straightConnector1">
            <a:avLst/>
          </a:prstGeom>
          <a:noFill/>
          <a:ln cap="flat" cmpd="sng" w="12700">
            <a:solidFill>
              <a:srgbClr val="D8D1E6"/>
            </a:solidFill>
            <a:prstDash val="solid"/>
            <a:round/>
            <a:headEnd len="sm" w="sm" type="none"/>
            <a:tailEnd len="sm" w="sm" type="none"/>
          </a:ln>
        </p:spPr>
      </p:cxnSp>
      <p:cxnSp>
        <p:nvCxnSpPr>
          <p:cNvPr id="1271" name="Google Shape;1271;p33"/>
          <p:cNvCxnSpPr/>
          <p:nvPr/>
        </p:nvCxnSpPr>
        <p:spPr>
          <a:xfrm flipH="1" rot="10800000">
            <a:off x="9738360" y="2560320"/>
            <a:ext cx="1325880" cy="512064"/>
          </a:xfrm>
          <a:prstGeom prst="straightConnector1">
            <a:avLst/>
          </a:prstGeom>
          <a:noFill/>
          <a:ln cap="flat" cmpd="sng" w="12700">
            <a:solidFill>
              <a:srgbClr val="D8D1E6"/>
            </a:solidFill>
            <a:prstDash val="solid"/>
            <a:round/>
            <a:headEnd len="sm" w="sm" type="none"/>
            <a:tailEnd len="sm" w="sm" type="none"/>
          </a:ln>
        </p:spPr>
      </p:cxnSp>
      <p:cxnSp>
        <p:nvCxnSpPr>
          <p:cNvPr id="1272" name="Google Shape;1272;p33"/>
          <p:cNvCxnSpPr/>
          <p:nvPr/>
        </p:nvCxnSpPr>
        <p:spPr>
          <a:xfrm>
            <a:off x="8412480" y="1938528"/>
            <a:ext cx="1325880" cy="0"/>
          </a:xfrm>
          <a:prstGeom prst="straightConnector1">
            <a:avLst/>
          </a:prstGeom>
          <a:noFill/>
          <a:ln cap="flat" cmpd="sng" w="31750">
            <a:solidFill>
              <a:srgbClr val="E8833A"/>
            </a:solidFill>
            <a:prstDash val="solid"/>
            <a:round/>
            <a:headEnd len="sm" w="sm" type="none"/>
            <a:tailEnd len="sm" w="sm" type="none"/>
          </a:ln>
        </p:spPr>
      </p:cxnSp>
      <p:sp>
        <p:nvSpPr>
          <p:cNvPr id="1273" name="Google Shape;1273;p33"/>
          <p:cNvSpPr/>
          <p:nvPr/>
        </p:nvSpPr>
        <p:spPr>
          <a:xfrm>
            <a:off x="8238744" y="1764792"/>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3"/>
          <p:cNvSpPr/>
          <p:nvPr/>
        </p:nvSpPr>
        <p:spPr>
          <a:xfrm>
            <a:off x="8101584" y="176479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x₁</a:t>
            </a:r>
            <a:endParaRPr b="0" i="0" sz="900" u="none" cap="none" strike="noStrike">
              <a:solidFill>
                <a:schemeClr val="dk1"/>
              </a:solidFill>
              <a:latin typeface="Calibri"/>
              <a:ea typeface="Calibri"/>
              <a:cs typeface="Calibri"/>
              <a:sym typeface="Calibri"/>
            </a:endParaRPr>
          </a:p>
        </p:txBody>
      </p:sp>
      <p:sp>
        <p:nvSpPr>
          <p:cNvPr id="1275" name="Google Shape;1275;p33"/>
          <p:cNvSpPr/>
          <p:nvPr/>
        </p:nvSpPr>
        <p:spPr>
          <a:xfrm>
            <a:off x="8238744" y="2313432"/>
            <a:ext cx="347472" cy="347472"/>
          </a:xfrm>
          <a:prstGeom prst="ellipse">
            <a:avLst/>
          </a:prstGeom>
          <a:solidFill>
            <a:srgbClr val="FFFFF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3"/>
          <p:cNvSpPr/>
          <p:nvPr/>
        </p:nvSpPr>
        <p:spPr>
          <a:xfrm>
            <a:off x="8101584" y="231343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x₂</a:t>
            </a:r>
            <a:endParaRPr b="0" i="0" sz="900" u="none" cap="none" strike="noStrike">
              <a:solidFill>
                <a:schemeClr val="dk1"/>
              </a:solidFill>
              <a:latin typeface="Calibri"/>
              <a:ea typeface="Calibri"/>
              <a:cs typeface="Calibri"/>
              <a:sym typeface="Calibri"/>
            </a:endParaRPr>
          </a:p>
        </p:txBody>
      </p:sp>
      <p:sp>
        <p:nvSpPr>
          <p:cNvPr id="1277" name="Google Shape;1277;p33"/>
          <p:cNvSpPr/>
          <p:nvPr/>
        </p:nvSpPr>
        <p:spPr>
          <a:xfrm>
            <a:off x="9564624" y="1764792"/>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3"/>
          <p:cNvSpPr/>
          <p:nvPr/>
        </p:nvSpPr>
        <p:spPr>
          <a:xfrm>
            <a:off x="9427464" y="176479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h₁</a:t>
            </a:r>
            <a:endParaRPr b="0" i="0" sz="900" u="none" cap="none" strike="noStrike">
              <a:solidFill>
                <a:schemeClr val="dk1"/>
              </a:solidFill>
              <a:latin typeface="Calibri"/>
              <a:ea typeface="Calibri"/>
              <a:cs typeface="Calibri"/>
              <a:sym typeface="Calibri"/>
            </a:endParaRPr>
          </a:p>
        </p:txBody>
      </p:sp>
      <p:sp>
        <p:nvSpPr>
          <p:cNvPr id="1279" name="Google Shape;1279;p33"/>
          <p:cNvSpPr/>
          <p:nvPr/>
        </p:nvSpPr>
        <p:spPr>
          <a:xfrm>
            <a:off x="9564624" y="2313432"/>
            <a:ext cx="347472" cy="347472"/>
          </a:xfrm>
          <a:prstGeom prst="ellipse">
            <a:avLst/>
          </a:prstGeom>
          <a:solidFill>
            <a:srgbClr val="E9E3F3"/>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3"/>
          <p:cNvSpPr/>
          <p:nvPr/>
        </p:nvSpPr>
        <p:spPr>
          <a:xfrm>
            <a:off x="9427464" y="2313432"/>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h₂</a:t>
            </a:r>
            <a:endParaRPr b="0" i="0" sz="900" u="none" cap="none" strike="noStrike">
              <a:solidFill>
                <a:schemeClr val="dk1"/>
              </a:solidFill>
              <a:latin typeface="Calibri"/>
              <a:ea typeface="Calibri"/>
              <a:cs typeface="Calibri"/>
              <a:sym typeface="Calibri"/>
            </a:endParaRPr>
          </a:p>
        </p:txBody>
      </p:sp>
      <p:sp>
        <p:nvSpPr>
          <p:cNvPr id="1281" name="Google Shape;1281;p33"/>
          <p:cNvSpPr/>
          <p:nvPr/>
        </p:nvSpPr>
        <p:spPr>
          <a:xfrm>
            <a:off x="10890504" y="1837944"/>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3"/>
          <p:cNvSpPr/>
          <p:nvPr/>
        </p:nvSpPr>
        <p:spPr>
          <a:xfrm>
            <a:off x="10753344" y="183794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y₁</a:t>
            </a:r>
            <a:endParaRPr b="0" i="0" sz="900" u="none" cap="none" strike="noStrike">
              <a:solidFill>
                <a:schemeClr val="dk1"/>
              </a:solidFill>
              <a:latin typeface="Calibri"/>
              <a:ea typeface="Calibri"/>
              <a:cs typeface="Calibri"/>
              <a:sym typeface="Calibri"/>
            </a:endParaRPr>
          </a:p>
        </p:txBody>
      </p:sp>
      <p:sp>
        <p:nvSpPr>
          <p:cNvPr id="1283" name="Google Shape;1283;p33"/>
          <p:cNvSpPr/>
          <p:nvPr/>
        </p:nvSpPr>
        <p:spPr>
          <a:xfrm>
            <a:off x="10890504" y="2386584"/>
            <a:ext cx="347472" cy="347472"/>
          </a:xfrm>
          <a:prstGeom prst="ellipse">
            <a:avLst/>
          </a:prstGeom>
          <a:solidFill>
            <a:srgbClr val="F9E3CF"/>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3"/>
          <p:cNvSpPr/>
          <p:nvPr/>
        </p:nvSpPr>
        <p:spPr>
          <a:xfrm>
            <a:off x="10753344" y="2386584"/>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y₂</a:t>
            </a:r>
            <a:endParaRPr b="0" i="0" sz="900" u="none" cap="none" strike="noStrike">
              <a:solidFill>
                <a:schemeClr val="dk1"/>
              </a:solidFill>
              <a:latin typeface="Calibri"/>
              <a:ea typeface="Calibri"/>
              <a:cs typeface="Calibri"/>
              <a:sym typeface="Calibri"/>
            </a:endParaRPr>
          </a:p>
        </p:txBody>
      </p:sp>
      <p:sp>
        <p:nvSpPr>
          <p:cNvPr id="1285" name="Google Shape;1285;p33"/>
          <p:cNvSpPr/>
          <p:nvPr/>
        </p:nvSpPr>
        <p:spPr>
          <a:xfrm>
            <a:off x="8238744" y="2898648"/>
            <a:ext cx="347472" cy="347472"/>
          </a:xfrm>
          <a:prstGeom prst="ellipse">
            <a:avLst/>
          </a:prstGeom>
          <a:solidFill>
            <a:srgbClr val="F4F1F9"/>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3"/>
          <p:cNvSpPr/>
          <p:nvPr/>
        </p:nvSpPr>
        <p:spPr>
          <a:xfrm>
            <a:off x="8101584" y="2898648"/>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287" name="Google Shape;1287;p33"/>
          <p:cNvSpPr/>
          <p:nvPr/>
        </p:nvSpPr>
        <p:spPr>
          <a:xfrm>
            <a:off x="9564624" y="2898648"/>
            <a:ext cx="347472" cy="347472"/>
          </a:xfrm>
          <a:prstGeom prst="ellipse">
            <a:avLst/>
          </a:prstGeom>
          <a:solidFill>
            <a:srgbClr val="F4F1F9"/>
          </a:solidFill>
          <a:ln cap="flat" cmpd="sng" w="1587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3"/>
          <p:cNvSpPr/>
          <p:nvPr/>
        </p:nvSpPr>
        <p:spPr>
          <a:xfrm>
            <a:off x="9427464" y="2898648"/>
            <a:ext cx="62179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900"/>
              <a:buFont typeface="Calibri"/>
              <a:buNone/>
            </a:pPr>
            <a:r>
              <a:rPr b="1" i="0" lang="en-US" sz="900" u="none" cap="none" strike="noStrike">
                <a:solidFill>
                  <a:srgbClr val="2D1B4E"/>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289" name="Google Shape;1289;p33"/>
          <p:cNvSpPr/>
          <p:nvPr/>
        </p:nvSpPr>
        <p:spPr>
          <a:xfrm>
            <a:off x="8641080" y="1664208"/>
            <a:ext cx="731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00"/>
              <a:buFont typeface="Calibri"/>
              <a:buNone/>
            </a:pPr>
            <a:r>
              <a:rPr b="1" i="0" lang="en-US" sz="1200" u="none" cap="none" strike="noStrike">
                <a:solidFill>
                  <a:srgbClr val="C4661F"/>
                </a:solidFill>
                <a:latin typeface="Calibri"/>
                <a:ea typeface="Calibri"/>
                <a:cs typeface="Calibri"/>
                <a:sym typeface="Calibri"/>
              </a:rPr>
              <a:t>v₁₁</a:t>
            </a:r>
            <a:endParaRPr b="0" i="0" sz="1200" u="none" cap="none" strike="noStrike">
              <a:solidFill>
                <a:schemeClr val="dk1"/>
              </a:solidFill>
              <a:latin typeface="Calibri"/>
              <a:ea typeface="Calibri"/>
              <a:cs typeface="Calibri"/>
              <a:sym typeface="Calibri"/>
            </a:endParaRPr>
          </a:p>
        </p:txBody>
      </p:sp>
      <p:sp>
        <p:nvSpPr>
          <p:cNvPr id="1290" name="Google Shape;1290;p33"/>
          <p:cNvSpPr/>
          <p:nvPr/>
        </p:nvSpPr>
        <p:spPr>
          <a:xfrm>
            <a:off x="7589520" y="3794760"/>
            <a:ext cx="4041648" cy="1938528"/>
          </a:xfrm>
          <a:prstGeom prst="roundRect">
            <a:avLst>
              <a:gd fmla="val 424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3"/>
          <p:cNvSpPr/>
          <p:nvPr/>
        </p:nvSpPr>
        <p:spPr>
          <a:xfrm>
            <a:off x="7863840" y="3931920"/>
            <a:ext cx="3566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The key idea of back-propagation</a:t>
            </a:r>
            <a:endParaRPr b="0" i="0" sz="1400" u="none" cap="none" strike="noStrike">
              <a:solidFill>
                <a:schemeClr val="dk1"/>
              </a:solidFill>
              <a:latin typeface="Calibri"/>
              <a:ea typeface="Calibri"/>
              <a:cs typeface="Calibri"/>
              <a:sym typeface="Calibri"/>
            </a:endParaRPr>
          </a:p>
        </p:txBody>
      </p:sp>
      <p:sp>
        <p:nvSpPr>
          <p:cNvPr id="1292" name="Google Shape;1292;p33"/>
          <p:cNvSpPr/>
          <p:nvPr/>
        </p:nvSpPr>
        <p:spPr>
          <a:xfrm>
            <a:off x="7863840" y="4315968"/>
            <a:ext cx="3566160" cy="13258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E9E3F3"/>
              </a:buClr>
              <a:buSzPts val="1150"/>
              <a:buFont typeface="Calibri"/>
              <a:buChar char="•"/>
            </a:pPr>
            <a:r>
              <a:rPr b="0" i="0" lang="en-US" sz="1150" u="none" cap="none" strike="noStrike">
                <a:solidFill>
                  <a:srgbClr val="E9E3F3"/>
                </a:solidFill>
                <a:latin typeface="Calibri"/>
                <a:ea typeface="Calibri"/>
                <a:cs typeface="Calibri"/>
                <a:sym typeface="Calibri"/>
              </a:rPr>
              <a:t>We have no target values for the hidden units.</a:t>
            </a:r>
            <a:endParaRPr b="0" i="0" sz="11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150"/>
              <a:buFont typeface="Calibri"/>
              <a:buChar char="•"/>
            </a:pPr>
            <a:r>
              <a:rPr b="0" i="0" lang="en-US" sz="1150" u="none" cap="none" strike="noStrike">
                <a:solidFill>
                  <a:srgbClr val="E9E3F3"/>
                </a:solidFill>
                <a:latin typeface="Calibri"/>
                <a:ea typeface="Calibri"/>
                <a:cs typeface="Calibri"/>
                <a:sym typeface="Calibri"/>
              </a:rPr>
              <a:t>So instead of a desired output for the hidden layer, we use the derivatives of the error with respect to the hidden layer outputs — the chain rule.</a:t>
            </a:r>
            <a:endParaRPr b="0" i="0" sz="11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150"/>
              <a:buFont typeface="Calibri"/>
              <a:buChar char="•"/>
            </a:pPr>
            <a:r>
              <a:rPr b="0" i="0" lang="en-US" sz="1150" u="none" cap="none" strike="noStrike">
                <a:solidFill>
                  <a:srgbClr val="E9E3F3"/>
                </a:solidFill>
                <a:latin typeface="Calibri"/>
                <a:ea typeface="Calibri"/>
                <a:cs typeface="Calibri"/>
                <a:sym typeface="Calibri"/>
              </a:rPr>
              <a:t>Similarly: v₁₂⁺ = 0.1996, v₂₁⁺ = 0.2498, v₂₂⁺ = 0.2995.</a:t>
            </a:r>
            <a:endParaRPr b="0" i="0" sz="1150" u="none" cap="none" strike="noStrike">
              <a:solidFill>
                <a:schemeClr val="dk1"/>
              </a:solidFill>
              <a:latin typeface="Calibri"/>
              <a:ea typeface="Calibri"/>
              <a:cs typeface="Calibri"/>
              <a:sym typeface="Calibri"/>
            </a:endParaRPr>
          </a:p>
        </p:txBody>
      </p:sp>
      <p:sp>
        <p:nvSpPr>
          <p:cNvPr id="1293" name="Google Shape;1293;p33"/>
          <p:cNvSpPr/>
          <p:nvPr/>
        </p:nvSpPr>
        <p:spPr>
          <a:xfrm>
            <a:off x="566928" y="6327648"/>
            <a:ext cx="1105783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8" name="Shape 1298"/>
        <p:cNvGrpSpPr/>
        <p:nvPr/>
      </p:nvGrpSpPr>
      <p:grpSpPr>
        <a:xfrm>
          <a:off x="0" y="0"/>
          <a:ext cx="0" cy="0"/>
          <a:chOff x="0" y="0"/>
          <a:chExt cx="0" cy="0"/>
        </a:xfrm>
      </p:grpSpPr>
      <p:sp>
        <p:nvSpPr>
          <p:cNvPr id="1299" name="Google Shape;1299;p34"/>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GRADIENT-BASED LEARNING</a:t>
            </a:r>
            <a:endParaRPr b="0" i="0" sz="1050" u="none" cap="none" strike="noStrike">
              <a:solidFill>
                <a:schemeClr val="dk1"/>
              </a:solidFill>
              <a:latin typeface="Calibri"/>
              <a:ea typeface="Calibri"/>
              <a:cs typeface="Calibri"/>
              <a:sym typeface="Calibri"/>
            </a:endParaRPr>
          </a:p>
        </p:txBody>
      </p:sp>
      <p:sp>
        <p:nvSpPr>
          <p:cNvPr id="1300" name="Google Shape;1300;p34"/>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How often do we update the weights?</a:t>
            </a:r>
            <a:endParaRPr b="0" i="0" sz="2800" u="none" cap="none" strike="noStrike">
              <a:solidFill>
                <a:schemeClr val="dk1"/>
              </a:solidFill>
              <a:latin typeface="Calibri"/>
              <a:ea typeface="Calibri"/>
              <a:cs typeface="Calibri"/>
              <a:sym typeface="Calibri"/>
            </a:endParaRPr>
          </a:p>
        </p:txBody>
      </p:sp>
      <p:sp>
        <p:nvSpPr>
          <p:cNvPr id="1301" name="Google Shape;1301;p34"/>
          <p:cNvSpPr/>
          <p:nvPr/>
        </p:nvSpPr>
        <p:spPr>
          <a:xfrm>
            <a:off x="566928" y="1280160"/>
            <a:ext cx="11057839" cy="777240"/>
          </a:xfrm>
          <a:prstGeom prst="roundRect">
            <a:avLst>
              <a:gd fmla="val 10588"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4"/>
          <p:cNvSpPr/>
          <p:nvPr/>
        </p:nvSpPr>
        <p:spPr>
          <a:xfrm>
            <a:off x="704088" y="1280160"/>
            <a:ext cx="10783519"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600"/>
              <a:buFont typeface="Calibri"/>
              <a:buNone/>
            </a:pPr>
            <a:r>
              <a:rPr b="1" i="0" lang="en-US" sz="1600" u="none" cap="none" strike="noStrike">
                <a:solidFill>
                  <a:srgbClr val="2D1B4E"/>
                </a:solidFill>
                <a:latin typeface="Calibri"/>
                <a:ea typeface="Calibri"/>
                <a:cs typeface="Calibri"/>
                <a:sym typeface="Calibri"/>
              </a:rPr>
              <a:t>wₖⱼ⁺  ←  wₖⱼ − η ∂E/∂wₖⱼ  =  wₖⱼ − η Σₙ₌₁ᴺ ∂E(y⁽ⁿ⁾, t⁽ⁿ⁾; w) / ∂wₖⱼ</a:t>
            </a:r>
            <a:endParaRPr b="0" i="0" sz="1600" u="none" cap="none" strike="noStrike">
              <a:solidFill>
                <a:schemeClr val="dk1"/>
              </a:solidFill>
              <a:latin typeface="Calibri"/>
              <a:ea typeface="Calibri"/>
              <a:cs typeface="Calibri"/>
              <a:sym typeface="Calibri"/>
            </a:endParaRPr>
          </a:p>
        </p:txBody>
      </p:sp>
      <p:sp>
        <p:nvSpPr>
          <p:cNvPr id="1303" name="Google Shape;1303;p34"/>
          <p:cNvSpPr/>
          <p:nvPr/>
        </p:nvSpPr>
        <p:spPr>
          <a:xfrm>
            <a:off x="566928" y="2331720"/>
            <a:ext cx="3566160" cy="2377440"/>
          </a:xfrm>
          <a:prstGeom prst="roundRect">
            <a:avLst>
              <a:gd fmla="val 3462"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4"/>
          <p:cNvSpPr/>
          <p:nvPr/>
        </p:nvSpPr>
        <p:spPr>
          <a:xfrm>
            <a:off x="822960" y="2569464"/>
            <a:ext cx="420624" cy="420624"/>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4"/>
          <p:cNvSpPr/>
          <p:nvPr/>
        </p:nvSpPr>
        <p:spPr>
          <a:xfrm>
            <a:off x="822960"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306" name="Google Shape;1306;p34"/>
          <p:cNvSpPr/>
          <p:nvPr/>
        </p:nvSpPr>
        <p:spPr>
          <a:xfrm>
            <a:off x="1408176" y="255117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Batch gradient descent</a:t>
            </a:r>
            <a:endParaRPr b="0" i="0" sz="1450" u="none" cap="none" strike="noStrike">
              <a:solidFill>
                <a:schemeClr val="dk1"/>
              </a:solidFill>
              <a:latin typeface="Calibri"/>
              <a:ea typeface="Calibri"/>
              <a:cs typeface="Calibri"/>
              <a:sym typeface="Calibri"/>
            </a:endParaRPr>
          </a:p>
        </p:txBody>
      </p:sp>
      <p:sp>
        <p:nvSpPr>
          <p:cNvPr id="1307" name="Google Shape;1307;p34"/>
          <p:cNvSpPr/>
          <p:nvPr/>
        </p:nvSpPr>
        <p:spPr>
          <a:xfrm>
            <a:off x="841248" y="3118104"/>
            <a:ext cx="3017520" cy="14081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Use the whole training set to compute one update. The gradient is accurate and the path to the minimum is smooth — but every step is expensive, and it is impossible for very large datasets.</a:t>
            </a:r>
            <a:endParaRPr b="0" i="0" sz="1250" u="none" cap="none" strike="noStrike">
              <a:solidFill>
                <a:schemeClr val="dk1"/>
              </a:solidFill>
              <a:latin typeface="Calibri"/>
              <a:ea typeface="Calibri"/>
              <a:cs typeface="Calibri"/>
              <a:sym typeface="Calibri"/>
            </a:endParaRPr>
          </a:p>
        </p:txBody>
      </p:sp>
      <p:sp>
        <p:nvSpPr>
          <p:cNvPr id="1308" name="Google Shape;1308;p34"/>
          <p:cNvSpPr/>
          <p:nvPr/>
        </p:nvSpPr>
        <p:spPr>
          <a:xfrm>
            <a:off x="4370832" y="2331720"/>
            <a:ext cx="3566160" cy="2377440"/>
          </a:xfrm>
          <a:prstGeom prst="roundRect">
            <a:avLst>
              <a:gd fmla="val 3462"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4"/>
          <p:cNvSpPr/>
          <p:nvPr/>
        </p:nvSpPr>
        <p:spPr>
          <a:xfrm>
            <a:off x="4626864" y="2569464"/>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4"/>
          <p:cNvSpPr/>
          <p:nvPr/>
        </p:nvSpPr>
        <p:spPr>
          <a:xfrm>
            <a:off x="4626864"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311" name="Google Shape;1311;p34"/>
          <p:cNvSpPr/>
          <p:nvPr/>
        </p:nvSpPr>
        <p:spPr>
          <a:xfrm>
            <a:off x="5212080" y="255117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Stochastic gradient descent</a:t>
            </a:r>
            <a:endParaRPr b="0" i="0" sz="1450" u="none" cap="none" strike="noStrike">
              <a:solidFill>
                <a:schemeClr val="dk1"/>
              </a:solidFill>
              <a:latin typeface="Calibri"/>
              <a:ea typeface="Calibri"/>
              <a:cs typeface="Calibri"/>
              <a:sym typeface="Calibri"/>
            </a:endParaRPr>
          </a:p>
        </p:txBody>
      </p:sp>
      <p:sp>
        <p:nvSpPr>
          <p:cNvPr id="1312" name="Google Shape;1312;p34"/>
          <p:cNvSpPr/>
          <p:nvPr/>
        </p:nvSpPr>
        <p:spPr>
          <a:xfrm>
            <a:off x="4645152" y="3118104"/>
            <a:ext cx="3017520" cy="14081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Update after each training case. Steps are cheap and the noise can help escape poor regions, but the trajectory is noisy and the hardware is used inefficiently.</a:t>
            </a:r>
            <a:endParaRPr b="0" i="0" sz="1250" u="none" cap="none" strike="noStrike">
              <a:solidFill>
                <a:schemeClr val="dk1"/>
              </a:solidFill>
              <a:latin typeface="Calibri"/>
              <a:ea typeface="Calibri"/>
              <a:cs typeface="Calibri"/>
              <a:sym typeface="Calibri"/>
            </a:endParaRPr>
          </a:p>
        </p:txBody>
      </p:sp>
      <p:sp>
        <p:nvSpPr>
          <p:cNvPr id="1313" name="Google Shape;1313;p34"/>
          <p:cNvSpPr/>
          <p:nvPr/>
        </p:nvSpPr>
        <p:spPr>
          <a:xfrm>
            <a:off x="8174736" y="2331720"/>
            <a:ext cx="3566160" cy="2377440"/>
          </a:xfrm>
          <a:prstGeom prst="roundRect">
            <a:avLst>
              <a:gd fmla="val 3462"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4"/>
          <p:cNvSpPr/>
          <p:nvPr/>
        </p:nvSpPr>
        <p:spPr>
          <a:xfrm>
            <a:off x="8430768" y="2569464"/>
            <a:ext cx="420624" cy="420624"/>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4"/>
          <p:cNvSpPr/>
          <p:nvPr/>
        </p:nvSpPr>
        <p:spPr>
          <a:xfrm>
            <a:off x="843076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316" name="Google Shape;1316;p34"/>
          <p:cNvSpPr/>
          <p:nvPr/>
        </p:nvSpPr>
        <p:spPr>
          <a:xfrm>
            <a:off x="9015984" y="255117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Mini-batch</a:t>
            </a:r>
            <a:endParaRPr b="0" i="0" sz="1450" u="none" cap="none" strike="noStrike">
              <a:solidFill>
                <a:schemeClr val="dk1"/>
              </a:solidFill>
              <a:latin typeface="Calibri"/>
              <a:ea typeface="Calibri"/>
              <a:cs typeface="Calibri"/>
              <a:sym typeface="Calibri"/>
            </a:endParaRPr>
          </a:p>
        </p:txBody>
      </p:sp>
      <p:sp>
        <p:nvSpPr>
          <p:cNvPr id="1317" name="Google Shape;1317;p34"/>
          <p:cNvSpPr/>
          <p:nvPr/>
        </p:nvSpPr>
        <p:spPr>
          <a:xfrm>
            <a:off x="8449056" y="3118104"/>
            <a:ext cx="3017520" cy="14081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 trade-off between the two: compute the gradient over a small batch of examples. This is what essentially every deep learning framework does by default.</a:t>
            </a:r>
            <a:endParaRPr b="0" i="0" sz="1250" u="none" cap="none" strike="noStrike">
              <a:solidFill>
                <a:schemeClr val="dk1"/>
              </a:solidFill>
              <a:latin typeface="Calibri"/>
              <a:ea typeface="Calibri"/>
              <a:cs typeface="Calibri"/>
              <a:sym typeface="Calibri"/>
            </a:endParaRPr>
          </a:p>
        </p:txBody>
      </p:sp>
      <p:sp>
        <p:nvSpPr>
          <p:cNvPr id="1318" name="Google Shape;1318;p34"/>
          <p:cNvSpPr/>
          <p:nvPr/>
        </p:nvSpPr>
        <p:spPr>
          <a:xfrm>
            <a:off x="566928" y="4983480"/>
            <a:ext cx="11057839" cy="777240"/>
          </a:xfrm>
          <a:prstGeom prst="roundRect">
            <a:avLst>
              <a:gd fmla="val 10588"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4"/>
          <p:cNvSpPr/>
          <p:nvPr/>
        </p:nvSpPr>
        <p:spPr>
          <a:xfrm>
            <a:off x="886968" y="4983480"/>
            <a:ext cx="10417759"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libri"/>
              <a:buNone/>
            </a:pPr>
            <a:r>
              <a:rPr b="0" i="1" lang="en-US" sz="1300" u="none" cap="none" strike="noStrike">
                <a:solidFill>
                  <a:srgbClr val="2D1B4E"/>
                </a:solidFill>
                <a:latin typeface="Calibri"/>
                <a:ea typeface="Calibri"/>
                <a:cs typeface="Calibri"/>
                <a:sym typeface="Calibri"/>
              </a:rPr>
              <a:t>Batch size and learning rate are hyperparameters — they are chosen on the validation set, never on the test set.</a:t>
            </a:r>
            <a:endParaRPr b="0" i="0" sz="1300" u="none" cap="none" strike="noStrike">
              <a:solidFill>
                <a:schemeClr val="dk1"/>
              </a:solidFill>
              <a:latin typeface="Calibri"/>
              <a:ea typeface="Calibri"/>
              <a:cs typeface="Calibri"/>
              <a:sym typeface="Calibri"/>
            </a:endParaRPr>
          </a:p>
        </p:txBody>
      </p:sp>
      <p:sp>
        <p:nvSpPr>
          <p:cNvPr id="1320" name="Google Shape;1320;p34"/>
          <p:cNvSpPr/>
          <p:nvPr/>
        </p:nvSpPr>
        <p:spPr>
          <a:xfrm>
            <a:off x="566928" y="6327648"/>
            <a:ext cx="1105783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1325" name="Shape 1325"/>
        <p:cNvGrpSpPr/>
        <p:nvPr/>
      </p:nvGrpSpPr>
      <p:grpSpPr>
        <a:xfrm>
          <a:off x="0" y="0"/>
          <a:ext cx="0" cy="0"/>
          <a:chOff x="0" y="0"/>
          <a:chExt cx="0" cy="0"/>
        </a:xfrm>
      </p:grpSpPr>
      <p:cxnSp>
        <p:nvCxnSpPr>
          <p:cNvPr id="1326" name="Google Shape;1326;p35"/>
          <p:cNvCxnSpPr/>
          <p:nvPr/>
        </p:nvCxnSpPr>
        <p:spPr>
          <a:xfrm flipH="1" rot="10800000">
            <a:off x="7955280" y="1700784"/>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327" name="Google Shape;1327;p35"/>
          <p:cNvCxnSpPr/>
          <p:nvPr/>
        </p:nvCxnSpPr>
        <p:spPr>
          <a:xfrm>
            <a:off x="7955280" y="211226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328" name="Google Shape;1328;p35"/>
          <p:cNvCxnSpPr/>
          <p:nvPr/>
        </p:nvCxnSpPr>
        <p:spPr>
          <a:xfrm>
            <a:off x="7955280" y="2112264"/>
            <a:ext cx="1219200" cy="1810512"/>
          </a:xfrm>
          <a:prstGeom prst="straightConnector1">
            <a:avLst/>
          </a:prstGeom>
          <a:noFill/>
          <a:ln cap="flat" cmpd="sng" w="9525">
            <a:solidFill>
              <a:srgbClr val="9C8CC4"/>
            </a:solidFill>
            <a:prstDash val="solid"/>
            <a:round/>
            <a:headEnd len="sm" w="sm" type="none"/>
            <a:tailEnd len="sm" w="sm" type="none"/>
          </a:ln>
        </p:spPr>
      </p:cxnSp>
      <p:cxnSp>
        <p:nvCxnSpPr>
          <p:cNvPr id="1329" name="Google Shape;1329;p35"/>
          <p:cNvCxnSpPr/>
          <p:nvPr/>
        </p:nvCxnSpPr>
        <p:spPr>
          <a:xfrm>
            <a:off x="7955280" y="2112264"/>
            <a:ext cx="1219200" cy="2962656"/>
          </a:xfrm>
          <a:prstGeom prst="straightConnector1">
            <a:avLst/>
          </a:prstGeom>
          <a:noFill/>
          <a:ln cap="flat" cmpd="sng" w="9525">
            <a:solidFill>
              <a:srgbClr val="9C8CC4"/>
            </a:solidFill>
            <a:prstDash val="solid"/>
            <a:round/>
            <a:headEnd len="sm" w="sm" type="none"/>
            <a:tailEnd len="sm" w="sm" type="none"/>
          </a:ln>
        </p:spPr>
      </p:cxnSp>
      <p:cxnSp>
        <p:nvCxnSpPr>
          <p:cNvPr id="1330" name="Google Shape;1330;p35"/>
          <p:cNvCxnSpPr/>
          <p:nvPr/>
        </p:nvCxnSpPr>
        <p:spPr>
          <a:xfrm flipH="1" rot="10800000">
            <a:off x="7955280" y="1700784"/>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331" name="Google Shape;1331;p35"/>
          <p:cNvCxnSpPr/>
          <p:nvPr/>
        </p:nvCxnSpPr>
        <p:spPr>
          <a:xfrm flipH="1" rot="10800000">
            <a:off x="7955280" y="2770632"/>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332" name="Google Shape;1332;p35"/>
          <p:cNvCxnSpPr/>
          <p:nvPr/>
        </p:nvCxnSpPr>
        <p:spPr>
          <a:xfrm>
            <a:off x="7955280" y="3429000"/>
            <a:ext cx="1219200" cy="493776"/>
          </a:xfrm>
          <a:prstGeom prst="straightConnector1">
            <a:avLst/>
          </a:prstGeom>
          <a:noFill/>
          <a:ln cap="flat" cmpd="sng" w="9525">
            <a:solidFill>
              <a:srgbClr val="9C8CC4"/>
            </a:solidFill>
            <a:prstDash val="solid"/>
            <a:round/>
            <a:headEnd len="sm" w="sm" type="none"/>
            <a:tailEnd len="sm" w="sm" type="none"/>
          </a:ln>
        </p:spPr>
      </p:cxnSp>
      <p:cxnSp>
        <p:nvCxnSpPr>
          <p:cNvPr id="1333" name="Google Shape;1333;p35"/>
          <p:cNvCxnSpPr/>
          <p:nvPr/>
        </p:nvCxnSpPr>
        <p:spPr>
          <a:xfrm>
            <a:off x="7955280" y="3429000"/>
            <a:ext cx="1219200" cy="1645920"/>
          </a:xfrm>
          <a:prstGeom prst="straightConnector1">
            <a:avLst/>
          </a:prstGeom>
          <a:noFill/>
          <a:ln cap="flat" cmpd="sng" w="9525">
            <a:solidFill>
              <a:srgbClr val="9C8CC4"/>
            </a:solidFill>
            <a:prstDash val="solid"/>
            <a:round/>
            <a:headEnd len="sm" w="sm" type="none"/>
            <a:tailEnd len="sm" w="sm" type="none"/>
          </a:ln>
        </p:spPr>
      </p:cxnSp>
      <p:cxnSp>
        <p:nvCxnSpPr>
          <p:cNvPr id="1334" name="Google Shape;1334;p35"/>
          <p:cNvCxnSpPr/>
          <p:nvPr/>
        </p:nvCxnSpPr>
        <p:spPr>
          <a:xfrm flipH="1" rot="10800000">
            <a:off x="7955280" y="1700784"/>
            <a:ext cx="1219200" cy="3044952"/>
          </a:xfrm>
          <a:prstGeom prst="straightConnector1">
            <a:avLst/>
          </a:prstGeom>
          <a:noFill/>
          <a:ln cap="flat" cmpd="sng" w="9525">
            <a:solidFill>
              <a:srgbClr val="9C8CC4"/>
            </a:solidFill>
            <a:prstDash val="solid"/>
            <a:round/>
            <a:headEnd len="sm" w="sm" type="none"/>
            <a:tailEnd len="sm" w="sm" type="none"/>
          </a:ln>
        </p:spPr>
      </p:cxnSp>
      <p:cxnSp>
        <p:nvCxnSpPr>
          <p:cNvPr id="1335" name="Google Shape;1335;p35"/>
          <p:cNvCxnSpPr/>
          <p:nvPr/>
        </p:nvCxnSpPr>
        <p:spPr>
          <a:xfrm flipH="1" rot="10800000">
            <a:off x="7955280" y="277063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336" name="Google Shape;1336;p35"/>
          <p:cNvCxnSpPr/>
          <p:nvPr/>
        </p:nvCxnSpPr>
        <p:spPr>
          <a:xfrm flipH="1" rot="10800000">
            <a:off x="7955280" y="3922776"/>
            <a:ext cx="1219200" cy="822960"/>
          </a:xfrm>
          <a:prstGeom prst="straightConnector1">
            <a:avLst/>
          </a:prstGeom>
          <a:noFill/>
          <a:ln cap="flat" cmpd="sng" w="9525">
            <a:solidFill>
              <a:srgbClr val="9C8CC4"/>
            </a:solidFill>
            <a:prstDash val="solid"/>
            <a:round/>
            <a:headEnd len="sm" w="sm" type="none"/>
            <a:tailEnd len="sm" w="sm" type="none"/>
          </a:ln>
        </p:spPr>
      </p:cxnSp>
      <p:cxnSp>
        <p:nvCxnSpPr>
          <p:cNvPr id="1337" name="Google Shape;1337;p35"/>
          <p:cNvCxnSpPr/>
          <p:nvPr/>
        </p:nvCxnSpPr>
        <p:spPr>
          <a:xfrm>
            <a:off x="7955280" y="4745736"/>
            <a:ext cx="1219200" cy="329184"/>
          </a:xfrm>
          <a:prstGeom prst="straightConnector1">
            <a:avLst/>
          </a:prstGeom>
          <a:noFill/>
          <a:ln cap="flat" cmpd="sng" w="9525">
            <a:solidFill>
              <a:srgbClr val="9C8CC4"/>
            </a:solidFill>
            <a:prstDash val="solid"/>
            <a:round/>
            <a:headEnd len="sm" w="sm" type="none"/>
            <a:tailEnd len="sm" w="sm" type="none"/>
          </a:ln>
        </p:spPr>
      </p:cxnSp>
      <p:cxnSp>
        <p:nvCxnSpPr>
          <p:cNvPr id="1338" name="Google Shape;1338;p35"/>
          <p:cNvCxnSpPr/>
          <p:nvPr/>
        </p:nvCxnSpPr>
        <p:spPr>
          <a:xfrm>
            <a:off x="9174480" y="170078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339" name="Google Shape;1339;p35"/>
          <p:cNvCxnSpPr/>
          <p:nvPr/>
        </p:nvCxnSpPr>
        <p:spPr>
          <a:xfrm>
            <a:off x="9174480" y="1700784"/>
            <a:ext cx="1219200" cy="1933956"/>
          </a:xfrm>
          <a:prstGeom prst="straightConnector1">
            <a:avLst/>
          </a:prstGeom>
          <a:noFill/>
          <a:ln cap="flat" cmpd="sng" w="9525">
            <a:solidFill>
              <a:srgbClr val="9C8CC4"/>
            </a:solidFill>
            <a:prstDash val="solid"/>
            <a:round/>
            <a:headEnd len="sm" w="sm" type="none"/>
            <a:tailEnd len="sm" w="sm" type="none"/>
          </a:ln>
        </p:spPr>
      </p:cxnSp>
      <p:cxnSp>
        <p:nvCxnSpPr>
          <p:cNvPr id="1340" name="Google Shape;1340;p35"/>
          <p:cNvCxnSpPr/>
          <p:nvPr/>
        </p:nvCxnSpPr>
        <p:spPr>
          <a:xfrm>
            <a:off x="9174480" y="1700784"/>
            <a:ext cx="1219200" cy="3127248"/>
          </a:xfrm>
          <a:prstGeom prst="straightConnector1">
            <a:avLst/>
          </a:prstGeom>
          <a:noFill/>
          <a:ln cap="flat" cmpd="sng" w="9525">
            <a:solidFill>
              <a:srgbClr val="9C8CC4"/>
            </a:solidFill>
            <a:prstDash val="solid"/>
            <a:round/>
            <a:headEnd len="sm" w="sm" type="none"/>
            <a:tailEnd len="sm" w="sm" type="none"/>
          </a:ln>
        </p:spPr>
      </p:cxnSp>
      <p:cxnSp>
        <p:nvCxnSpPr>
          <p:cNvPr id="1341" name="Google Shape;1341;p35"/>
          <p:cNvCxnSpPr/>
          <p:nvPr/>
        </p:nvCxnSpPr>
        <p:spPr>
          <a:xfrm flipH="1" rot="10800000">
            <a:off x="9174480" y="2359152"/>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342" name="Google Shape;1342;p35"/>
          <p:cNvCxnSpPr/>
          <p:nvPr/>
        </p:nvCxnSpPr>
        <p:spPr>
          <a:xfrm>
            <a:off x="9174480" y="2770632"/>
            <a:ext cx="1219200" cy="864108"/>
          </a:xfrm>
          <a:prstGeom prst="straightConnector1">
            <a:avLst/>
          </a:prstGeom>
          <a:noFill/>
          <a:ln cap="flat" cmpd="sng" w="9525">
            <a:solidFill>
              <a:srgbClr val="9C8CC4"/>
            </a:solidFill>
            <a:prstDash val="solid"/>
            <a:round/>
            <a:headEnd len="sm" w="sm" type="none"/>
            <a:tailEnd len="sm" w="sm" type="none"/>
          </a:ln>
        </p:spPr>
      </p:cxnSp>
      <p:cxnSp>
        <p:nvCxnSpPr>
          <p:cNvPr id="1343" name="Google Shape;1343;p35"/>
          <p:cNvCxnSpPr/>
          <p:nvPr/>
        </p:nvCxnSpPr>
        <p:spPr>
          <a:xfrm>
            <a:off x="9174480" y="2770632"/>
            <a:ext cx="1219200" cy="2057400"/>
          </a:xfrm>
          <a:prstGeom prst="straightConnector1">
            <a:avLst/>
          </a:prstGeom>
          <a:noFill/>
          <a:ln cap="flat" cmpd="sng" w="9525">
            <a:solidFill>
              <a:srgbClr val="9C8CC4"/>
            </a:solidFill>
            <a:prstDash val="solid"/>
            <a:round/>
            <a:headEnd len="sm" w="sm" type="none"/>
            <a:tailEnd len="sm" w="sm" type="none"/>
          </a:ln>
        </p:spPr>
      </p:cxnSp>
      <p:cxnSp>
        <p:nvCxnSpPr>
          <p:cNvPr id="1344" name="Google Shape;1344;p35"/>
          <p:cNvCxnSpPr/>
          <p:nvPr/>
        </p:nvCxnSpPr>
        <p:spPr>
          <a:xfrm flipH="1" rot="10800000">
            <a:off x="9174480" y="2359152"/>
            <a:ext cx="1219200" cy="1563624"/>
          </a:xfrm>
          <a:prstGeom prst="straightConnector1">
            <a:avLst/>
          </a:prstGeom>
          <a:noFill/>
          <a:ln cap="flat" cmpd="sng" w="9525">
            <a:solidFill>
              <a:srgbClr val="9C8CC4"/>
            </a:solidFill>
            <a:prstDash val="solid"/>
            <a:round/>
            <a:headEnd len="sm" w="sm" type="none"/>
            <a:tailEnd len="sm" w="sm" type="none"/>
          </a:ln>
        </p:spPr>
      </p:cxnSp>
      <p:cxnSp>
        <p:nvCxnSpPr>
          <p:cNvPr id="1345" name="Google Shape;1345;p35"/>
          <p:cNvCxnSpPr/>
          <p:nvPr/>
        </p:nvCxnSpPr>
        <p:spPr>
          <a:xfrm flipH="1" rot="10800000">
            <a:off x="9174480" y="3634740"/>
            <a:ext cx="1219200" cy="288036"/>
          </a:xfrm>
          <a:prstGeom prst="straightConnector1">
            <a:avLst/>
          </a:prstGeom>
          <a:noFill/>
          <a:ln cap="flat" cmpd="sng" w="9525">
            <a:solidFill>
              <a:srgbClr val="9C8CC4"/>
            </a:solidFill>
            <a:prstDash val="solid"/>
            <a:round/>
            <a:headEnd len="sm" w="sm" type="none"/>
            <a:tailEnd len="sm" w="sm" type="none"/>
          </a:ln>
        </p:spPr>
      </p:cxnSp>
      <p:cxnSp>
        <p:nvCxnSpPr>
          <p:cNvPr id="1346" name="Google Shape;1346;p35"/>
          <p:cNvCxnSpPr/>
          <p:nvPr/>
        </p:nvCxnSpPr>
        <p:spPr>
          <a:xfrm>
            <a:off x="9174480" y="3922776"/>
            <a:ext cx="1219200" cy="905256"/>
          </a:xfrm>
          <a:prstGeom prst="straightConnector1">
            <a:avLst/>
          </a:prstGeom>
          <a:noFill/>
          <a:ln cap="flat" cmpd="sng" w="9525">
            <a:solidFill>
              <a:srgbClr val="9C8CC4"/>
            </a:solidFill>
            <a:prstDash val="solid"/>
            <a:round/>
            <a:headEnd len="sm" w="sm" type="none"/>
            <a:tailEnd len="sm" w="sm" type="none"/>
          </a:ln>
        </p:spPr>
      </p:cxnSp>
      <p:cxnSp>
        <p:nvCxnSpPr>
          <p:cNvPr id="1347" name="Google Shape;1347;p35"/>
          <p:cNvCxnSpPr/>
          <p:nvPr/>
        </p:nvCxnSpPr>
        <p:spPr>
          <a:xfrm flipH="1" rot="10800000">
            <a:off x="9174480" y="2359152"/>
            <a:ext cx="1219200" cy="2715768"/>
          </a:xfrm>
          <a:prstGeom prst="straightConnector1">
            <a:avLst/>
          </a:prstGeom>
          <a:noFill/>
          <a:ln cap="flat" cmpd="sng" w="9525">
            <a:solidFill>
              <a:srgbClr val="9C8CC4"/>
            </a:solidFill>
            <a:prstDash val="solid"/>
            <a:round/>
            <a:headEnd len="sm" w="sm" type="none"/>
            <a:tailEnd len="sm" w="sm" type="none"/>
          </a:ln>
        </p:spPr>
      </p:cxnSp>
      <p:cxnSp>
        <p:nvCxnSpPr>
          <p:cNvPr id="1348" name="Google Shape;1348;p35"/>
          <p:cNvCxnSpPr/>
          <p:nvPr/>
        </p:nvCxnSpPr>
        <p:spPr>
          <a:xfrm flipH="1" rot="10800000">
            <a:off x="9174480" y="3634740"/>
            <a:ext cx="1219200" cy="1440180"/>
          </a:xfrm>
          <a:prstGeom prst="straightConnector1">
            <a:avLst/>
          </a:prstGeom>
          <a:noFill/>
          <a:ln cap="flat" cmpd="sng" w="9525">
            <a:solidFill>
              <a:srgbClr val="9C8CC4"/>
            </a:solidFill>
            <a:prstDash val="solid"/>
            <a:round/>
            <a:headEnd len="sm" w="sm" type="none"/>
            <a:tailEnd len="sm" w="sm" type="none"/>
          </a:ln>
        </p:spPr>
      </p:cxnSp>
      <p:cxnSp>
        <p:nvCxnSpPr>
          <p:cNvPr id="1349" name="Google Shape;1349;p35"/>
          <p:cNvCxnSpPr/>
          <p:nvPr/>
        </p:nvCxnSpPr>
        <p:spPr>
          <a:xfrm flipH="1" rot="10800000">
            <a:off x="9174480" y="4828032"/>
            <a:ext cx="1219200" cy="246888"/>
          </a:xfrm>
          <a:prstGeom prst="straightConnector1">
            <a:avLst/>
          </a:prstGeom>
          <a:noFill/>
          <a:ln cap="flat" cmpd="sng" w="9525">
            <a:solidFill>
              <a:srgbClr val="9C8CC4"/>
            </a:solidFill>
            <a:prstDash val="solid"/>
            <a:round/>
            <a:headEnd len="sm" w="sm" type="none"/>
            <a:tailEnd len="sm" w="sm" type="none"/>
          </a:ln>
        </p:spPr>
      </p:cxnSp>
      <p:cxnSp>
        <p:nvCxnSpPr>
          <p:cNvPr id="1350" name="Google Shape;1350;p35"/>
          <p:cNvCxnSpPr/>
          <p:nvPr/>
        </p:nvCxnSpPr>
        <p:spPr>
          <a:xfrm>
            <a:off x="10393680" y="2359152"/>
            <a:ext cx="1219200" cy="740664"/>
          </a:xfrm>
          <a:prstGeom prst="straightConnector1">
            <a:avLst/>
          </a:prstGeom>
          <a:noFill/>
          <a:ln cap="flat" cmpd="sng" w="9525">
            <a:solidFill>
              <a:srgbClr val="9C8CC4"/>
            </a:solidFill>
            <a:prstDash val="solid"/>
            <a:round/>
            <a:headEnd len="sm" w="sm" type="none"/>
            <a:tailEnd len="sm" w="sm" type="none"/>
          </a:ln>
        </p:spPr>
      </p:cxnSp>
      <p:cxnSp>
        <p:nvCxnSpPr>
          <p:cNvPr id="1351" name="Google Shape;1351;p35"/>
          <p:cNvCxnSpPr/>
          <p:nvPr/>
        </p:nvCxnSpPr>
        <p:spPr>
          <a:xfrm>
            <a:off x="10393680" y="235915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352" name="Google Shape;1352;p35"/>
          <p:cNvCxnSpPr/>
          <p:nvPr/>
        </p:nvCxnSpPr>
        <p:spPr>
          <a:xfrm flipH="1" rot="10800000">
            <a:off x="10393680" y="3099816"/>
            <a:ext cx="1219200" cy="534924"/>
          </a:xfrm>
          <a:prstGeom prst="straightConnector1">
            <a:avLst/>
          </a:prstGeom>
          <a:noFill/>
          <a:ln cap="flat" cmpd="sng" w="9525">
            <a:solidFill>
              <a:srgbClr val="9C8CC4"/>
            </a:solidFill>
            <a:prstDash val="solid"/>
            <a:round/>
            <a:headEnd len="sm" w="sm" type="none"/>
            <a:tailEnd len="sm" w="sm" type="none"/>
          </a:ln>
        </p:spPr>
      </p:cxnSp>
      <p:cxnSp>
        <p:nvCxnSpPr>
          <p:cNvPr id="1353" name="Google Shape;1353;p35"/>
          <p:cNvCxnSpPr/>
          <p:nvPr/>
        </p:nvCxnSpPr>
        <p:spPr>
          <a:xfrm>
            <a:off x="10393680" y="3634740"/>
            <a:ext cx="1219200" cy="699516"/>
          </a:xfrm>
          <a:prstGeom prst="straightConnector1">
            <a:avLst/>
          </a:prstGeom>
          <a:noFill/>
          <a:ln cap="flat" cmpd="sng" w="9525">
            <a:solidFill>
              <a:srgbClr val="9C8CC4"/>
            </a:solidFill>
            <a:prstDash val="solid"/>
            <a:round/>
            <a:headEnd len="sm" w="sm" type="none"/>
            <a:tailEnd len="sm" w="sm" type="none"/>
          </a:ln>
        </p:spPr>
      </p:cxnSp>
      <p:cxnSp>
        <p:nvCxnSpPr>
          <p:cNvPr id="1354" name="Google Shape;1354;p35"/>
          <p:cNvCxnSpPr/>
          <p:nvPr/>
        </p:nvCxnSpPr>
        <p:spPr>
          <a:xfrm flipH="1" rot="10800000">
            <a:off x="10393680" y="3099816"/>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355" name="Google Shape;1355;p35"/>
          <p:cNvCxnSpPr/>
          <p:nvPr/>
        </p:nvCxnSpPr>
        <p:spPr>
          <a:xfrm flipH="1" rot="10800000">
            <a:off x="10393680" y="4334256"/>
            <a:ext cx="1219200" cy="493776"/>
          </a:xfrm>
          <a:prstGeom prst="straightConnector1">
            <a:avLst/>
          </a:prstGeom>
          <a:noFill/>
          <a:ln cap="flat" cmpd="sng" w="9525">
            <a:solidFill>
              <a:srgbClr val="9C8CC4"/>
            </a:solidFill>
            <a:prstDash val="solid"/>
            <a:round/>
            <a:headEnd len="sm" w="sm" type="none"/>
            <a:tailEnd len="sm" w="sm" type="none"/>
          </a:ln>
        </p:spPr>
      </p:cxnSp>
      <p:sp>
        <p:nvSpPr>
          <p:cNvPr id="1356" name="Google Shape;1356;p35"/>
          <p:cNvSpPr/>
          <p:nvPr/>
        </p:nvSpPr>
        <p:spPr>
          <a:xfrm>
            <a:off x="7886700" y="20436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5"/>
          <p:cNvSpPr/>
          <p:nvPr/>
        </p:nvSpPr>
        <p:spPr>
          <a:xfrm>
            <a:off x="788670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5"/>
          <p:cNvSpPr/>
          <p:nvPr/>
        </p:nvSpPr>
        <p:spPr>
          <a:xfrm>
            <a:off x="7886700" y="467715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5"/>
          <p:cNvSpPr/>
          <p:nvPr/>
        </p:nvSpPr>
        <p:spPr>
          <a:xfrm>
            <a:off x="9105900" y="163220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5"/>
          <p:cNvSpPr/>
          <p:nvPr/>
        </p:nvSpPr>
        <p:spPr>
          <a:xfrm>
            <a:off x="9105900" y="27020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5"/>
          <p:cNvSpPr/>
          <p:nvPr/>
        </p:nvSpPr>
        <p:spPr>
          <a:xfrm>
            <a:off x="9105900" y="385419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5"/>
          <p:cNvSpPr/>
          <p:nvPr/>
        </p:nvSpPr>
        <p:spPr>
          <a:xfrm>
            <a:off x="9105900" y="50063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5"/>
          <p:cNvSpPr/>
          <p:nvPr/>
        </p:nvSpPr>
        <p:spPr>
          <a:xfrm>
            <a:off x="10325100" y="229057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5"/>
          <p:cNvSpPr/>
          <p:nvPr/>
        </p:nvSpPr>
        <p:spPr>
          <a:xfrm>
            <a:off x="10325100" y="356616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5"/>
          <p:cNvSpPr/>
          <p:nvPr/>
        </p:nvSpPr>
        <p:spPr>
          <a:xfrm>
            <a:off x="10325100" y="47594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5"/>
          <p:cNvSpPr/>
          <p:nvPr/>
        </p:nvSpPr>
        <p:spPr>
          <a:xfrm>
            <a:off x="11544300" y="303123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5"/>
          <p:cNvSpPr/>
          <p:nvPr/>
        </p:nvSpPr>
        <p:spPr>
          <a:xfrm>
            <a:off x="11544300" y="426567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5"/>
          <p:cNvSpPr/>
          <p:nvPr/>
        </p:nvSpPr>
        <p:spPr>
          <a:xfrm>
            <a:off x="566928" y="1417320"/>
            <a:ext cx="2743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9600"/>
              <a:buFont typeface="Cambria"/>
              <a:buNone/>
            </a:pPr>
            <a:r>
              <a:rPr b="1" i="0" lang="en-US" sz="9600" u="none" cap="none" strike="noStrike">
                <a:solidFill>
                  <a:srgbClr val="E8833A"/>
                </a:solidFill>
                <a:latin typeface="Cambria"/>
                <a:ea typeface="Cambria"/>
                <a:cs typeface="Cambria"/>
                <a:sym typeface="Cambria"/>
              </a:rPr>
              <a:t>04</a:t>
            </a:r>
            <a:endParaRPr b="0" i="0" sz="9600" u="none" cap="none" strike="noStrike">
              <a:solidFill>
                <a:schemeClr val="dk1"/>
              </a:solidFill>
              <a:latin typeface="Calibri"/>
              <a:ea typeface="Calibri"/>
              <a:cs typeface="Calibri"/>
              <a:sym typeface="Calibri"/>
            </a:endParaRPr>
          </a:p>
        </p:txBody>
      </p:sp>
      <p:sp>
        <p:nvSpPr>
          <p:cNvPr id="1369" name="Google Shape;1369;p35"/>
          <p:cNvSpPr/>
          <p:nvPr/>
        </p:nvSpPr>
        <p:spPr>
          <a:xfrm>
            <a:off x="566928" y="2880360"/>
            <a:ext cx="67665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Cost functions, output &amp; hidden units</a:t>
            </a:r>
            <a:endParaRPr b="0" i="0" sz="4000" u="none" cap="none" strike="noStrike">
              <a:solidFill>
                <a:schemeClr val="dk1"/>
              </a:solidFill>
              <a:latin typeface="Calibri"/>
              <a:ea typeface="Calibri"/>
              <a:cs typeface="Calibri"/>
              <a:sym typeface="Calibri"/>
            </a:endParaRPr>
          </a:p>
        </p:txBody>
      </p:sp>
      <p:sp>
        <p:nvSpPr>
          <p:cNvPr id="1370" name="Google Shape;1370;p35"/>
          <p:cNvSpPr/>
          <p:nvPr/>
        </p:nvSpPr>
        <p:spPr>
          <a:xfrm>
            <a:off x="566928" y="388620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600"/>
              <a:buFont typeface="Calibri"/>
              <a:buNone/>
            </a:pPr>
            <a:r>
              <a:rPr b="0" i="1" lang="en-US" sz="1600" u="none" cap="none" strike="noStrike">
                <a:solidFill>
                  <a:srgbClr val="9C8CC4"/>
                </a:solidFill>
                <a:latin typeface="Calibri"/>
                <a:ea typeface="Calibri"/>
                <a:cs typeface="Calibri"/>
                <a:sym typeface="Calibri"/>
              </a:rPr>
              <a:t>The three choices that define a network</a:t>
            </a:r>
            <a:endParaRPr b="0" i="0" sz="1600" u="none" cap="none" strike="noStrike">
              <a:solidFill>
                <a:schemeClr val="dk1"/>
              </a:solidFill>
              <a:latin typeface="Calibri"/>
              <a:ea typeface="Calibri"/>
              <a:cs typeface="Calibri"/>
              <a:sym typeface="Calibri"/>
            </a:endParaRPr>
          </a:p>
        </p:txBody>
      </p:sp>
      <p:sp>
        <p:nvSpPr>
          <p:cNvPr id="1371" name="Google Shape;1371;p35"/>
          <p:cNvSpPr/>
          <p:nvPr/>
        </p:nvSpPr>
        <p:spPr>
          <a:xfrm>
            <a:off x="612648" y="4480560"/>
            <a:ext cx="6400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How the cost function and the output unit are chosen together</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Why cross-entropy replaced squared error</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ReLU, maxout, sigmoid and tanh — and how deep to go</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6" name="Shape 1376"/>
        <p:cNvGrpSpPr/>
        <p:nvPr/>
      </p:nvGrpSpPr>
      <p:grpSpPr>
        <a:xfrm>
          <a:off x="0" y="0"/>
          <a:ext cx="0" cy="0"/>
          <a:chOff x="0" y="0"/>
          <a:chExt cx="0" cy="0"/>
        </a:xfrm>
      </p:grpSpPr>
      <p:sp>
        <p:nvSpPr>
          <p:cNvPr id="1377" name="Google Shape;1377;p3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COST FUNCTIONS</a:t>
            </a:r>
            <a:endParaRPr b="0" i="0" sz="1050" u="none" cap="none" strike="noStrike">
              <a:solidFill>
                <a:schemeClr val="dk1"/>
              </a:solidFill>
              <a:latin typeface="Calibri"/>
              <a:ea typeface="Calibri"/>
              <a:cs typeface="Calibri"/>
              <a:sym typeface="Calibri"/>
            </a:endParaRPr>
          </a:p>
        </p:txBody>
      </p:sp>
      <p:sp>
        <p:nvSpPr>
          <p:cNvPr id="1378" name="Google Shape;1378;p3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Choosing a cost function</a:t>
            </a:r>
            <a:endParaRPr b="0" i="0" sz="2800" u="none" cap="none" strike="noStrike">
              <a:solidFill>
                <a:schemeClr val="dk1"/>
              </a:solidFill>
              <a:latin typeface="Calibri"/>
              <a:ea typeface="Calibri"/>
              <a:cs typeface="Calibri"/>
              <a:sym typeface="Calibri"/>
            </a:endParaRPr>
          </a:p>
        </p:txBody>
      </p:sp>
      <p:sp>
        <p:nvSpPr>
          <p:cNvPr id="1379" name="Google Shape;1379;p36"/>
          <p:cNvSpPr/>
          <p:nvPr/>
        </p:nvSpPr>
        <p:spPr>
          <a:xfrm>
            <a:off x="566928" y="1371600"/>
            <a:ext cx="5669280" cy="27432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To apply gradient-based learning we must choose a cost function and choose how to represent the output of the model. The two decisions are coupled.</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total cost used to train a network usually combines a primary cost function with a regularization term.</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In tasks such as regression we often want to learn just one conditional statistic of y given x — for example its mean, or its median.</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Different cost functions give different statistics. Which one you optimise decides which statistic you get.</a:t>
            </a:r>
            <a:endParaRPr b="0" i="0" sz="1350" u="none" cap="none" strike="noStrike">
              <a:solidFill>
                <a:schemeClr val="dk1"/>
              </a:solidFill>
              <a:latin typeface="Calibri"/>
              <a:ea typeface="Calibri"/>
              <a:cs typeface="Calibri"/>
              <a:sym typeface="Calibri"/>
            </a:endParaRPr>
          </a:p>
        </p:txBody>
      </p:sp>
      <p:sp>
        <p:nvSpPr>
          <p:cNvPr id="1380" name="Google Shape;1380;p36"/>
          <p:cNvSpPr/>
          <p:nvPr/>
        </p:nvSpPr>
        <p:spPr>
          <a:xfrm>
            <a:off x="566928" y="4206240"/>
            <a:ext cx="5669280" cy="1554480"/>
          </a:xfrm>
          <a:prstGeom prst="roundRect">
            <a:avLst>
              <a:gd fmla="val 5294"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6"/>
          <p:cNvSpPr/>
          <p:nvPr/>
        </p:nvSpPr>
        <p:spPr>
          <a:xfrm>
            <a:off x="841248" y="4315968"/>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Mean or median? A quick reminder</a:t>
            </a:r>
            <a:endParaRPr b="0" i="0" sz="1400" u="none" cap="none" strike="noStrike">
              <a:solidFill>
                <a:schemeClr val="dk1"/>
              </a:solidFill>
              <a:latin typeface="Calibri"/>
              <a:ea typeface="Calibri"/>
              <a:cs typeface="Calibri"/>
              <a:sym typeface="Calibri"/>
            </a:endParaRPr>
          </a:p>
        </p:txBody>
      </p:sp>
      <p:sp>
        <p:nvSpPr>
          <p:cNvPr id="1382" name="Google Shape;1382;p36"/>
          <p:cNvSpPr/>
          <p:nvPr/>
        </p:nvSpPr>
        <p:spPr>
          <a:xfrm>
            <a:off x="841248" y="4645152"/>
            <a:ext cx="5120640" cy="100584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Five incomes of 10, 20, 30, 40, 50   →   mean 30,  median 30</a:t>
            </a:r>
            <a:endParaRPr b="0" i="0" sz="1250" u="none" cap="none" strike="noStrike">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Five incomes of 10, 20, 30, 40, 200  →   mean 60,  median 30</a:t>
            </a:r>
            <a:endParaRPr b="0" i="0" sz="1250" u="none" cap="none" strike="noStrike">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 change at the top of the distribution doubled the mean and left the median untouched.</a:t>
            </a:r>
            <a:endParaRPr b="0" i="0" sz="1250" u="none" cap="none" strike="noStrike">
              <a:solidFill>
                <a:schemeClr val="dk1"/>
              </a:solidFill>
              <a:latin typeface="Calibri"/>
              <a:ea typeface="Calibri"/>
              <a:cs typeface="Calibri"/>
              <a:sym typeface="Calibri"/>
            </a:endParaRPr>
          </a:p>
        </p:txBody>
      </p:sp>
      <p:sp>
        <p:nvSpPr>
          <p:cNvPr id="1383" name="Google Shape;1383;p36"/>
          <p:cNvSpPr/>
          <p:nvPr/>
        </p:nvSpPr>
        <p:spPr>
          <a:xfrm>
            <a:off x="6446520" y="1371600"/>
            <a:ext cx="5184648" cy="210312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6"/>
          <p:cNvSpPr/>
          <p:nvPr/>
        </p:nvSpPr>
        <p:spPr>
          <a:xfrm>
            <a:off x="6702552" y="16093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6"/>
          <p:cNvSpPr/>
          <p:nvPr/>
        </p:nvSpPr>
        <p:spPr>
          <a:xfrm>
            <a:off x="6702552" y="1609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μ</a:t>
            </a:r>
            <a:endParaRPr b="0" i="0" sz="1300" u="none" cap="none" strike="noStrike">
              <a:solidFill>
                <a:schemeClr val="dk1"/>
              </a:solidFill>
              <a:latin typeface="Calibri"/>
              <a:ea typeface="Calibri"/>
              <a:cs typeface="Calibri"/>
              <a:sym typeface="Calibri"/>
            </a:endParaRPr>
          </a:p>
        </p:txBody>
      </p:sp>
      <p:sp>
        <p:nvSpPr>
          <p:cNvPr id="1386" name="Google Shape;1386;p36"/>
          <p:cNvSpPr/>
          <p:nvPr/>
        </p:nvSpPr>
        <p:spPr>
          <a:xfrm>
            <a:off x="7287768" y="1591056"/>
            <a:ext cx="41422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Predicting the mean: mean squared error</a:t>
            </a:r>
            <a:endParaRPr b="0" i="0" sz="1400" u="none" cap="none" strike="noStrike">
              <a:solidFill>
                <a:schemeClr val="dk1"/>
              </a:solidFill>
              <a:latin typeface="Calibri"/>
              <a:ea typeface="Calibri"/>
              <a:cs typeface="Calibri"/>
              <a:sym typeface="Calibri"/>
            </a:endParaRPr>
          </a:p>
        </p:txBody>
      </p:sp>
      <p:sp>
        <p:nvSpPr>
          <p:cNvPr id="1387" name="Google Shape;1387;p36"/>
          <p:cNvSpPr/>
          <p:nvPr/>
        </p:nvSpPr>
        <p:spPr>
          <a:xfrm>
            <a:off x="6720840" y="2157984"/>
            <a:ext cx="4636008" cy="11338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Derived with the calculus of variations: the function that minimises the expected squared error is the conditional mean of y given 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f* = argmin E ‖ y − f(x) ‖²</a:t>
            </a:r>
            <a:endParaRPr b="0" i="0" sz="1250" u="none" cap="none" strike="noStrike">
              <a:solidFill>
                <a:schemeClr val="dk1"/>
              </a:solidFill>
              <a:latin typeface="Calibri"/>
              <a:ea typeface="Calibri"/>
              <a:cs typeface="Calibri"/>
              <a:sym typeface="Calibri"/>
            </a:endParaRPr>
          </a:p>
        </p:txBody>
      </p:sp>
      <p:sp>
        <p:nvSpPr>
          <p:cNvPr id="1388" name="Google Shape;1388;p36"/>
          <p:cNvSpPr/>
          <p:nvPr/>
        </p:nvSpPr>
        <p:spPr>
          <a:xfrm>
            <a:off x="6446520" y="3657600"/>
            <a:ext cx="5184648" cy="210312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6"/>
          <p:cNvSpPr/>
          <p:nvPr/>
        </p:nvSpPr>
        <p:spPr>
          <a:xfrm>
            <a:off x="6702552" y="3895344"/>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6"/>
          <p:cNvSpPr/>
          <p:nvPr/>
        </p:nvSpPr>
        <p:spPr>
          <a:xfrm>
            <a:off x="6702552" y="3895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t>
            </a:r>
            <a:endParaRPr b="0" i="0" sz="1300" u="none" cap="none" strike="noStrike">
              <a:solidFill>
                <a:schemeClr val="dk1"/>
              </a:solidFill>
              <a:latin typeface="Calibri"/>
              <a:ea typeface="Calibri"/>
              <a:cs typeface="Calibri"/>
              <a:sym typeface="Calibri"/>
            </a:endParaRPr>
          </a:p>
        </p:txBody>
      </p:sp>
      <p:sp>
        <p:nvSpPr>
          <p:cNvPr id="1391" name="Google Shape;1391;p36"/>
          <p:cNvSpPr/>
          <p:nvPr/>
        </p:nvSpPr>
        <p:spPr>
          <a:xfrm>
            <a:off x="7287768" y="3877056"/>
            <a:ext cx="41422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Predicting the median: mean absolute error</a:t>
            </a:r>
            <a:endParaRPr b="0" i="0" sz="1400" u="none" cap="none" strike="noStrike">
              <a:solidFill>
                <a:schemeClr val="dk1"/>
              </a:solidFill>
              <a:latin typeface="Calibri"/>
              <a:ea typeface="Calibri"/>
              <a:cs typeface="Calibri"/>
              <a:sym typeface="Calibri"/>
            </a:endParaRPr>
          </a:p>
        </p:txBody>
      </p:sp>
      <p:sp>
        <p:nvSpPr>
          <p:cNvPr id="1392" name="Google Shape;1392;p36"/>
          <p:cNvSpPr/>
          <p:nvPr/>
        </p:nvSpPr>
        <p:spPr>
          <a:xfrm>
            <a:off x="6720840" y="4443984"/>
            <a:ext cx="4636008" cy="11338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The same tool gives a second result: the best predictor of the conditional median is obtained by minimising the L¹ error — which is far less sensitive to outliers.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f* = argmin E ‖ y − f(x) ‖₁</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7" name="Shape 1397"/>
        <p:cNvGrpSpPr/>
        <p:nvPr/>
      </p:nvGrpSpPr>
      <p:grpSpPr>
        <a:xfrm>
          <a:off x="0" y="0"/>
          <a:ext cx="0" cy="0"/>
          <a:chOff x="0" y="0"/>
          <a:chExt cx="0" cy="0"/>
        </a:xfrm>
      </p:grpSpPr>
      <p:sp>
        <p:nvSpPr>
          <p:cNvPr id="1398" name="Google Shape;1398;p3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COST FUNCTIONS</a:t>
            </a:r>
            <a:endParaRPr b="0" i="0" sz="1050" u="none" cap="none" strike="noStrike">
              <a:solidFill>
                <a:schemeClr val="dk1"/>
              </a:solidFill>
              <a:latin typeface="Calibri"/>
              <a:ea typeface="Calibri"/>
              <a:cs typeface="Calibri"/>
              <a:sym typeface="Calibri"/>
            </a:endParaRPr>
          </a:p>
        </p:txBody>
      </p:sp>
      <p:sp>
        <p:nvSpPr>
          <p:cNvPr id="1399" name="Google Shape;1399;p3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Learning conditional distributions</a:t>
            </a:r>
            <a:endParaRPr b="0" i="0" sz="2800" u="none" cap="none" strike="noStrike">
              <a:solidFill>
                <a:schemeClr val="dk1"/>
              </a:solidFill>
              <a:latin typeface="Calibri"/>
              <a:ea typeface="Calibri"/>
              <a:cs typeface="Calibri"/>
              <a:sym typeface="Calibri"/>
            </a:endParaRPr>
          </a:p>
        </p:txBody>
      </p:sp>
      <p:sp>
        <p:nvSpPr>
          <p:cNvPr id="1400" name="Google Shape;1400;p37"/>
          <p:cNvSpPr/>
          <p:nvPr/>
        </p:nvSpPr>
        <p:spPr>
          <a:xfrm>
            <a:off x="566928" y="1371600"/>
            <a:ext cx="5760720" cy="32918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In tasks such as classification we do not want a single statistic — we want the full conditional distribution p(y | x; θ).</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Mean squared error and mean absolute error often give poor results here when used with gradient-based optimization: they saturate.</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50"/>
              <a:buFont typeface="Calibri"/>
              <a:buChar char="•"/>
            </a:pPr>
            <a:r>
              <a:rPr b="1" i="0" lang="en-US" sz="1350" u="none" cap="none" strike="noStrike">
                <a:solidFill>
                  <a:srgbClr val="C4661F"/>
                </a:solidFill>
                <a:latin typeface="Calibri"/>
                <a:ea typeface="Calibri"/>
                <a:cs typeface="Calibri"/>
                <a:sym typeface="Calibri"/>
              </a:rPr>
              <a:t>Most modern neural networks are trained using maximum likelihood.</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cost function is then simply the negative log-likelihood — equivalently, the cross-entropy between the training data and the model distribution.</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One consequence: specifying the model p(y | x) automatically determines the cost function. We never have to invent a loss from scratch.</a:t>
            </a:r>
            <a:endParaRPr b="0" i="0" sz="1350" u="none" cap="none" strike="noStrike">
              <a:solidFill>
                <a:schemeClr val="dk1"/>
              </a:solidFill>
              <a:latin typeface="Calibri"/>
              <a:ea typeface="Calibri"/>
              <a:cs typeface="Calibri"/>
              <a:sym typeface="Calibri"/>
            </a:endParaRPr>
          </a:p>
        </p:txBody>
      </p:sp>
      <p:sp>
        <p:nvSpPr>
          <p:cNvPr id="1401" name="Google Shape;1401;p37"/>
          <p:cNvSpPr/>
          <p:nvPr/>
        </p:nvSpPr>
        <p:spPr>
          <a:xfrm>
            <a:off x="6492240" y="1371600"/>
            <a:ext cx="5138928" cy="4297680"/>
          </a:xfrm>
          <a:prstGeom prst="roundRect">
            <a:avLst>
              <a:gd fmla="val 191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7"/>
          <p:cNvSpPr/>
          <p:nvPr/>
        </p:nvSpPr>
        <p:spPr>
          <a:xfrm>
            <a:off x="6766560" y="150876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Cross-entropy loss, in practice</a:t>
            </a:r>
            <a:endParaRPr b="0" i="0" sz="1500" u="none" cap="none" strike="noStrike">
              <a:solidFill>
                <a:schemeClr val="dk1"/>
              </a:solidFill>
              <a:latin typeface="Calibri"/>
              <a:ea typeface="Calibri"/>
              <a:cs typeface="Calibri"/>
              <a:sym typeface="Calibri"/>
            </a:endParaRPr>
          </a:p>
        </p:txBody>
      </p:sp>
      <p:sp>
        <p:nvSpPr>
          <p:cNvPr id="1403" name="Google Shape;1403;p37"/>
          <p:cNvSpPr/>
          <p:nvPr/>
        </p:nvSpPr>
        <p:spPr>
          <a:xfrm>
            <a:off x="6766560" y="1920240"/>
            <a:ext cx="4572000" cy="777240"/>
          </a:xfrm>
          <a:prstGeom prst="roundRect">
            <a:avLst>
              <a:gd fmla="val 10588"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7"/>
          <p:cNvSpPr/>
          <p:nvPr/>
        </p:nvSpPr>
        <p:spPr>
          <a:xfrm>
            <a:off x="6903720" y="1920240"/>
            <a:ext cx="429768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800"/>
              <a:buFont typeface="Calibri"/>
              <a:buNone/>
            </a:pPr>
            <a:r>
              <a:rPr b="1" i="0" lang="en-US" sz="1800" u="none" cap="none" strike="noStrike">
                <a:solidFill>
                  <a:srgbClr val="2D1B4E"/>
                </a:solidFill>
                <a:latin typeface="Calibri"/>
                <a:ea typeface="Calibri"/>
                <a:cs typeface="Calibri"/>
                <a:sym typeface="Calibri"/>
              </a:rPr>
              <a:t>L = − Σₖ tₖ⁽ⁿ⁾ log yₖ⁽ⁿ⁾</a:t>
            </a:r>
            <a:endParaRPr b="0" i="0" sz="1800" u="none" cap="none" strike="noStrike">
              <a:solidFill>
                <a:schemeClr val="dk1"/>
              </a:solidFill>
              <a:latin typeface="Calibri"/>
              <a:ea typeface="Calibri"/>
              <a:cs typeface="Calibri"/>
              <a:sym typeface="Calibri"/>
            </a:endParaRPr>
          </a:p>
        </p:txBody>
      </p:sp>
      <p:sp>
        <p:nvSpPr>
          <p:cNvPr id="1405" name="Google Shape;1405;p37"/>
          <p:cNvSpPr/>
          <p:nvPr/>
        </p:nvSpPr>
        <p:spPr>
          <a:xfrm>
            <a:off x="6766560" y="2788920"/>
            <a:ext cx="45720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150"/>
              <a:buFont typeface="Calibri"/>
              <a:buNone/>
            </a:pPr>
            <a:r>
              <a:rPr b="0" i="1" lang="en-US" sz="1150" u="none" cap="none" strike="noStrike">
                <a:solidFill>
                  <a:srgbClr val="6E6880"/>
                </a:solidFill>
                <a:latin typeface="Calibri"/>
                <a:ea typeface="Calibri"/>
                <a:cs typeface="Calibri"/>
                <a:sym typeface="Calibri"/>
              </a:rPr>
              <a:t>k indexes the output neuron; t is the target, y the prediction.</a:t>
            </a:r>
            <a:endParaRPr b="0" i="0" sz="1150" u="none" cap="none" strike="noStrike">
              <a:solidFill>
                <a:schemeClr val="dk1"/>
              </a:solidFill>
              <a:latin typeface="Calibri"/>
              <a:ea typeface="Calibri"/>
              <a:cs typeface="Calibri"/>
              <a:sym typeface="Calibri"/>
            </a:endParaRPr>
          </a:p>
        </p:txBody>
      </p:sp>
      <p:sp>
        <p:nvSpPr>
          <p:cNvPr id="1406" name="Google Shape;1406;p37"/>
          <p:cNvSpPr/>
          <p:nvPr/>
        </p:nvSpPr>
        <p:spPr>
          <a:xfrm>
            <a:off x="6766560" y="3246120"/>
            <a:ext cx="4572000" cy="21945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250"/>
              <a:buFont typeface="Calibri"/>
              <a:buChar char="•"/>
            </a:pPr>
            <a:r>
              <a:rPr b="0" i="0" lang="en-US" sz="1250" u="none" cap="none" strike="noStrike">
                <a:solidFill>
                  <a:srgbClr val="241C2E"/>
                </a:solidFill>
                <a:latin typeface="Calibri"/>
                <a:ea typeface="Calibri"/>
                <a:cs typeface="Calibri"/>
                <a:sym typeface="Calibri"/>
              </a:rPr>
              <a:t>With one-hot targets, only the term for the correct class survives: the loss is −log of the probability assigned to the true class.</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50"/>
              <a:buFont typeface="Calibri"/>
              <a:buChar char="•"/>
            </a:pPr>
            <a:r>
              <a:rPr b="0" i="0" lang="en-US" sz="1250" u="none" cap="none" strike="noStrike">
                <a:solidFill>
                  <a:srgbClr val="241C2E"/>
                </a:solidFill>
                <a:latin typeface="Calibri"/>
                <a:ea typeface="Calibri"/>
                <a:cs typeface="Calibri"/>
                <a:sym typeface="Calibri"/>
              </a:rPr>
              <a:t>A confident wrong answer is punished very heavily; a confident right answer costs almost nothing.</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50"/>
              <a:buFont typeface="Calibri"/>
              <a:buChar char="•"/>
            </a:pPr>
            <a:r>
              <a:rPr b="0" i="0" lang="en-US" sz="1250" u="none" cap="none" strike="noStrike">
                <a:solidFill>
                  <a:srgbClr val="241C2E"/>
                </a:solidFill>
                <a:latin typeface="Calibri"/>
                <a:ea typeface="Calibri"/>
                <a:cs typeface="Calibri"/>
                <a:sym typeface="Calibri"/>
              </a:rPr>
              <a:t>Because the log undoes the exponential inside sigmoid and softmax, the gradient does not vanish when the unit is badly wrong.</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1" name="Shape 1411"/>
        <p:cNvGrpSpPr/>
        <p:nvPr/>
      </p:nvGrpSpPr>
      <p:grpSpPr>
        <a:xfrm>
          <a:off x="0" y="0"/>
          <a:ext cx="0" cy="0"/>
          <a:chOff x="0" y="0"/>
          <a:chExt cx="0" cy="0"/>
        </a:xfrm>
      </p:grpSpPr>
      <p:sp>
        <p:nvSpPr>
          <p:cNvPr id="1412" name="Google Shape;1412;p3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OUTPUT UNITS</a:t>
            </a:r>
            <a:endParaRPr b="0" i="0" sz="1050" u="none" cap="none" strike="noStrike">
              <a:solidFill>
                <a:schemeClr val="dk1"/>
              </a:solidFill>
              <a:latin typeface="Calibri"/>
              <a:ea typeface="Calibri"/>
              <a:cs typeface="Calibri"/>
              <a:sym typeface="Calibri"/>
            </a:endParaRPr>
          </a:p>
        </p:txBody>
      </p:sp>
      <p:sp>
        <p:nvSpPr>
          <p:cNvPr id="1413" name="Google Shape;1413;p3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Output units: pick the distribution, get the unit</a:t>
            </a:r>
            <a:endParaRPr b="0" i="0" sz="2800" u="none" cap="none" strike="noStrike">
              <a:solidFill>
                <a:schemeClr val="dk1"/>
              </a:solidFill>
              <a:latin typeface="Calibri"/>
              <a:ea typeface="Calibri"/>
              <a:cs typeface="Calibri"/>
              <a:sym typeface="Calibri"/>
            </a:endParaRPr>
          </a:p>
        </p:txBody>
      </p:sp>
      <p:sp>
        <p:nvSpPr>
          <p:cNvPr id="1414" name="Google Shape;1414;p39"/>
          <p:cNvSpPr/>
          <p:nvPr/>
        </p:nvSpPr>
        <p:spPr>
          <a:xfrm>
            <a:off x="566928" y="1261872"/>
            <a:ext cx="11057839"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880"/>
              </a:buClr>
              <a:buSzPts val="1350"/>
              <a:buFont typeface="Calibri"/>
              <a:buNone/>
            </a:pPr>
            <a:r>
              <a:rPr b="0" i="0" lang="en-US" sz="1350" u="none" cap="none" strike="noStrike">
                <a:solidFill>
                  <a:srgbClr val="6E6880"/>
                </a:solidFill>
                <a:latin typeface="Calibri"/>
                <a:ea typeface="Calibri"/>
                <a:cs typeface="Calibri"/>
                <a:sym typeface="Calibri"/>
              </a:rPr>
              <a:t>The choice of cost function is tightly coupled with the choice of output unit — deciding how to represent the output determines the form of the cost.</a:t>
            </a:r>
            <a:endParaRPr b="0" i="0" sz="1350" u="none" cap="none" strike="noStrike">
              <a:solidFill>
                <a:schemeClr val="dk1"/>
              </a:solidFill>
              <a:latin typeface="Calibri"/>
              <a:ea typeface="Calibri"/>
              <a:cs typeface="Calibri"/>
              <a:sym typeface="Calibri"/>
            </a:endParaRPr>
          </a:p>
        </p:txBody>
      </p:sp>
      <p:sp>
        <p:nvSpPr>
          <p:cNvPr id="1415" name="Google Shape;1415;p39"/>
          <p:cNvSpPr/>
          <p:nvPr/>
        </p:nvSpPr>
        <p:spPr>
          <a:xfrm>
            <a:off x="566928" y="1691640"/>
            <a:ext cx="11057839" cy="1298448"/>
          </a:xfrm>
          <a:prstGeom prst="roundRect">
            <a:avLst>
              <a:gd fmla="val 633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9"/>
          <p:cNvSpPr/>
          <p:nvPr/>
        </p:nvSpPr>
        <p:spPr>
          <a:xfrm>
            <a:off x="822960" y="1965960"/>
            <a:ext cx="2148840" cy="749808"/>
          </a:xfrm>
          <a:prstGeom prst="roundRect">
            <a:avLst>
              <a:gd fmla="val 9756" name="adj"/>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9"/>
          <p:cNvSpPr/>
          <p:nvPr/>
        </p:nvSpPr>
        <p:spPr>
          <a:xfrm>
            <a:off x="822960" y="1965960"/>
            <a:ext cx="2148840"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Linear units</a:t>
            </a:r>
            <a:endParaRPr b="0" i="0" sz="1500" u="none" cap="none" strike="noStrike">
              <a:solidFill>
                <a:schemeClr val="dk1"/>
              </a:solidFill>
              <a:latin typeface="Calibri"/>
              <a:ea typeface="Calibri"/>
              <a:cs typeface="Calibri"/>
              <a:sym typeface="Calibri"/>
            </a:endParaRPr>
          </a:p>
        </p:txBody>
      </p:sp>
      <p:sp>
        <p:nvSpPr>
          <p:cNvPr id="1418" name="Google Shape;1418;p39"/>
          <p:cNvSpPr/>
          <p:nvPr/>
        </p:nvSpPr>
        <p:spPr>
          <a:xfrm>
            <a:off x="3172968" y="1892808"/>
            <a:ext cx="2834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5B95"/>
              </a:buClr>
              <a:buSzPts val="1250"/>
              <a:buFont typeface="Calibri"/>
              <a:buNone/>
            </a:pPr>
            <a:r>
              <a:rPr b="1" i="0" lang="en-US" sz="1250" u="none" cap="none" strike="noStrike">
                <a:solidFill>
                  <a:srgbClr val="6B5B95"/>
                </a:solidFill>
                <a:latin typeface="Calibri"/>
                <a:ea typeface="Calibri"/>
                <a:cs typeface="Calibri"/>
                <a:sym typeface="Calibri"/>
              </a:rPr>
              <a:t>p(y | x) is Gaussian</a:t>
            </a:r>
            <a:endParaRPr b="0" i="0" sz="1250" u="none" cap="none" strike="noStrike">
              <a:solidFill>
                <a:schemeClr val="dk1"/>
              </a:solidFill>
              <a:latin typeface="Calibri"/>
              <a:ea typeface="Calibri"/>
              <a:cs typeface="Calibri"/>
              <a:sym typeface="Calibri"/>
            </a:endParaRPr>
          </a:p>
        </p:txBody>
      </p:sp>
      <p:sp>
        <p:nvSpPr>
          <p:cNvPr id="1419" name="Google Shape;1419;p39"/>
          <p:cNvSpPr/>
          <p:nvPr/>
        </p:nvSpPr>
        <p:spPr>
          <a:xfrm>
            <a:off x="3172968" y="2258568"/>
            <a:ext cx="2834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0" i="0" lang="en-US" sz="1350" u="none" cap="none" strike="noStrike">
                <a:solidFill>
                  <a:srgbClr val="2D1B4E"/>
                </a:solidFill>
                <a:latin typeface="Calibri"/>
                <a:ea typeface="Calibri"/>
                <a:cs typeface="Calibri"/>
                <a:sym typeface="Calibri"/>
              </a:rPr>
              <a:t>ŷ = Wᵀh + b</a:t>
            </a:r>
            <a:endParaRPr b="0" i="0" sz="1350" u="none" cap="none" strike="noStrike">
              <a:solidFill>
                <a:schemeClr val="dk1"/>
              </a:solidFill>
              <a:latin typeface="Calibri"/>
              <a:ea typeface="Calibri"/>
              <a:cs typeface="Calibri"/>
              <a:sym typeface="Calibri"/>
            </a:endParaRPr>
          </a:p>
        </p:txBody>
      </p:sp>
      <p:sp>
        <p:nvSpPr>
          <p:cNvPr id="1420" name="Google Shape;1420;p39"/>
          <p:cNvSpPr/>
          <p:nvPr/>
        </p:nvSpPr>
        <p:spPr>
          <a:xfrm>
            <a:off x="6190488" y="1874520"/>
            <a:ext cx="521208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Regression. Maximising the log-likelihood is then equivalent to minimising the mean squared error. Linear units do not saturate, so they pose no difficulty for gradient-based algorithms.</a:t>
            </a:r>
            <a:endParaRPr b="0" i="0" sz="1200" u="none" cap="none" strike="noStrike">
              <a:solidFill>
                <a:schemeClr val="dk1"/>
              </a:solidFill>
              <a:latin typeface="Calibri"/>
              <a:ea typeface="Calibri"/>
              <a:cs typeface="Calibri"/>
              <a:sym typeface="Calibri"/>
            </a:endParaRPr>
          </a:p>
        </p:txBody>
      </p:sp>
      <p:sp>
        <p:nvSpPr>
          <p:cNvPr id="1421" name="Google Shape;1421;p39"/>
          <p:cNvSpPr/>
          <p:nvPr/>
        </p:nvSpPr>
        <p:spPr>
          <a:xfrm>
            <a:off x="566928" y="3081528"/>
            <a:ext cx="11057839" cy="1298448"/>
          </a:xfrm>
          <a:prstGeom prst="roundRect">
            <a:avLst>
              <a:gd fmla="val 633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9"/>
          <p:cNvSpPr/>
          <p:nvPr/>
        </p:nvSpPr>
        <p:spPr>
          <a:xfrm>
            <a:off x="822960" y="3355848"/>
            <a:ext cx="2148840" cy="749808"/>
          </a:xfrm>
          <a:prstGeom prst="roundRect">
            <a:avLst>
              <a:gd fmla="val 9756" name="adj"/>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9"/>
          <p:cNvSpPr/>
          <p:nvPr/>
        </p:nvSpPr>
        <p:spPr>
          <a:xfrm>
            <a:off x="822960" y="3355848"/>
            <a:ext cx="2148840"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Sigmoid units</a:t>
            </a:r>
            <a:endParaRPr b="0" i="0" sz="1500" u="none" cap="none" strike="noStrike">
              <a:solidFill>
                <a:schemeClr val="dk1"/>
              </a:solidFill>
              <a:latin typeface="Calibri"/>
              <a:ea typeface="Calibri"/>
              <a:cs typeface="Calibri"/>
              <a:sym typeface="Calibri"/>
            </a:endParaRPr>
          </a:p>
        </p:txBody>
      </p:sp>
      <p:sp>
        <p:nvSpPr>
          <p:cNvPr id="1424" name="Google Shape;1424;p39"/>
          <p:cNvSpPr/>
          <p:nvPr/>
        </p:nvSpPr>
        <p:spPr>
          <a:xfrm>
            <a:off x="3172968" y="3282696"/>
            <a:ext cx="2834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2A69"/>
              </a:buClr>
              <a:buSzPts val="1250"/>
              <a:buFont typeface="Calibri"/>
              <a:buNone/>
            </a:pPr>
            <a:r>
              <a:rPr b="1" i="0" lang="en-US" sz="1250" u="none" cap="none" strike="noStrike">
                <a:solidFill>
                  <a:srgbClr val="3F2A69"/>
                </a:solidFill>
                <a:latin typeface="Calibri"/>
                <a:ea typeface="Calibri"/>
                <a:cs typeface="Calibri"/>
                <a:sym typeface="Calibri"/>
              </a:rPr>
              <a:t>p(y | x) is Bernoulli</a:t>
            </a:r>
            <a:endParaRPr b="0" i="0" sz="1250" u="none" cap="none" strike="noStrike">
              <a:solidFill>
                <a:schemeClr val="dk1"/>
              </a:solidFill>
              <a:latin typeface="Calibri"/>
              <a:ea typeface="Calibri"/>
              <a:cs typeface="Calibri"/>
              <a:sym typeface="Calibri"/>
            </a:endParaRPr>
          </a:p>
        </p:txBody>
      </p:sp>
      <p:sp>
        <p:nvSpPr>
          <p:cNvPr id="1425" name="Google Shape;1425;p39"/>
          <p:cNvSpPr/>
          <p:nvPr/>
        </p:nvSpPr>
        <p:spPr>
          <a:xfrm>
            <a:off x="3172968" y="3648456"/>
            <a:ext cx="2834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0" i="0" lang="en-US" sz="1350" u="none" cap="none" strike="noStrike">
                <a:solidFill>
                  <a:srgbClr val="2D1B4E"/>
                </a:solidFill>
                <a:latin typeface="Calibri"/>
                <a:ea typeface="Calibri"/>
                <a:cs typeface="Calibri"/>
                <a:sym typeface="Calibri"/>
              </a:rPr>
              <a:t>ŷ = σ(Wᵀh + b)</a:t>
            </a:r>
            <a:endParaRPr b="0" i="0" sz="1350" u="none" cap="none" strike="noStrike">
              <a:solidFill>
                <a:schemeClr val="dk1"/>
              </a:solidFill>
              <a:latin typeface="Calibri"/>
              <a:ea typeface="Calibri"/>
              <a:cs typeface="Calibri"/>
              <a:sym typeface="Calibri"/>
            </a:endParaRPr>
          </a:p>
        </p:txBody>
      </p:sp>
      <p:sp>
        <p:nvSpPr>
          <p:cNvPr id="1426" name="Google Shape;1426;p39"/>
          <p:cNvSpPr/>
          <p:nvPr/>
        </p:nvSpPr>
        <p:spPr>
          <a:xfrm>
            <a:off x="6190488" y="3264408"/>
            <a:ext cx="521208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Binary classification. The net predicts a single number P(y = 1 | x), which must lie in [0, 1]. A linear layer computes z; the sigmoid converts z into a probability.</a:t>
            </a:r>
            <a:endParaRPr b="0" i="0" sz="1200" u="none" cap="none" strike="noStrike">
              <a:solidFill>
                <a:schemeClr val="dk1"/>
              </a:solidFill>
              <a:latin typeface="Calibri"/>
              <a:ea typeface="Calibri"/>
              <a:cs typeface="Calibri"/>
              <a:sym typeface="Calibri"/>
            </a:endParaRPr>
          </a:p>
        </p:txBody>
      </p:sp>
      <p:sp>
        <p:nvSpPr>
          <p:cNvPr id="1427" name="Google Shape;1427;p39"/>
          <p:cNvSpPr/>
          <p:nvPr/>
        </p:nvSpPr>
        <p:spPr>
          <a:xfrm>
            <a:off x="566928" y="4471416"/>
            <a:ext cx="11057839" cy="1298448"/>
          </a:xfrm>
          <a:prstGeom prst="roundRect">
            <a:avLst>
              <a:gd fmla="val 633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9"/>
          <p:cNvSpPr/>
          <p:nvPr/>
        </p:nvSpPr>
        <p:spPr>
          <a:xfrm>
            <a:off x="822960" y="4745736"/>
            <a:ext cx="2148840" cy="749808"/>
          </a:xfrm>
          <a:prstGeom prst="roundRect">
            <a:avLst>
              <a:gd fmla="val 9756" name="adj"/>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9"/>
          <p:cNvSpPr/>
          <p:nvPr/>
        </p:nvSpPr>
        <p:spPr>
          <a:xfrm>
            <a:off x="822960" y="4745736"/>
            <a:ext cx="2148840"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Softmax units</a:t>
            </a:r>
            <a:endParaRPr b="0" i="0" sz="1500" u="none" cap="none" strike="noStrike">
              <a:solidFill>
                <a:schemeClr val="dk1"/>
              </a:solidFill>
              <a:latin typeface="Calibri"/>
              <a:ea typeface="Calibri"/>
              <a:cs typeface="Calibri"/>
              <a:sym typeface="Calibri"/>
            </a:endParaRPr>
          </a:p>
        </p:txBody>
      </p:sp>
      <p:sp>
        <p:nvSpPr>
          <p:cNvPr id="1430" name="Google Shape;1430;p39"/>
          <p:cNvSpPr/>
          <p:nvPr/>
        </p:nvSpPr>
        <p:spPr>
          <a:xfrm>
            <a:off x="3172968" y="4672584"/>
            <a:ext cx="2834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50"/>
              <a:buFont typeface="Calibri"/>
              <a:buNone/>
            </a:pPr>
            <a:r>
              <a:rPr b="1" i="0" lang="en-US" sz="1250" u="none" cap="none" strike="noStrike">
                <a:solidFill>
                  <a:srgbClr val="C4661F"/>
                </a:solidFill>
                <a:latin typeface="Calibri"/>
                <a:ea typeface="Calibri"/>
                <a:cs typeface="Calibri"/>
                <a:sym typeface="Calibri"/>
              </a:rPr>
              <a:t>p(y | x) is Multinoulli</a:t>
            </a:r>
            <a:endParaRPr b="0" i="0" sz="1250" u="none" cap="none" strike="noStrike">
              <a:solidFill>
                <a:schemeClr val="dk1"/>
              </a:solidFill>
              <a:latin typeface="Calibri"/>
              <a:ea typeface="Calibri"/>
              <a:cs typeface="Calibri"/>
              <a:sym typeface="Calibri"/>
            </a:endParaRPr>
          </a:p>
        </p:txBody>
      </p:sp>
      <p:sp>
        <p:nvSpPr>
          <p:cNvPr id="1431" name="Google Shape;1431;p39"/>
          <p:cNvSpPr/>
          <p:nvPr/>
        </p:nvSpPr>
        <p:spPr>
          <a:xfrm>
            <a:off x="3172968" y="5038344"/>
            <a:ext cx="2834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libri"/>
              <a:buNone/>
            </a:pPr>
            <a:r>
              <a:rPr b="0" i="0" lang="en-US" sz="1350" u="none" cap="none" strike="noStrike">
                <a:solidFill>
                  <a:srgbClr val="2D1B4E"/>
                </a:solidFill>
                <a:latin typeface="Calibri"/>
                <a:ea typeface="Calibri"/>
                <a:cs typeface="Calibri"/>
                <a:sym typeface="Calibri"/>
              </a:rPr>
              <a:t>softmax(z)ᵢ = exp(zᵢ) / Σⱼ exp(zⱼ)</a:t>
            </a:r>
            <a:endParaRPr b="0" i="0" sz="1350" u="none" cap="none" strike="noStrike">
              <a:solidFill>
                <a:schemeClr val="dk1"/>
              </a:solidFill>
              <a:latin typeface="Calibri"/>
              <a:ea typeface="Calibri"/>
              <a:cs typeface="Calibri"/>
              <a:sym typeface="Calibri"/>
            </a:endParaRPr>
          </a:p>
        </p:txBody>
      </p:sp>
      <p:sp>
        <p:nvSpPr>
          <p:cNvPr id="1432" name="Google Shape;1432;p39"/>
          <p:cNvSpPr/>
          <p:nvPr/>
        </p:nvSpPr>
        <p:spPr>
          <a:xfrm>
            <a:off x="6190488" y="4654296"/>
            <a:ext cx="521208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Classification over n classes. A generalization of the sigmoid: each element lies in [0, 1] and the whole vector sums to 1, so it is a valid probability distribution.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7" name="Shape 1437"/>
        <p:cNvGrpSpPr/>
        <p:nvPr/>
      </p:nvGrpSpPr>
      <p:grpSpPr>
        <a:xfrm>
          <a:off x="0" y="0"/>
          <a:ext cx="0" cy="0"/>
          <a:chOff x="0" y="0"/>
          <a:chExt cx="0" cy="0"/>
        </a:xfrm>
      </p:grpSpPr>
      <p:sp>
        <p:nvSpPr>
          <p:cNvPr id="1438" name="Google Shape;1438;p40"/>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OUTPUT UNITS</a:t>
            </a:r>
            <a:endParaRPr b="0" i="0" sz="1050" u="none" cap="none" strike="noStrike">
              <a:solidFill>
                <a:schemeClr val="dk1"/>
              </a:solidFill>
              <a:latin typeface="Calibri"/>
              <a:ea typeface="Calibri"/>
              <a:cs typeface="Calibri"/>
              <a:sym typeface="Calibri"/>
            </a:endParaRPr>
          </a:p>
        </p:txBody>
      </p:sp>
      <p:sp>
        <p:nvSpPr>
          <p:cNvPr id="1439" name="Google Shape;1439;p40"/>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Why cross-entropy, not squared error</a:t>
            </a:r>
            <a:endParaRPr b="0" i="0" sz="2800" u="none" cap="none" strike="noStrike">
              <a:solidFill>
                <a:schemeClr val="dk1"/>
              </a:solidFill>
              <a:latin typeface="Calibri"/>
              <a:ea typeface="Calibri"/>
              <a:cs typeface="Calibri"/>
              <a:sym typeface="Calibri"/>
            </a:endParaRPr>
          </a:p>
        </p:txBody>
      </p:sp>
      <p:sp>
        <p:nvSpPr>
          <p:cNvPr id="1440" name="Google Shape;1440;p40"/>
          <p:cNvSpPr/>
          <p:nvPr/>
        </p:nvSpPr>
        <p:spPr>
          <a:xfrm>
            <a:off x="566928" y="1371600"/>
            <a:ext cx="5669280" cy="4114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Why not just clip a linear output into [0, 1]?</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P(y=1|x) = max{0, min{1, Wᵀh + b}} would saturate immediately: any time Wᵀh + b strays outside the unit interval the gradient with respect to the parameters is exactly 0, and the learning algorithm has no guide for how to improve.</a:t>
            </a:r>
            <a:endParaRPr b="0" i="0" sz="1300" u="none" cap="none" strike="noStrike">
              <a:solidFill>
                <a:schemeClr val="dk1"/>
              </a:solidFill>
              <a:latin typeface="Calibri"/>
              <a:ea typeface="Calibri"/>
              <a:cs typeface="Calibri"/>
              <a:sym typeface="Calibri"/>
            </a:endParaRPr>
          </a:p>
          <a:p>
            <a:pPr indent="-203200" lvl="0" marL="203200" marR="0" rtl="0" algn="l">
              <a:spcBef>
                <a:spcPts val="120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A thought experiment</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Target 1, actual output 0.0000001. Now improve it ten-fold to 0.000001. The squared error barely moves — the slope is almost horizontal.</a:t>
            </a:r>
            <a:endParaRPr b="0" i="0" sz="1300" u="none" cap="none" strike="noStrike">
              <a:solidFill>
                <a:schemeClr val="dk1"/>
              </a:solidFill>
              <a:latin typeface="Calibri"/>
              <a:ea typeface="Calibri"/>
              <a:cs typeface="Calibri"/>
              <a:sym typeface="Calibri"/>
            </a:endParaRPr>
          </a:p>
          <a:p>
            <a:pPr indent="-203200" lvl="1" marL="406400" marR="0" rtl="0" algn="l">
              <a:spcBef>
                <a:spcPts val="4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But log(0.0000001) = −16.1181 and log(0.000001) = −13.8155: a considerable change.</a:t>
            </a:r>
            <a:endParaRPr b="0" i="0" sz="1300" u="none" cap="none" strike="noStrike">
              <a:solidFill>
                <a:schemeClr val="dk1"/>
              </a:solidFill>
              <a:latin typeface="Calibri"/>
              <a:ea typeface="Calibri"/>
              <a:cs typeface="Calibri"/>
              <a:sym typeface="Calibri"/>
            </a:endParaRPr>
          </a:p>
          <a:p>
            <a:pPr indent="-203200" lvl="0" marL="203200" marR="0" rtl="0" algn="l">
              <a:spcBef>
                <a:spcPts val="120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The log in the cross-entropy cost undoes the exp inside the sigmoid. Without that effect, saturation would stop gradient-based learning from making progress.</a:t>
            </a:r>
            <a:endParaRPr b="0" i="0" sz="1300" u="none" cap="none" strike="noStrike">
              <a:solidFill>
                <a:schemeClr val="dk1"/>
              </a:solidFill>
              <a:latin typeface="Calibri"/>
              <a:ea typeface="Calibri"/>
              <a:cs typeface="Calibri"/>
              <a:sym typeface="Calibri"/>
            </a:endParaRPr>
          </a:p>
        </p:txBody>
      </p:sp>
      <p:graphicFrame>
        <p:nvGraphicFramePr>
          <p:cNvPr id="1441" name="Google Shape;1441;p40"/>
          <p:cNvGraphicFramePr/>
          <p:nvPr/>
        </p:nvGraphicFramePr>
        <p:xfrm>
          <a:off x="6400800" y="1371600"/>
          <a:ext cx="5230368" cy="3840480"/>
        </p:xfrm>
        <a:graphic>
          <a:graphicData uri="http://schemas.openxmlformats.org/drawingml/2006/chart">
            <c:chart r:id="rId3"/>
          </a:graphicData>
        </a:graphic>
      </p:graphicFrame>
      <p:sp>
        <p:nvSpPr>
          <p:cNvPr id="1442" name="Google Shape;1442;p40"/>
          <p:cNvSpPr/>
          <p:nvPr/>
        </p:nvSpPr>
        <p:spPr>
          <a:xfrm>
            <a:off x="8778240" y="5175504"/>
            <a:ext cx="457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z</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7" name="Shape 1447"/>
        <p:cNvGrpSpPr/>
        <p:nvPr/>
      </p:nvGrpSpPr>
      <p:grpSpPr>
        <a:xfrm>
          <a:off x="0" y="0"/>
          <a:ext cx="0" cy="0"/>
          <a:chOff x="0" y="0"/>
          <a:chExt cx="0" cy="0"/>
        </a:xfrm>
      </p:grpSpPr>
      <p:sp>
        <p:nvSpPr>
          <p:cNvPr id="1448" name="Google Shape;1448;p42"/>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HIDDEN UNITS</a:t>
            </a:r>
            <a:endParaRPr b="0" i="0" sz="1050" u="none" cap="none" strike="noStrike">
              <a:solidFill>
                <a:schemeClr val="dk1"/>
              </a:solidFill>
              <a:latin typeface="Calibri"/>
              <a:ea typeface="Calibri"/>
              <a:cs typeface="Calibri"/>
              <a:sym typeface="Calibri"/>
            </a:endParaRPr>
          </a:p>
        </p:txBody>
      </p:sp>
      <p:sp>
        <p:nvSpPr>
          <p:cNvPr id="1449" name="Google Shape;1449;p42"/>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Hidden units: how do we choose?</a:t>
            </a:r>
            <a:endParaRPr b="0" i="0" sz="2800" u="none" cap="none" strike="noStrike">
              <a:solidFill>
                <a:schemeClr val="dk1"/>
              </a:solidFill>
              <a:latin typeface="Calibri"/>
              <a:ea typeface="Calibri"/>
              <a:cs typeface="Calibri"/>
              <a:sym typeface="Calibri"/>
            </a:endParaRPr>
          </a:p>
        </p:txBody>
      </p:sp>
      <p:sp>
        <p:nvSpPr>
          <p:cNvPr id="1450" name="Google Shape;1450;p42"/>
          <p:cNvSpPr/>
          <p:nvPr/>
        </p:nvSpPr>
        <p:spPr>
          <a:xfrm>
            <a:off x="566928" y="1280160"/>
            <a:ext cx="11057839" cy="777240"/>
          </a:xfrm>
          <a:prstGeom prst="roundRect">
            <a:avLst>
              <a:gd fmla="val 10588"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2"/>
          <p:cNvSpPr/>
          <p:nvPr/>
        </p:nvSpPr>
        <p:spPr>
          <a:xfrm>
            <a:off x="704088" y="1280160"/>
            <a:ext cx="10783519"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900"/>
              <a:buFont typeface="Calibri"/>
              <a:buNone/>
            </a:pPr>
            <a:r>
              <a:rPr b="1" i="0" lang="en-US" sz="1900" u="none" cap="none" strike="noStrike">
                <a:solidFill>
                  <a:srgbClr val="2D1B4E"/>
                </a:solidFill>
                <a:latin typeface="Calibri"/>
                <a:ea typeface="Calibri"/>
                <a:cs typeface="Calibri"/>
                <a:sym typeface="Calibri"/>
              </a:rPr>
              <a:t>z = Wᵀx + b          h = g(z)</a:t>
            </a:r>
            <a:endParaRPr b="0" i="0" sz="1900" u="none" cap="none" strike="noStrike">
              <a:solidFill>
                <a:schemeClr val="dk1"/>
              </a:solidFill>
              <a:latin typeface="Calibri"/>
              <a:ea typeface="Calibri"/>
              <a:cs typeface="Calibri"/>
              <a:sym typeface="Calibri"/>
            </a:endParaRPr>
          </a:p>
        </p:txBody>
      </p:sp>
      <p:sp>
        <p:nvSpPr>
          <p:cNvPr id="1452" name="Google Shape;1452;p42"/>
          <p:cNvSpPr/>
          <p:nvPr/>
        </p:nvSpPr>
        <p:spPr>
          <a:xfrm>
            <a:off x="566928" y="2240280"/>
            <a:ext cx="5669280" cy="1828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Most hidden units accept a vector of inputs, compute an affine transformation, and then apply an element-wise nonlinear function g(z).</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They are distinguished from one another only by the choice of the activation function g.</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design of hidden units is an active area of research and does not yet have many definitive guiding theoretical principles.</a:t>
            </a:r>
            <a:endParaRPr b="0" i="0" sz="1350" u="none" cap="none" strike="noStrike">
              <a:solidFill>
                <a:schemeClr val="dk1"/>
              </a:solidFill>
              <a:latin typeface="Calibri"/>
              <a:ea typeface="Calibri"/>
              <a:cs typeface="Calibri"/>
              <a:sym typeface="Calibri"/>
            </a:endParaRPr>
          </a:p>
        </p:txBody>
      </p:sp>
      <p:sp>
        <p:nvSpPr>
          <p:cNvPr id="1453" name="Google Shape;1453;p42"/>
          <p:cNvSpPr/>
          <p:nvPr/>
        </p:nvSpPr>
        <p:spPr>
          <a:xfrm>
            <a:off x="6446520" y="2240280"/>
            <a:ext cx="5184648" cy="1828800"/>
          </a:xfrm>
          <a:prstGeom prst="roundRect">
            <a:avLst>
              <a:gd fmla="val 45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2"/>
          <p:cNvSpPr/>
          <p:nvPr/>
        </p:nvSpPr>
        <p:spPr>
          <a:xfrm>
            <a:off x="6720840" y="2377440"/>
            <a:ext cx="4636008"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It is difficult to predict in advance which unit will work best.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The design process is trial and error: guess that a kind of hidden unit may work well, train a network with it, and evaluate on a validation set.</a:t>
            </a:r>
            <a:endParaRPr b="0" i="0" sz="1300" u="none" cap="none" strike="noStrike">
              <a:solidFill>
                <a:schemeClr val="dk1"/>
              </a:solidFill>
              <a:latin typeface="Calibri"/>
              <a:ea typeface="Calibri"/>
              <a:cs typeface="Calibri"/>
              <a:sym typeface="Calibri"/>
            </a:endParaRPr>
          </a:p>
        </p:txBody>
      </p:sp>
      <p:sp>
        <p:nvSpPr>
          <p:cNvPr id="1455" name="Google Shape;1455;p42"/>
          <p:cNvSpPr/>
          <p:nvPr/>
        </p:nvSpPr>
        <p:spPr>
          <a:xfrm>
            <a:off x="566928" y="4297680"/>
            <a:ext cx="3566160" cy="1463040"/>
          </a:xfrm>
          <a:prstGeom prst="roundRect">
            <a:avLst>
              <a:gd fmla="val 5625"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2"/>
          <p:cNvSpPr/>
          <p:nvPr/>
        </p:nvSpPr>
        <p:spPr>
          <a:xfrm>
            <a:off x="822960" y="4507992"/>
            <a:ext cx="384048" cy="384048"/>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2"/>
          <p:cNvSpPr/>
          <p:nvPr/>
        </p:nvSpPr>
        <p:spPr>
          <a:xfrm>
            <a:off x="822960" y="45079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458" name="Google Shape;1458;p42"/>
          <p:cNvSpPr/>
          <p:nvPr/>
        </p:nvSpPr>
        <p:spPr>
          <a:xfrm>
            <a:off x="1344168" y="4498848"/>
            <a:ext cx="2560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ReLU family</a:t>
            </a:r>
            <a:endParaRPr b="0" i="0" sz="1500" u="none" cap="none" strike="noStrike">
              <a:solidFill>
                <a:schemeClr val="dk1"/>
              </a:solidFill>
              <a:latin typeface="Calibri"/>
              <a:ea typeface="Calibri"/>
              <a:cs typeface="Calibri"/>
              <a:sym typeface="Calibri"/>
            </a:endParaRPr>
          </a:p>
        </p:txBody>
      </p:sp>
      <p:sp>
        <p:nvSpPr>
          <p:cNvPr id="1459" name="Google Shape;1459;p42"/>
          <p:cNvSpPr/>
          <p:nvPr/>
        </p:nvSpPr>
        <p:spPr>
          <a:xfrm>
            <a:off x="859536" y="4956048"/>
            <a:ext cx="30175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The default recommendation. max{0, z} and its variants.</a:t>
            </a:r>
            <a:endParaRPr b="0" i="0" sz="1250" u="none" cap="none" strike="noStrike">
              <a:solidFill>
                <a:schemeClr val="dk1"/>
              </a:solidFill>
              <a:latin typeface="Calibri"/>
              <a:ea typeface="Calibri"/>
              <a:cs typeface="Calibri"/>
              <a:sym typeface="Calibri"/>
            </a:endParaRPr>
          </a:p>
        </p:txBody>
      </p:sp>
      <p:sp>
        <p:nvSpPr>
          <p:cNvPr id="1460" name="Google Shape;1460;p42"/>
          <p:cNvSpPr/>
          <p:nvPr/>
        </p:nvSpPr>
        <p:spPr>
          <a:xfrm>
            <a:off x="4370832" y="4297680"/>
            <a:ext cx="3566160" cy="1463040"/>
          </a:xfrm>
          <a:prstGeom prst="roundRect">
            <a:avLst>
              <a:gd fmla="val 5625"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2"/>
          <p:cNvSpPr/>
          <p:nvPr/>
        </p:nvSpPr>
        <p:spPr>
          <a:xfrm>
            <a:off x="4626864" y="4507992"/>
            <a:ext cx="384048" cy="384048"/>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2"/>
          <p:cNvSpPr/>
          <p:nvPr/>
        </p:nvSpPr>
        <p:spPr>
          <a:xfrm>
            <a:off x="4626864" y="45079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63" name="Google Shape;1463;p42"/>
          <p:cNvSpPr/>
          <p:nvPr/>
        </p:nvSpPr>
        <p:spPr>
          <a:xfrm>
            <a:off x="5148072" y="4498848"/>
            <a:ext cx="2560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Maxout</a:t>
            </a:r>
            <a:endParaRPr b="0" i="0" sz="1500" u="none" cap="none" strike="noStrike">
              <a:solidFill>
                <a:schemeClr val="dk1"/>
              </a:solidFill>
              <a:latin typeface="Calibri"/>
              <a:ea typeface="Calibri"/>
              <a:cs typeface="Calibri"/>
              <a:sym typeface="Calibri"/>
            </a:endParaRPr>
          </a:p>
        </p:txBody>
      </p:sp>
      <p:sp>
        <p:nvSpPr>
          <p:cNvPr id="1464" name="Google Shape;1464;p42"/>
          <p:cNvSpPr/>
          <p:nvPr/>
        </p:nvSpPr>
        <p:spPr>
          <a:xfrm>
            <a:off x="4663440" y="4956048"/>
            <a:ext cx="30175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Learns the activation function itself from k linear pieces.</a:t>
            </a:r>
            <a:endParaRPr b="0" i="0" sz="1250" u="none" cap="none" strike="noStrike">
              <a:solidFill>
                <a:schemeClr val="dk1"/>
              </a:solidFill>
              <a:latin typeface="Calibri"/>
              <a:ea typeface="Calibri"/>
              <a:cs typeface="Calibri"/>
              <a:sym typeface="Calibri"/>
            </a:endParaRPr>
          </a:p>
        </p:txBody>
      </p:sp>
      <p:sp>
        <p:nvSpPr>
          <p:cNvPr id="1465" name="Google Shape;1465;p42"/>
          <p:cNvSpPr/>
          <p:nvPr/>
        </p:nvSpPr>
        <p:spPr>
          <a:xfrm>
            <a:off x="8174736" y="4297680"/>
            <a:ext cx="3566160" cy="1463040"/>
          </a:xfrm>
          <a:prstGeom prst="roundRect">
            <a:avLst>
              <a:gd fmla="val 5625"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42"/>
          <p:cNvSpPr/>
          <p:nvPr/>
        </p:nvSpPr>
        <p:spPr>
          <a:xfrm>
            <a:off x="8430768" y="4507992"/>
            <a:ext cx="384048" cy="384048"/>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2"/>
          <p:cNvSpPr/>
          <p:nvPr/>
        </p:nvSpPr>
        <p:spPr>
          <a:xfrm>
            <a:off x="8430768" y="450799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468" name="Google Shape;1468;p42"/>
          <p:cNvSpPr/>
          <p:nvPr/>
        </p:nvSpPr>
        <p:spPr>
          <a:xfrm>
            <a:off x="8951976" y="4498848"/>
            <a:ext cx="25603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Sigmoid / tanh</a:t>
            </a:r>
            <a:endParaRPr b="0" i="0" sz="1500" u="none" cap="none" strike="noStrike">
              <a:solidFill>
                <a:schemeClr val="dk1"/>
              </a:solidFill>
              <a:latin typeface="Calibri"/>
              <a:ea typeface="Calibri"/>
              <a:cs typeface="Calibri"/>
              <a:sym typeface="Calibri"/>
            </a:endParaRPr>
          </a:p>
        </p:txBody>
      </p:sp>
      <p:sp>
        <p:nvSpPr>
          <p:cNvPr id="1469" name="Google Shape;1469;p42"/>
          <p:cNvSpPr/>
          <p:nvPr/>
        </p:nvSpPr>
        <p:spPr>
          <a:xfrm>
            <a:off x="8467344" y="4956048"/>
            <a:ext cx="30175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Historically dominant; now discouraged in hidden layers.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4" name="Shape 1474"/>
        <p:cNvGrpSpPr/>
        <p:nvPr/>
      </p:nvGrpSpPr>
      <p:grpSpPr>
        <a:xfrm>
          <a:off x="0" y="0"/>
          <a:ext cx="0" cy="0"/>
          <a:chOff x="0" y="0"/>
          <a:chExt cx="0" cy="0"/>
        </a:xfrm>
      </p:grpSpPr>
      <p:sp>
        <p:nvSpPr>
          <p:cNvPr id="1475" name="Google Shape;1475;p4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HIDDEN UNITS</a:t>
            </a:r>
            <a:endParaRPr b="0" i="0" sz="1050" u="none" cap="none" strike="noStrike">
              <a:solidFill>
                <a:schemeClr val="dk1"/>
              </a:solidFill>
              <a:latin typeface="Calibri"/>
              <a:ea typeface="Calibri"/>
              <a:cs typeface="Calibri"/>
              <a:sym typeface="Calibri"/>
            </a:endParaRPr>
          </a:p>
        </p:txBody>
      </p:sp>
      <p:sp>
        <p:nvSpPr>
          <p:cNvPr id="1476" name="Google Shape;1476;p4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Rectified linear units and their generalizations</a:t>
            </a:r>
            <a:endParaRPr b="0" i="0" sz="2800" u="none" cap="none" strike="noStrike">
              <a:solidFill>
                <a:schemeClr val="dk1"/>
              </a:solidFill>
              <a:latin typeface="Calibri"/>
              <a:ea typeface="Calibri"/>
              <a:cs typeface="Calibri"/>
              <a:sym typeface="Calibri"/>
            </a:endParaRPr>
          </a:p>
        </p:txBody>
      </p:sp>
      <p:sp>
        <p:nvSpPr>
          <p:cNvPr id="1477" name="Google Shape;1477;p43"/>
          <p:cNvSpPr/>
          <p:nvPr/>
        </p:nvSpPr>
        <p:spPr>
          <a:xfrm>
            <a:off x="566928" y="1371600"/>
            <a:ext cx="5852160" cy="31089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g(z) = max{0, z}</a:t>
            </a:r>
            <a:endParaRPr b="0" i="0" sz="1300" u="none" cap="none" strike="noStrike">
              <a:solidFill>
                <a:schemeClr val="dk1"/>
              </a:solidFill>
              <a:latin typeface="Calibri"/>
              <a:ea typeface="Calibri"/>
              <a:cs typeface="Calibri"/>
              <a:sym typeface="Calibri"/>
            </a:endParaRPr>
          </a:p>
          <a:p>
            <a:pPr indent="-203200" lvl="0" marL="203200" marR="0" rtl="0" algn="l">
              <a:spcBef>
                <a:spcPts val="4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ReLUs are easy to optimize because they are so similar to linear units — the only difference is that they output zero across half their domain.</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That keeps derivatives large whenever the unit is active, and the gradients are not only large but consistent.</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g is not differentiable at z = 0. In practice gradient descent still performs well; software simply returns one of the one-sided derivatives (0 or 1) rather than raising an error. Gradient-based optimization on a digital computer is subject to numerical error anyway.</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Generalizations use a non-zero slope αᵢ when zᵢ &lt; 0:   hᵢ = max(0, zᵢ) + αᵢ min(0, zᵢ)</a:t>
            </a:r>
            <a:endParaRPr b="0" i="0" sz="1300" u="none" cap="none" strike="noStrike">
              <a:solidFill>
                <a:schemeClr val="dk1"/>
              </a:solidFill>
              <a:latin typeface="Calibri"/>
              <a:ea typeface="Calibri"/>
              <a:cs typeface="Calibri"/>
              <a:sym typeface="Calibri"/>
            </a:endParaRPr>
          </a:p>
        </p:txBody>
      </p:sp>
      <p:sp>
        <p:nvSpPr>
          <p:cNvPr id="1478" name="Google Shape;1478;p43"/>
          <p:cNvSpPr/>
          <p:nvPr/>
        </p:nvSpPr>
        <p:spPr>
          <a:xfrm>
            <a:off x="566928" y="4434840"/>
            <a:ext cx="2834640" cy="594360"/>
          </a:xfrm>
          <a:prstGeom prst="roundRect">
            <a:avLst>
              <a:gd fmla="val 1384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3"/>
          <p:cNvSpPr/>
          <p:nvPr/>
        </p:nvSpPr>
        <p:spPr>
          <a:xfrm>
            <a:off x="731520" y="447141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Leaky ReLU</a:t>
            </a:r>
            <a:endParaRPr b="0" i="0" sz="1200" u="none" cap="none" strike="noStrike">
              <a:solidFill>
                <a:schemeClr val="dk1"/>
              </a:solidFill>
              <a:latin typeface="Calibri"/>
              <a:ea typeface="Calibri"/>
              <a:cs typeface="Calibri"/>
              <a:sym typeface="Calibri"/>
            </a:endParaRPr>
          </a:p>
        </p:txBody>
      </p:sp>
      <p:sp>
        <p:nvSpPr>
          <p:cNvPr id="1480" name="Google Shape;1480;p43"/>
          <p:cNvSpPr/>
          <p:nvPr/>
        </p:nvSpPr>
        <p:spPr>
          <a:xfrm>
            <a:off x="731520" y="472744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fixes αᵢ to a small value such as 0.01</a:t>
            </a:r>
            <a:endParaRPr b="0" i="0" sz="1050" u="none" cap="none" strike="noStrike">
              <a:solidFill>
                <a:schemeClr val="dk1"/>
              </a:solidFill>
              <a:latin typeface="Calibri"/>
              <a:ea typeface="Calibri"/>
              <a:cs typeface="Calibri"/>
              <a:sym typeface="Calibri"/>
            </a:endParaRPr>
          </a:p>
        </p:txBody>
      </p:sp>
      <p:sp>
        <p:nvSpPr>
          <p:cNvPr id="1481" name="Google Shape;1481;p43"/>
          <p:cNvSpPr/>
          <p:nvPr/>
        </p:nvSpPr>
        <p:spPr>
          <a:xfrm>
            <a:off x="3538728" y="4434840"/>
            <a:ext cx="2834640" cy="594360"/>
          </a:xfrm>
          <a:prstGeom prst="roundRect">
            <a:avLst>
              <a:gd fmla="val 1384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43"/>
          <p:cNvSpPr/>
          <p:nvPr/>
        </p:nvSpPr>
        <p:spPr>
          <a:xfrm>
            <a:off x="3703320" y="447141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Absolute value rectification</a:t>
            </a:r>
            <a:endParaRPr b="0" i="0" sz="1200" u="none" cap="none" strike="noStrike">
              <a:solidFill>
                <a:schemeClr val="dk1"/>
              </a:solidFill>
              <a:latin typeface="Calibri"/>
              <a:ea typeface="Calibri"/>
              <a:cs typeface="Calibri"/>
              <a:sym typeface="Calibri"/>
            </a:endParaRPr>
          </a:p>
        </p:txBody>
      </p:sp>
      <p:sp>
        <p:nvSpPr>
          <p:cNvPr id="1483" name="Google Shape;1483;p43"/>
          <p:cNvSpPr/>
          <p:nvPr/>
        </p:nvSpPr>
        <p:spPr>
          <a:xfrm>
            <a:off x="3703320" y="472744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fixes αᵢ = −1, giving g(z) = |z|</a:t>
            </a:r>
            <a:endParaRPr b="0" i="0" sz="1050" u="none" cap="none" strike="noStrike">
              <a:solidFill>
                <a:schemeClr val="dk1"/>
              </a:solidFill>
              <a:latin typeface="Calibri"/>
              <a:ea typeface="Calibri"/>
              <a:cs typeface="Calibri"/>
              <a:sym typeface="Calibri"/>
            </a:endParaRPr>
          </a:p>
        </p:txBody>
      </p:sp>
      <p:sp>
        <p:nvSpPr>
          <p:cNvPr id="1484" name="Google Shape;1484;p43"/>
          <p:cNvSpPr/>
          <p:nvPr/>
        </p:nvSpPr>
        <p:spPr>
          <a:xfrm>
            <a:off x="566928" y="5120640"/>
            <a:ext cx="2834640" cy="594360"/>
          </a:xfrm>
          <a:prstGeom prst="roundRect">
            <a:avLst>
              <a:gd fmla="val 1384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43"/>
          <p:cNvSpPr/>
          <p:nvPr/>
        </p:nvSpPr>
        <p:spPr>
          <a:xfrm>
            <a:off x="731520" y="515721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Parametric ReLU (PReLU)</a:t>
            </a:r>
            <a:endParaRPr b="0" i="0" sz="1200" u="none" cap="none" strike="noStrike">
              <a:solidFill>
                <a:schemeClr val="dk1"/>
              </a:solidFill>
              <a:latin typeface="Calibri"/>
              <a:ea typeface="Calibri"/>
              <a:cs typeface="Calibri"/>
              <a:sym typeface="Calibri"/>
            </a:endParaRPr>
          </a:p>
        </p:txBody>
      </p:sp>
      <p:sp>
        <p:nvSpPr>
          <p:cNvPr id="1486" name="Google Shape;1486;p43"/>
          <p:cNvSpPr/>
          <p:nvPr/>
        </p:nvSpPr>
        <p:spPr>
          <a:xfrm>
            <a:off x="731520" y="541324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treats αᵢ as a learnable parameter</a:t>
            </a:r>
            <a:endParaRPr b="0" i="0" sz="1050" u="none" cap="none" strike="noStrike">
              <a:solidFill>
                <a:schemeClr val="dk1"/>
              </a:solidFill>
              <a:latin typeface="Calibri"/>
              <a:ea typeface="Calibri"/>
              <a:cs typeface="Calibri"/>
              <a:sym typeface="Calibri"/>
            </a:endParaRPr>
          </a:p>
        </p:txBody>
      </p:sp>
      <p:sp>
        <p:nvSpPr>
          <p:cNvPr id="1487" name="Google Shape;1487;p43"/>
          <p:cNvSpPr/>
          <p:nvPr/>
        </p:nvSpPr>
        <p:spPr>
          <a:xfrm>
            <a:off x="3538728" y="5120640"/>
            <a:ext cx="2834640" cy="594360"/>
          </a:xfrm>
          <a:prstGeom prst="roundRect">
            <a:avLst>
              <a:gd fmla="val 1384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43"/>
          <p:cNvSpPr/>
          <p:nvPr/>
        </p:nvSpPr>
        <p:spPr>
          <a:xfrm>
            <a:off x="3703320" y="515721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Randomized ReLU (RReLU)</a:t>
            </a:r>
            <a:endParaRPr b="0" i="0" sz="1200" u="none" cap="none" strike="noStrike">
              <a:solidFill>
                <a:schemeClr val="dk1"/>
              </a:solidFill>
              <a:latin typeface="Calibri"/>
              <a:ea typeface="Calibri"/>
              <a:cs typeface="Calibri"/>
              <a:sym typeface="Calibri"/>
            </a:endParaRPr>
          </a:p>
        </p:txBody>
      </p:sp>
      <p:sp>
        <p:nvSpPr>
          <p:cNvPr id="1489" name="Google Shape;1489;p43"/>
          <p:cNvSpPr/>
          <p:nvPr/>
        </p:nvSpPr>
        <p:spPr>
          <a:xfrm>
            <a:off x="3703320" y="541324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samples αᵢ at random from a fixed range</a:t>
            </a:r>
            <a:endParaRPr b="0" i="0" sz="1050" u="none" cap="none" strike="noStrike">
              <a:solidFill>
                <a:schemeClr val="dk1"/>
              </a:solidFill>
              <a:latin typeface="Calibri"/>
              <a:ea typeface="Calibri"/>
              <a:cs typeface="Calibri"/>
              <a:sym typeface="Calibri"/>
            </a:endParaRPr>
          </a:p>
        </p:txBody>
      </p:sp>
      <p:sp>
        <p:nvSpPr>
          <p:cNvPr id="1490" name="Google Shape;1490;p43"/>
          <p:cNvSpPr/>
          <p:nvPr/>
        </p:nvSpPr>
        <p:spPr>
          <a:xfrm>
            <a:off x="6537960" y="1371600"/>
            <a:ext cx="5093208" cy="4389120"/>
          </a:xfrm>
          <a:prstGeom prst="roundRect">
            <a:avLst>
              <a:gd fmla="val 187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43"/>
          <p:cNvSpPr/>
          <p:nvPr/>
        </p:nvSpPr>
        <p:spPr>
          <a:xfrm>
            <a:off x="7223760" y="148132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1" i="0" lang="en-US" sz="1250" u="none" cap="none" strike="noStrike">
                <a:solidFill>
                  <a:srgbClr val="2D1B4E"/>
                </a:solidFill>
                <a:latin typeface="Calibri"/>
                <a:ea typeface="Calibri"/>
                <a:cs typeface="Calibri"/>
                <a:sym typeface="Calibri"/>
              </a:rPr>
              <a:t>ReLU</a:t>
            </a:r>
            <a:endParaRPr b="0" i="0" sz="1250" u="none" cap="none" strike="noStrike">
              <a:solidFill>
                <a:schemeClr val="dk1"/>
              </a:solidFill>
              <a:latin typeface="Calibri"/>
              <a:ea typeface="Calibri"/>
              <a:cs typeface="Calibri"/>
              <a:sym typeface="Calibri"/>
            </a:endParaRPr>
          </a:p>
        </p:txBody>
      </p:sp>
      <p:cxnSp>
        <p:nvCxnSpPr>
          <p:cNvPr id="1492" name="Google Shape;1492;p43"/>
          <p:cNvCxnSpPr/>
          <p:nvPr/>
        </p:nvCxnSpPr>
        <p:spPr>
          <a:xfrm>
            <a:off x="7223760" y="2823210"/>
            <a:ext cx="3657600" cy="0"/>
          </a:xfrm>
          <a:prstGeom prst="straightConnector1">
            <a:avLst/>
          </a:prstGeom>
          <a:noFill/>
          <a:ln cap="flat" cmpd="sng" w="12700">
            <a:solidFill>
              <a:srgbClr val="6E6880"/>
            </a:solidFill>
            <a:prstDash val="solid"/>
            <a:round/>
            <a:headEnd len="sm" w="sm" type="none"/>
            <a:tailEnd len="sm" w="sm" type="none"/>
          </a:ln>
        </p:spPr>
      </p:cxnSp>
      <p:cxnSp>
        <p:nvCxnSpPr>
          <p:cNvPr id="1493" name="Google Shape;1493;p43"/>
          <p:cNvCxnSpPr/>
          <p:nvPr/>
        </p:nvCxnSpPr>
        <p:spPr>
          <a:xfrm>
            <a:off x="9052560" y="1783080"/>
            <a:ext cx="0" cy="1600200"/>
          </a:xfrm>
          <a:prstGeom prst="straightConnector1">
            <a:avLst/>
          </a:prstGeom>
          <a:noFill/>
          <a:ln cap="flat" cmpd="sng" w="12700">
            <a:solidFill>
              <a:srgbClr val="6E6880"/>
            </a:solidFill>
            <a:prstDash val="solid"/>
            <a:round/>
            <a:headEnd len="sm" w="sm" type="none"/>
            <a:tailEnd len="sm" w="sm" type="none"/>
          </a:ln>
        </p:spPr>
      </p:cxnSp>
      <p:cxnSp>
        <p:nvCxnSpPr>
          <p:cNvPr id="1494" name="Google Shape;1494;p43"/>
          <p:cNvCxnSpPr/>
          <p:nvPr/>
        </p:nvCxnSpPr>
        <p:spPr>
          <a:xfrm>
            <a:off x="7223760" y="2823210"/>
            <a:ext cx="1828800" cy="0"/>
          </a:xfrm>
          <a:prstGeom prst="straightConnector1">
            <a:avLst/>
          </a:prstGeom>
          <a:noFill/>
          <a:ln cap="flat" cmpd="sng" w="31750">
            <a:solidFill>
              <a:srgbClr val="E8833A"/>
            </a:solidFill>
            <a:prstDash val="solid"/>
            <a:round/>
            <a:headEnd len="sm" w="sm" type="none"/>
            <a:tailEnd len="sm" w="sm" type="none"/>
          </a:ln>
        </p:spPr>
      </p:cxnSp>
      <p:cxnSp>
        <p:nvCxnSpPr>
          <p:cNvPr id="1495" name="Google Shape;1495;p43"/>
          <p:cNvCxnSpPr/>
          <p:nvPr/>
        </p:nvCxnSpPr>
        <p:spPr>
          <a:xfrm flipH="1" rot="10800000">
            <a:off x="9052560" y="1863090"/>
            <a:ext cx="1828800" cy="960120"/>
          </a:xfrm>
          <a:prstGeom prst="straightConnector1">
            <a:avLst/>
          </a:prstGeom>
          <a:noFill/>
          <a:ln cap="flat" cmpd="sng" w="31750">
            <a:solidFill>
              <a:srgbClr val="E8833A"/>
            </a:solidFill>
            <a:prstDash val="solid"/>
            <a:round/>
            <a:headEnd len="sm" w="sm" type="none"/>
            <a:tailEnd len="sm" w="sm" type="none"/>
          </a:ln>
        </p:spPr>
      </p:cxnSp>
      <p:sp>
        <p:nvSpPr>
          <p:cNvPr id="1496" name="Google Shape;1496;p43"/>
          <p:cNvSpPr/>
          <p:nvPr/>
        </p:nvSpPr>
        <p:spPr>
          <a:xfrm>
            <a:off x="7223760" y="363016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1" i="0" lang="en-US" sz="1250" u="none" cap="none" strike="noStrike">
                <a:solidFill>
                  <a:srgbClr val="2D1B4E"/>
                </a:solidFill>
                <a:latin typeface="Calibri"/>
                <a:ea typeface="Calibri"/>
                <a:cs typeface="Calibri"/>
                <a:sym typeface="Calibri"/>
              </a:rPr>
              <a:t>Leaky ReLU / PReLU</a:t>
            </a:r>
            <a:endParaRPr b="0" i="0" sz="1250" u="none" cap="none" strike="noStrike">
              <a:solidFill>
                <a:schemeClr val="dk1"/>
              </a:solidFill>
              <a:latin typeface="Calibri"/>
              <a:ea typeface="Calibri"/>
              <a:cs typeface="Calibri"/>
              <a:sym typeface="Calibri"/>
            </a:endParaRPr>
          </a:p>
        </p:txBody>
      </p:sp>
      <p:cxnSp>
        <p:nvCxnSpPr>
          <p:cNvPr id="1497" name="Google Shape;1497;p43"/>
          <p:cNvCxnSpPr/>
          <p:nvPr/>
        </p:nvCxnSpPr>
        <p:spPr>
          <a:xfrm>
            <a:off x="7223760" y="4972050"/>
            <a:ext cx="3657600" cy="0"/>
          </a:xfrm>
          <a:prstGeom prst="straightConnector1">
            <a:avLst/>
          </a:prstGeom>
          <a:noFill/>
          <a:ln cap="flat" cmpd="sng" w="12700">
            <a:solidFill>
              <a:srgbClr val="6E6880"/>
            </a:solidFill>
            <a:prstDash val="solid"/>
            <a:round/>
            <a:headEnd len="sm" w="sm" type="none"/>
            <a:tailEnd len="sm" w="sm" type="none"/>
          </a:ln>
        </p:spPr>
      </p:cxnSp>
      <p:cxnSp>
        <p:nvCxnSpPr>
          <p:cNvPr id="1498" name="Google Shape;1498;p43"/>
          <p:cNvCxnSpPr/>
          <p:nvPr/>
        </p:nvCxnSpPr>
        <p:spPr>
          <a:xfrm>
            <a:off x="9052560" y="3931920"/>
            <a:ext cx="0" cy="1600200"/>
          </a:xfrm>
          <a:prstGeom prst="straightConnector1">
            <a:avLst/>
          </a:prstGeom>
          <a:noFill/>
          <a:ln cap="flat" cmpd="sng" w="12700">
            <a:solidFill>
              <a:srgbClr val="6E6880"/>
            </a:solidFill>
            <a:prstDash val="solid"/>
            <a:round/>
            <a:headEnd len="sm" w="sm" type="none"/>
            <a:tailEnd len="sm" w="sm" type="none"/>
          </a:ln>
        </p:spPr>
      </p:cxnSp>
      <p:cxnSp>
        <p:nvCxnSpPr>
          <p:cNvPr id="1499" name="Google Shape;1499;p43"/>
          <p:cNvCxnSpPr/>
          <p:nvPr/>
        </p:nvCxnSpPr>
        <p:spPr>
          <a:xfrm flipH="1" rot="10800000">
            <a:off x="7223760" y="4972050"/>
            <a:ext cx="1828800" cy="336042"/>
          </a:xfrm>
          <a:prstGeom prst="straightConnector1">
            <a:avLst/>
          </a:prstGeom>
          <a:noFill/>
          <a:ln cap="flat" cmpd="sng" w="31750">
            <a:solidFill>
              <a:srgbClr val="3F2A69"/>
            </a:solidFill>
            <a:prstDash val="solid"/>
            <a:round/>
            <a:headEnd len="sm" w="sm" type="none"/>
            <a:tailEnd len="sm" w="sm" type="none"/>
          </a:ln>
        </p:spPr>
      </p:cxnSp>
      <p:cxnSp>
        <p:nvCxnSpPr>
          <p:cNvPr id="1500" name="Google Shape;1500;p43"/>
          <p:cNvCxnSpPr/>
          <p:nvPr/>
        </p:nvCxnSpPr>
        <p:spPr>
          <a:xfrm flipH="1" rot="10800000">
            <a:off x="9052560" y="4011930"/>
            <a:ext cx="1828800" cy="960120"/>
          </a:xfrm>
          <a:prstGeom prst="straightConnector1">
            <a:avLst/>
          </a:prstGeom>
          <a:noFill/>
          <a:ln cap="flat" cmpd="sng" w="31750">
            <a:solidFill>
              <a:srgbClr val="3F2A69"/>
            </a:solidFill>
            <a:prstDash val="solid"/>
            <a:round/>
            <a:headEnd len="sm" w="sm" type="none"/>
            <a:tailEnd len="sm" w="sm" type="none"/>
          </a:ln>
        </p:spPr>
      </p:cxnSp>
      <p:sp>
        <p:nvSpPr>
          <p:cNvPr id="1501" name="Google Shape;1501;p43"/>
          <p:cNvSpPr/>
          <p:nvPr/>
        </p:nvSpPr>
        <p:spPr>
          <a:xfrm>
            <a:off x="6812280" y="5779008"/>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Solves the vanishing gradient problem that plagued sigmoidal hidden units.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6" name="Shape 1506"/>
        <p:cNvGrpSpPr/>
        <p:nvPr/>
      </p:nvGrpSpPr>
      <p:grpSpPr>
        <a:xfrm>
          <a:off x="0" y="0"/>
          <a:ext cx="0" cy="0"/>
          <a:chOff x="0" y="0"/>
          <a:chExt cx="0" cy="0"/>
        </a:xfrm>
      </p:grpSpPr>
      <p:sp>
        <p:nvSpPr>
          <p:cNvPr id="1507" name="Google Shape;1507;p44"/>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HIDDEN UNITS</a:t>
            </a:r>
            <a:endParaRPr b="0" i="0" sz="1050" u="none" cap="none" strike="noStrike">
              <a:solidFill>
                <a:schemeClr val="dk1"/>
              </a:solidFill>
              <a:latin typeface="Calibri"/>
              <a:ea typeface="Calibri"/>
              <a:cs typeface="Calibri"/>
              <a:sym typeface="Calibri"/>
            </a:endParaRPr>
          </a:p>
        </p:txBody>
      </p:sp>
      <p:sp>
        <p:nvSpPr>
          <p:cNvPr id="1508" name="Google Shape;1508;p44"/>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Maxout units</a:t>
            </a:r>
            <a:endParaRPr b="0" i="0" sz="2800" u="none" cap="none" strike="noStrike">
              <a:solidFill>
                <a:schemeClr val="dk1"/>
              </a:solidFill>
              <a:latin typeface="Calibri"/>
              <a:ea typeface="Calibri"/>
              <a:cs typeface="Calibri"/>
              <a:sym typeface="Calibri"/>
            </a:endParaRPr>
          </a:p>
        </p:txBody>
      </p:sp>
      <p:sp>
        <p:nvSpPr>
          <p:cNvPr id="1509" name="Google Shape;1509;p44"/>
          <p:cNvSpPr/>
          <p:nvPr/>
        </p:nvSpPr>
        <p:spPr>
          <a:xfrm>
            <a:off x="566928" y="1371600"/>
            <a:ext cx="5943600" cy="42062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Instead of applying an element-wise function g(z), maxout units divide z into groups of k values and output the maximum element of one of these groups: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g(z)ᵢ = max over j in group i of zⱼ</a:t>
            </a:r>
            <a:endParaRPr b="0" i="0" sz="1300" u="none" cap="none" strike="noStrike">
              <a:solidFill>
                <a:schemeClr val="dk1"/>
              </a:solidFill>
              <a:latin typeface="Calibri"/>
              <a:ea typeface="Calibri"/>
              <a:cs typeface="Calibri"/>
              <a:sym typeface="Calibri"/>
            </a:endParaRPr>
          </a:p>
          <a:p>
            <a:pPr indent="-203200" lvl="0" marL="203200" marR="0" rtl="0" algn="l">
              <a:spcBef>
                <a:spcPts val="12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This gives a way of learning a piecewise linear function that responds to multiple directions in the input space.</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A maxout unit can learn a piecewise linear, convex function with up to k pieces — so maxout units can be seen as learning the activation function itself, rather than just the relationship between units.</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With large enough k, a maxout unit can approximate any convex function with arbitrary fidelity.</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Cost: each unit is parametrised by k weight vectors instead of one, so maxout units typically need more regularization — unless the training set is large and k is kept small.</a:t>
            </a:r>
            <a:endParaRPr b="0" i="0" sz="1300" u="none" cap="none" strike="noStrike">
              <a:solidFill>
                <a:schemeClr val="dk1"/>
              </a:solidFill>
              <a:latin typeface="Calibri"/>
              <a:ea typeface="Calibri"/>
              <a:cs typeface="Calibri"/>
              <a:sym typeface="Calibri"/>
            </a:endParaRPr>
          </a:p>
        </p:txBody>
      </p:sp>
      <p:sp>
        <p:nvSpPr>
          <p:cNvPr id="1510" name="Google Shape;1510;p44"/>
          <p:cNvSpPr/>
          <p:nvPr/>
        </p:nvSpPr>
        <p:spPr>
          <a:xfrm>
            <a:off x="6675120" y="1371600"/>
            <a:ext cx="4956048" cy="4206240"/>
          </a:xfrm>
          <a:prstGeom prst="roundRect">
            <a:avLst>
              <a:gd fmla="val 195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4"/>
          <p:cNvSpPr/>
          <p:nvPr/>
        </p:nvSpPr>
        <p:spPr>
          <a:xfrm>
            <a:off x="7178040" y="1691640"/>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libri"/>
              <a:buNone/>
            </a:pPr>
            <a:r>
              <a:rPr b="1" i="0" lang="en-US" sz="1300" u="none" cap="none" strike="noStrike">
                <a:solidFill>
                  <a:srgbClr val="2D1B4E"/>
                </a:solidFill>
                <a:latin typeface="Calibri"/>
                <a:ea typeface="Calibri"/>
                <a:cs typeface="Calibri"/>
                <a:sym typeface="Calibri"/>
              </a:rPr>
              <a:t>Maxout with k = 4</a:t>
            </a:r>
            <a:endParaRPr b="0" i="0" sz="1300" u="none" cap="none" strike="noStrike">
              <a:solidFill>
                <a:schemeClr val="dk1"/>
              </a:solidFill>
              <a:latin typeface="Calibri"/>
              <a:ea typeface="Calibri"/>
              <a:cs typeface="Calibri"/>
              <a:sym typeface="Calibri"/>
            </a:endParaRPr>
          </a:p>
        </p:txBody>
      </p:sp>
      <p:cxnSp>
        <p:nvCxnSpPr>
          <p:cNvPr id="1512" name="Google Shape;1512;p44"/>
          <p:cNvCxnSpPr/>
          <p:nvPr/>
        </p:nvCxnSpPr>
        <p:spPr>
          <a:xfrm>
            <a:off x="7178040" y="2235708"/>
            <a:ext cx="3931920" cy="2466137"/>
          </a:xfrm>
          <a:prstGeom prst="straightConnector1">
            <a:avLst/>
          </a:prstGeom>
          <a:noFill/>
          <a:ln cap="flat" cmpd="sng" w="15875">
            <a:solidFill>
              <a:srgbClr val="9C8CC4"/>
            </a:solidFill>
            <a:prstDash val="dash"/>
            <a:round/>
            <a:headEnd len="sm" w="sm" type="none"/>
            <a:tailEnd len="sm" w="sm" type="none"/>
          </a:ln>
        </p:spPr>
      </p:cxnSp>
      <p:cxnSp>
        <p:nvCxnSpPr>
          <p:cNvPr id="1513" name="Google Shape;1513;p44"/>
          <p:cNvCxnSpPr/>
          <p:nvPr/>
        </p:nvCxnSpPr>
        <p:spPr>
          <a:xfrm>
            <a:off x="7178040" y="3110789"/>
            <a:ext cx="3931920" cy="1325880"/>
          </a:xfrm>
          <a:prstGeom prst="straightConnector1">
            <a:avLst/>
          </a:prstGeom>
          <a:noFill/>
          <a:ln cap="flat" cmpd="sng" w="15875">
            <a:solidFill>
              <a:srgbClr val="9C8CC4"/>
            </a:solidFill>
            <a:prstDash val="dash"/>
            <a:round/>
            <a:headEnd len="sm" w="sm" type="none"/>
            <a:tailEnd len="sm" w="sm" type="none"/>
          </a:ln>
        </p:spPr>
      </p:cxnSp>
      <p:cxnSp>
        <p:nvCxnSpPr>
          <p:cNvPr id="1514" name="Google Shape;1514;p44"/>
          <p:cNvCxnSpPr/>
          <p:nvPr/>
        </p:nvCxnSpPr>
        <p:spPr>
          <a:xfrm flipH="1" rot="10800000">
            <a:off x="7178040" y="3031236"/>
            <a:ext cx="3931920" cy="1458468"/>
          </a:xfrm>
          <a:prstGeom prst="straightConnector1">
            <a:avLst/>
          </a:prstGeom>
          <a:noFill/>
          <a:ln cap="flat" cmpd="sng" w="15875">
            <a:solidFill>
              <a:srgbClr val="9C8CC4"/>
            </a:solidFill>
            <a:prstDash val="dash"/>
            <a:round/>
            <a:headEnd len="sm" w="sm" type="none"/>
            <a:tailEnd len="sm" w="sm" type="none"/>
          </a:ln>
        </p:spPr>
      </p:cxnSp>
      <p:cxnSp>
        <p:nvCxnSpPr>
          <p:cNvPr id="1515" name="Google Shape;1515;p44"/>
          <p:cNvCxnSpPr/>
          <p:nvPr/>
        </p:nvCxnSpPr>
        <p:spPr>
          <a:xfrm flipH="1" rot="10800000">
            <a:off x="7178040" y="2368296"/>
            <a:ext cx="3931920" cy="2333549"/>
          </a:xfrm>
          <a:prstGeom prst="straightConnector1">
            <a:avLst/>
          </a:prstGeom>
          <a:noFill/>
          <a:ln cap="flat" cmpd="sng" w="15875">
            <a:solidFill>
              <a:srgbClr val="9C8CC4"/>
            </a:solidFill>
            <a:prstDash val="dash"/>
            <a:round/>
            <a:headEnd len="sm" w="sm" type="none"/>
            <a:tailEnd len="sm" w="sm" type="none"/>
          </a:ln>
        </p:spPr>
      </p:cxnSp>
      <p:cxnSp>
        <p:nvCxnSpPr>
          <p:cNvPr id="1516" name="Google Shape;1516;p44"/>
          <p:cNvCxnSpPr/>
          <p:nvPr/>
        </p:nvCxnSpPr>
        <p:spPr>
          <a:xfrm>
            <a:off x="7178040" y="2235708"/>
            <a:ext cx="1297534" cy="1312621"/>
          </a:xfrm>
          <a:prstGeom prst="straightConnector1">
            <a:avLst/>
          </a:prstGeom>
          <a:noFill/>
          <a:ln cap="flat" cmpd="sng" w="38100">
            <a:solidFill>
              <a:srgbClr val="E8833A"/>
            </a:solidFill>
            <a:prstDash val="solid"/>
            <a:round/>
            <a:headEnd len="sm" w="sm" type="none"/>
            <a:tailEnd len="sm" w="sm" type="none"/>
          </a:ln>
        </p:spPr>
      </p:cxnSp>
      <p:cxnSp>
        <p:nvCxnSpPr>
          <p:cNvPr id="1517" name="Google Shape;1517;p44"/>
          <p:cNvCxnSpPr/>
          <p:nvPr/>
        </p:nvCxnSpPr>
        <p:spPr>
          <a:xfrm>
            <a:off x="8475574" y="3548329"/>
            <a:ext cx="648767" cy="220096"/>
          </a:xfrm>
          <a:prstGeom prst="straightConnector1">
            <a:avLst/>
          </a:prstGeom>
          <a:noFill/>
          <a:ln cap="flat" cmpd="sng" w="38100">
            <a:solidFill>
              <a:srgbClr val="E8833A"/>
            </a:solidFill>
            <a:prstDash val="solid"/>
            <a:round/>
            <a:headEnd len="sm" w="sm" type="none"/>
            <a:tailEnd len="sm" w="sm" type="none"/>
          </a:ln>
        </p:spPr>
      </p:cxnSp>
      <p:cxnSp>
        <p:nvCxnSpPr>
          <p:cNvPr id="1518" name="Google Shape;1518;p44"/>
          <p:cNvCxnSpPr/>
          <p:nvPr/>
        </p:nvCxnSpPr>
        <p:spPr>
          <a:xfrm flipH="1" rot="10800000">
            <a:off x="9124340" y="3483361"/>
            <a:ext cx="766724" cy="285064"/>
          </a:xfrm>
          <a:prstGeom prst="straightConnector1">
            <a:avLst/>
          </a:prstGeom>
          <a:noFill/>
          <a:ln cap="flat" cmpd="sng" w="38100">
            <a:solidFill>
              <a:srgbClr val="E8833A"/>
            </a:solidFill>
            <a:prstDash val="solid"/>
            <a:round/>
            <a:headEnd len="sm" w="sm" type="none"/>
            <a:tailEnd len="sm" w="sm" type="none"/>
          </a:ln>
        </p:spPr>
      </p:cxnSp>
      <p:cxnSp>
        <p:nvCxnSpPr>
          <p:cNvPr id="1519" name="Google Shape;1519;p44"/>
          <p:cNvCxnSpPr/>
          <p:nvPr/>
        </p:nvCxnSpPr>
        <p:spPr>
          <a:xfrm flipH="1" rot="10800000">
            <a:off x="9891065" y="2368296"/>
            <a:ext cx="1218895" cy="1115065"/>
          </a:xfrm>
          <a:prstGeom prst="straightConnector1">
            <a:avLst/>
          </a:prstGeom>
          <a:noFill/>
          <a:ln cap="flat" cmpd="sng" w="38100">
            <a:solidFill>
              <a:srgbClr val="E8833A"/>
            </a:solidFill>
            <a:prstDash val="solid"/>
            <a:round/>
            <a:headEnd len="sm" w="sm" type="none"/>
            <a:tailEnd len="sm" w="sm" type="none"/>
          </a:ln>
        </p:spPr>
      </p:cxnSp>
      <p:sp>
        <p:nvSpPr>
          <p:cNvPr id="1520" name="Google Shape;1520;p44"/>
          <p:cNvSpPr/>
          <p:nvPr/>
        </p:nvSpPr>
        <p:spPr>
          <a:xfrm>
            <a:off x="7442759" y="2148840"/>
            <a:ext cx="76809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950"/>
              <a:buFont typeface="Calibri"/>
              <a:buNone/>
            </a:pPr>
            <a:r>
              <a:rPr b="0" i="0" lang="en-US" sz="950" u="none" cap="none" strike="noStrike">
                <a:solidFill>
                  <a:srgbClr val="6E6880"/>
                </a:solidFill>
                <a:latin typeface="Calibri"/>
                <a:ea typeface="Calibri"/>
                <a:cs typeface="Calibri"/>
                <a:sym typeface="Calibri"/>
              </a:rPr>
              <a:t>region 1</a:t>
            </a:r>
            <a:endParaRPr b="0" i="0" sz="950" u="none" cap="none" strike="noStrike">
              <a:solidFill>
                <a:schemeClr val="dk1"/>
              </a:solidFill>
              <a:latin typeface="Calibri"/>
              <a:ea typeface="Calibri"/>
              <a:cs typeface="Calibri"/>
              <a:sym typeface="Calibri"/>
            </a:endParaRPr>
          </a:p>
        </p:txBody>
      </p:sp>
      <p:cxnSp>
        <p:nvCxnSpPr>
          <p:cNvPr id="1521" name="Google Shape;1521;p44"/>
          <p:cNvCxnSpPr/>
          <p:nvPr/>
        </p:nvCxnSpPr>
        <p:spPr>
          <a:xfrm>
            <a:off x="8475574" y="2377440"/>
            <a:ext cx="0" cy="2377440"/>
          </a:xfrm>
          <a:prstGeom prst="straightConnector1">
            <a:avLst/>
          </a:prstGeom>
          <a:noFill/>
          <a:ln cap="flat" cmpd="sng" w="9525">
            <a:solidFill>
              <a:srgbClr val="D8D1E6"/>
            </a:solidFill>
            <a:prstDash val="dot"/>
            <a:round/>
            <a:headEnd len="sm" w="sm" type="none"/>
            <a:tailEnd len="sm" w="sm" type="none"/>
          </a:ln>
        </p:spPr>
      </p:cxnSp>
      <p:sp>
        <p:nvSpPr>
          <p:cNvPr id="1522" name="Google Shape;1522;p44"/>
          <p:cNvSpPr/>
          <p:nvPr/>
        </p:nvSpPr>
        <p:spPr>
          <a:xfrm>
            <a:off x="8406079" y="2148840"/>
            <a:ext cx="76809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950"/>
              <a:buFont typeface="Calibri"/>
              <a:buNone/>
            </a:pPr>
            <a:r>
              <a:rPr b="0" i="0" lang="en-US" sz="950" u="none" cap="none" strike="noStrike">
                <a:solidFill>
                  <a:srgbClr val="6E6880"/>
                </a:solidFill>
                <a:latin typeface="Calibri"/>
                <a:ea typeface="Calibri"/>
                <a:cs typeface="Calibri"/>
                <a:sym typeface="Calibri"/>
              </a:rPr>
              <a:t>region 2</a:t>
            </a:r>
            <a:endParaRPr b="0" i="0" sz="950" u="none" cap="none" strike="noStrike">
              <a:solidFill>
                <a:schemeClr val="dk1"/>
              </a:solidFill>
              <a:latin typeface="Calibri"/>
              <a:ea typeface="Calibri"/>
              <a:cs typeface="Calibri"/>
              <a:sym typeface="Calibri"/>
            </a:endParaRPr>
          </a:p>
        </p:txBody>
      </p:sp>
      <p:cxnSp>
        <p:nvCxnSpPr>
          <p:cNvPr id="1523" name="Google Shape;1523;p44"/>
          <p:cNvCxnSpPr/>
          <p:nvPr/>
        </p:nvCxnSpPr>
        <p:spPr>
          <a:xfrm>
            <a:off x="9124340" y="2377440"/>
            <a:ext cx="0" cy="2377440"/>
          </a:xfrm>
          <a:prstGeom prst="straightConnector1">
            <a:avLst/>
          </a:prstGeom>
          <a:noFill/>
          <a:ln cap="flat" cmpd="sng" w="9525">
            <a:solidFill>
              <a:srgbClr val="D8D1E6"/>
            </a:solidFill>
            <a:prstDash val="dot"/>
            <a:round/>
            <a:headEnd len="sm" w="sm" type="none"/>
            <a:tailEnd len="sm" w="sm" type="none"/>
          </a:ln>
        </p:spPr>
      </p:cxnSp>
      <p:sp>
        <p:nvSpPr>
          <p:cNvPr id="1524" name="Google Shape;1524;p44"/>
          <p:cNvSpPr/>
          <p:nvPr/>
        </p:nvSpPr>
        <p:spPr>
          <a:xfrm>
            <a:off x="9113825" y="2148840"/>
            <a:ext cx="76809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950"/>
              <a:buFont typeface="Calibri"/>
              <a:buNone/>
            </a:pPr>
            <a:r>
              <a:rPr b="0" i="0" lang="en-US" sz="950" u="none" cap="none" strike="noStrike">
                <a:solidFill>
                  <a:srgbClr val="6E6880"/>
                </a:solidFill>
                <a:latin typeface="Calibri"/>
                <a:ea typeface="Calibri"/>
                <a:cs typeface="Calibri"/>
                <a:sym typeface="Calibri"/>
              </a:rPr>
              <a:t>region 3</a:t>
            </a:r>
            <a:endParaRPr b="0" i="0" sz="950" u="none" cap="none" strike="noStrike">
              <a:solidFill>
                <a:schemeClr val="dk1"/>
              </a:solidFill>
              <a:latin typeface="Calibri"/>
              <a:ea typeface="Calibri"/>
              <a:cs typeface="Calibri"/>
              <a:sym typeface="Calibri"/>
            </a:endParaRPr>
          </a:p>
        </p:txBody>
      </p:sp>
      <p:cxnSp>
        <p:nvCxnSpPr>
          <p:cNvPr id="1525" name="Google Shape;1525;p44"/>
          <p:cNvCxnSpPr/>
          <p:nvPr/>
        </p:nvCxnSpPr>
        <p:spPr>
          <a:xfrm>
            <a:off x="9891065" y="2377440"/>
            <a:ext cx="0" cy="2377440"/>
          </a:xfrm>
          <a:prstGeom prst="straightConnector1">
            <a:avLst/>
          </a:prstGeom>
          <a:noFill/>
          <a:ln cap="flat" cmpd="sng" w="9525">
            <a:solidFill>
              <a:srgbClr val="D8D1E6"/>
            </a:solidFill>
            <a:prstDash val="dot"/>
            <a:round/>
            <a:headEnd len="sm" w="sm" type="none"/>
            <a:tailEnd len="sm" w="sm" type="none"/>
          </a:ln>
        </p:spPr>
      </p:cxnSp>
      <p:sp>
        <p:nvSpPr>
          <p:cNvPr id="1526" name="Google Shape;1526;p44"/>
          <p:cNvSpPr/>
          <p:nvPr/>
        </p:nvSpPr>
        <p:spPr>
          <a:xfrm>
            <a:off x="10116464" y="2148840"/>
            <a:ext cx="76809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950"/>
              <a:buFont typeface="Calibri"/>
              <a:buNone/>
            </a:pPr>
            <a:r>
              <a:rPr b="0" i="0" lang="en-US" sz="950" u="none" cap="none" strike="noStrike">
                <a:solidFill>
                  <a:srgbClr val="6E6880"/>
                </a:solidFill>
                <a:latin typeface="Calibri"/>
                <a:ea typeface="Calibri"/>
                <a:cs typeface="Calibri"/>
                <a:sym typeface="Calibri"/>
              </a:rPr>
              <a:t>region 4</a:t>
            </a:r>
            <a:endParaRPr b="0" i="0" sz="950" u="none" cap="none" strike="noStrike">
              <a:solidFill>
                <a:schemeClr val="dk1"/>
              </a:solidFill>
              <a:latin typeface="Calibri"/>
              <a:ea typeface="Calibri"/>
              <a:cs typeface="Calibri"/>
              <a:sym typeface="Calibri"/>
            </a:endParaRPr>
          </a:p>
        </p:txBody>
      </p:sp>
      <p:sp>
        <p:nvSpPr>
          <p:cNvPr id="1527" name="Google Shape;1527;p44"/>
          <p:cNvSpPr/>
          <p:nvPr/>
        </p:nvSpPr>
        <p:spPr>
          <a:xfrm>
            <a:off x="7178040" y="493776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The solid curve is the maximum of four learned linear pieces — a convex, piecewise-linear activation.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2" name="Shape 1532"/>
        <p:cNvGrpSpPr/>
        <p:nvPr/>
      </p:nvGrpSpPr>
      <p:grpSpPr>
        <a:xfrm>
          <a:off x="0" y="0"/>
          <a:ext cx="0" cy="0"/>
          <a:chOff x="0" y="0"/>
          <a:chExt cx="0" cy="0"/>
        </a:xfrm>
      </p:grpSpPr>
      <p:sp>
        <p:nvSpPr>
          <p:cNvPr id="1533" name="Google Shape;1533;p4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HIDDEN UNITS</a:t>
            </a:r>
            <a:endParaRPr b="0" i="0" sz="1050" u="none" cap="none" strike="noStrike">
              <a:solidFill>
                <a:schemeClr val="dk1"/>
              </a:solidFill>
              <a:latin typeface="Calibri"/>
              <a:ea typeface="Calibri"/>
              <a:cs typeface="Calibri"/>
              <a:sym typeface="Calibri"/>
            </a:endParaRPr>
          </a:p>
        </p:txBody>
      </p:sp>
      <p:sp>
        <p:nvSpPr>
          <p:cNvPr id="1534" name="Google Shape;1534;p4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Logistic sigmoid and hyperbolic tangent</a:t>
            </a:r>
            <a:endParaRPr b="0" i="0" sz="2800" u="none" cap="none" strike="noStrike">
              <a:solidFill>
                <a:schemeClr val="dk1"/>
              </a:solidFill>
              <a:latin typeface="Calibri"/>
              <a:ea typeface="Calibri"/>
              <a:cs typeface="Calibri"/>
              <a:sym typeface="Calibri"/>
            </a:endParaRPr>
          </a:p>
        </p:txBody>
      </p:sp>
      <p:sp>
        <p:nvSpPr>
          <p:cNvPr id="1535" name="Google Shape;1535;p45"/>
          <p:cNvSpPr/>
          <p:nvPr/>
        </p:nvSpPr>
        <p:spPr>
          <a:xfrm>
            <a:off x="566928" y="1280160"/>
            <a:ext cx="11057839" cy="685800"/>
          </a:xfrm>
          <a:prstGeom prst="roundRect">
            <a:avLst>
              <a:gd fmla="val 12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5"/>
          <p:cNvSpPr/>
          <p:nvPr/>
        </p:nvSpPr>
        <p:spPr>
          <a:xfrm>
            <a:off x="704088" y="1280160"/>
            <a:ext cx="10783519"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700"/>
              <a:buFont typeface="Calibri"/>
              <a:buNone/>
            </a:pPr>
            <a:r>
              <a:rPr b="1" i="0" lang="en-US" sz="1700" u="none" cap="none" strike="noStrike">
                <a:solidFill>
                  <a:srgbClr val="2D1B4E"/>
                </a:solidFill>
                <a:latin typeface="Calibri"/>
                <a:ea typeface="Calibri"/>
                <a:cs typeface="Calibri"/>
                <a:sym typeface="Calibri"/>
              </a:rPr>
              <a:t>g(z) = σ(z)          g(z) = tanh(z)          tanh(z) = 2σ(2z) − 1</a:t>
            </a:r>
            <a:endParaRPr b="0" i="0" sz="1700" u="none" cap="none" strike="noStrike">
              <a:solidFill>
                <a:schemeClr val="dk1"/>
              </a:solidFill>
              <a:latin typeface="Calibri"/>
              <a:ea typeface="Calibri"/>
              <a:cs typeface="Calibri"/>
              <a:sym typeface="Calibri"/>
            </a:endParaRPr>
          </a:p>
        </p:txBody>
      </p:sp>
      <p:sp>
        <p:nvSpPr>
          <p:cNvPr id="1537" name="Google Shape;1537;p45"/>
          <p:cNvSpPr/>
          <p:nvPr/>
        </p:nvSpPr>
        <p:spPr>
          <a:xfrm>
            <a:off x="566928" y="2103120"/>
            <a:ext cx="5577840" cy="2286000"/>
          </a:xfrm>
          <a:prstGeom prst="roundRect">
            <a:avLst>
              <a:gd fmla="val 36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5"/>
          <p:cNvSpPr/>
          <p:nvPr/>
        </p:nvSpPr>
        <p:spPr>
          <a:xfrm>
            <a:off x="822960" y="2340864"/>
            <a:ext cx="420624" cy="420624"/>
          </a:xfrm>
          <a:prstGeom prst="ellipse">
            <a:avLst/>
          </a:prstGeom>
          <a:solidFill>
            <a:srgbClr val="B84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5"/>
          <p:cNvSpPr/>
          <p:nvPr/>
        </p:nvSpPr>
        <p:spPr>
          <a:xfrm>
            <a:off x="822960"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540" name="Google Shape;1540;p45"/>
          <p:cNvSpPr/>
          <p:nvPr/>
        </p:nvSpPr>
        <p:spPr>
          <a:xfrm>
            <a:off x="1408176" y="2322576"/>
            <a:ext cx="45354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saturation problem</a:t>
            </a:r>
            <a:endParaRPr b="0" i="0" sz="1500" u="none" cap="none" strike="noStrike">
              <a:solidFill>
                <a:schemeClr val="dk1"/>
              </a:solidFill>
              <a:latin typeface="Calibri"/>
              <a:ea typeface="Calibri"/>
              <a:cs typeface="Calibri"/>
              <a:sym typeface="Calibri"/>
            </a:endParaRPr>
          </a:p>
        </p:txBody>
      </p:sp>
      <p:sp>
        <p:nvSpPr>
          <p:cNvPr id="1541" name="Google Shape;1541;p45"/>
          <p:cNvSpPr/>
          <p:nvPr/>
        </p:nvSpPr>
        <p:spPr>
          <a:xfrm>
            <a:off x="841248" y="2889504"/>
            <a:ext cx="5029200" cy="13167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Unlike piecewise linear units, sigmoidal units saturate across most of their domain: to a high value when z is very positive, to a low value when z is very negative, and they are only strongly sensitive to their input when z is near 0.</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This widespread saturation makes gradient-based learning very difficult, so their use as hidden units in feedforward networks is now discouraged.</a:t>
            </a:r>
            <a:endParaRPr b="0" i="0" sz="1250" u="none" cap="none" strike="noStrike">
              <a:solidFill>
                <a:schemeClr val="dk1"/>
              </a:solidFill>
              <a:latin typeface="Calibri"/>
              <a:ea typeface="Calibri"/>
              <a:cs typeface="Calibri"/>
              <a:sym typeface="Calibri"/>
            </a:endParaRPr>
          </a:p>
        </p:txBody>
      </p:sp>
      <p:sp>
        <p:nvSpPr>
          <p:cNvPr id="1542" name="Google Shape;1542;p45"/>
          <p:cNvSpPr/>
          <p:nvPr/>
        </p:nvSpPr>
        <p:spPr>
          <a:xfrm>
            <a:off x="6309360" y="2103120"/>
            <a:ext cx="5321808" cy="2286000"/>
          </a:xfrm>
          <a:prstGeom prst="roundRect">
            <a:avLst>
              <a:gd fmla="val 36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5"/>
          <p:cNvSpPr/>
          <p:nvPr/>
        </p:nvSpPr>
        <p:spPr>
          <a:xfrm>
            <a:off x="6565392" y="2340864"/>
            <a:ext cx="420624" cy="420624"/>
          </a:xfrm>
          <a:prstGeom prst="ellipse">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5"/>
          <p:cNvSpPr/>
          <p:nvPr/>
        </p:nvSpPr>
        <p:spPr>
          <a:xfrm>
            <a:off x="6565392"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545" name="Google Shape;1545;p45"/>
          <p:cNvSpPr/>
          <p:nvPr/>
        </p:nvSpPr>
        <p:spPr>
          <a:xfrm>
            <a:off x="7150608" y="2322576"/>
            <a:ext cx="42793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Where they are still used</a:t>
            </a:r>
            <a:endParaRPr b="0" i="0" sz="1500" u="none" cap="none" strike="noStrike">
              <a:solidFill>
                <a:schemeClr val="dk1"/>
              </a:solidFill>
              <a:latin typeface="Calibri"/>
              <a:ea typeface="Calibri"/>
              <a:cs typeface="Calibri"/>
              <a:sym typeface="Calibri"/>
            </a:endParaRPr>
          </a:p>
        </p:txBody>
      </p:sp>
      <p:sp>
        <p:nvSpPr>
          <p:cNvPr id="1546" name="Google Shape;1546;p45"/>
          <p:cNvSpPr/>
          <p:nvPr/>
        </p:nvSpPr>
        <p:spPr>
          <a:xfrm>
            <a:off x="6583680" y="2889504"/>
            <a:ext cx="4773168" cy="13167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As output units they are fine — an appropriate cost function undoes the saturation of the sigmoid in the output layer.</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Recurrent networks, many probabilistic models and some autoencoders have requirements that rule out piecewise linear activations, which makes sigmoidal units appealing despite saturation.</a:t>
            </a:r>
            <a:endParaRPr b="0" i="0" sz="1250" u="none" cap="none" strike="noStrike">
              <a:solidFill>
                <a:schemeClr val="dk1"/>
              </a:solidFill>
              <a:latin typeface="Calibri"/>
              <a:ea typeface="Calibri"/>
              <a:cs typeface="Calibri"/>
              <a:sym typeface="Calibri"/>
            </a:endParaRPr>
          </a:p>
        </p:txBody>
      </p:sp>
      <p:sp>
        <p:nvSpPr>
          <p:cNvPr id="1547" name="Google Shape;1547;p45"/>
          <p:cNvSpPr/>
          <p:nvPr/>
        </p:nvSpPr>
        <p:spPr>
          <a:xfrm>
            <a:off x="566928" y="4617720"/>
            <a:ext cx="11057839" cy="1143000"/>
          </a:xfrm>
          <a:prstGeom prst="roundRect">
            <a:avLst>
              <a:gd fmla="val 72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5"/>
          <p:cNvSpPr/>
          <p:nvPr/>
        </p:nvSpPr>
        <p:spPr>
          <a:xfrm>
            <a:off x="886968" y="4718304"/>
            <a:ext cx="5486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If a sigmoidal activation must be used, prefer tanh</a:t>
            </a:r>
            <a:endParaRPr b="0" i="0" sz="1500" u="none" cap="none" strike="noStrike">
              <a:solidFill>
                <a:schemeClr val="dk1"/>
              </a:solidFill>
              <a:latin typeface="Calibri"/>
              <a:ea typeface="Calibri"/>
              <a:cs typeface="Calibri"/>
              <a:sym typeface="Calibri"/>
            </a:endParaRPr>
          </a:p>
        </p:txBody>
      </p:sp>
      <p:sp>
        <p:nvSpPr>
          <p:cNvPr id="1549" name="Google Shape;1549;p45"/>
          <p:cNvSpPr/>
          <p:nvPr/>
        </p:nvSpPr>
        <p:spPr>
          <a:xfrm>
            <a:off x="886968" y="5029200"/>
            <a:ext cx="10417759"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250"/>
              <a:buFont typeface="Calibri"/>
              <a:buNone/>
            </a:pPr>
            <a:r>
              <a:rPr b="0" i="0" lang="en-US" sz="1250" u="none" cap="none" strike="noStrike">
                <a:solidFill>
                  <a:srgbClr val="E9E3F3"/>
                </a:solidFill>
                <a:latin typeface="Calibri"/>
                <a:ea typeface="Calibri"/>
                <a:cs typeface="Calibri"/>
                <a:sym typeface="Calibri"/>
              </a:rPr>
              <a:t>It resembles the identity function more closely — tanh(0) = 0 while σ(0) = ½. Because tanh behaves like the identity near 0, training a deep tanh network resembles training a linear model, which makes optimization easier as long as the activations can be kept small.</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4" name="Shape 1554"/>
        <p:cNvGrpSpPr/>
        <p:nvPr/>
      </p:nvGrpSpPr>
      <p:grpSpPr>
        <a:xfrm>
          <a:off x="0" y="0"/>
          <a:ext cx="0" cy="0"/>
          <a:chOff x="0" y="0"/>
          <a:chExt cx="0" cy="0"/>
        </a:xfrm>
      </p:grpSpPr>
      <p:sp>
        <p:nvSpPr>
          <p:cNvPr id="1555" name="Google Shape;1555;p4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ARCHITECTURE</a:t>
            </a:r>
            <a:endParaRPr b="0" i="0" sz="1050" u="none" cap="none" strike="noStrike">
              <a:solidFill>
                <a:schemeClr val="dk1"/>
              </a:solidFill>
              <a:latin typeface="Calibri"/>
              <a:ea typeface="Calibri"/>
              <a:cs typeface="Calibri"/>
              <a:sym typeface="Calibri"/>
            </a:endParaRPr>
          </a:p>
        </p:txBody>
      </p:sp>
      <p:sp>
        <p:nvSpPr>
          <p:cNvPr id="1556" name="Google Shape;1556;p4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Architecture design: how wide, how deep?</a:t>
            </a:r>
            <a:endParaRPr b="0" i="0" sz="2800" u="none" cap="none" strike="noStrike">
              <a:solidFill>
                <a:schemeClr val="dk1"/>
              </a:solidFill>
              <a:latin typeface="Calibri"/>
              <a:ea typeface="Calibri"/>
              <a:cs typeface="Calibri"/>
              <a:sym typeface="Calibri"/>
            </a:endParaRPr>
          </a:p>
        </p:txBody>
      </p:sp>
      <p:sp>
        <p:nvSpPr>
          <p:cNvPr id="1557" name="Google Shape;1557;p46"/>
          <p:cNvSpPr/>
          <p:nvPr/>
        </p:nvSpPr>
        <p:spPr>
          <a:xfrm>
            <a:off x="566928" y="1371600"/>
            <a:ext cx="5852160" cy="3657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Architecture = the overall structure of the network: how many units it has and how they are connected.</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In chain-based architectures the main decisions are the depth of the network and the width of each layer.</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The ideal architecture for a task must be found by experimentation, guided by monitoring the validation set error.</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The universal approximation theorem</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A feedforward network with a linear output layer and at least one hidden layer with a “squashing” activation can approximate any Borel measurable function between finite-dimensional spaces to any desired non-zero accuracy — provided it is given enough hidden units.</a:t>
            </a:r>
            <a:endParaRPr b="0" i="0" sz="1300" u="none" cap="none" strike="noStrike">
              <a:solidFill>
                <a:schemeClr val="dk1"/>
              </a:solidFill>
              <a:latin typeface="Calibri"/>
              <a:ea typeface="Calibri"/>
              <a:cs typeface="Calibri"/>
              <a:sym typeface="Calibri"/>
            </a:endParaRPr>
          </a:p>
          <a:p>
            <a:pPr indent="-203200" lvl="0" marL="203200" marR="0" rtl="0" algn="l">
              <a:spcBef>
                <a:spcPts val="100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So a large MLP can represent the function. That is not the same as being able to learn it.</a:t>
            </a:r>
            <a:endParaRPr b="0" i="0" sz="1300" u="none" cap="none" strike="noStrike">
              <a:solidFill>
                <a:schemeClr val="dk1"/>
              </a:solidFill>
              <a:latin typeface="Calibri"/>
              <a:ea typeface="Calibri"/>
              <a:cs typeface="Calibri"/>
              <a:sym typeface="Calibri"/>
            </a:endParaRPr>
          </a:p>
        </p:txBody>
      </p:sp>
      <p:sp>
        <p:nvSpPr>
          <p:cNvPr id="1558" name="Google Shape;1558;p46"/>
          <p:cNvSpPr/>
          <p:nvPr/>
        </p:nvSpPr>
        <p:spPr>
          <a:xfrm>
            <a:off x="566928" y="5029200"/>
            <a:ext cx="5852160" cy="731520"/>
          </a:xfrm>
          <a:prstGeom prst="roundRect">
            <a:avLst>
              <a:gd fmla="val 1125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6"/>
          <p:cNvSpPr/>
          <p:nvPr/>
        </p:nvSpPr>
        <p:spPr>
          <a:xfrm>
            <a:off x="841248" y="5029200"/>
            <a:ext cx="53035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0" i="1" lang="en-US" sz="1250" u="none" cap="none" strike="noStrike">
                <a:solidFill>
                  <a:srgbClr val="2D1B4E"/>
                </a:solidFill>
                <a:latin typeface="Calibri"/>
                <a:ea typeface="Calibri"/>
                <a:cs typeface="Calibri"/>
                <a:sym typeface="Calibri"/>
              </a:rPr>
              <a:t>Learning can still fail: (1) the optimizer may not find the right parameters, (2) it may pick the wrong function because of overfitting.</a:t>
            </a:r>
            <a:endParaRPr b="0" i="0" sz="1250" u="none" cap="none" strike="noStrike">
              <a:solidFill>
                <a:schemeClr val="dk1"/>
              </a:solidFill>
              <a:latin typeface="Calibri"/>
              <a:ea typeface="Calibri"/>
              <a:cs typeface="Calibri"/>
              <a:sym typeface="Calibri"/>
            </a:endParaRPr>
          </a:p>
        </p:txBody>
      </p:sp>
      <p:sp>
        <p:nvSpPr>
          <p:cNvPr id="1560" name="Google Shape;1560;p46"/>
          <p:cNvSpPr/>
          <p:nvPr/>
        </p:nvSpPr>
        <p:spPr>
          <a:xfrm>
            <a:off x="6675120" y="1371600"/>
            <a:ext cx="4956048" cy="4389120"/>
          </a:xfrm>
          <a:prstGeom prst="roundRect">
            <a:avLst>
              <a:gd fmla="val 187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6"/>
          <p:cNvSpPr/>
          <p:nvPr/>
        </p:nvSpPr>
        <p:spPr>
          <a:xfrm>
            <a:off x="6949440" y="1536192"/>
            <a:ext cx="4389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600"/>
              <a:buFont typeface="Cambria"/>
              <a:buNone/>
            </a:pPr>
            <a:r>
              <a:rPr b="1" i="0" lang="en-US" sz="1600" u="none" cap="none" strike="noStrike">
                <a:solidFill>
                  <a:srgbClr val="E8833A"/>
                </a:solidFill>
                <a:latin typeface="Cambria"/>
                <a:ea typeface="Cambria"/>
                <a:cs typeface="Cambria"/>
                <a:sym typeface="Cambria"/>
              </a:rPr>
              <a:t>Why go deeper rather than wider?</a:t>
            </a:r>
            <a:endParaRPr b="0" i="0" sz="1600" u="none" cap="none" strike="noStrike">
              <a:solidFill>
                <a:schemeClr val="dk1"/>
              </a:solidFill>
              <a:latin typeface="Calibri"/>
              <a:ea typeface="Calibri"/>
              <a:cs typeface="Calibri"/>
              <a:sym typeface="Calibri"/>
            </a:endParaRPr>
          </a:p>
        </p:txBody>
      </p:sp>
      <p:sp>
        <p:nvSpPr>
          <p:cNvPr id="1562" name="Google Shape;1562;p46"/>
          <p:cNvSpPr/>
          <p:nvPr/>
        </p:nvSpPr>
        <p:spPr>
          <a:xfrm>
            <a:off x="6949440" y="1965960"/>
            <a:ext cx="4434840" cy="3657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E9E3F3"/>
              </a:buClr>
              <a:buSzPts val="1200"/>
              <a:buFont typeface="Calibri"/>
              <a:buChar char="•"/>
            </a:pPr>
            <a:r>
              <a:rPr b="0" i="0" lang="en-US" sz="1200" u="none" cap="none" strike="noStrike">
                <a:solidFill>
                  <a:srgbClr val="E9E3F3"/>
                </a:solidFill>
                <a:latin typeface="Calibri"/>
                <a:ea typeface="Calibri"/>
                <a:cs typeface="Calibri"/>
                <a:sym typeface="Calibri"/>
              </a:rPr>
              <a:t>A single-layer network is sufficient to represent any function, but the layer may be infeasibly large and may fail to learn and generalize correctly.</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00"/>
              <a:buFont typeface="Calibri"/>
              <a:buChar char="•"/>
            </a:pPr>
            <a:r>
              <a:rPr b="0" i="0" lang="en-US" sz="1200" u="none" cap="none" strike="noStrike">
                <a:solidFill>
                  <a:srgbClr val="E9E3F3"/>
                </a:solidFill>
                <a:latin typeface="Calibri"/>
                <a:ea typeface="Calibri"/>
                <a:cs typeface="Calibri"/>
                <a:sym typeface="Calibri"/>
              </a:rPr>
              <a:t>A shallow net may need exponentially more width — and may overfit more.</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00"/>
              <a:buFont typeface="Calibri"/>
              <a:buChar char="•"/>
            </a:pPr>
            <a:r>
              <a:rPr b="0" i="0" lang="en-US" sz="1200" u="none" cap="none" strike="noStrike">
                <a:solidFill>
                  <a:srgbClr val="E9E3F3"/>
                </a:solidFill>
                <a:latin typeface="Calibri"/>
                <a:ea typeface="Calibri"/>
                <a:cs typeface="Calibri"/>
                <a:sym typeface="Calibri"/>
              </a:rPr>
              <a:t>Deeper networks often use far fewer units per layer and far fewer parameters, and often generalize better to the test set — but they are also often harder to optimize.</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00"/>
              <a:buFont typeface="Calibri"/>
              <a:buChar char="•"/>
            </a:pPr>
            <a:r>
              <a:rPr b="0" i="0" lang="en-US" sz="1200" u="none" cap="none" strike="noStrike">
                <a:solidFill>
                  <a:srgbClr val="E9E3F3"/>
                </a:solidFill>
                <a:latin typeface="Calibri"/>
                <a:ea typeface="Calibri"/>
                <a:cs typeface="Calibri"/>
                <a:sym typeface="Calibri"/>
              </a:rPr>
              <a:t>Geometrically (Montúfar et al., 2014), each layer can fold the input space onto itself, so the number of linear regions a rectifier net can express grows exponentially with depth.</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00"/>
              <a:buFont typeface="Calibri"/>
              <a:buChar char="•"/>
            </a:pPr>
            <a:r>
              <a:rPr b="0" i="0" lang="en-US" sz="1200" u="none" cap="none" strike="noStrike">
                <a:solidFill>
                  <a:srgbClr val="E9E3F3"/>
                </a:solidFill>
                <a:latin typeface="Calibri"/>
                <a:ea typeface="Calibri"/>
                <a:cs typeface="Calibri"/>
                <a:sym typeface="Calibri"/>
              </a:rPr>
              <a:t>Layers need not form a pure chain: skip connections from layer i to layer i + 2 or higher make it easier for the gradient to flow back towards the input.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1567" name="Shape 1567"/>
        <p:cNvGrpSpPr/>
        <p:nvPr/>
      </p:nvGrpSpPr>
      <p:grpSpPr>
        <a:xfrm>
          <a:off x="0" y="0"/>
          <a:ext cx="0" cy="0"/>
          <a:chOff x="0" y="0"/>
          <a:chExt cx="0" cy="0"/>
        </a:xfrm>
      </p:grpSpPr>
      <p:cxnSp>
        <p:nvCxnSpPr>
          <p:cNvPr id="1568" name="Google Shape;1568;p47"/>
          <p:cNvCxnSpPr/>
          <p:nvPr/>
        </p:nvCxnSpPr>
        <p:spPr>
          <a:xfrm flipH="1" rot="10800000">
            <a:off x="7955280" y="1700784"/>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569" name="Google Shape;1569;p47"/>
          <p:cNvCxnSpPr/>
          <p:nvPr/>
        </p:nvCxnSpPr>
        <p:spPr>
          <a:xfrm>
            <a:off x="7955280" y="211226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570" name="Google Shape;1570;p47"/>
          <p:cNvCxnSpPr/>
          <p:nvPr/>
        </p:nvCxnSpPr>
        <p:spPr>
          <a:xfrm>
            <a:off x="7955280" y="2112264"/>
            <a:ext cx="1219200" cy="1810512"/>
          </a:xfrm>
          <a:prstGeom prst="straightConnector1">
            <a:avLst/>
          </a:prstGeom>
          <a:noFill/>
          <a:ln cap="flat" cmpd="sng" w="9525">
            <a:solidFill>
              <a:srgbClr val="9C8CC4"/>
            </a:solidFill>
            <a:prstDash val="solid"/>
            <a:round/>
            <a:headEnd len="sm" w="sm" type="none"/>
            <a:tailEnd len="sm" w="sm" type="none"/>
          </a:ln>
        </p:spPr>
      </p:cxnSp>
      <p:cxnSp>
        <p:nvCxnSpPr>
          <p:cNvPr id="1571" name="Google Shape;1571;p47"/>
          <p:cNvCxnSpPr/>
          <p:nvPr/>
        </p:nvCxnSpPr>
        <p:spPr>
          <a:xfrm>
            <a:off x="7955280" y="2112264"/>
            <a:ext cx="1219200" cy="2962656"/>
          </a:xfrm>
          <a:prstGeom prst="straightConnector1">
            <a:avLst/>
          </a:prstGeom>
          <a:noFill/>
          <a:ln cap="flat" cmpd="sng" w="9525">
            <a:solidFill>
              <a:srgbClr val="9C8CC4"/>
            </a:solidFill>
            <a:prstDash val="solid"/>
            <a:round/>
            <a:headEnd len="sm" w="sm" type="none"/>
            <a:tailEnd len="sm" w="sm" type="none"/>
          </a:ln>
        </p:spPr>
      </p:cxnSp>
      <p:cxnSp>
        <p:nvCxnSpPr>
          <p:cNvPr id="1572" name="Google Shape;1572;p47"/>
          <p:cNvCxnSpPr/>
          <p:nvPr/>
        </p:nvCxnSpPr>
        <p:spPr>
          <a:xfrm flipH="1" rot="10800000">
            <a:off x="7955280" y="1700784"/>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573" name="Google Shape;1573;p47"/>
          <p:cNvCxnSpPr/>
          <p:nvPr/>
        </p:nvCxnSpPr>
        <p:spPr>
          <a:xfrm flipH="1" rot="10800000">
            <a:off x="7955280" y="2770632"/>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574" name="Google Shape;1574;p47"/>
          <p:cNvCxnSpPr/>
          <p:nvPr/>
        </p:nvCxnSpPr>
        <p:spPr>
          <a:xfrm>
            <a:off x="7955280" y="3429000"/>
            <a:ext cx="1219200" cy="493776"/>
          </a:xfrm>
          <a:prstGeom prst="straightConnector1">
            <a:avLst/>
          </a:prstGeom>
          <a:noFill/>
          <a:ln cap="flat" cmpd="sng" w="9525">
            <a:solidFill>
              <a:srgbClr val="9C8CC4"/>
            </a:solidFill>
            <a:prstDash val="solid"/>
            <a:round/>
            <a:headEnd len="sm" w="sm" type="none"/>
            <a:tailEnd len="sm" w="sm" type="none"/>
          </a:ln>
        </p:spPr>
      </p:cxnSp>
      <p:cxnSp>
        <p:nvCxnSpPr>
          <p:cNvPr id="1575" name="Google Shape;1575;p47"/>
          <p:cNvCxnSpPr/>
          <p:nvPr/>
        </p:nvCxnSpPr>
        <p:spPr>
          <a:xfrm>
            <a:off x="7955280" y="3429000"/>
            <a:ext cx="1219200" cy="1645920"/>
          </a:xfrm>
          <a:prstGeom prst="straightConnector1">
            <a:avLst/>
          </a:prstGeom>
          <a:noFill/>
          <a:ln cap="flat" cmpd="sng" w="9525">
            <a:solidFill>
              <a:srgbClr val="9C8CC4"/>
            </a:solidFill>
            <a:prstDash val="solid"/>
            <a:round/>
            <a:headEnd len="sm" w="sm" type="none"/>
            <a:tailEnd len="sm" w="sm" type="none"/>
          </a:ln>
        </p:spPr>
      </p:cxnSp>
      <p:cxnSp>
        <p:nvCxnSpPr>
          <p:cNvPr id="1576" name="Google Shape;1576;p47"/>
          <p:cNvCxnSpPr/>
          <p:nvPr/>
        </p:nvCxnSpPr>
        <p:spPr>
          <a:xfrm flipH="1" rot="10800000">
            <a:off x="7955280" y="1700784"/>
            <a:ext cx="1219200" cy="3044952"/>
          </a:xfrm>
          <a:prstGeom prst="straightConnector1">
            <a:avLst/>
          </a:prstGeom>
          <a:noFill/>
          <a:ln cap="flat" cmpd="sng" w="9525">
            <a:solidFill>
              <a:srgbClr val="9C8CC4"/>
            </a:solidFill>
            <a:prstDash val="solid"/>
            <a:round/>
            <a:headEnd len="sm" w="sm" type="none"/>
            <a:tailEnd len="sm" w="sm" type="none"/>
          </a:ln>
        </p:spPr>
      </p:cxnSp>
      <p:cxnSp>
        <p:nvCxnSpPr>
          <p:cNvPr id="1577" name="Google Shape;1577;p47"/>
          <p:cNvCxnSpPr/>
          <p:nvPr/>
        </p:nvCxnSpPr>
        <p:spPr>
          <a:xfrm flipH="1" rot="10800000">
            <a:off x="7955280" y="277063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578" name="Google Shape;1578;p47"/>
          <p:cNvCxnSpPr/>
          <p:nvPr/>
        </p:nvCxnSpPr>
        <p:spPr>
          <a:xfrm flipH="1" rot="10800000">
            <a:off x="7955280" y="3922776"/>
            <a:ext cx="1219200" cy="822960"/>
          </a:xfrm>
          <a:prstGeom prst="straightConnector1">
            <a:avLst/>
          </a:prstGeom>
          <a:noFill/>
          <a:ln cap="flat" cmpd="sng" w="9525">
            <a:solidFill>
              <a:srgbClr val="9C8CC4"/>
            </a:solidFill>
            <a:prstDash val="solid"/>
            <a:round/>
            <a:headEnd len="sm" w="sm" type="none"/>
            <a:tailEnd len="sm" w="sm" type="none"/>
          </a:ln>
        </p:spPr>
      </p:cxnSp>
      <p:cxnSp>
        <p:nvCxnSpPr>
          <p:cNvPr id="1579" name="Google Shape;1579;p47"/>
          <p:cNvCxnSpPr/>
          <p:nvPr/>
        </p:nvCxnSpPr>
        <p:spPr>
          <a:xfrm>
            <a:off x="7955280" y="4745736"/>
            <a:ext cx="1219200" cy="329184"/>
          </a:xfrm>
          <a:prstGeom prst="straightConnector1">
            <a:avLst/>
          </a:prstGeom>
          <a:noFill/>
          <a:ln cap="flat" cmpd="sng" w="9525">
            <a:solidFill>
              <a:srgbClr val="9C8CC4"/>
            </a:solidFill>
            <a:prstDash val="solid"/>
            <a:round/>
            <a:headEnd len="sm" w="sm" type="none"/>
            <a:tailEnd len="sm" w="sm" type="none"/>
          </a:ln>
        </p:spPr>
      </p:cxnSp>
      <p:cxnSp>
        <p:nvCxnSpPr>
          <p:cNvPr id="1580" name="Google Shape;1580;p47"/>
          <p:cNvCxnSpPr/>
          <p:nvPr/>
        </p:nvCxnSpPr>
        <p:spPr>
          <a:xfrm>
            <a:off x="9174480" y="170078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581" name="Google Shape;1581;p47"/>
          <p:cNvCxnSpPr/>
          <p:nvPr/>
        </p:nvCxnSpPr>
        <p:spPr>
          <a:xfrm>
            <a:off x="9174480" y="1700784"/>
            <a:ext cx="1219200" cy="1933956"/>
          </a:xfrm>
          <a:prstGeom prst="straightConnector1">
            <a:avLst/>
          </a:prstGeom>
          <a:noFill/>
          <a:ln cap="flat" cmpd="sng" w="9525">
            <a:solidFill>
              <a:srgbClr val="9C8CC4"/>
            </a:solidFill>
            <a:prstDash val="solid"/>
            <a:round/>
            <a:headEnd len="sm" w="sm" type="none"/>
            <a:tailEnd len="sm" w="sm" type="none"/>
          </a:ln>
        </p:spPr>
      </p:cxnSp>
      <p:cxnSp>
        <p:nvCxnSpPr>
          <p:cNvPr id="1582" name="Google Shape;1582;p47"/>
          <p:cNvCxnSpPr/>
          <p:nvPr/>
        </p:nvCxnSpPr>
        <p:spPr>
          <a:xfrm>
            <a:off x="9174480" y="1700784"/>
            <a:ext cx="1219200" cy="3127248"/>
          </a:xfrm>
          <a:prstGeom prst="straightConnector1">
            <a:avLst/>
          </a:prstGeom>
          <a:noFill/>
          <a:ln cap="flat" cmpd="sng" w="9525">
            <a:solidFill>
              <a:srgbClr val="9C8CC4"/>
            </a:solidFill>
            <a:prstDash val="solid"/>
            <a:round/>
            <a:headEnd len="sm" w="sm" type="none"/>
            <a:tailEnd len="sm" w="sm" type="none"/>
          </a:ln>
        </p:spPr>
      </p:cxnSp>
      <p:cxnSp>
        <p:nvCxnSpPr>
          <p:cNvPr id="1583" name="Google Shape;1583;p47"/>
          <p:cNvCxnSpPr/>
          <p:nvPr/>
        </p:nvCxnSpPr>
        <p:spPr>
          <a:xfrm flipH="1" rot="10800000">
            <a:off x="9174480" y="2359152"/>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584" name="Google Shape;1584;p47"/>
          <p:cNvCxnSpPr/>
          <p:nvPr/>
        </p:nvCxnSpPr>
        <p:spPr>
          <a:xfrm>
            <a:off x="9174480" y="2770632"/>
            <a:ext cx="1219200" cy="864108"/>
          </a:xfrm>
          <a:prstGeom prst="straightConnector1">
            <a:avLst/>
          </a:prstGeom>
          <a:noFill/>
          <a:ln cap="flat" cmpd="sng" w="9525">
            <a:solidFill>
              <a:srgbClr val="9C8CC4"/>
            </a:solidFill>
            <a:prstDash val="solid"/>
            <a:round/>
            <a:headEnd len="sm" w="sm" type="none"/>
            <a:tailEnd len="sm" w="sm" type="none"/>
          </a:ln>
        </p:spPr>
      </p:cxnSp>
      <p:cxnSp>
        <p:nvCxnSpPr>
          <p:cNvPr id="1585" name="Google Shape;1585;p47"/>
          <p:cNvCxnSpPr/>
          <p:nvPr/>
        </p:nvCxnSpPr>
        <p:spPr>
          <a:xfrm>
            <a:off x="9174480" y="2770632"/>
            <a:ext cx="1219200" cy="2057400"/>
          </a:xfrm>
          <a:prstGeom prst="straightConnector1">
            <a:avLst/>
          </a:prstGeom>
          <a:noFill/>
          <a:ln cap="flat" cmpd="sng" w="9525">
            <a:solidFill>
              <a:srgbClr val="9C8CC4"/>
            </a:solidFill>
            <a:prstDash val="solid"/>
            <a:round/>
            <a:headEnd len="sm" w="sm" type="none"/>
            <a:tailEnd len="sm" w="sm" type="none"/>
          </a:ln>
        </p:spPr>
      </p:cxnSp>
      <p:cxnSp>
        <p:nvCxnSpPr>
          <p:cNvPr id="1586" name="Google Shape;1586;p47"/>
          <p:cNvCxnSpPr/>
          <p:nvPr/>
        </p:nvCxnSpPr>
        <p:spPr>
          <a:xfrm flipH="1" rot="10800000">
            <a:off x="9174480" y="2359152"/>
            <a:ext cx="1219200" cy="1563624"/>
          </a:xfrm>
          <a:prstGeom prst="straightConnector1">
            <a:avLst/>
          </a:prstGeom>
          <a:noFill/>
          <a:ln cap="flat" cmpd="sng" w="9525">
            <a:solidFill>
              <a:srgbClr val="9C8CC4"/>
            </a:solidFill>
            <a:prstDash val="solid"/>
            <a:round/>
            <a:headEnd len="sm" w="sm" type="none"/>
            <a:tailEnd len="sm" w="sm" type="none"/>
          </a:ln>
        </p:spPr>
      </p:cxnSp>
      <p:cxnSp>
        <p:nvCxnSpPr>
          <p:cNvPr id="1587" name="Google Shape;1587;p47"/>
          <p:cNvCxnSpPr/>
          <p:nvPr/>
        </p:nvCxnSpPr>
        <p:spPr>
          <a:xfrm flipH="1" rot="10800000">
            <a:off x="9174480" y="3634740"/>
            <a:ext cx="1219200" cy="288036"/>
          </a:xfrm>
          <a:prstGeom prst="straightConnector1">
            <a:avLst/>
          </a:prstGeom>
          <a:noFill/>
          <a:ln cap="flat" cmpd="sng" w="9525">
            <a:solidFill>
              <a:srgbClr val="9C8CC4"/>
            </a:solidFill>
            <a:prstDash val="solid"/>
            <a:round/>
            <a:headEnd len="sm" w="sm" type="none"/>
            <a:tailEnd len="sm" w="sm" type="none"/>
          </a:ln>
        </p:spPr>
      </p:cxnSp>
      <p:cxnSp>
        <p:nvCxnSpPr>
          <p:cNvPr id="1588" name="Google Shape;1588;p47"/>
          <p:cNvCxnSpPr/>
          <p:nvPr/>
        </p:nvCxnSpPr>
        <p:spPr>
          <a:xfrm>
            <a:off x="9174480" y="3922776"/>
            <a:ext cx="1219200" cy="905256"/>
          </a:xfrm>
          <a:prstGeom prst="straightConnector1">
            <a:avLst/>
          </a:prstGeom>
          <a:noFill/>
          <a:ln cap="flat" cmpd="sng" w="9525">
            <a:solidFill>
              <a:srgbClr val="9C8CC4"/>
            </a:solidFill>
            <a:prstDash val="solid"/>
            <a:round/>
            <a:headEnd len="sm" w="sm" type="none"/>
            <a:tailEnd len="sm" w="sm" type="none"/>
          </a:ln>
        </p:spPr>
      </p:cxnSp>
      <p:cxnSp>
        <p:nvCxnSpPr>
          <p:cNvPr id="1589" name="Google Shape;1589;p47"/>
          <p:cNvCxnSpPr/>
          <p:nvPr/>
        </p:nvCxnSpPr>
        <p:spPr>
          <a:xfrm flipH="1" rot="10800000">
            <a:off x="9174480" y="2359152"/>
            <a:ext cx="1219200" cy="2715768"/>
          </a:xfrm>
          <a:prstGeom prst="straightConnector1">
            <a:avLst/>
          </a:prstGeom>
          <a:noFill/>
          <a:ln cap="flat" cmpd="sng" w="9525">
            <a:solidFill>
              <a:srgbClr val="9C8CC4"/>
            </a:solidFill>
            <a:prstDash val="solid"/>
            <a:round/>
            <a:headEnd len="sm" w="sm" type="none"/>
            <a:tailEnd len="sm" w="sm" type="none"/>
          </a:ln>
        </p:spPr>
      </p:cxnSp>
      <p:cxnSp>
        <p:nvCxnSpPr>
          <p:cNvPr id="1590" name="Google Shape;1590;p47"/>
          <p:cNvCxnSpPr/>
          <p:nvPr/>
        </p:nvCxnSpPr>
        <p:spPr>
          <a:xfrm flipH="1" rot="10800000">
            <a:off x="9174480" y="3634740"/>
            <a:ext cx="1219200" cy="1440180"/>
          </a:xfrm>
          <a:prstGeom prst="straightConnector1">
            <a:avLst/>
          </a:prstGeom>
          <a:noFill/>
          <a:ln cap="flat" cmpd="sng" w="9525">
            <a:solidFill>
              <a:srgbClr val="9C8CC4"/>
            </a:solidFill>
            <a:prstDash val="solid"/>
            <a:round/>
            <a:headEnd len="sm" w="sm" type="none"/>
            <a:tailEnd len="sm" w="sm" type="none"/>
          </a:ln>
        </p:spPr>
      </p:cxnSp>
      <p:cxnSp>
        <p:nvCxnSpPr>
          <p:cNvPr id="1591" name="Google Shape;1591;p47"/>
          <p:cNvCxnSpPr/>
          <p:nvPr/>
        </p:nvCxnSpPr>
        <p:spPr>
          <a:xfrm flipH="1" rot="10800000">
            <a:off x="9174480" y="4828032"/>
            <a:ext cx="1219200" cy="246888"/>
          </a:xfrm>
          <a:prstGeom prst="straightConnector1">
            <a:avLst/>
          </a:prstGeom>
          <a:noFill/>
          <a:ln cap="flat" cmpd="sng" w="9525">
            <a:solidFill>
              <a:srgbClr val="9C8CC4"/>
            </a:solidFill>
            <a:prstDash val="solid"/>
            <a:round/>
            <a:headEnd len="sm" w="sm" type="none"/>
            <a:tailEnd len="sm" w="sm" type="none"/>
          </a:ln>
        </p:spPr>
      </p:cxnSp>
      <p:cxnSp>
        <p:nvCxnSpPr>
          <p:cNvPr id="1592" name="Google Shape;1592;p47"/>
          <p:cNvCxnSpPr/>
          <p:nvPr/>
        </p:nvCxnSpPr>
        <p:spPr>
          <a:xfrm>
            <a:off x="10393680" y="2359152"/>
            <a:ext cx="1219200" cy="740664"/>
          </a:xfrm>
          <a:prstGeom prst="straightConnector1">
            <a:avLst/>
          </a:prstGeom>
          <a:noFill/>
          <a:ln cap="flat" cmpd="sng" w="9525">
            <a:solidFill>
              <a:srgbClr val="9C8CC4"/>
            </a:solidFill>
            <a:prstDash val="solid"/>
            <a:round/>
            <a:headEnd len="sm" w="sm" type="none"/>
            <a:tailEnd len="sm" w="sm" type="none"/>
          </a:ln>
        </p:spPr>
      </p:cxnSp>
      <p:cxnSp>
        <p:nvCxnSpPr>
          <p:cNvPr id="1593" name="Google Shape;1593;p47"/>
          <p:cNvCxnSpPr/>
          <p:nvPr/>
        </p:nvCxnSpPr>
        <p:spPr>
          <a:xfrm>
            <a:off x="10393680" y="235915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594" name="Google Shape;1594;p47"/>
          <p:cNvCxnSpPr/>
          <p:nvPr/>
        </p:nvCxnSpPr>
        <p:spPr>
          <a:xfrm flipH="1" rot="10800000">
            <a:off x="10393680" y="3099816"/>
            <a:ext cx="1219200" cy="534924"/>
          </a:xfrm>
          <a:prstGeom prst="straightConnector1">
            <a:avLst/>
          </a:prstGeom>
          <a:noFill/>
          <a:ln cap="flat" cmpd="sng" w="9525">
            <a:solidFill>
              <a:srgbClr val="9C8CC4"/>
            </a:solidFill>
            <a:prstDash val="solid"/>
            <a:round/>
            <a:headEnd len="sm" w="sm" type="none"/>
            <a:tailEnd len="sm" w="sm" type="none"/>
          </a:ln>
        </p:spPr>
      </p:cxnSp>
      <p:cxnSp>
        <p:nvCxnSpPr>
          <p:cNvPr id="1595" name="Google Shape;1595;p47"/>
          <p:cNvCxnSpPr/>
          <p:nvPr/>
        </p:nvCxnSpPr>
        <p:spPr>
          <a:xfrm>
            <a:off x="10393680" y="3634740"/>
            <a:ext cx="1219200" cy="699516"/>
          </a:xfrm>
          <a:prstGeom prst="straightConnector1">
            <a:avLst/>
          </a:prstGeom>
          <a:noFill/>
          <a:ln cap="flat" cmpd="sng" w="9525">
            <a:solidFill>
              <a:srgbClr val="9C8CC4"/>
            </a:solidFill>
            <a:prstDash val="solid"/>
            <a:round/>
            <a:headEnd len="sm" w="sm" type="none"/>
            <a:tailEnd len="sm" w="sm" type="none"/>
          </a:ln>
        </p:spPr>
      </p:cxnSp>
      <p:cxnSp>
        <p:nvCxnSpPr>
          <p:cNvPr id="1596" name="Google Shape;1596;p47"/>
          <p:cNvCxnSpPr/>
          <p:nvPr/>
        </p:nvCxnSpPr>
        <p:spPr>
          <a:xfrm flipH="1" rot="10800000">
            <a:off x="10393680" y="3099816"/>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597" name="Google Shape;1597;p47"/>
          <p:cNvCxnSpPr/>
          <p:nvPr/>
        </p:nvCxnSpPr>
        <p:spPr>
          <a:xfrm flipH="1" rot="10800000">
            <a:off x="10393680" y="4334256"/>
            <a:ext cx="1219200" cy="493776"/>
          </a:xfrm>
          <a:prstGeom prst="straightConnector1">
            <a:avLst/>
          </a:prstGeom>
          <a:noFill/>
          <a:ln cap="flat" cmpd="sng" w="9525">
            <a:solidFill>
              <a:srgbClr val="9C8CC4"/>
            </a:solidFill>
            <a:prstDash val="solid"/>
            <a:round/>
            <a:headEnd len="sm" w="sm" type="none"/>
            <a:tailEnd len="sm" w="sm" type="none"/>
          </a:ln>
        </p:spPr>
      </p:cxnSp>
      <p:sp>
        <p:nvSpPr>
          <p:cNvPr id="1598" name="Google Shape;1598;p47"/>
          <p:cNvSpPr/>
          <p:nvPr/>
        </p:nvSpPr>
        <p:spPr>
          <a:xfrm>
            <a:off x="7886700" y="20436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7"/>
          <p:cNvSpPr/>
          <p:nvPr/>
        </p:nvSpPr>
        <p:spPr>
          <a:xfrm>
            <a:off x="788670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47"/>
          <p:cNvSpPr/>
          <p:nvPr/>
        </p:nvSpPr>
        <p:spPr>
          <a:xfrm>
            <a:off x="7886700" y="467715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47"/>
          <p:cNvSpPr/>
          <p:nvPr/>
        </p:nvSpPr>
        <p:spPr>
          <a:xfrm>
            <a:off x="9105900" y="163220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7"/>
          <p:cNvSpPr/>
          <p:nvPr/>
        </p:nvSpPr>
        <p:spPr>
          <a:xfrm>
            <a:off x="9105900" y="27020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7"/>
          <p:cNvSpPr/>
          <p:nvPr/>
        </p:nvSpPr>
        <p:spPr>
          <a:xfrm>
            <a:off x="9105900" y="385419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7"/>
          <p:cNvSpPr/>
          <p:nvPr/>
        </p:nvSpPr>
        <p:spPr>
          <a:xfrm>
            <a:off x="9105900" y="50063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47"/>
          <p:cNvSpPr/>
          <p:nvPr/>
        </p:nvSpPr>
        <p:spPr>
          <a:xfrm>
            <a:off x="10325100" y="229057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47"/>
          <p:cNvSpPr/>
          <p:nvPr/>
        </p:nvSpPr>
        <p:spPr>
          <a:xfrm>
            <a:off x="10325100" y="356616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7"/>
          <p:cNvSpPr/>
          <p:nvPr/>
        </p:nvSpPr>
        <p:spPr>
          <a:xfrm>
            <a:off x="10325100" y="47594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47"/>
          <p:cNvSpPr/>
          <p:nvPr/>
        </p:nvSpPr>
        <p:spPr>
          <a:xfrm>
            <a:off x="11544300" y="303123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7"/>
          <p:cNvSpPr/>
          <p:nvPr/>
        </p:nvSpPr>
        <p:spPr>
          <a:xfrm>
            <a:off x="11544300" y="426567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7"/>
          <p:cNvSpPr/>
          <p:nvPr/>
        </p:nvSpPr>
        <p:spPr>
          <a:xfrm>
            <a:off x="566928" y="1417320"/>
            <a:ext cx="2743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9600"/>
              <a:buFont typeface="Cambria"/>
              <a:buNone/>
            </a:pPr>
            <a:r>
              <a:rPr b="1" i="0" lang="en-US" sz="9600" u="none" cap="none" strike="noStrike">
                <a:solidFill>
                  <a:srgbClr val="E8833A"/>
                </a:solidFill>
                <a:latin typeface="Cambria"/>
                <a:ea typeface="Cambria"/>
                <a:cs typeface="Cambria"/>
                <a:sym typeface="Cambria"/>
              </a:rPr>
              <a:t>05</a:t>
            </a:r>
            <a:endParaRPr b="0" i="0" sz="9600" u="none" cap="none" strike="noStrike">
              <a:solidFill>
                <a:schemeClr val="dk1"/>
              </a:solidFill>
              <a:latin typeface="Calibri"/>
              <a:ea typeface="Calibri"/>
              <a:cs typeface="Calibri"/>
              <a:sym typeface="Calibri"/>
            </a:endParaRPr>
          </a:p>
        </p:txBody>
      </p:sp>
      <p:sp>
        <p:nvSpPr>
          <p:cNvPr id="1611" name="Google Shape;1611;p47"/>
          <p:cNvSpPr/>
          <p:nvPr/>
        </p:nvSpPr>
        <p:spPr>
          <a:xfrm>
            <a:off x="566928" y="2880360"/>
            <a:ext cx="67665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Regularization</a:t>
            </a:r>
            <a:endParaRPr b="0" i="0" sz="4000" u="none" cap="none" strike="noStrike">
              <a:solidFill>
                <a:schemeClr val="dk1"/>
              </a:solidFill>
              <a:latin typeface="Calibri"/>
              <a:ea typeface="Calibri"/>
              <a:cs typeface="Calibri"/>
              <a:sym typeface="Calibri"/>
            </a:endParaRPr>
          </a:p>
        </p:txBody>
      </p:sp>
      <p:sp>
        <p:nvSpPr>
          <p:cNvPr id="1612" name="Google Shape;1612;p47"/>
          <p:cNvSpPr/>
          <p:nvPr/>
        </p:nvSpPr>
        <p:spPr>
          <a:xfrm>
            <a:off x="566928" y="388620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600"/>
              <a:buFont typeface="Calibri"/>
              <a:buNone/>
            </a:pPr>
            <a:r>
              <a:rPr b="0" i="1" lang="en-US" sz="1600" u="none" cap="none" strike="noStrike">
                <a:solidFill>
                  <a:srgbClr val="9C8CC4"/>
                </a:solidFill>
                <a:latin typeface="Calibri"/>
                <a:ea typeface="Calibri"/>
                <a:cs typeface="Calibri"/>
                <a:sym typeface="Calibri"/>
              </a:rPr>
              <a:t>Making the model work on data it has never seen</a:t>
            </a:r>
            <a:endParaRPr b="0" i="0" sz="1600" u="none" cap="none" strike="noStrike">
              <a:solidFill>
                <a:schemeClr val="dk1"/>
              </a:solidFill>
              <a:latin typeface="Calibri"/>
              <a:ea typeface="Calibri"/>
              <a:cs typeface="Calibri"/>
              <a:sym typeface="Calibri"/>
            </a:endParaRPr>
          </a:p>
        </p:txBody>
      </p:sp>
      <p:sp>
        <p:nvSpPr>
          <p:cNvPr id="1613" name="Google Shape;1613;p47"/>
          <p:cNvSpPr/>
          <p:nvPr/>
        </p:nvSpPr>
        <p:spPr>
          <a:xfrm>
            <a:off x="612648" y="4480560"/>
            <a:ext cx="6400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Norm penalties: L² weight decay and L¹ sparsity</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Dataset augmentation and noise robustness</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Early stopping and dropout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8" name="Shape 1618"/>
        <p:cNvGrpSpPr/>
        <p:nvPr/>
      </p:nvGrpSpPr>
      <p:grpSpPr>
        <a:xfrm>
          <a:off x="0" y="0"/>
          <a:ext cx="0" cy="0"/>
          <a:chOff x="0" y="0"/>
          <a:chExt cx="0" cy="0"/>
        </a:xfrm>
      </p:grpSpPr>
      <p:sp>
        <p:nvSpPr>
          <p:cNvPr id="1619" name="Google Shape;1619;p4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620" name="Google Shape;1620;p4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What regularization is for</a:t>
            </a:r>
            <a:endParaRPr b="0" i="0" sz="2800" u="none" cap="none" strike="noStrike">
              <a:solidFill>
                <a:schemeClr val="dk1"/>
              </a:solidFill>
              <a:latin typeface="Calibri"/>
              <a:ea typeface="Calibri"/>
              <a:cs typeface="Calibri"/>
              <a:sym typeface="Calibri"/>
            </a:endParaRPr>
          </a:p>
        </p:txBody>
      </p:sp>
      <p:sp>
        <p:nvSpPr>
          <p:cNvPr id="1621" name="Google Shape;1621;p48"/>
          <p:cNvSpPr/>
          <p:nvPr/>
        </p:nvSpPr>
        <p:spPr>
          <a:xfrm>
            <a:off x="566928" y="1280160"/>
            <a:ext cx="11057839" cy="731520"/>
          </a:xfrm>
          <a:prstGeom prst="roundRect">
            <a:avLst>
              <a:gd fmla="val 1125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8"/>
          <p:cNvSpPr/>
          <p:nvPr/>
        </p:nvSpPr>
        <p:spPr>
          <a:xfrm>
            <a:off x="704088" y="1280160"/>
            <a:ext cx="10783519"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libri"/>
              <a:buNone/>
            </a:pPr>
            <a:r>
              <a:rPr b="1" i="0" lang="en-US" sz="1500" u="none" cap="none" strike="noStrike">
                <a:solidFill>
                  <a:srgbClr val="E8833A"/>
                </a:solidFill>
                <a:latin typeface="Calibri"/>
                <a:ea typeface="Calibri"/>
                <a:cs typeface="Calibri"/>
                <a:sym typeface="Calibri"/>
              </a:rPr>
              <a:t>A central problem in machine learning: perform well not just on the training data, but on new inputs.</a:t>
            </a:r>
            <a:endParaRPr b="0" i="0" sz="1500" u="none" cap="none" strike="noStrike">
              <a:solidFill>
                <a:schemeClr val="dk1"/>
              </a:solidFill>
              <a:latin typeface="Calibri"/>
              <a:ea typeface="Calibri"/>
              <a:cs typeface="Calibri"/>
              <a:sym typeface="Calibri"/>
            </a:endParaRPr>
          </a:p>
        </p:txBody>
      </p:sp>
      <p:sp>
        <p:nvSpPr>
          <p:cNvPr id="1623" name="Google Shape;1623;p48"/>
          <p:cNvSpPr/>
          <p:nvPr/>
        </p:nvSpPr>
        <p:spPr>
          <a:xfrm>
            <a:off x="566928" y="2194560"/>
            <a:ext cx="5852160" cy="27432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Many strategies in machine learning are explicitly designed to reduce the test error, possibly at the expense of increased training error. Collectively, these strategies are called regularization.</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In deep learning, most regularization strategies work by regularizing estimators.</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Regularization of an estimator works by trading increased bias for reduced variance.</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An effective regularizer makes a profitable trade: it reduces variance significantly without increasing the bias too much.</a:t>
            </a:r>
            <a:endParaRPr b="0" i="0" sz="1350" u="none" cap="none" strike="noStrike">
              <a:solidFill>
                <a:schemeClr val="dk1"/>
              </a:solidFill>
              <a:latin typeface="Calibri"/>
              <a:ea typeface="Calibri"/>
              <a:cs typeface="Calibri"/>
              <a:sym typeface="Calibri"/>
            </a:endParaRPr>
          </a:p>
        </p:txBody>
      </p:sp>
      <p:sp>
        <p:nvSpPr>
          <p:cNvPr id="1624" name="Google Shape;1624;p48"/>
          <p:cNvSpPr/>
          <p:nvPr/>
        </p:nvSpPr>
        <p:spPr>
          <a:xfrm>
            <a:off x="6675120" y="2194560"/>
            <a:ext cx="4956048" cy="2743200"/>
          </a:xfrm>
          <a:prstGeom prst="roundRect">
            <a:avLst>
              <a:gd fmla="val 3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8"/>
          <p:cNvSpPr/>
          <p:nvPr/>
        </p:nvSpPr>
        <p:spPr>
          <a:xfrm>
            <a:off x="6949440" y="2331720"/>
            <a:ext cx="43891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practical reality</a:t>
            </a:r>
            <a:endParaRPr b="0" i="0" sz="1500" u="none" cap="none" strike="noStrike">
              <a:solidFill>
                <a:schemeClr val="dk1"/>
              </a:solidFill>
              <a:latin typeface="Calibri"/>
              <a:ea typeface="Calibri"/>
              <a:cs typeface="Calibri"/>
              <a:sym typeface="Calibri"/>
            </a:endParaRPr>
          </a:p>
        </p:txBody>
      </p:sp>
      <p:sp>
        <p:nvSpPr>
          <p:cNvPr id="1626" name="Google Shape;1626;p48"/>
          <p:cNvSpPr/>
          <p:nvPr/>
        </p:nvSpPr>
        <p:spPr>
          <a:xfrm>
            <a:off x="6949440" y="2697480"/>
            <a:ext cx="443484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Controlling model complexity by finding the model of exactly the right size, with exactly the right number of parameters, is not a simple matter.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In practical deep learning scenarios we almost always find that the best fitting model — in the sense of minimising generalization error — is a large model that has been regularized appropriately.</a:t>
            </a:r>
            <a:endParaRPr b="0" i="0" sz="1300" u="none" cap="none" strike="noStrike">
              <a:solidFill>
                <a:schemeClr val="dk1"/>
              </a:solidFill>
              <a:latin typeface="Calibri"/>
              <a:ea typeface="Calibri"/>
              <a:cs typeface="Calibri"/>
              <a:sym typeface="Calibri"/>
            </a:endParaRPr>
          </a:p>
        </p:txBody>
      </p:sp>
      <p:sp>
        <p:nvSpPr>
          <p:cNvPr id="1627" name="Google Shape;1627;p48"/>
          <p:cNvSpPr/>
          <p:nvPr/>
        </p:nvSpPr>
        <p:spPr>
          <a:xfrm>
            <a:off x="566928" y="5120640"/>
            <a:ext cx="2121408" cy="640080"/>
          </a:xfrm>
          <a:prstGeom prst="roundRect">
            <a:avLst>
              <a:gd fmla="val 12857"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48"/>
          <p:cNvSpPr/>
          <p:nvPr/>
        </p:nvSpPr>
        <p:spPr>
          <a:xfrm>
            <a:off x="676656" y="5120640"/>
            <a:ext cx="190195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Norm penalties (L², L¹)</a:t>
            </a:r>
            <a:endParaRPr b="0" i="0" sz="1150" u="none" cap="none" strike="noStrike">
              <a:solidFill>
                <a:schemeClr val="dk1"/>
              </a:solidFill>
              <a:latin typeface="Calibri"/>
              <a:ea typeface="Calibri"/>
              <a:cs typeface="Calibri"/>
              <a:sym typeface="Calibri"/>
            </a:endParaRPr>
          </a:p>
        </p:txBody>
      </p:sp>
      <p:sp>
        <p:nvSpPr>
          <p:cNvPr id="1629" name="Google Shape;1629;p48"/>
          <p:cNvSpPr/>
          <p:nvPr/>
        </p:nvSpPr>
        <p:spPr>
          <a:xfrm>
            <a:off x="2852928" y="5120640"/>
            <a:ext cx="2121408" cy="640080"/>
          </a:xfrm>
          <a:prstGeom prst="roundRect">
            <a:avLst>
              <a:gd fmla="val 12857"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8"/>
          <p:cNvSpPr/>
          <p:nvPr/>
        </p:nvSpPr>
        <p:spPr>
          <a:xfrm>
            <a:off x="2962656" y="5120640"/>
            <a:ext cx="190195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Dataset augmentation</a:t>
            </a:r>
            <a:endParaRPr b="0" i="0" sz="1150" u="none" cap="none" strike="noStrike">
              <a:solidFill>
                <a:schemeClr val="dk1"/>
              </a:solidFill>
              <a:latin typeface="Calibri"/>
              <a:ea typeface="Calibri"/>
              <a:cs typeface="Calibri"/>
              <a:sym typeface="Calibri"/>
            </a:endParaRPr>
          </a:p>
        </p:txBody>
      </p:sp>
      <p:sp>
        <p:nvSpPr>
          <p:cNvPr id="1631" name="Google Shape;1631;p48"/>
          <p:cNvSpPr/>
          <p:nvPr/>
        </p:nvSpPr>
        <p:spPr>
          <a:xfrm>
            <a:off x="5138928" y="5120640"/>
            <a:ext cx="2121408" cy="640080"/>
          </a:xfrm>
          <a:prstGeom prst="roundRect">
            <a:avLst>
              <a:gd fmla="val 12857"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8"/>
          <p:cNvSpPr/>
          <p:nvPr/>
        </p:nvSpPr>
        <p:spPr>
          <a:xfrm>
            <a:off x="5248656" y="5120640"/>
            <a:ext cx="190195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Noise robustness</a:t>
            </a:r>
            <a:endParaRPr b="0" i="0" sz="1150" u="none" cap="none" strike="noStrike">
              <a:solidFill>
                <a:schemeClr val="dk1"/>
              </a:solidFill>
              <a:latin typeface="Calibri"/>
              <a:ea typeface="Calibri"/>
              <a:cs typeface="Calibri"/>
              <a:sym typeface="Calibri"/>
            </a:endParaRPr>
          </a:p>
        </p:txBody>
      </p:sp>
      <p:sp>
        <p:nvSpPr>
          <p:cNvPr id="1633" name="Google Shape;1633;p48"/>
          <p:cNvSpPr/>
          <p:nvPr/>
        </p:nvSpPr>
        <p:spPr>
          <a:xfrm>
            <a:off x="7424928" y="5120640"/>
            <a:ext cx="2121408" cy="640080"/>
          </a:xfrm>
          <a:prstGeom prst="roundRect">
            <a:avLst>
              <a:gd fmla="val 12857"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8"/>
          <p:cNvSpPr/>
          <p:nvPr/>
        </p:nvSpPr>
        <p:spPr>
          <a:xfrm>
            <a:off x="7534656" y="5120640"/>
            <a:ext cx="190195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Early stopping</a:t>
            </a:r>
            <a:endParaRPr b="0" i="0" sz="1150" u="none" cap="none" strike="noStrike">
              <a:solidFill>
                <a:schemeClr val="dk1"/>
              </a:solidFill>
              <a:latin typeface="Calibri"/>
              <a:ea typeface="Calibri"/>
              <a:cs typeface="Calibri"/>
              <a:sym typeface="Calibri"/>
            </a:endParaRPr>
          </a:p>
        </p:txBody>
      </p:sp>
      <p:sp>
        <p:nvSpPr>
          <p:cNvPr id="1635" name="Google Shape;1635;p48"/>
          <p:cNvSpPr/>
          <p:nvPr/>
        </p:nvSpPr>
        <p:spPr>
          <a:xfrm>
            <a:off x="9710928" y="5120640"/>
            <a:ext cx="2121408" cy="640080"/>
          </a:xfrm>
          <a:prstGeom prst="roundRect">
            <a:avLst>
              <a:gd fmla="val 12857"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8"/>
          <p:cNvSpPr/>
          <p:nvPr/>
        </p:nvSpPr>
        <p:spPr>
          <a:xfrm>
            <a:off x="9820656" y="5120640"/>
            <a:ext cx="1901952"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150"/>
              <a:buFont typeface="Calibri"/>
              <a:buNone/>
            </a:pPr>
            <a:r>
              <a:rPr b="1" i="0" lang="en-US" sz="1150" u="none" cap="none" strike="noStrike">
                <a:solidFill>
                  <a:srgbClr val="2D1B4E"/>
                </a:solidFill>
                <a:latin typeface="Calibri"/>
                <a:ea typeface="Calibri"/>
                <a:cs typeface="Calibri"/>
                <a:sym typeface="Calibri"/>
              </a:rPr>
              <a:t>Dropout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1" name="Shape 1641"/>
        <p:cNvGrpSpPr/>
        <p:nvPr/>
      </p:nvGrpSpPr>
      <p:grpSpPr>
        <a:xfrm>
          <a:off x="0" y="0"/>
          <a:ext cx="0" cy="0"/>
          <a:chOff x="0" y="0"/>
          <a:chExt cx="0" cy="0"/>
        </a:xfrm>
      </p:grpSpPr>
      <p:sp>
        <p:nvSpPr>
          <p:cNvPr id="1642" name="Google Shape;1642;p4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643" name="Google Shape;1643;p4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Parameter norm penalties</a:t>
            </a:r>
            <a:endParaRPr b="0" i="0" sz="2800" u="none" cap="none" strike="noStrike">
              <a:solidFill>
                <a:schemeClr val="dk1"/>
              </a:solidFill>
              <a:latin typeface="Calibri"/>
              <a:ea typeface="Calibri"/>
              <a:cs typeface="Calibri"/>
              <a:sym typeface="Calibri"/>
            </a:endParaRPr>
          </a:p>
        </p:txBody>
      </p:sp>
      <p:sp>
        <p:nvSpPr>
          <p:cNvPr id="1644" name="Google Shape;1644;p49"/>
          <p:cNvSpPr/>
          <p:nvPr/>
        </p:nvSpPr>
        <p:spPr>
          <a:xfrm>
            <a:off x="566928" y="1280160"/>
            <a:ext cx="11057839" cy="822960"/>
          </a:xfrm>
          <a:prstGeom prst="roundRect">
            <a:avLst>
              <a:gd fmla="val 10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9"/>
          <p:cNvSpPr/>
          <p:nvPr/>
        </p:nvSpPr>
        <p:spPr>
          <a:xfrm>
            <a:off x="704088" y="1280160"/>
            <a:ext cx="10783519"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2200"/>
              <a:buFont typeface="Calibri"/>
              <a:buNone/>
            </a:pPr>
            <a:r>
              <a:rPr b="1" i="0" lang="en-US" sz="2200" u="none" cap="none" strike="noStrike">
                <a:solidFill>
                  <a:srgbClr val="2D1B4E"/>
                </a:solidFill>
                <a:latin typeface="Calibri"/>
                <a:ea typeface="Calibri"/>
                <a:cs typeface="Calibri"/>
                <a:sym typeface="Calibri"/>
              </a:rPr>
              <a:t>J̃(θ; X, y)  =  J(θ; X, y)  +  α Ω(θ)</a:t>
            </a:r>
            <a:endParaRPr b="0" i="0" sz="2200" u="none" cap="none" strike="noStrike">
              <a:solidFill>
                <a:schemeClr val="dk1"/>
              </a:solidFill>
              <a:latin typeface="Calibri"/>
              <a:ea typeface="Calibri"/>
              <a:cs typeface="Calibri"/>
              <a:sym typeface="Calibri"/>
            </a:endParaRPr>
          </a:p>
        </p:txBody>
      </p:sp>
      <p:sp>
        <p:nvSpPr>
          <p:cNvPr id="1646" name="Google Shape;1646;p49"/>
          <p:cNvSpPr/>
          <p:nvPr/>
        </p:nvSpPr>
        <p:spPr>
          <a:xfrm>
            <a:off x="566928" y="2331720"/>
            <a:ext cx="6035040" cy="29260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Many regularization approaches limit the capacity of a model — a neural network, a linear regression, a logistic regression — by adding a parameter norm penalty Ω(θ) to the objective function J.</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Minimising the regularized objective decreases both the original objective on the training data and some measure of the size of the parameters.</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α ∈ [0, ∞) weights the relative contribution of the penalty. α = 0 means no regularization; larger α means more regularization.</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Different choices of Ω lead to different solutions being preferred.</a:t>
            </a:r>
            <a:endParaRPr b="0" i="0" sz="1350" u="none" cap="none" strike="noStrike">
              <a:solidFill>
                <a:schemeClr val="dk1"/>
              </a:solidFill>
              <a:latin typeface="Calibri"/>
              <a:ea typeface="Calibri"/>
              <a:cs typeface="Calibri"/>
              <a:sym typeface="Calibri"/>
            </a:endParaRPr>
          </a:p>
        </p:txBody>
      </p:sp>
      <p:sp>
        <p:nvSpPr>
          <p:cNvPr id="1647" name="Google Shape;1647;p49"/>
          <p:cNvSpPr/>
          <p:nvPr/>
        </p:nvSpPr>
        <p:spPr>
          <a:xfrm>
            <a:off x="6858000" y="2331720"/>
            <a:ext cx="4773168" cy="1645920"/>
          </a:xfrm>
          <a:prstGeom prst="roundRect">
            <a:avLst>
              <a:gd fmla="val 5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9"/>
          <p:cNvSpPr/>
          <p:nvPr/>
        </p:nvSpPr>
        <p:spPr>
          <a:xfrm>
            <a:off x="7132320" y="2450592"/>
            <a:ext cx="4206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What is a norm?</a:t>
            </a:r>
            <a:endParaRPr b="0" i="0" sz="1450" u="none" cap="none" strike="noStrike">
              <a:solidFill>
                <a:schemeClr val="dk1"/>
              </a:solidFill>
              <a:latin typeface="Calibri"/>
              <a:ea typeface="Calibri"/>
              <a:cs typeface="Calibri"/>
              <a:sym typeface="Calibri"/>
            </a:endParaRPr>
          </a:p>
        </p:txBody>
      </p:sp>
      <p:sp>
        <p:nvSpPr>
          <p:cNvPr id="1649" name="Google Shape;1649;p49"/>
          <p:cNvSpPr/>
          <p:nvPr/>
        </p:nvSpPr>
        <p:spPr>
          <a:xfrm>
            <a:off x="7132320" y="2788920"/>
            <a:ext cx="4206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A norm measures the size of a vector — a function mapping vectors to non-negative values.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‖x‖ₚ = ( Σᵢ |xᵢ|ᵖ )^(1/p)</a:t>
            </a:r>
            <a:endParaRPr b="0" i="0" sz="1250" u="none" cap="none" strike="noStrike">
              <a:solidFill>
                <a:schemeClr val="dk1"/>
              </a:solidFill>
              <a:latin typeface="Calibri"/>
              <a:ea typeface="Calibri"/>
              <a:cs typeface="Calibri"/>
              <a:sym typeface="Calibri"/>
            </a:endParaRPr>
          </a:p>
        </p:txBody>
      </p:sp>
      <p:sp>
        <p:nvSpPr>
          <p:cNvPr id="1650" name="Google Shape;1650;p49"/>
          <p:cNvSpPr/>
          <p:nvPr/>
        </p:nvSpPr>
        <p:spPr>
          <a:xfrm>
            <a:off x="6858000" y="4160520"/>
            <a:ext cx="4773168" cy="1600200"/>
          </a:xfrm>
          <a:prstGeom prst="roundRect">
            <a:avLst>
              <a:gd fmla="val 5143"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9"/>
          <p:cNvSpPr/>
          <p:nvPr/>
        </p:nvSpPr>
        <p:spPr>
          <a:xfrm>
            <a:off x="7132320" y="4160520"/>
            <a:ext cx="4224528" cy="16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0" i="0" lang="en-US" sz="1250" u="none" cap="none" strike="noStrike">
                <a:solidFill>
                  <a:srgbClr val="241C2E"/>
                </a:solidFill>
                <a:latin typeface="Calibri"/>
                <a:ea typeface="Calibri"/>
                <a:cs typeface="Calibri"/>
                <a:sym typeface="Calibri"/>
              </a:rPr>
              <a:t>In neural networks we usually penalise only the weights of the affine transformation, and leave the biases unregularized — each bias controls a single variable and needs far more data to fit accurately.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6" name="Shape 1656"/>
        <p:cNvGrpSpPr/>
        <p:nvPr/>
      </p:nvGrpSpPr>
      <p:grpSpPr>
        <a:xfrm>
          <a:off x="0" y="0"/>
          <a:ext cx="0" cy="0"/>
          <a:chOff x="0" y="0"/>
          <a:chExt cx="0" cy="0"/>
        </a:xfrm>
      </p:grpSpPr>
      <p:sp>
        <p:nvSpPr>
          <p:cNvPr id="1657" name="Google Shape;1657;p50"/>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658" name="Google Shape;1658;p50"/>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L² regularization — weight decay</a:t>
            </a:r>
            <a:endParaRPr b="0" i="0" sz="2800" u="none" cap="none" strike="noStrike">
              <a:solidFill>
                <a:schemeClr val="dk1"/>
              </a:solidFill>
              <a:latin typeface="Calibri"/>
              <a:ea typeface="Calibri"/>
              <a:cs typeface="Calibri"/>
              <a:sym typeface="Calibri"/>
            </a:endParaRPr>
          </a:p>
        </p:txBody>
      </p:sp>
      <p:sp>
        <p:nvSpPr>
          <p:cNvPr id="1659" name="Google Shape;1659;p50"/>
          <p:cNvSpPr/>
          <p:nvPr/>
        </p:nvSpPr>
        <p:spPr>
          <a:xfrm>
            <a:off x="566928" y="1280160"/>
            <a:ext cx="6583680" cy="658368"/>
          </a:xfrm>
          <a:prstGeom prst="roundRect">
            <a:avLst>
              <a:gd fmla="val 125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50"/>
          <p:cNvSpPr/>
          <p:nvPr/>
        </p:nvSpPr>
        <p:spPr>
          <a:xfrm>
            <a:off x="704088" y="1280160"/>
            <a:ext cx="630936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600"/>
              <a:buFont typeface="Calibri"/>
              <a:buNone/>
            </a:pPr>
            <a:r>
              <a:rPr b="1" i="0" lang="en-US" sz="1600" u="none" cap="none" strike="noStrike">
                <a:solidFill>
                  <a:srgbClr val="2D1B4E"/>
                </a:solidFill>
                <a:latin typeface="Calibri"/>
                <a:ea typeface="Calibri"/>
                <a:cs typeface="Calibri"/>
                <a:sym typeface="Calibri"/>
              </a:rPr>
              <a:t>Ω(θ) = ½ ‖w‖²₂            J̃(w; X, y) = J(w; X, y) + (α/2) wᵀw</a:t>
            </a:r>
            <a:endParaRPr b="0" i="0" sz="1600" u="none" cap="none" strike="noStrike">
              <a:solidFill>
                <a:schemeClr val="dk1"/>
              </a:solidFill>
              <a:latin typeface="Calibri"/>
              <a:ea typeface="Calibri"/>
              <a:cs typeface="Calibri"/>
              <a:sym typeface="Calibri"/>
            </a:endParaRPr>
          </a:p>
        </p:txBody>
      </p:sp>
      <p:sp>
        <p:nvSpPr>
          <p:cNvPr id="1661" name="Google Shape;1661;p50"/>
          <p:cNvSpPr/>
          <p:nvPr/>
        </p:nvSpPr>
        <p:spPr>
          <a:xfrm>
            <a:off x="566928" y="2103120"/>
            <a:ext cx="6583680" cy="29260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Also known as ridge regression or Tikhonov regularization. It drives the weights closer to the origin.</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Parameter gradient:   ∇w J̃ = ∇w J + α w</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One gradient step:   w ← w − ε ( ∇w J + α w )</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Rewritten:   w ← (1 − εα) w − ε ∇w J</a:t>
            </a:r>
            <a:endParaRPr b="0" i="0" sz="1300" u="none" cap="none" strike="noStrike">
              <a:solidFill>
                <a:schemeClr val="dk1"/>
              </a:solidFill>
              <a:latin typeface="Calibri"/>
              <a:ea typeface="Calibri"/>
              <a:cs typeface="Calibri"/>
              <a:sym typeface="Calibri"/>
            </a:endParaRPr>
          </a:p>
          <a:p>
            <a:pPr indent="-203200" lvl="0" marL="203200" marR="0" rtl="0" algn="l">
              <a:spcBef>
                <a:spcPts val="100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The weight decay term has modified the learning rule to multiplicatively shrink the weight vector by a constant factor on each step, just before performing the usual gradient update.</a:t>
            </a:r>
            <a:endParaRPr b="0" i="0" sz="1300" u="none" cap="none" strike="noStrike">
              <a:solidFill>
                <a:schemeClr val="dk1"/>
              </a:solidFill>
              <a:latin typeface="Calibri"/>
              <a:ea typeface="Calibri"/>
              <a:cs typeface="Calibri"/>
              <a:sym typeface="Calibri"/>
            </a:endParaRPr>
          </a:p>
        </p:txBody>
      </p:sp>
      <p:sp>
        <p:nvSpPr>
          <p:cNvPr id="1662" name="Google Shape;1662;p50"/>
          <p:cNvSpPr/>
          <p:nvPr/>
        </p:nvSpPr>
        <p:spPr>
          <a:xfrm>
            <a:off x="566928" y="5074920"/>
            <a:ext cx="6583680" cy="685800"/>
          </a:xfrm>
          <a:prstGeom prst="roundRect">
            <a:avLst>
              <a:gd fmla="val 12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50"/>
          <p:cNvSpPr/>
          <p:nvPr/>
        </p:nvSpPr>
        <p:spPr>
          <a:xfrm>
            <a:off x="841248" y="5074920"/>
            <a:ext cx="6035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0" i="1" lang="en-US" sz="1250" u="none" cap="none" strike="noStrike">
                <a:solidFill>
                  <a:srgbClr val="2D1B4E"/>
                </a:solidFill>
                <a:latin typeface="Calibri"/>
                <a:ea typeface="Calibri"/>
                <a:cs typeface="Calibri"/>
                <a:sym typeface="Calibri"/>
              </a:rPr>
              <a:t>Directions of the parameter space that contribute little to reducing the objective are decayed away; directions that matter are preserved.</a:t>
            </a:r>
            <a:endParaRPr b="0" i="0" sz="1250" u="none" cap="none" strike="noStrike">
              <a:solidFill>
                <a:schemeClr val="dk1"/>
              </a:solidFill>
              <a:latin typeface="Calibri"/>
              <a:ea typeface="Calibri"/>
              <a:cs typeface="Calibri"/>
              <a:sym typeface="Calibri"/>
            </a:endParaRPr>
          </a:p>
        </p:txBody>
      </p:sp>
      <p:sp>
        <p:nvSpPr>
          <p:cNvPr id="1664" name="Google Shape;1664;p50"/>
          <p:cNvSpPr/>
          <p:nvPr/>
        </p:nvSpPr>
        <p:spPr>
          <a:xfrm>
            <a:off x="7406640" y="1280160"/>
            <a:ext cx="4224528" cy="4480560"/>
          </a:xfrm>
          <a:prstGeom prst="roundRect">
            <a:avLst>
              <a:gd fmla="val 194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65" name="Google Shape;1665;p50"/>
          <p:cNvCxnSpPr/>
          <p:nvPr/>
        </p:nvCxnSpPr>
        <p:spPr>
          <a:xfrm>
            <a:off x="7680960" y="4343400"/>
            <a:ext cx="3703320" cy="0"/>
          </a:xfrm>
          <a:prstGeom prst="straightConnector1">
            <a:avLst/>
          </a:prstGeom>
          <a:noFill/>
          <a:ln cap="flat" cmpd="sng" w="12700">
            <a:solidFill>
              <a:srgbClr val="6E6880"/>
            </a:solidFill>
            <a:prstDash val="solid"/>
            <a:round/>
            <a:headEnd len="sm" w="sm" type="none"/>
            <a:tailEnd len="sm" w="sm" type="none"/>
          </a:ln>
        </p:spPr>
      </p:cxnSp>
      <p:cxnSp>
        <p:nvCxnSpPr>
          <p:cNvPr id="1666" name="Google Shape;1666;p50"/>
          <p:cNvCxnSpPr/>
          <p:nvPr/>
        </p:nvCxnSpPr>
        <p:spPr>
          <a:xfrm>
            <a:off x="8732520" y="2057400"/>
            <a:ext cx="0" cy="3337560"/>
          </a:xfrm>
          <a:prstGeom prst="straightConnector1">
            <a:avLst/>
          </a:prstGeom>
          <a:noFill/>
          <a:ln cap="flat" cmpd="sng" w="12700">
            <a:solidFill>
              <a:srgbClr val="6E6880"/>
            </a:solidFill>
            <a:prstDash val="solid"/>
            <a:round/>
            <a:headEnd len="sm" w="sm" type="none"/>
            <a:tailEnd len="sm" w="sm" type="none"/>
          </a:ln>
        </p:spPr>
      </p:cxnSp>
      <p:sp>
        <p:nvSpPr>
          <p:cNvPr id="1667" name="Google Shape;1667;p50"/>
          <p:cNvSpPr/>
          <p:nvPr/>
        </p:nvSpPr>
        <p:spPr>
          <a:xfrm>
            <a:off x="11109960" y="4389120"/>
            <a:ext cx="365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w₁</a:t>
            </a:r>
            <a:endParaRPr b="0" i="0" sz="1050" u="none" cap="none" strike="noStrike">
              <a:solidFill>
                <a:schemeClr val="dk1"/>
              </a:solidFill>
              <a:latin typeface="Calibri"/>
              <a:ea typeface="Calibri"/>
              <a:cs typeface="Calibri"/>
              <a:sym typeface="Calibri"/>
            </a:endParaRPr>
          </a:p>
        </p:txBody>
      </p:sp>
      <p:sp>
        <p:nvSpPr>
          <p:cNvPr id="1668" name="Google Shape;1668;p50"/>
          <p:cNvSpPr/>
          <p:nvPr/>
        </p:nvSpPr>
        <p:spPr>
          <a:xfrm>
            <a:off x="8321040" y="2103120"/>
            <a:ext cx="36576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w₂</a:t>
            </a:r>
            <a:endParaRPr b="0" i="0" sz="1050" u="none" cap="none" strike="noStrike">
              <a:solidFill>
                <a:schemeClr val="dk1"/>
              </a:solidFill>
              <a:latin typeface="Calibri"/>
              <a:ea typeface="Calibri"/>
              <a:cs typeface="Calibri"/>
              <a:sym typeface="Calibri"/>
            </a:endParaRPr>
          </a:p>
        </p:txBody>
      </p:sp>
      <p:sp>
        <p:nvSpPr>
          <p:cNvPr id="1669" name="Google Shape;1669;p50"/>
          <p:cNvSpPr/>
          <p:nvPr/>
        </p:nvSpPr>
        <p:spPr>
          <a:xfrm rot="-1200000">
            <a:off x="8631936" y="2283988"/>
            <a:ext cx="2395728" cy="1485351"/>
          </a:xfrm>
          <a:prstGeom prst="ellipse">
            <a:avLst/>
          </a:prstGeom>
          <a:noFill/>
          <a:ln cap="flat" cmpd="sng" w="1522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0"/>
          <p:cNvSpPr/>
          <p:nvPr/>
        </p:nvSpPr>
        <p:spPr>
          <a:xfrm rot="-1200000">
            <a:off x="8988552" y="2505090"/>
            <a:ext cx="1682496" cy="1043148"/>
          </a:xfrm>
          <a:prstGeom prst="ellipse">
            <a:avLst/>
          </a:prstGeom>
          <a:noFill/>
          <a:ln cap="flat" cmpd="sng" w="1522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0"/>
          <p:cNvSpPr/>
          <p:nvPr/>
        </p:nvSpPr>
        <p:spPr>
          <a:xfrm rot="-1200000">
            <a:off x="9281160" y="2686507"/>
            <a:ext cx="1097280" cy="680314"/>
          </a:xfrm>
          <a:prstGeom prst="ellipse">
            <a:avLst/>
          </a:prstGeom>
          <a:noFill/>
          <a:ln cap="flat" cmpd="sng" w="15225">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0"/>
          <p:cNvSpPr/>
          <p:nvPr/>
        </p:nvSpPr>
        <p:spPr>
          <a:xfrm>
            <a:off x="8330184" y="3941064"/>
            <a:ext cx="804672" cy="804672"/>
          </a:xfrm>
          <a:prstGeom prst="ellipse">
            <a:avLst/>
          </a:prstGeom>
          <a:noFill/>
          <a:ln cap="flat" cmpd="sng" w="13950">
            <a:solidFill>
              <a:srgbClr val="C4661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0"/>
          <p:cNvSpPr/>
          <p:nvPr/>
        </p:nvSpPr>
        <p:spPr>
          <a:xfrm>
            <a:off x="8055864" y="3666744"/>
            <a:ext cx="1353312" cy="1353312"/>
          </a:xfrm>
          <a:prstGeom prst="ellipse">
            <a:avLst/>
          </a:prstGeom>
          <a:noFill/>
          <a:ln cap="flat" cmpd="sng" w="13950">
            <a:solidFill>
              <a:srgbClr val="C4661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50"/>
          <p:cNvSpPr/>
          <p:nvPr/>
        </p:nvSpPr>
        <p:spPr>
          <a:xfrm>
            <a:off x="7790688" y="3401568"/>
            <a:ext cx="1883664" cy="1883664"/>
          </a:xfrm>
          <a:prstGeom prst="ellipse">
            <a:avLst/>
          </a:prstGeom>
          <a:noFill/>
          <a:ln cap="flat" cmpd="sng" w="13950">
            <a:solidFill>
              <a:srgbClr val="C4661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0"/>
          <p:cNvSpPr/>
          <p:nvPr/>
        </p:nvSpPr>
        <p:spPr>
          <a:xfrm>
            <a:off x="9765792" y="2962656"/>
            <a:ext cx="128016" cy="128016"/>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50"/>
          <p:cNvSpPr/>
          <p:nvPr/>
        </p:nvSpPr>
        <p:spPr>
          <a:xfrm>
            <a:off x="9939528" y="2752344"/>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00"/>
              <a:buFont typeface="Calibri"/>
              <a:buNone/>
            </a:pPr>
            <a:r>
              <a:rPr b="1" i="1" lang="en-US" sz="1100" u="none" cap="none" strike="noStrike">
                <a:solidFill>
                  <a:srgbClr val="2D1B4E"/>
                </a:solidFill>
                <a:latin typeface="Calibri"/>
                <a:ea typeface="Calibri"/>
                <a:cs typeface="Calibri"/>
                <a:sym typeface="Calibri"/>
              </a:rPr>
              <a:t>w*</a:t>
            </a:r>
            <a:endParaRPr b="0" i="0" sz="1100" u="none" cap="none" strike="noStrike">
              <a:solidFill>
                <a:schemeClr val="dk1"/>
              </a:solidFill>
              <a:latin typeface="Calibri"/>
              <a:ea typeface="Calibri"/>
              <a:cs typeface="Calibri"/>
              <a:sym typeface="Calibri"/>
            </a:endParaRPr>
          </a:p>
        </p:txBody>
      </p:sp>
      <p:sp>
        <p:nvSpPr>
          <p:cNvPr id="1677" name="Google Shape;1677;p50"/>
          <p:cNvSpPr/>
          <p:nvPr/>
        </p:nvSpPr>
        <p:spPr>
          <a:xfrm>
            <a:off x="9272016" y="355701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50"/>
          <p:cNvSpPr/>
          <p:nvPr/>
        </p:nvSpPr>
        <p:spPr>
          <a:xfrm>
            <a:off x="9436608" y="3456432"/>
            <a:ext cx="457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00"/>
              <a:buFont typeface="Calibri"/>
              <a:buNone/>
            </a:pPr>
            <a:r>
              <a:rPr b="1" i="0" lang="en-US" sz="1200" u="none" cap="none" strike="noStrike">
                <a:solidFill>
                  <a:srgbClr val="C4661F"/>
                </a:solidFill>
                <a:latin typeface="Calibri"/>
                <a:ea typeface="Calibri"/>
                <a:cs typeface="Calibri"/>
                <a:sym typeface="Calibri"/>
              </a:rPr>
              <a:t>w̃</a:t>
            </a:r>
            <a:endParaRPr b="0" i="0" sz="1200" u="none" cap="none" strike="noStrike">
              <a:solidFill>
                <a:schemeClr val="dk1"/>
              </a:solidFill>
              <a:latin typeface="Calibri"/>
              <a:ea typeface="Calibri"/>
              <a:cs typeface="Calibri"/>
              <a:sym typeface="Calibri"/>
            </a:endParaRPr>
          </a:p>
        </p:txBody>
      </p:sp>
      <p:sp>
        <p:nvSpPr>
          <p:cNvPr id="1679" name="Google Shape;1679;p50"/>
          <p:cNvSpPr/>
          <p:nvPr/>
        </p:nvSpPr>
        <p:spPr>
          <a:xfrm>
            <a:off x="7635240" y="5376672"/>
            <a:ext cx="37947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00"/>
              <a:buFont typeface="Calibri"/>
              <a:buNone/>
            </a:pPr>
            <a:r>
              <a:rPr b="0" i="0" lang="en-US" sz="1000" u="none" cap="none" strike="noStrike">
                <a:solidFill>
                  <a:srgbClr val="6E6880"/>
                </a:solidFill>
                <a:latin typeface="Calibri"/>
                <a:ea typeface="Calibri"/>
                <a:cs typeface="Calibri"/>
                <a:sym typeface="Calibri"/>
              </a:rPr>
              <a:t>solid: contours of the unregularized objective   ·   dashed: contours of the L² regularizer</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6880"/>
              </a:buClr>
              <a:buSzPts val="1000"/>
              <a:buFont typeface="Calibri"/>
              <a:buNone/>
            </a:pPr>
            <a:r>
              <a:rPr b="0" i="0" lang="en-US" sz="1000" u="none" cap="none" strike="noStrike">
                <a:solidFill>
                  <a:srgbClr val="6E6880"/>
                </a:solidFill>
                <a:latin typeface="Calibri"/>
                <a:ea typeface="Calibri"/>
                <a:cs typeface="Calibri"/>
                <a:sym typeface="Calibri"/>
              </a:rPr>
              <a:t>at w̃ the two competing objectives reach an equilibrium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4" name="Shape 1684"/>
        <p:cNvGrpSpPr/>
        <p:nvPr/>
      </p:nvGrpSpPr>
      <p:grpSpPr>
        <a:xfrm>
          <a:off x="0" y="0"/>
          <a:ext cx="0" cy="0"/>
          <a:chOff x="0" y="0"/>
          <a:chExt cx="0" cy="0"/>
        </a:xfrm>
      </p:grpSpPr>
      <p:sp>
        <p:nvSpPr>
          <p:cNvPr id="1685" name="Google Shape;1685;p51"/>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686" name="Google Shape;1686;p51"/>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L¹ regularization and sparsity</a:t>
            </a:r>
            <a:endParaRPr b="0" i="0" sz="2800" u="none" cap="none" strike="noStrike">
              <a:solidFill>
                <a:schemeClr val="dk1"/>
              </a:solidFill>
              <a:latin typeface="Calibri"/>
              <a:ea typeface="Calibri"/>
              <a:cs typeface="Calibri"/>
              <a:sym typeface="Calibri"/>
            </a:endParaRPr>
          </a:p>
        </p:txBody>
      </p:sp>
      <p:sp>
        <p:nvSpPr>
          <p:cNvPr id="1687" name="Google Shape;1687;p51"/>
          <p:cNvSpPr/>
          <p:nvPr/>
        </p:nvSpPr>
        <p:spPr>
          <a:xfrm>
            <a:off x="566928" y="1280160"/>
            <a:ext cx="11057839" cy="658368"/>
          </a:xfrm>
          <a:prstGeom prst="roundRect">
            <a:avLst>
              <a:gd fmla="val 125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51"/>
          <p:cNvSpPr/>
          <p:nvPr/>
        </p:nvSpPr>
        <p:spPr>
          <a:xfrm>
            <a:off x="704088" y="1280160"/>
            <a:ext cx="10783519"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600"/>
              <a:buFont typeface="Calibri"/>
              <a:buNone/>
            </a:pPr>
            <a:r>
              <a:rPr b="1" i="0" lang="en-US" sz="1600" u="none" cap="none" strike="noStrike">
                <a:solidFill>
                  <a:srgbClr val="2D1B4E"/>
                </a:solidFill>
                <a:latin typeface="Calibri"/>
                <a:ea typeface="Calibri"/>
                <a:cs typeface="Calibri"/>
                <a:sym typeface="Calibri"/>
              </a:rPr>
              <a:t>Ω(θ) = ‖w‖₁ = Σᵢ |wᵢ|            J̃(θ; X, y) = α ‖w‖₁ + J(θ; X, y)</a:t>
            </a:r>
            <a:endParaRPr b="0" i="0" sz="1600" u="none" cap="none" strike="noStrike">
              <a:solidFill>
                <a:schemeClr val="dk1"/>
              </a:solidFill>
              <a:latin typeface="Calibri"/>
              <a:ea typeface="Calibri"/>
              <a:cs typeface="Calibri"/>
              <a:sym typeface="Calibri"/>
            </a:endParaRPr>
          </a:p>
        </p:txBody>
      </p:sp>
      <p:sp>
        <p:nvSpPr>
          <p:cNvPr id="1689" name="Google Shape;1689;p51"/>
          <p:cNvSpPr/>
          <p:nvPr/>
        </p:nvSpPr>
        <p:spPr>
          <a:xfrm>
            <a:off x="566928" y="2148840"/>
            <a:ext cx="5760720" cy="17373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The sum of the absolute values of the individual parameters. As with L², a positive hyperparameter α scales the penalty.</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Gradient:   ∇w J̃ = α sign(w) + ∇w J</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The regularization contribution to the gradient no longer scales linearly with each wᵢ; it is a constant factor with the sign of wᵢ.</a:t>
            </a:r>
            <a:endParaRPr b="0" i="0" sz="1300" u="none" cap="none" strike="noStrike">
              <a:solidFill>
                <a:schemeClr val="dk1"/>
              </a:solidFill>
              <a:latin typeface="Calibri"/>
              <a:ea typeface="Calibri"/>
              <a:cs typeface="Calibri"/>
              <a:sym typeface="Calibri"/>
            </a:endParaRPr>
          </a:p>
        </p:txBody>
      </p:sp>
      <p:sp>
        <p:nvSpPr>
          <p:cNvPr id="1690" name="Google Shape;1690;p51"/>
          <p:cNvSpPr/>
          <p:nvPr/>
        </p:nvSpPr>
        <p:spPr>
          <a:xfrm>
            <a:off x="566928" y="3977640"/>
            <a:ext cx="5760720" cy="1783080"/>
          </a:xfrm>
          <a:prstGeom prst="roundRect">
            <a:avLst>
              <a:gd fmla="val 461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51"/>
          <p:cNvSpPr/>
          <p:nvPr/>
        </p:nvSpPr>
        <p:spPr>
          <a:xfrm>
            <a:off x="841248" y="4114800"/>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Why it matters</a:t>
            </a:r>
            <a:endParaRPr b="0" i="0" sz="1500" u="none" cap="none" strike="noStrike">
              <a:solidFill>
                <a:schemeClr val="dk1"/>
              </a:solidFill>
              <a:latin typeface="Calibri"/>
              <a:ea typeface="Calibri"/>
              <a:cs typeface="Calibri"/>
              <a:sym typeface="Calibri"/>
            </a:endParaRPr>
          </a:p>
        </p:txBody>
      </p:sp>
      <p:sp>
        <p:nvSpPr>
          <p:cNvPr id="1692" name="Google Shape;1692;p51"/>
          <p:cNvSpPr/>
          <p:nvPr/>
        </p:nvSpPr>
        <p:spPr>
          <a:xfrm>
            <a:off x="841248" y="4462272"/>
            <a:ext cx="521208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250"/>
              <a:buFont typeface="Calibri"/>
              <a:buNone/>
            </a:pPr>
            <a:r>
              <a:rPr b="0" i="0" lang="en-US" sz="1250" u="none" cap="none" strike="noStrike">
                <a:solidFill>
                  <a:srgbClr val="E9E3F3"/>
                </a:solidFill>
                <a:latin typeface="Calibri"/>
                <a:ea typeface="Calibri"/>
                <a:cs typeface="Calibri"/>
                <a:sym typeface="Calibri"/>
              </a:rPr>
              <a:t>L¹ produces solutions that are more sparse: more parameters take an optimal value of exactly zero. This sparsity has been used extensively as a feature selection mechanism — the penalty pushes a subset of the weights to zero, suggesting the corresponding features may safely be discarded.</a:t>
            </a:r>
            <a:endParaRPr b="0" i="0" sz="1250" u="none" cap="none" strike="noStrike">
              <a:solidFill>
                <a:schemeClr val="dk1"/>
              </a:solidFill>
              <a:latin typeface="Calibri"/>
              <a:ea typeface="Calibri"/>
              <a:cs typeface="Calibri"/>
              <a:sym typeface="Calibri"/>
            </a:endParaRPr>
          </a:p>
        </p:txBody>
      </p:sp>
      <p:sp>
        <p:nvSpPr>
          <p:cNvPr id="1693" name="Google Shape;1693;p51"/>
          <p:cNvSpPr/>
          <p:nvPr/>
        </p:nvSpPr>
        <p:spPr>
          <a:xfrm>
            <a:off x="6583680" y="2148840"/>
            <a:ext cx="2395728" cy="3611880"/>
          </a:xfrm>
          <a:prstGeom prst="roundRect">
            <a:avLst>
              <a:gd fmla="val 343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51"/>
          <p:cNvSpPr/>
          <p:nvPr/>
        </p:nvSpPr>
        <p:spPr>
          <a:xfrm>
            <a:off x="6784848" y="2286000"/>
            <a:ext cx="20116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5B95"/>
              </a:buClr>
              <a:buSzPts val="1400"/>
              <a:buFont typeface="Cambria"/>
              <a:buNone/>
            </a:pPr>
            <a:r>
              <a:rPr b="1" i="0" lang="en-US" sz="1400" u="none" cap="none" strike="noStrike">
                <a:solidFill>
                  <a:srgbClr val="6B5B95"/>
                </a:solidFill>
                <a:latin typeface="Cambria"/>
                <a:ea typeface="Cambria"/>
                <a:cs typeface="Cambria"/>
                <a:sym typeface="Cambria"/>
              </a:rPr>
              <a:t>L² — weight decay</a:t>
            </a:r>
            <a:endParaRPr b="0" i="0" sz="1400" u="none" cap="none" strike="noStrike">
              <a:solidFill>
                <a:schemeClr val="dk1"/>
              </a:solidFill>
              <a:latin typeface="Calibri"/>
              <a:ea typeface="Calibri"/>
              <a:cs typeface="Calibri"/>
              <a:sym typeface="Calibri"/>
            </a:endParaRPr>
          </a:p>
        </p:txBody>
      </p:sp>
      <p:sp>
        <p:nvSpPr>
          <p:cNvPr id="1695" name="Google Shape;1695;p51"/>
          <p:cNvSpPr/>
          <p:nvPr/>
        </p:nvSpPr>
        <p:spPr>
          <a:xfrm>
            <a:off x="6784848" y="2880360"/>
            <a:ext cx="2011680" cy="26517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Penalises the squared magnitude</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Shrinks all weights smoothly towards zero</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Weights become small, but rarely exactly zero</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Gradient contribution scales with w</a:t>
            </a:r>
            <a:endParaRPr b="0" i="0" sz="1200" u="none" cap="none" strike="noStrike">
              <a:solidFill>
                <a:schemeClr val="dk1"/>
              </a:solidFill>
              <a:latin typeface="Calibri"/>
              <a:ea typeface="Calibri"/>
              <a:cs typeface="Calibri"/>
              <a:sym typeface="Calibri"/>
            </a:endParaRPr>
          </a:p>
        </p:txBody>
      </p:sp>
      <p:sp>
        <p:nvSpPr>
          <p:cNvPr id="1696" name="Google Shape;1696;p51"/>
          <p:cNvSpPr/>
          <p:nvPr/>
        </p:nvSpPr>
        <p:spPr>
          <a:xfrm>
            <a:off x="9189720" y="2148840"/>
            <a:ext cx="2395728" cy="3611880"/>
          </a:xfrm>
          <a:prstGeom prst="roundRect">
            <a:avLst>
              <a:gd fmla="val 3435" name="adj"/>
            </a:avLst>
          </a:prstGeom>
          <a:solidFill>
            <a:srgbClr val="F9E3C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51"/>
          <p:cNvSpPr/>
          <p:nvPr/>
        </p:nvSpPr>
        <p:spPr>
          <a:xfrm>
            <a:off x="9390888" y="2286000"/>
            <a:ext cx="20116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4661F"/>
              </a:buClr>
              <a:buSzPts val="1400"/>
              <a:buFont typeface="Cambria"/>
              <a:buNone/>
            </a:pPr>
            <a:r>
              <a:rPr b="1" i="0" lang="en-US" sz="1400" u="none" cap="none" strike="noStrike">
                <a:solidFill>
                  <a:srgbClr val="C4661F"/>
                </a:solidFill>
                <a:latin typeface="Cambria"/>
                <a:ea typeface="Cambria"/>
                <a:cs typeface="Cambria"/>
                <a:sym typeface="Cambria"/>
              </a:rPr>
              <a:t>L¹ — sparsity</a:t>
            </a:r>
            <a:endParaRPr b="0" i="0" sz="1400" u="none" cap="none" strike="noStrike">
              <a:solidFill>
                <a:schemeClr val="dk1"/>
              </a:solidFill>
              <a:latin typeface="Calibri"/>
              <a:ea typeface="Calibri"/>
              <a:cs typeface="Calibri"/>
              <a:sym typeface="Calibri"/>
            </a:endParaRPr>
          </a:p>
        </p:txBody>
      </p:sp>
      <p:sp>
        <p:nvSpPr>
          <p:cNvPr id="1698" name="Google Shape;1698;p51"/>
          <p:cNvSpPr/>
          <p:nvPr/>
        </p:nvSpPr>
        <p:spPr>
          <a:xfrm>
            <a:off x="9390888" y="2880360"/>
            <a:ext cx="2011680" cy="26517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Penalises the absolute magnitude</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Pushes a subset of weights to exactly zero</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Acts as an automatic feature selector</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Gradient contribution is a constant ± α</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3" name="Shape 1703"/>
        <p:cNvGrpSpPr/>
        <p:nvPr/>
      </p:nvGrpSpPr>
      <p:grpSpPr>
        <a:xfrm>
          <a:off x="0" y="0"/>
          <a:ext cx="0" cy="0"/>
          <a:chOff x="0" y="0"/>
          <a:chExt cx="0" cy="0"/>
        </a:xfrm>
      </p:grpSpPr>
      <p:sp>
        <p:nvSpPr>
          <p:cNvPr id="1704" name="Google Shape;1704;p52"/>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705" name="Google Shape;1705;p52"/>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Dataset augmentation</a:t>
            </a:r>
            <a:endParaRPr b="0" i="0" sz="2800" u="none" cap="none" strike="noStrike">
              <a:solidFill>
                <a:schemeClr val="dk1"/>
              </a:solidFill>
              <a:latin typeface="Calibri"/>
              <a:ea typeface="Calibri"/>
              <a:cs typeface="Calibri"/>
              <a:sym typeface="Calibri"/>
            </a:endParaRPr>
          </a:p>
        </p:txBody>
      </p:sp>
      <p:sp>
        <p:nvSpPr>
          <p:cNvPr id="1706" name="Google Shape;1706;p52"/>
          <p:cNvSpPr/>
          <p:nvPr/>
        </p:nvSpPr>
        <p:spPr>
          <a:xfrm>
            <a:off x="566928" y="1280160"/>
            <a:ext cx="11057839" cy="640080"/>
          </a:xfrm>
          <a:prstGeom prst="roundRect">
            <a:avLst>
              <a:gd fmla="val 12857"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52"/>
          <p:cNvSpPr/>
          <p:nvPr/>
        </p:nvSpPr>
        <p:spPr>
          <a:xfrm>
            <a:off x="704088" y="1280160"/>
            <a:ext cx="10783519"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500"/>
              <a:buFont typeface="Calibri"/>
              <a:buNone/>
            </a:pPr>
            <a:r>
              <a:rPr b="1" i="0" lang="en-US" sz="1500" u="none" cap="none" strike="noStrike">
                <a:solidFill>
                  <a:srgbClr val="E8833A"/>
                </a:solidFill>
                <a:latin typeface="Calibri"/>
                <a:ea typeface="Calibri"/>
                <a:cs typeface="Calibri"/>
                <a:sym typeface="Calibri"/>
              </a:rPr>
              <a:t>The best way to make a machine learning model generalize better is to train it on more data.</a:t>
            </a:r>
            <a:endParaRPr b="0" i="0" sz="1500" u="none" cap="none" strike="noStrike">
              <a:solidFill>
                <a:schemeClr val="dk1"/>
              </a:solidFill>
              <a:latin typeface="Calibri"/>
              <a:ea typeface="Calibri"/>
              <a:cs typeface="Calibri"/>
              <a:sym typeface="Calibri"/>
            </a:endParaRPr>
          </a:p>
        </p:txBody>
      </p:sp>
      <p:sp>
        <p:nvSpPr>
          <p:cNvPr id="1708" name="Google Shape;1708;p52"/>
          <p:cNvSpPr/>
          <p:nvPr/>
        </p:nvSpPr>
        <p:spPr>
          <a:xfrm>
            <a:off x="566928" y="2057400"/>
            <a:ext cx="5760720" cy="19202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In practice the amount of data we have is limited — so one way around the problem is to create fake data and add it to the training set.</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This is easiest for classification: a classifier must take a complicated, high-dimensional input x and summarise it with a single category identity y.</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The main task facing a classifier is therefore to be invariant to a wide variety of transformations — so we can generate new (x, y) pairs simply by transforming the x inputs.</a:t>
            </a:r>
            <a:endParaRPr b="0" i="0" sz="1300" u="none" cap="none" strike="noStrike">
              <a:solidFill>
                <a:schemeClr val="dk1"/>
              </a:solidFill>
              <a:latin typeface="Calibri"/>
              <a:ea typeface="Calibri"/>
              <a:cs typeface="Calibri"/>
              <a:sym typeface="Calibri"/>
            </a:endParaRPr>
          </a:p>
        </p:txBody>
      </p:sp>
      <p:sp>
        <p:nvSpPr>
          <p:cNvPr id="1709" name="Google Shape;1709;p52"/>
          <p:cNvSpPr/>
          <p:nvPr/>
        </p:nvSpPr>
        <p:spPr>
          <a:xfrm>
            <a:off x="566928" y="4069080"/>
            <a:ext cx="5760720"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2"/>
          <p:cNvSpPr/>
          <p:nvPr/>
        </p:nvSpPr>
        <p:spPr>
          <a:xfrm>
            <a:off x="822960" y="4306824"/>
            <a:ext cx="420624" cy="420624"/>
          </a:xfrm>
          <a:prstGeom prst="ellipse">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52"/>
          <p:cNvSpPr/>
          <p:nvPr/>
        </p:nvSpPr>
        <p:spPr>
          <a:xfrm>
            <a:off x="822960" y="43068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712" name="Google Shape;1712;p52"/>
          <p:cNvSpPr/>
          <p:nvPr/>
        </p:nvSpPr>
        <p:spPr>
          <a:xfrm>
            <a:off x="1408176" y="4288536"/>
            <a:ext cx="47183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Where it works best: object recognition</a:t>
            </a:r>
            <a:endParaRPr b="0" i="0" sz="1500" u="none" cap="none" strike="noStrike">
              <a:solidFill>
                <a:schemeClr val="dk1"/>
              </a:solidFill>
              <a:latin typeface="Calibri"/>
              <a:ea typeface="Calibri"/>
              <a:cs typeface="Calibri"/>
              <a:sym typeface="Calibri"/>
            </a:endParaRPr>
          </a:p>
        </p:txBody>
      </p:sp>
      <p:sp>
        <p:nvSpPr>
          <p:cNvPr id="1713" name="Google Shape;1713;p52"/>
          <p:cNvSpPr/>
          <p:nvPr/>
        </p:nvSpPr>
        <p:spPr>
          <a:xfrm>
            <a:off x="841248" y="4855464"/>
            <a:ext cx="5212080"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Images are high-dimensional and contain an enormous variety of factors of variation, many of which are easy to simulate. Translating training images by a few pixels in each direction often greatly improves generalization; rotation and scaling are also very effective.</a:t>
            </a:r>
            <a:endParaRPr b="0" i="0" sz="1200" u="none" cap="none" strike="noStrike">
              <a:solidFill>
                <a:schemeClr val="dk1"/>
              </a:solidFill>
              <a:latin typeface="Calibri"/>
              <a:ea typeface="Calibri"/>
              <a:cs typeface="Calibri"/>
              <a:sym typeface="Calibri"/>
            </a:endParaRPr>
          </a:p>
        </p:txBody>
      </p:sp>
      <p:sp>
        <p:nvSpPr>
          <p:cNvPr id="1714" name="Google Shape;1714;p52"/>
          <p:cNvSpPr/>
          <p:nvPr/>
        </p:nvSpPr>
        <p:spPr>
          <a:xfrm>
            <a:off x="6492240" y="2057400"/>
            <a:ext cx="5138928"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52"/>
          <p:cNvSpPr/>
          <p:nvPr/>
        </p:nvSpPr>
        <p:spPr>
          <a:xfrm>
            <a:off x="6748272" y="2295144"/>
            <a:ext cx="420624" cy="420624"/>
          </a:xfrm>
          <a:prstGeom prst="ellipse">
            <a:avLst/>
          </a:prstGeom>
          <a:solidFill>
            <a:srgbClr val="B84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52"/>
          <p:cNvSpPr/>
          <p:nvPr/>
        </p:nvSpPr>
        <p:spPr>
          <a:xfrm>
            <a:off x="6748272" y="22951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1717" name="Google Shape;1717;p52"/>
          <p:cNvSpPr/>
          <p:nvPr/>
        </p:nvSpPr>
        <p:spPr>
          <a:xfrm>
            <a:off x="7333488" y="2276856"/>
            <a:ext cx="40965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one thing to watch</a:t>
            </a:r>
            <a:endParaRPr b="0" i="0" sz="1500" u="none" cap="none" strike="noStrike">
              <a:solidFill>
                <a:schemeClr val="dk1"/>
              </a:solidFill>
              <a:latin typeface="Calibri"/>
              <a:ea typeface="Calibri"/>
              <a:cs typeface="Calibri"/>
              <a:sym typeface="Calibri"/>
            </a:endParaRPr>
          </a:p>
        </p:txBody>
      </p:sp>
      <p:sp>
        <p:nvSpPr>
          <p:cNvPr id="1718" name="Google Shape;1718;p52"/>
          <p:cNvSpPr/>
          <p:nvPr/>
        </p:nvSpPr>
        <p:spPr>
          <a:xfrm>
            <a:off x="6766560" y="2843784"/>
            <a:ext cx="4590288"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Never apply a transformation that would change the correct class. Optical character recognition has to distinguish ‘b’ from ‘d’ and ‘6’ from ‘9’, so horizontal flips and 180° rotations are not appropriate ways of augmenting those datasets.</a:t>
            </a:r>
            <a:endParaRPr b="0" i="0" sz="1200" u="none" cap="none" strike="noStrike">
              <a:solidFill>
                <a:schemeClr val="dk1"/>
              </a:solidFill>
              <a:latin typeface="Calibri"/>
              <a:ea typeface="Calibri"/>
              <a:cs typeface="Calibri"/>
              <a:sym typeface="Calibri"/>
            </a:endParaRPr>
          </a:p>
        </p:txBody>
      </p:sp>
      <p:sp>
        <p:nvSpPr>
          <p:cNvPr id="1719" name="Google Shape;1719;p52"/>
          <p:cNvSpPr/>
          <p:nvPr/>
        </p:nvSpPr>
        <p:spPr>
          <a:xfrm>
            <a:off x="6492240" y="4069080"/>
            <a:ext cx="5138928"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52"/>
          <p:cNvSpPr/>
          <p:nvPr/>
        </p:nvSpPr>
        <p:spPr>
          <a:xfrm>
            <a:off x="6766560" y="41879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Typical image transformations</a:t>
            </a:r>
            <a:endParaRPr b="0" i="0" sz="1400" u="none" cap="none" strike="noStrike">
              <a:solidFill>
                <a:schemeClr val="dk1"/>
              </a:solidFill>
              <a:latin typeface="Calibri"/>
              <a:ea typeface="Calibri"/>
              <a:cs typeface="Calibri"/>
              <a:sym typeface="Calibri"/>
            </a:endParaRPr>
          </a:p>
        </p:txBody>
      </p:sp>
      <p:sp>
        <p:nvSpPr>
          <p:cNvPr id="1721" name="Google Shape;1721;p52"/>
          <p:cNvSpPr/>
          <p:nvPr/>
        </p:nvSpPr>
        <p:spPr>
          <a:xfrm>
            <a:off x="6766560" y="452628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52"/>
          <p:cNvSpPr/>
          <p:nvPr/>
        </p:nvSpPr>
        <p:spPr>
          <a:xfrm>
            <a:off x="6766560" y="452628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translate</a:t>
            </a:r>
            <a:endParaRPr b="0" i="0" sz="1000" u="none" cap="none" strike="noStrike">
              <a:solidFill>
                <a:schemeClr val="dk1"/>
              </a:solidFill>
              <a:latin typeface="Calibri"/>
              <a:ea typeface="Calibri"/>
              <a:cs typeface="Calibri"/>
              <a:sym typeface="Calibri"/>
            </a:endParaRPr>
          </a:p>
        </p:txBody>
      </p:sp>
      <p:sp>
        <p:nvSpPr>
          <p:cNvPr id="1723" name="Google Shape;1723;p52"/>
          <p:cNvSpPr/>
          <p:nvPr/>
        </p:nvSpPr>
        <p:spPr>
          <a:xfrm>
            <a:off x="7955280" y="452628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52"/>
          <p:cNvSpPr/>
          <p:nvPr/>
        </p:nvSpPr>
        <p:spPr>
          <a:xfrm>
            <a:off x="7955280" y="452628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rotate</a:t>
            </a:r>
            <a:endParaRPr b="0" i="0" sz="1000" u="none" cap="none" strike="noStrike">
              <a:solidFill>
                <a:schemeClr val="dk1"/>
              </a:solidFill>
              <a:latin typeface="Calibri"/>
              <a:ea typeface="Calibri"/>
              <a:cs typeface="Calibri"/>
              <a:sym typeface="Calibri"/>
            </a:endParaRPr>
          </a:p>
        </p:txBody>
      </p:sp>
      <p:sp>
        <p:nvSpPr>
          <p:cNvPr id="1725" name="Google Shape;1725;p52"/>
          <p:cNvSpPr/>
          <p:nvPr/>
        </p:nvSpPr>
        <p:spPr>
          <a:xfrm>
            <a:off x="9144000" y="452628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52"/>
          <p:cNvSpPr/>
          <p:nvPr/>
        </p:nvSpPr>
        <p:spPr>
          <a:xfrm>
            <a:off x="9144000" y="452628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scale</a:t>
            </a:r>
            <a:endParaRPr b="0" i="0" sz="1000" u="none" cap="none" strike="noStrike">
              <a:solidFill>
                <a:schemeClr val="dk1"/>
              </a:solidFill>
              <a:latin typeface="Calibri"/>
              <a:ea typeface="Calibri"/>
              <a:cs typeface="Calibri"/>
              <a:sym typeface="Calibri"/>
            </a:endParaRPr>
          </a:p>
        </p:txBody>
      </p:sp>
      <p:sp>
        <p:nvSpPr>
          <p:cNvPr id="1727" name="Google Shape;1727;p52"/>
          <p:cNvSpPr/>
          <p:nvPr/>
        </p:nvSpPr>
        <p:spPr>
          <a:xfrm>
            <a:off x="10332720" y="452628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52"/>
          <p:cNvSpPr/>
          <p:nvPr/>
        </p:nvSpPr>
        <p:spPr>
          <a:xfrm>
            <a:off x="10332720" y="452628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crop</a:t>
            </a:r>
            <a:endParaRPr b="0" i="0" sz="1000" u="none" cap="none" strike="noStrike">
              <a:solidFill>
                <a:schemeClr val="dk1"/>
              </a:solidFill>
              <a:latin typeface="Calibri"/>
              <a:ea typeface="Calibri"/>
              <a:cs typeface="Calibri"/>
              <a:sym typeface="Calibri"/>
            </a:endParaRPr>
          </a:p>
        </p:txBody>
      </p:sp>
      <p:sp>
        <p:nvSpPr>
          <p:cNvPr id="1729" name="Google Shape;1729;p52"/>
          <p:cNvSpPr/>
          <p:nvPr/>
        </p:nvSpPr>
        <p:spPr>
          <a:xfrm>
            <a:off x="6766560" y="502920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52"/>
          <p:cNvSpPr/>
          <p:nvPr/>
        </p:nvSpPr>
        <p:spPr>
          <a:xfrm>
            <a:off x="6766560" y="502920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flip</a:t>
            </a:r>
            <a:endParaRPr b="0" i="0" sz="1000" u="none" cap="none" strike="noStrike">
              <a:solidFill>
                <a:schemeClr val="dk1"/>
              </a:solidFill>
              <a:latin typeface="Calibri"/>
              <a:ea typeface="Calibri"/>
              <a:cs typeface="Calibri"/>
              <a:sym typeface="Calibri"/>
            </a:endParaRPr>
          </a:p>
        </p:txBody>
      </p:sp>
      <p:sp>
        <p:nvSpPr>
          <p:cNvPr id="1731" name="Google Shape;1731;p52"/>
          <p:cNvSpPr/>
          <p:nvPr/>
        </p:nvSpPr>
        <p:spPr>
          <a:xfrm>
            <a:off x="7955280" y="502920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52"/>
          <p:cNvSpPr/>
          <p:nvPr/>
        </p:nvSpPr>
        <p:spPr>
          <a:xfrm>
            <a:off x="7955280" y="502920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colour jitter</a:t>
            </a:r>
            <a:endParaRPr b="0" i="0" sz="1000" u="none" cap="none" strike="noStrike">
              <a:solidFill>
                <a:schemeClr val="dk1"/>
              </a:solidFill>
              <a:latin typeface="Calibri"/>
              <a:ea typeface="Calibri"/>
              <a:cs typeface="Calibri"/>
              <a:sym typeface="Calibri"/>
            </a:endParaRPr>
          </a:p>
        </p:txBody>
      </p:sp>
      <p:sp>
        <p:nvSpPr>
          <p:cNvPr id="1733" name="Google Shape;1733;p52"/>
          <p:cNvSpPr/>
          <p:nvPr/>
        </p:nvSpPr>
        <p:spPr>
          <a:xfrm>
            <a:off x="9144000" y="502920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52"/>
          <p:cNvSpPr/>
          <p:nvPr/>
        </p:nvSpPr>
        <p:spPr>
          <a:xfrm>
            <a:off x="9144000" y="502920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add noise</a:t>
            </a:r>
            <a:endParaRPr b="0" i="0" sz="1000" u="none" cap="none" strike="noStrike">
              <a:solidFill>
                <a:schemeClr val="dk1"/>
              </a:solidFill>
              <a:latin typeface="Calibri"/>
              <a:ea typeface="Calibri"/>
              <a:cs typeface="Calibri"/>
              <a:sym typeface="Calibri"/>
            </a:endParaRPr>
          </a:p>
        </p:txBody>
      </p:sp>
      <p:sp>
        <p:nvSpPr>
          <p:cNvPr id="1735" name="Google Shape;1735;p52"/>
          <p:cNvSpPr/>
          <p:nvPr/>
        </p:nvSpPr>
        <p:spPr>
          <a:xfrm>
            <a:off x="10332720" y="5029200"/>
            <a:ext cx="1097280" cy="384048"/>
          </a:xfrm>
          <a:prstGeom prst="roundRect">
            <a:avLst>
              <a:gd fmla="val 2142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52"/>
          <p:cNvSpPr/>
          <p:nvPr/>
        </p:nvSpPr>
        <p:spPr>
          <a:xfrm>
            <a:off x="10332720" y="5029200"/>
            <a:ext cx="10972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00"/>
              <a:buFont typeface="Calibri"/>
              <a:buNone/>
            </a:pPr>
            <a:r>
              <a:rPr b="0" i="0" lang="en-US" sz="1000" u="none" cap="none" strike="noStrike">
                <a:solidFill>
                  <a:srgbClr val="2D1B4E"/>
                </a:solidFill>
                <a:latin typeface="Calibri"/>
                <a:ea typeface="Calibri"/>
                <a:cs typeface="Calibri"/>
                <a:sym typeface="Calibri"/>
              </a:rPr>
              <a:t>cutout</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1" name="Shape 1741"/>
        <p:cNvGrpSpPr/>
        <p:nvPr/>
      </p:nvGrpSpPr>
      <p:grpSpPr>
        <a:xfrm>
          <a:off x="0" y="0"/>
          <a:ext cx="0" cy="0"/>
          <a:chOff x="0" y="0"/>
          <a:chExt cx="0" cy="0"/>
        </a:xfrm>
      </p:grpSpPr>
      <p:sp>
        <p:nvSpPr>
          <p:cNvPr id="1742" name="Google Shape;1742;p5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743" name="Google Shape;1743;p5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Noise robustness</a:t>
            </a:r>
            <a:endParaRPr b="0" i="0" sz="2800" u="none" cap="none" strike="noStrike">
              <a:solidFill>
                <a:schemeClr val="dk1"/>
              </a:solidFill>
              <a:latin typeface="Calibri"/>
              <a:ea typeface="Calibri"/>
              <a:cs typeface="Calibri"/>
              <a:sym typeface="Calibri"/>
            </a:endParaRPr>
          </a:p>
        </p:txBody>
      </p:sp>
      <p:sp>
        <p:nvSpPr>
          <p:cNvPr id="1744" name="Google Shape;1744;p53"/>
          <p:cNvSpPr/>
          <p:nvPr/>
        </p:nvSpPr>
        <p:spPr>
          <a:xfrm>
            <a:off x="566928" y="1261872"/>
            <a:ext cx="11057839"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880"/>
              </a:buClr>
              <a:buSzPts val="1350"/>
              <a:buFont typeface="Calibri"/>
              <a:buNone/>
            </a:pPr>
            <a:r>
              <a:rPr b="0" i="0" lang="en-US" sz="1350" u="none" cap="none" strike="noStrike">
                <a:solidFill>
                  <a:srgbClr val="6E6880"/>
                </a:solidFill>
                <a:latin typeface="Calibri"/>
                <a:ea typeface="Calibri"/>
                <a:cs typeface="Calibri"/>
                <a:sym typeface="Calibri"/>
              </a:rPr>
              <a:t>Neural networks prove not to be very robust to noise. One way to improve robustness is simply to train them with random noise applied — and where we inject the noise changes what it does.</a:t>
            </a:r>
            <a:endParaRPr b="0" i="0" sz="1350" u="none" cap="none" strike="noStrike">
              <a:solidFill>
                <a:schemeClr val="dk1"/>
              </a:solidFill>
              <a:latin typeface="Calibri"/>
              <a:ea typeface="Calibri"/>
              <a:cs typeface="Calibri"/>
              <a:sym typeface="Calibri"/>
            </a:endParaRPr>
          </a:p>
        </p:txBody>
      </p:sp>
      <p:sp>
        <p:nvSpPr>
          <p:cNvPr id="1745" name="Google Shape;1745;p53"/>
          <p:cNvSpPr/>
          <p:nvPr/>
        </p:nvSpPr>
        <p:spPr>
          <a:xfrm>
            <a:off x="566928" y="1783080"/>
            <a:ext cx="356616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53"/>
          <p:cNvSpPr/>
          <p:nvPr/>
        </p:nvSpPr>
        <p:spPr>
          <a:xfrm>
            <a:off x="822960" y="2020824"/>
            <a:ext cx="420624" cy="420624"/>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53"/>
          <p:cNvSpPr/>
          <p:nvPr/>
        </p:nvSpPr>
        <p:spPr>
          <a:xfrm>
            <a:off x="822960" y="20208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748" name="Google Shape;1748;p53"/>
          <p:cNvSpPr/>
          <p:nvPr/>
        </p:nvSpPr>
        <p:spPr>
          <a:xfrm>
            <a:off x="1408176" y="20025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Noise on the inputs</a:t>
            </a:r>
            <a:endParaRPr b="0" i="0" sz="1450" u="none" cap="none" strike="noStrike">
              <a:solidFill>
                <a:schemeClr val="dk1"/>
              </a:solidFill>
              <a:latin typeface="Calibri"/>
              <a:ea typeface="Calibri"/>
              <a:cs typeface="Calibri"/>
              <a:sym typeface="Calibri"/>
            </a:endParaRPr>
          </a:p>
        </p:txBody>
      </p:sp>
      <p:sp>
        <p:nvSpPr>
          <p:cNvPr id="1749" name="Google Shape;1749;p53"/>
          <p:cNvSpPr/>
          <p:nvPr/>
        </p:nvSpPr>
        <p:spPr>
          <a:xfrm>
            <a:off x="841248" y="2569464"/>
            <a:ext cx="3017520" cy="20939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Injecting noise in the input can be seen as a form of dataset augmentation. Noise applied to the hidden units works too — it is dataset augmentation at multiple levels of abstraction. Poole et al. (2014) showed this can be highly effective, provided the magnitude of the noise is carefully tuned.</a:t>
            </a:r>
            <a:endParaRPr b="0" i="0" sz="1200" u="none" cap="none" strike="noStrike">
              <a:solidFill>
                <a:schemeClr val="dk1"/>
              </a:solidFill>
              <a:latin typeface="Calibri"/>
              <a:ea typeface="Calibri"/>
              <a:cs typeface="Calibri"/>
              <a:sym typeface="Calibri"/>
            </a:endParaRPr>
          </a:p>
        </p:txBody>
      </p:sp>
      <p:sp>
        <p:nvSpPr>
          <p:cNvPr id="1750" name="Google Shape;1750;p53"/>
          <p:cNvSpPr/>
          <p:nvPr/>
        </p:nvSpPr>
        <p:spPr>
          <a:xfrm>
            <a:off x="4370832" y="1783080"/>
            <a:ext cx="356616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53"/>
          <p:cNvSpPr/>
          <p:nvPr/>
        </p:nvSpPr>
        <p:spPr>
          <a:xfrm>
            <a:off x="4626864" y="2020824"/>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53"/>
          <p:cNvSpPr/>
          <p:nvPr/>
        </p:nvSpPr>
        <p:spPr>
          <a:xfrm>
            <a:off x="4626864" y="20208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753" name="Google Shape;1753;p53"/>
          <p:cNvSpPr/>
          <p:nvPr/>
        </p:nvSpPr>
        <p:spPr>
          <a:xfrm>
            <a:off x="5212080" y="20025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Noise on the weights</a:t>
            </a:r>
            <a:endParaRPr b="0" i="0" sz="1450" u="none" cap="none" strike="noStrike">
              <a:solidFill>
                <a:schemeClr val="dk1"/>
              </a:solidFill>
              <a:latin typeface="Calibri"/>
              <a:ea typeface="Calibri"/>
              <a:cs typeface="Calibri"/>
              <a:sym typeface="Calibri"/>
            </a:endParaRPr>
          </a:p>
        </p:txBody>
      </p:sp>
      <p:sp>
        <p:nvSpPr>
          <p:cNvPr id="1754" name="Google Shape;1754;p53"/>
          <p:cNvSpPr/>
          <p:nvPr/>
        </p:nvSpPr>
        <p:spPr>
          <a:xfrm>
            <a:off x="4645152" y="2569464"/>
            <a:ext cx="3017520" cy="20939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Used mainly with recurrent networks. It can be interpreted as a stochastic implementation of Bayesian inference over the weights: the Bayesian view treats the weights as uncertain and representable by a probability distribution, and adding noise is a practical way to reflect that uncertainty.</a:t>
            </a:r>
            <a:endParaRPr b="0" i="0" sz="1200" u="none" cap="none" strike="noStrike">
              <a:solidFill>
                <a:schemeClr val="dk1"/>
              </a:solidFill>
              <a:latin typeface="Calibri"/>
              <a:ea typeface="Calibri"/>
              <a:cs typeface="Calibri"/>
              <a:sym typeface="Calibri"/>
            </a:endParaRPr>
          </a:p>
        </p:txBody>
      </p:sp>
      <p:sp>
        <p:nvSpPr>
          <p:cNvPr id="1755" name="Google Shape;1755;p53"/>
          <p:cNvSpPr/>
          <p:nvPr/>
        </p:nvSpPr>
        <p:spPr>
          <a:xfrm>
            <a:off x="8174736" y="1783080"/>
            <a:ext cx="356616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53"/>
          <p:cNvSpPr/>
          <p:nvPr/>
        </p:nvSpPr>
        <p:spPr>
          <a:xfrm>
            <a:off x="8430768" y="2020824"/>
            <a:ext cx="420624" cy="420624"/>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53"/>
          <p:cNvSpPr/>
          <p:nvPr/>
        </p:nvSpPr>
        <p:spPr>
          <a:xfrm>
            <a:off x="8430768" y="20208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758" name="Google Shape;1758;p53"/>
          <p:cNvSpPr/>
          <p:nvPr/>
        </p:nvSpPr>
        <p:spPr>
          <a:xfrm>
            <a:off x="9015984" y="20025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50"/>
              <a:buFont typeface="Cambria"/>
              <a:buNone/>
            </a:pPr>
            <a:r>
              <a:rPr b="1" i="0" lang="en-US" sz="1450" u="none" cap="none" strike="noStrike">
                <a:solidFill>
                  <a:srgbClr val="2D1B4E"/>
                </a:solidFill>
                <a:latin typeface="Cambria"/>
                <a:ea typeface="Cambria"/>
                <a:cs typeface="Cambria"/>
                <a:sym typeface="Cambria"/>
              </a:rPr>
              <a:t>Noise on the targets</a:t>
            </a:r>
            <a:endParaRPr b="0" i="0" sz="1450" u="none" cap="none" strike="noStrike">
              <a:solidFill>
                <a:schemeClr val="dk1"/>
              </a:solidFill>
              <a:latin typeface="Calibri"/>
              <a:ea typeface="Calibri"/>
              <a:cs typeface="Calibri"/>
              <a:sym typeface="Calibri"/>
            </a:endParaRPr>
          </a:p>
        </p:txBody>
      </p:sp>
      <p:sp>
        <p:nvSpPr>
          <p:cNvPr id="1759" name="Google Shape;1759;p53"/>
          <p:cNvSpPr/>
          <p:nvPr/>
        </p:nvSpPr>
        <p:spPr>
          <a:xfrm>
            <a:off x="8449056" y="2569464"/>
            <a:ext cx="3017520" cy="20939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Most datasets contain some mistakes in the y labels, and maximising log p(y | x) on a wrong label is harmful. Label smoothing replaces the hard 0 and 1 targets of a softmax over k classes with ε/(k − 1) and 1 − ε, modelling the label noise analytically.</a:t>
            </a:r>
            <a:endParaRPr b="0" i="0" sz="1200" u="none" cap="none" strike="noStrike">
              <a:solidFill>
                <a:schemeClr val="dk1"/>
              </a:solidFill>
              <a:latin typeface="Calibri"/>
              <a:ea typeface="Calibri"/>
              <a:cs typeface="Calibri"/>
              <a:sym typeface="Calibri"/>
            </a:endParaRPr>
          </a:p>
        </p:txBody>
      </p:sp>
      <p:sp>
        <p:nvSpPr>
          <p:cNvPr id="1760" name="Google Shape;1760;p53"/>
          <p:cNvSpPr/>
          <p:nvPr/>
        </p:nvSpPr>
        <p:spPr>
          <a:xfrm>
            <a:off x="566928" y="5029200"/>
            <a:ext cx="11057839" cy="731520"/>
          </a:xfrm>
          <a:prstGeom prst="roundRect">
            <a:avLst>
              <a:gd fmla="val 1125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53"/>
          <p:cNvSpPr/>
          <p:nvPr/>
        </p:nvSpPr>
        <p:spPr>
          <a:xfrm>
            <a:off x="886968" y="5029200"/>
            <a:ext cx="10417759"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libri"/>
              <a:buNone/>
            </a:pPr>
            <a:r>
              <a:rPr b="0" i="1" lang="en-US" sz="1300" u="none" cap="none" strike="noStrike">
                <a:solidFill>
                  <a:srgbClr val="2D1B4E"/>
                </a:solidFill>
                <a:latin typeface="Calibri"/>
                <a:ea typeface="Calibri"/>
                <a:cs typeface="Calibri"/>
                <a:sym typeface="Calibri"/>
              </a:rPr>
              <a:t>Dropout, which we come to shortly, can itself be seen as constructing new inputs by multiplying them by noise.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6" name="Shape 1766"/>
        <p:cNvGrpSpPr/>
        <p:nvPr/>
      </p:nvGrpSpPr>
      <p:grpSpPr>
        <a:xfrm>
          <a:off x="0" y="0"/>
          <a:ext cx="0" cy="0"/>
          <a:chOff x="0" y="0"/>
          <a:chExt cx="0" cy="0"/>
        </a:xfrm>
      </p:grpSpPr>
      <p:sp>
        <p:nvSpPr>
          <p:cNvPr id="1767" name="Google Shape;1767;p54"/>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768" name="Google Shape;1768;p54"/>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Early stopping</a:t>
            </a:r>
            <a:endParaRPr b="0" i="0" sz="2800" u="none" cap="none" strike="noStrike">
              <a:solidFill>
                <a:schemeClr val="dk1"/>
              </a:solidFill>
              <a:latin typeface="Calibri"/>
              <a:ea typeface="Calibri"/>
              <a:cs typeface="Calibri"/>
              <a:sym typeface="Calibri"/>
            </a:endParaRPr>
          </a:p>
        </p:txBody>
      </p:sp>
      <p:graphicFrame>
        <p:nvGraphicFramePr>
          <p:cNvPr id="1769" name="Google Shape;1769;p54"/>
          <p:cNvGraphicFramePr/>
          <p:nvPr/>
        </p:nvGraphicFramePr>
        <p:xfrm>
          <a:off x="566928" y="1325880"/>
          <a:ext cx="6400800" cy="3063240"/>
        </p:xfrm>
        <a:graphic>
          <a:graphicData uri="http://schemas.openxmlformats.org/drawingml/2006/chart">
            <c:chart r:id="rId3"/>
          </a:graphicData>
        </a:graphic>
      </p:graphicFrame>
      <p:sp>
        <p:nvSpPr>
          <p:cNvPr id="1770" name="Google Shape;1770;p54"/>
          <p:cNvSpPr/>
          <p:nvPr/>
        </p:nvSpPr>
        <p:spPr>
          <a:xfrm>
            <a:off x="2377440" y="4370832"/>
            <a:ext cx="4572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horizontal: time (epochs)   ·   vertical: loss (negative log-likelihood)</a:t>
            </a:r>
            <a:endParaRPr b="0" i="0" sz="1100" u="none" cap="none" strike="noStrike">
              <a:solidFill>
                <a:schemeClr val="dk1"/>
              </a:solidFill>
              <a:latin typeface="Calibri"/>
              <a:ea typeface="Calibri"/>
              <a:cs typeface="Calibri"/>
              <a:sym typeface="Calibri"/>
            </a:endParaRPr>
          </a:p>
        </p:txBody>
      </p:sp>
      <p:sp>
        <p:nvSpPr>
          <p:cNvPr id="1771" name="Google Shape;1771;p54"/>
          <p:cNvSpPr/>
          <p:nvPr/>
        </p:nvSpPr>
        <p:spPr>
          <a:xfrm>
            <a:off x="566928" y="4709160"/>
            <a:ext cx="6400800" cy="1051560"/>
          </a:xfrm>
          <a:prstGeom prst="roundRect">
            <a:avLst>
              <a:gd fmla="val 7826"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54"/>
          <p:cNvSpPr/>
          <p:nvPr/>
        </p:nvSpPr>
        <p:spPr>
          <a:xfrm>
            <a:off x="841248" y="4709160"/>
            <a:ext cx="58521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libri"/>
              <a:buNone/>
            </a:pPr>
            <a:r>
              <a:rPr b="0" i="0" lang="en-US" sz="1300" u="none" cap="none" strike="noStrike">
                <a:solidFill>
                  <a:srgbClr val="2D1B4E"/>
                </a:solidFill>
                <a:latin typeface="Calibri"/>
                <a:ea typeface="Calibri"/>
                <a:cs typeface="Calibri"/>
                <a:sym typeface="Calibri"/>
              </a:rPr>
              <a:t>Training large models with enough capacity to overfit, we often see the training error decrease steadily over time while the validation error begins to rise again.</a:t>
            </a:r>
            <a:endParaRPr b="0" i="0" sz="1300" u="none" cap="none" strike="noStrike">
              <a:solidFill>
                <a:schemeClr val="dk1"/>
              </a:solidFill>
              <a:latin typeface="Calibri"/>
              <a:ea typeface="Calibri"/>
              <a:cs typeface="Calibri"/>
              <a:sym typeface="Calibri"/>
            </a:endParaRPr>
          </a:p>
        </p:txBody>
      </p:sp>
      <p:sp>
        <p:nvSpPr>
          <p:cNvPr id="1773" name="Google Shape;1773;p54"/>
          <p:cNvSpPr/>
          <p:nvPr/>
        </p:nvSpPr>
        <p:spPr>
          <a:xfrm>
            <a:off x="7178040" y="1325880"/>
            <a:ext cx="4453128" cy="4434840"/>
          </a:xfrm>
          <a:prstGeom prst="roundRect">
            <a:avLst>
              <a:gd fmla="val 1856"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54"/>
          <p:cNvSpPr/>
          <p:nvPr/>
        </p:nvSpPr>
        <p:spPr>
          <a:xfrm>
            <a:off x="7452360" y="14630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600"/>
              <a:buFont typeface="Cambria"/>
              <a:buNone/>
            </a:pPr>
            <a:r>
              <a:rPr b="1" i="0" lang="en-US" sz="1600" u="none" cap="none" strike="noStrike">
                <a:solidFill>
                  <a:srgbClr val="E8833A"/>
                </a:solidFill>
                <a:latin typeface="Cambria"/>
                <a:ea typeface="Cambria"/>
                <a:cs typeface="Cambria"/>
                <a:sym typeface="Cambria"/>
              </a:rPr>
              <a:t>The idea</a:t>
            </a:r>
            <a:endParaRPr b="0" i="0" sz="1600" u="none" cap="none" strike="noStrike">
              <a:solidFill>
                <a:schemeClr val="dk1"/>
              </a:solidFill>
              <a:latin typeface="Calibri"/>
              <a:ea typeface="Calibri"/>
              <a:cs typeface="Calibri"/>
              <a:sym typeface="Calibri"/>
            </a:endParaRPr>
          </a:p>
        </p:txBody>
      </p:sp>
      <p:sp>
        <p:nvSpPr>
          <p:cNvPr id="1775" name="Google Shape;1775;p54"/>
          <p:cNvSpPr/>
          <p:nvPr/>
        </p:nvSpPr>
        <p:spPr>
          <a:xfrm>
            <a:off x="7452360" y="1874520"/>
            <a:ext cx="3931920" cy="37490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E9E3F3"/>
              </a:buClr>
              <a:buSzPts val="1250"/>
              <a:buFont typeface="Calibri"/>
              <a:buChar char="•"/>
            </a:pPr>
            <a:r>
              <a:rPr b="0" i="0" lang="en-US" sz="1250" u="none" cap="none" strike="noStrike">
                <a:solidFill>
                  <a:srgbClr val="E9E3F3"/>
                </a:solidFill>
                <a:latin typeface="Calibri"/>
                <a:ea typeface="Calibri"/>
                <a:cs typeface="Calibri"/>
                <a:sym typeface="Calibri"/>
              </a:rPr>
              <a:t>Return to the parameter setting at the point in time with the lowest validation set error.</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50"/>
              <a:buFont typeface="Calibri"/>
              <a:buChar char="•"/>
            </a:pPr>
            <a:r>
              <a:rPr b="0" i="0" lang="en-US" sz="1250" u="none" cap="none" strike="noStrike">
                <a:solidFill>
                  <a:srgbClr val="E9E3F3"/>
                </a:solidFill>
                <a:latin typeface="Calibri"/>
                <a:ea typeface="Calibri"/>
                <a:cs typeface="Calibri"/>
                <a:sym typeface="Calibri"/>
              </a:rPr>
              <a:t>Every time the validation error improves, store a copy of the model parameters.</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50"/>
              <a:buFont typeface="Calibri"/>
              <a:buChar char="•"/>
            </a:pPr>
            <a:r>
              <a:rPr b="0" i="0" lang="en-US" sz="1250" u="none" cap="none" strike="noStrike">
                <a:solidFill>
                  <a:srgbClr val="E9E3F3"/>
                </a:solidFill>
                <a:latin typeface="Calibri"/>
                <a:ea typeface="Calibri"/>
                <a:cs typeface="Calibri"/>
                <a:sym typeface="Calibri"/>
              </a:rPr>
              <a:t>When training terminates, return those stored parameters rather than the latest ones.</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50"/>
              <a:buFont typeface="Calibri"/>
              <a:buChar char="•"/>
            </a:pPr>
            <a:r>
              <a:rPr b="0" i="0" lang="en-US" sz="1250" u="none" cap="none" strike="noStrike">
                <a:solidFill>
                  <a:srgbClr val="E9E3F3"/>
                </a:solidFill>
                <a:latin typeface="Calibri"/>
                <a:ea typeface="Calibri"/>
                <a:cs typeface="Calibri"/>
                <a:sym typeface="Calibri"/>
              </a:rPr>
              <a:t>Training stops when no parameters have improved on the best recorded validation error for a pre-specified number of iterations — the patience p.</a:t>
            </a:r>
            <a:endParaRPr b="0" i="0" sz="12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E9E3F3"/>
              </a:buClr>
              <a:buSzPts val="1250"/>
              <a:buFont typeface="Calibri"/>
              <a:buChar char="•"/>
            </a:pPr>
            <a:r>
              <a:rPr b="0" i="0" lang="en-US" sz="1250" u="none" cap="none" strike="noStrike">
                <a:solidFill>
                  <a:srgbClr val="E9E3F3"/>
                </a:solidFill>
                <a:latin typeface="Calibri"/>
                <a:ea typeface="Calibri"/>
                <a:cs typeface="Calibri"/>
                <a:sym typeface="Calibri"/>
              </a:rPr>
              <a:t>Effectively, the number of training steps becomes just another hyperparameter, tuned automatically in a single run.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0" name="Shape 1780"/>
        <p:cNvGrpSpPr/>
        <p:nvPr/>
      </p:nvGrpSpPr>
      <p:grpSpPr>
        <a:xfrm>
          <a:off x="0" y="0"/>
          <a:ext cx="0" cy="0"/>
          <a:chOff x="0" y="0"/>
          <a:chExt cx="0" cy="0"/>
        </a:xfrm>
      </p:grpSpPr>
      <p:sp>
        <p:nvSpPr>
          <p:cNvPr id="1781" name="Google Shape;1781;p5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782" name="Google Shape;1782;p5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Early stopping: why it is the default</a:t>
            </a:r>
            <a:endParaRPr b="0" i="0" sz="2800" u="none" cap="none" strike="noStrike">
              <a:solidFill>
                <a:schemeClr val="dk1"/>
              </a:solidFill>
              <a:latin typeface="Calibri"/>
              <a:ea typeface="Calibri"/>
              <a:cs typeface="Calibri"/>
              <a:sym typeface="Calibri"/>
            </a:endParaRPr>
          </a:p>
        </p:txBody>
      </p:sp>
      <p:sp>
        <p:nvSpPr>
          <p:cNvPr id="1783" name="Google Shape;1783;p55"/>
          <p:cNvSpPr/>
          <p:nvPr/>
        </p:nvSpPr>
        <p:spPr>
          <a:xfrm>
            <a:off x="566928" y="1325880"/>
            <a:ext cx="3566160"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55"/>
          <p:cNvSpPr/>
          <p:nvPr/>
        </p:nvSpPr>
        <p:spPr>
          <a:xfrm>
            <a:off x="822960"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55"/>
          <p:cNvSpPr/>
          <p:nvPr/>
        </p:nvSpPr>
        <p:spPr>
          <a:xfrm>
            <a:off x="822960"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786" name="Google Shape;1786;p55"/>
          <p:cNvSpPr/>
          <p:nvPr/>
        </p:nvSpPr>
        <p:spPr>
          <a:xfrm>
            <a:off x="1408176" y="15453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Simple and effective</a:t>
            </a:r>
            <a:endParaRPr b="0" i="0" sz="1350" u="none" cap="none" strike="noStrike">
              <a:solidFill>
                <a:schemeClr val="dk1"/>
              </a:solidFill>
              <a:latin typeface="Calibri"/>
              <a:ea typeface="Calibri"/>
              <a:cs typeface="Calibri"/>
              <a:sym typeface="Calibri"/>
            </a:endParaRPr>
          </a:p>
        </p:txBody>
      </p:sp>
      <p:sp>
        <p:nvSpPr>
          <p:cNvPr id="1787" name="Google Shape;1787;p55"/>
          <p:cNvSpPr/>
          <p:nvPr/>
        </p:nvSpPr>
        <p:spPr>
          <a:xfrm>
            <a:off x="841248" y="2112264"/>
            <a:ext cx="3017520"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most commonly used form of regularization in deep learning, and almost free to implement.</a:t>
            </a:r>
            <a:endParaRPr b="0" i="0" sz="1150" u="none" cap="none" strike="noStrike">
              <a:solidFill>
                <a:schemeClr val="dk1"/>
              </a:solidFill>
              <a:latin typeface="Calibri"/>
              <a:ea typeface="Calibri"/>
              <a:cs typeface="Calibri"/>
              <a:sym typeface="Calibri"/>
            </a:endParaRPr>
          </a:p>
        </p:txBody>
      </p:sp>
      <p:sp>
        <p:nvSpPr>
          <p:cNvPr id="1788" name="Google Shape;1788;p55"/>
          <p:cNvSpPr/>
          <p:nvPr/>
        </p:nvSpPr>
        <p:spPr>
          <a:xfrm>
            <a:off x="4370832" y="1325880"/>
            <a:ext cx="3566160"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55"/>
          <p:cNvSpPr/>
          <p:nvPr/>
        </p:nvSpPr>
        <p:spPr>
          <a:xfrm>
            <a:off x="4626864"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55"/>
          <p:cNvSpPr/>
          <p:nvPr/>
        </p:nvSpPr>
        <p:spPr>
          <a:xfrm>
            <a:off x="4626864"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791" name="Google Shape;1791;p55"/>
          <p:cNvSpPr/>
          <p:nvPr/>
        </p:nvSpPr>
        <p:spPr>
          <a:xfrm>
            <a:off x="5212080" y="15453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Reduces computational cost</a:t>
            </a:r>
            <a:endParaRPr b="0" i="0" sz="1350" u="none" cap="none" strike="noStrike">
              <a:solidFill>
                <a:schemeClr val="dk1"/>
              </a:solidFill>
              <a:latin typeface="Calibri"/>
              <a:ea typeface="Calibri"/>
              <a:cs typeface="Calibri"/>
              <a:sym typeface="Calibri"/>
            </a:endParaRPr>
          </a:p>
        </p:txBody>
      </p:sp>
      <p:sp>
        <p:nvSpPr>
          <p:cNvPr id="1792" name="Google Shape;1792;p55"/>
          <p:cNvSpPr/>
          <p:nvPr/>
        </p:nvSpPr>
        <p:spPr>
          <a:xfrm>
            <a:off x="4645152" y="2112264"/>
            <a:ext cx="3017520"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Beyond the obvious saving from fewer iterations, it regularizes without adding penalty terms to the cost function or computing their gradients.</a:t>
            </a:r>
            <a:endParaRPr b="0" i="0" sz="1150" u="none" cap="none" strike="noStrike">
              <a:solidFill>
                <a:schemeClr val="dk1"/>
              </a:solidFill>
              <a:latin typeface="Calibri"/>
              <a:ea typeface="Calibri"/>
              <a:cs typeface="Calibri"/>
              <a:sym typeface="Calibri"/>
            </a:endParaRPr>
          </a:p>
        </p:txBody>
      </p:sp>
      <p:sp>
        <p:nvSpPr>
          <p:cNvPr id="1793" name="Google Shape;1793;p55"/>
          <p:cNvSpPr/>
          <p:nvPr/>
        </p:nvSpPr>
        <p:spPr>
          <a:xfrm>
            <a:off x="8174736" y="1325880"/>
            <a:ext cx="3566160"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55"/>
          <p:cNvSpPr/>
          <p:nvPr/>
        </p:nvSpPr>
        <p:spPr>
          <a:xfrm>
            <a:off x="8430768"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55"/>
          <p:cNvSpPr/>
          <p:nvPr/>
        </p:nvSpPr>
        <p:spPr>
          <a:xfrm>
            <a:off x="8430768"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796" name="Google Shape;1796;p55"/>
          <p:cNvSpPr/>
          <p:nvPr/>
        </p:nvSpPr>
        <p:spPr>
          <a:xfrm>
            <a:off x="9015984" y="154533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Non-invasive</a:t>
            </a:r>
            <a:endParaRPr b="0" i="0" sz="1350" u="none" cap="none" strike="noStrike">
              <a:solidFill>
                <a:schemeClr val="dk1"/>
              </a:solidFill>
              <a:latin typeface="Calibri"/>
              <a:ea typeface="Calibri"/>
              <a:cs typeface="Calibri"/>
              <a:sym typeface="Calibri"/>
            </a:endParaRPr>
          </a:p>
        </p:txBody>
      </p:sp>
      <p:sp>
        <p:nvSpPr>
          <p:cNvPr id="1797" name="Google Shape;1797;p55"/>
          <p:cNvSpPr/>
          <p:nvPr/>
        </p:nvSpPr>
        <p:spPr>
          <a:xfrm>
            <a:off x="8449056" y="2112264"/>
            <a:ext cx="3017520"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It requires almost no change to the training procedure, the objective, or the allowed parameter values — unlike weight decay, where too large a coefficient can trap the network in a bad minimum with pathologically small weights.</a:t>
            </a:r>
            <a:endParaRPr b="0" i="0" sz="1150" u="none" cap="none" strike="noStrike">
              <a:solidFill>
                <a:schemeClr val="dk1"/>
              </a:solidFill>
              <a:latin typeface="Calibri"/>
              <a:ea typeface="Calibri"/>
              <a:cs typeface="Calibri"/>
              <a:sym typeface="Calibri"/>
            </a:endParaRPr>
          </a:p>
        </p:txBody>
      </p:sp>
      <p:sp>
        <p:nvSpPr>
          <p:cNvPr id="1798" name="Google Shape;1798;p55"/>
          <p:cNvSpPr/>
          <p:nvPr/>
        </p:nvSpPr>
        <p:spPr>
          <a:xfrm>
            <a:off x="566928" y="3200400"/>
            <a:ext cx="3566160"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55"/>
          <p:cNvSpPr/>
          <p:nvPr/>
        </p:nvSpPr>
        <p:spPr>
          <a:xfrm>
            <a:off x="822960" y="34381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55"/>
          <p:cNvSpPr/>
          <p:nvPr/>
        </p:nvSpPr>
        <p:spPr>
          <a:xfrm>
            <a:off x="822960" y="34381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801" name="Google Shape;1801;p55"/>
          <p:cNvSpPr/>
          <p:nvPr/>
        </p:nvSpPr>
        <p:spPr>
          <a:xfrm>
            <a:off x="1408176" y="34198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Cheap hyperparameter search</a:t>
            </a:r>
            <a:endParaRPr b="0" i="0" sz="1350" u="none" cap="none" strike="noStrike">
              <a:solidFill>
                <a:schemeClr val="dk1"/>
              </a:solidFill>
              <a:latin typeface="Calibri"/>
              <a:ea typeface="Calibri"/>
              <a:cs typeface="Calibri"/>
              <a:sym typeface="Calibri"/>
            </a:endParaRPr>
          </a:p>
        </p:txBody>
      </p:sp>
      <p:sp>
        <p:nvSpPr>
          <p:cNvPr id="1802" name="Google Shape;1802;p55"/>
          <p:cNvSpPr/>
          <p:nvPr/>
        </p:nvSpPr>
        <p:spPr>
          <a:xfrm>
            <a:off x="841248" y="3986784"/>
            <a:ext cx="3017520"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Most hyperparameters need a full training run per value. Early stopping tries many values of the “training time” hyperparameter within a single run.</a:t>
            </a:r>
            <a:endParaRPr b="0" i="0" sz="1150" u="none" cap="none" strike="noStrike">
              <a:solidFill>
                <a:schemeClr val="dk1"/>
              </a:solidFill>
              <a:latin typeface="Calibri"/>
              <a:ea typeface="Calibri"/>
              <a:cs typeface="Calibri"/>
              <a:sym typeface="Calibri"/>
            </a:endParaRPr>
          </a:p>
        </p:txBody>
      </p:sp>
      <p:sp>
        <p:nvSpPr>
          <p:cNvPr id="1803" name="Google Shape;1803;p55"/>
          <p:cNvSpPr/>
          <p:nvPr/>
        </p:nvSpPr>
        <p:spPr>
          <a:xfrm>
            <a:off x="4370832" y="3200400"/>
            <a:ext cx="3566160" cy="1691640"/>
          </a:xfrm>
          <a:prstGeom prst="roundRect">
            <a:avLst>
              <a:gd fmla="val 486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55"/>
          <p:cNvSpPr/>
          <p:nvPr/>
        </p:nvSpPr>
        <p:spPr>
          <a:xfrm>
            <a:off x="4626864" y="34381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55"/>
          <p:cNvSpPr/>
          <p:nvPr/>
        </p:nvSpPr>
        <p:spPr>
          <a:xfrm>
            <a:off x="4626864" y="34381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1806" name="Google Shape;1806;p55"/>
          <p:cNvSpPr/>
          <p:nvPr/>
        </p:nvSpPr>
        <p:spPr>
          <a:xfrm>
            <a:off x="5212080" y="34198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Composable</a:t>
            </a:r>
            <a:endParaRPr b="0" i="0" sz="1350" u="none" cap="none" strike="noStrike">
              <a:solidFill>
                <a:schemeClr val="dk1"/>
              </a:solidFill>
              <a:latin typeface="Calibri"/>
              <a:ea typeface="Calibri"/>
              <a:cs typeface="Calibri"/>
              <a:sym typeface="Calibri"/>
            </a:endParaRPr>
          </a:p>
        </p:txBody>
      </p:sp>
      <p:sp>
        <p:nvSpPr>
          <p:cNvPr id="1807" name="Google Shape;1807;p55"/>
          <p:cNvSpPr/>
          <p:nvPr/>
        </p:nvSpPr>
        <p:spPr>
          <a:xfrm>
            <a:off x="4645152" y="3986784"/>
            <a:ext cx="3017520" cy="7223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It can be used alone or alongside other regularization strategies — the best generalization rarely occurs exactly at a local minimum of the training objective.</a:t>
            </a:r>
            <a:endParaRPr b="0" i="0" sz="1150" u="none" cap="none" strike="noStrike">
              <a:solidFill>
                <a:schemeClr val="dk1"/>
              </a:solidFill>
              <a:latin typeface="Calibri"/>
              <a:ea typeface="Calibri"/>
              <a:cs typeface="Calibri"/>
              <a:sym typeface="Calibri"/>
            </a:endParaRPr>
          </a:p>
        </p:txBody>
      </p:sp>
      <p:sp>
        <p:nvSpPr>
          <p:cNvPr id="1808" name="Google Shape;1808;p55"/>
          <p:cNvSpPr/>
          <p:nvPr/>
        </p:nvSpPr>
        <p:spPr>
          <a:xfrm>
            <a:off x="8174736" y="3200400"/>
            <a:ext cx="3566160" cy="1691640"/>
          </a:xfrm>
          <a:prstGeom prst="roundRect">
            <a:avLst>
              <a:gd fmla="val 486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55"/>
          <p:cNvSpPr/>
          <p:nvPr/>
        </p:nvSpPr>
        <p:spPr>
          <a:xfrm>
            <a:off x="8449056" y="3310128"/>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The costs</a:t>
            </a:r>
            <a:endParaRPr b="0" i="0" sz="1400" u="none" cap="none" strike="noStrike">
              <a:solidFill>
                <a:schemeClr val="dk1"/>
              </a:solidFill>
              <a:latin typeface="Calibri"/>
              <a:ea typeface="Calibri"/>
              <a:cs typeface="Calibri"/>
              <a:sym typeface="Calibri"/>
            </a:endParaRPr>
          </a:p>
        </p:txBody>
      </p:sp>
      <p:sp>
        <p:nvSpPr>
          <p:cNvPr id="1810" name="Google Shape;1810;p55"/>
          <p:cNvSpPr/>
          <p:nvPr/>
        </p:nvSpPr>
        <p:spPr>
          <a:xfrm>
            <a:off x="8449056" y="3639312"/>
            <a:ext cx="301752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150"/>
              <a:buFont typeface="Calibri"/>
              <a:buNone/>
            </a:pPr>
            <a:r>
              <a:rPr b="0" i="0" lang="en-US" sz="1150" u="none" cap="none" strike="noStrike">
                <a:solidFill>
                  <a:srgbClr val="E9E3F3"/>
                </a:solidFill>
                <a:latin typeface="Calibri"/>
                <a:ea typeface="Calibri"/>
                <a:cs typeface="Calibri"/>
                <a:sym typeface="Calibri"/>
              </a:rPr>
              <a:t>Running the validation evaluation periodically (ideally in parallel, on a separate machine or GPU), and keeping a copy of the best parameters — usually negligible, since they can live in slower memory or on disk.</a:t>
            </a:r>
            <a:endParaRPr b="0" i="0" sz="1150" u="none" cap="none" strike="noStrike">
              <a:solidFill>
                <a:schemeClr val="dk1"/>
              </a:solidFill>
              <a:latin typeface="Calibri"/>
              <a:ea typeface="Calibri"/>
              <a:cs typeface="Calibri"/>
              <a:sym typeface="Calibri"/>
            </a:endParaRPr>
          </a:p>
        </p:txBody>
      </p:sp>
      <p:sp>
        <p:nvSpPr>
          <p:cNvPr id="1811" name="Google Shape;1811;p55"/>
          <p:cNvSpPr/>
          <p:nvPr/>
        </p:nvSpPr>
        <p:spPr>
          <a:xfrm>
            <a:off x="566928" y="5120640"/>
            <a:ext cx="11057839" cy="658368"/>
          </a:xfrm>
          <a:prstGeom prst="roundRect">
            <a:avLst>
              <a:gd fmla="val 12500"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55"/>
          <p:cNvSpPr/>
          <p:nvPr/>
        </p:nvSpPr>
        <p:spPr>
          <a:xfrm>
            <a:off x="886968" y="5120640"/>
            <a:ext cx="10417759"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Reusing the held-out data: after early stopping, either retrain from scratch on all the data for the same number of steps, or keep the parameters and continue training on all the data until the validation loss falls below the training objective value at which early stopping halted.</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7" name="Shape 1817"/>
        <p:cNvGrpSpPr/>
        <p:nvPr/>
      </p:nvGrpSpPr>
      <p:grpSpPr>
        <a:xfrm>
          <a:off x="0" y="0"/>
          <a:ext cx="0" cy="0"/>
          <a:chOff x="0" y="0"/>
          <a:chExt cx="0" cy="0"/>
        </a:xfrm>
      </p:grpSpPr>
      <p:sp>
        <p:nvSpPr>
          <p:cNvPr id="1818" name="Google Shape;1818;p5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819" name="Google Shape;1819;p5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Dropout</a:t>
            </a:r>
            <a:endParaRPr b="0" i="0" sz="2800" u="none" cap="none" strike="noStrike">
              <a:solidFill>
                <a:schemeClr val="dk1"/>
              </a:solidFill>
              <a:latin typeface="Calibri"/>
              <a:ea typeface="Calibri"/>
              <a:cs typeface="Calibri"/>
              <a:sym typeface="Calibri"/>
            </a:endParaRPr>
          </a:p>
        </p:txBody>
      </p:sp>
      <p:sp>
        <p:nvSpPr>
          <p:cNvPr id="1820" name="Google Shape;1820;p56"/>
          <p:cNvSpPr/>
          <p:nvPr/>
        </p:nvSpPr>
        <p:spPr>
          <a:xfrm>
            <a:off x="566928" y="1371600"/>
            <a:ext cx="5943600" cy="42062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Review — bagging: train several models on different resamples of the dataset and average their predictions. It reliably reduces variance, but it seems impractical when each model is a large neural network.</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It is common to use ensembles of five to ten networks — Szegedy et al. (2014) used six to win the ILSVRC — but more than that rapidly becomes unwieldy.</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Dropout provides an inexpensive approximation to training and evaluating a bagged ensemble of exponentially many neural networks.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It trains the ensemble consisting of all sub-networks that can be formed by removing non-output units from an underlying base network.</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A unit is effectively removed from the network by multiplying its output value by zero.</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Implementation: activate each neuron with probability p, or set it to zero otherwise.</a:t>
            </a:r>
            <a:endParaRPr b="0" i="0" sz="1300" u="none" cap="none" strike="noStrike">
              <a:solidFill>
                <a:schemeClr val="dk1"/>
              </a:solidFill>
              <a:latin typeface="Calibri"/>
              <a:ea typeface="Calibri"/>
              <a:cs typeface="Calibri"/>
              <a:sym typeface="Calibri"/>
            </a:endParaRPr>
          </a:p>
        </p:txBody>
      </p:sp>
      <p:sp>
        <p:nvSpPr>
          <p:cNvPr id="1821" name="Google Shape;1821;p56"/>
          <p:cNvSpPr/>
          <p:nvPr/>
        </p:nvSpPr>
        <p:spPr>
          <a:xfrm>
            <a:off x="6675120" y="1371600"/>
            <a:ext cx="4956048" cy="4343400"/>
          </a:xfrm>
          <a:prstGeom prst="roundRect">
            <a:avLst>
              <a:gd fmla="val 189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56"/>
          <p:cNvSpPr/>
          <p:nvPr/>
        </p:nvSpPr>
        <p:spPr>
          <a:xfrm>
            <a:off x="6949440" y="157276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Base network</a:t>
            </a:r>
            <a:endParaRPr b="0" i="0" sz="1200" u="none" cap="none" strike="noStrike">
              <a:solidFill>
                <a:schemeClr val="dk1"/>
              </a:solidFill>
              <a:latin typeface="Calibri"/>
              <a:ea typeface="Calibri"/>
              <a:cs typeface="Calibri"/>
              <a:sym typeface="Calibri"/>
            </a:endParaRPr>
          </a:p>
        </p:txBody>
      </p:sp>
      <p:cxnSp>
        <p:nvCxnSpPr>
          <p:cNvPr id="1823" name="Google Shape;1823;p56"/>
          <p:cNvCxnSpPr/>
          <p:nvPr/>
        </p:nvCxnSpPr>
        <p:spPr>
          <a:xfrm>
            <a:off x="7344461" y="3058668"/>
            <a:ext cx="0" cy="452628"/>
          </a:xfrm>
          <a:prstGeom prst="straightConnector1">
            <a:avLst/>
          </a:prstGeom>
          <a:noFill/>
          <a:ln cap="flat" cmpd="sng" w="11425">
            <a:solidFill>
              <a:srgbClr val="D8D1E6"/>
            </a:solidFill>
            <a:prstDash val="solid"/>
            <a:round/>
            <a:headEnd len="sm" w="sm" type="none"/>
            <a:tailEnd len="sm" w="sm" type="none"/>
          </a:ln>
        </p:spPr>
      </p:cxnSp>
      <p:cxnSp>
        <p:nvCxnSpPr>
          <p:cNvPr id="1824" name="Google Shape;1824;p56"/>
          <p:cNvCxnSpPr/>
          <p:nvPr/>
        </p:nvCxnSpPr>
        <p:spPr>
          <a:xfrm rot="10800000">
            <a:off x="7344461" y="3058668"/>
            <a:ext cx="764438" cy="452628"/>
          </a:xfrm>
          <a:prstGeom prst="straightConnector1">
            <a:avLst/>
          </a:prstGeom>
          <a:noFill/>
          <a:ln cap="flat" cmpd="sng" w="11425">
            <a:solidFill>
              <a:srgbClr val="D8D1E6"/>
            </a:solidFill>
            <a:prstDash val="solid"/>
            <a:round/>
            <a:headEnd len="sm" w="sm" type="none"/>
            <a:tailEnd len="sm" w="sm" type="none"/>
          </a:ln>
        </p:spPr>
      </p:cxnSp>
      <p:cxnSp>
        <p:nvCxnSpPr>
          <p:cNvPr id="1825" name="Google Shape;1825;p56"/>
          <p:cNvCxnSpPr/>
          <p:nvPr/>
        </p:nvCxnSpPr>
        <p:spPr>
          <a:xfrm flipH="1" rot="10800000">
            <a:off x="7344461" y="2606040"/>
            <a:ext cx="382219" cy="452628"/>
          </a:xfrm>
          <a:prstGeom prst="straightConnector1">
            <a:avLst/>
          </a:prstGeom>
          <a:noFill/>
          <a:ln cap="flat" cmpd="sng" w="11425">
            <a:solidFill>
              <a:srgbClr val="D8D1E6"/>
            </a:solidFill>
            <a:prstDash val="solid"/>
            <a:round/>
            <a:headEnd len="sm" w="sm" type="none"/>
            <a:tailEnd len="sm" w="sm" type="none"/>
          </a:ln>
        </p:spPr>
      </p:cxnSp>
      <p:cxnSp>
        <p:nvCxnSpPr>
          <p:cNvPr id="1826" name="Google Shape;1826;p56"/>
          <p:cNvCxnSpPr/>
          <p:nvPr/>
        </p:nvCxnSpPr>
        <p:spPr>
          <a:xfrm flipH="1" rot="10800000">
            <a:off x="7344461" y="3058668"/>
            <a:ext cx="764438" cy="452628"/>
          </a:xfrm>
          <a:prstGeom prst="straightConnector1">
            <a:avLst/>
          </a:prstGeom>
          <a:noFill/>
          <a:ln cap="flat" cmpd="sng" w="11425">
            <a:solidFill>
              <a:srgbClr val="D8D1E6"/>
            </a:solidFill>
            <a:prstDash val="solid"/>
            <a:round/>
            <a:headEnd len="sm" w="sm" type="none"/>
            <a:tailEnd len="sm" w="sm" type="none"/>
          </a:ln>
        </p:spPr>
      </p:cxnSp>
      <p:cxnSp>
        <p:nvCxnSpPr>
          <p:cNvPr id="1827" name="Google Shape;1827;p56"/>
          <p:cNvCxnSpPr/>
          <p:nvPr/>
        </p:nvCxnSpPr>
        <p:spPr>
          <a:xfrm>
            <a:off x="8108899" y="3058668"/>
            <a:ext cx="0" cy="452628"/>
          </a:xfrm>
          <a:prstGeom prst="straightConnector1">
            <a:avLst/>
          </a:prstGeom>
          <a:noFill/>
          <a:ln cap="flat" cmpd="sng" w="11425">
            <a:solidFill>
              <a:srgbClr val="D8D1E6"/>
            </a:solidFill>
            <a:prstDash val="solid"/>
            <a:round/>
            <a:headEnd len="sm" w="sm" type="none"/>
            <a:tailEnd len="sm" w="sm" type="none"/>
          </a:ln>
        </p:spPr>
      </p:cxnSp>
      <p:cxnSp>
        <p:nvCxnSpPr>
          <p:cNvPr id="1828" name="Google Shape;1828;p56"/>
          <p:cNvCxnSpPr/>
          <p:nvPr/>
        </p:nvCxnSpPr>
        <p:spPr>
          <a:xfrm rot="10800000">
            <a:off x="7726680" y="2606040"/>
            <a:ext cx="382219" cy="452628"/>
          </a:xfrm>
          <a:prstGeom prst="straightConnector1">
            <a:avLst/>
          </a:prstGeom>
          <a:noFill/>
          <a:ln cap="flat" cmpd="sng" w="11425">
            <a:solidFill>
              <a:srgbClr val="D8D1E6"/>
            </a:solidFill>
            <a:prstDash val="solid"/>
            <a:round/>
            <a:headEnd len="sm" w="sm" type="none"/>
            <a:tailEnd len="sm" w="sm" type="none"/>
          </a:ln>
        </p:spPr>
      </p:cxnSp>
      <p:sp>
        <p:nvSpPr>
          <p:cNvPr id="1829" name="Google Shape;1829;p56"/>
          <p:cNvSpPr/>
          <p:nvPr/>
        </p:nvSpPr>
        <p:spPr>
          <a:xfrm>
            <a:off x="7616038" y="2495398"/>
            <a:ext cx="221285" cy="221285"/>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56"/>
          <p:cNvSpPr/>
          <p:nvPr/>
        </p:nvSpPr>
        <p:spPr>
          <a:xfrm>
            <a:off x="7233818" y="2948026"/>
            <a:ext cx="221285" cy="221285"/>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56"/>
          <p:cNvSpPr/>
          <p:nvPr/>
        </p:nvSpPr>
        <p:spPr>
          <a:xfrm>
            <a:off x="7998257" y="2948026"/>
            <a:ext cx="221285" cy="221285"/>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56"/>
          <p:cNvSpPr/>
          <p:nvPr/>
        </p:nvSpPr>
        <p:spPr>
          <a:xfrm>
            <a:off x="7233818" y="3400654"/>
            <a:ext cx="221285" cy="221285"/>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56"/>
          <p:cNvSpPr/>
          <p:nvPr/>
        </p:nvSpPr>
        <p:spPr>
          <a:xfrm>
            <a:off x="7998257" y="3400654"/>
            <a:ext cx="221285" cy="221285"/>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34" name="Google Shape;1834;p56"/>
          <p:cNvCxnSpPr/>
          <p:nvPr/>
        </p:nvCxnSpPr>
        <p:spPr>
          <a:xfrm>
            <a:off x="8458200" y="3063240"/>
            <a:ext cx="429768" cy="0"/>
          </a:xfrm>
          <a:prstGeom prst="straightConnector1">
            <a:avLst/>
          </a:prstGeom>
          <a:noFill/>
          <a:ln cap="flat" cmpd="sng" w="25400">
            <a:solidFill>
              <a:srgbClr val="E8833A"/>
            </a:solidFill>
            <a:prstDash val="solid"/>
            <a:round/>
            <a:headEnd len="sm" w="sm" type="none"/>
            <a:tailEnd len="med" w="med" type="triangle"/>
          </a:ln>
        </p:spPr>
      </p:cxnSp>
      <p:sp>
        <p:nvSpPr>
          <p:cNvPr id="1835" name="Google Shape;1835;p56"/>
          <p:cNvSpPr/>
          <p:nvPr/>
        </p:nvSpPr>
        <p:spPr>
          <a:xfrm>
            <a:off x="9006840" y="157276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Ensemble of sub-networks</a:t>
            </a:r>
            <a:endParaRPr b="0" i="0" sz="1200" u="none" cap="none" strike="noStrike">
              <a:solidFill>
                <a:schemeClr val="dk1"/>
              </a:solidFill>
              <a:latin typeface="Calibri"/>
              <a:ea typeface="Calibri"/>
              <a:cs typeface="Calibri"/>
              <a:sym typeface="Calibri"/>
            </a:endParaRPr>
          </a:p>
        </p:txBody>
      </p:sp>
      <p:cxnSp>
        <p:nvCxnSpPr>
          <p:cNvPr id="1836" name="Google Shape;1836;p56"/>
          <p:cNvCxnSpPr/>
          <p:nvPr/>
        </p:nvCxnSpPr>
        <p:spPr>
          <a:xfrm flipH="1" rot="10800000">
            <a:off x="9055852" y="2332634"/>
            <a:ext cx="542056" cy="320954"/>
          </a:xfrm>
          <a:prstGeom prst="straightConnector1">
            <a:avLst/>
          </a:prstGeom>
          <a:noFill/>
          <a:ln cap="flat" cmpd="sng" w="11425">
            <a:solidFill>
              <a:srgbClr val="D8D1E6"/>
            </a:solidFill>
            <a:prstDash val="solid"/>
            <a:round/>
            <a:headEnd len="sm" w="sm" type="none"/>
            <a:tailEnd len="sm" w="sm" type="none"/>
          </a:ln>
        </p:spPr>
      </p:cxnSp>
      <p:cxnSp>
        <p:nvCxnSpPr>
          <p:cNvPr id="1837" name="Google Shape;1837;p56"/>
          <p:cNvCxnSpPr/>
          <p:nvPr/>
        </p:nvCxnSpPr>
        <p:spPr>
          <a:xfrm>
            <a:off x="9597908" y="2332634"/>
            <a:ext cx="0" cy="320954"/>
          </a:xfrm>
          <a:prstGeom prst="straightConnector1">
            <a:avLst/>
          </a:prstGeom>
          <a:noFill/>
          <a:ln cap="flat" cmpd="sng" w="11425">
            <a:solidFill>
              <a:srgbClr val="D8D1E6"/>
            </a:solidFill>
            <a:prstDash val="solid"/>
            <a:round/>
            <a:headEnd len="sm" w="sm" type="none"/>
            <a:tailEnd len="sm" w="sm" type="none"/>
          </a:ln>
        </p:spPr>
      </p:cxnSp>
      <p:cxnSp>
        <p:nvCxnSpPr>
          <p:cNvPr id="1838" name="Google Shape;1838;p56"/>
          <p:cNvCxnSpPr/>
          <p:nvPr/>
        </p:nvCxnSpPr>
        <p:spPr>
          <a:xfrm rot="10800000">
            <a:off x="9326880" y="2011680"/>
            <a:ext cx="271028" cy="320954"/>
          </a:xfrm>
          <a:prstGeom prst="straightConnector1">
            <a:avLst/>
          </a:prstGeom>
          <a:noFill/>
          <a:ln cap="flat" cmpd="sng" w="11425">
            <a:solidFill>
              <a:srgbClr val="D8D1E6"/>
            </a:solidFill>
            <a:prstDash val="solid"/>
            <a:round/>
            <a:headEnd len="sm" w="sm" type="none"/>
            <a:tailEnd len="sm" w="sm" type="none"/>
          </a:ln>
        </p:spPr>
      </p:cxnSp>
      <p:sp>
        <p:nvSpPr>
          <p:cNvPr id="1839" name="Google Shape;1839;p56"/>
          <p:cNvSpPr/>
          <p:nvPr/>
        </p:nvSpPr>
        <p:spPr>
          <a:xfrm>
            <a:off x="9248424" y="1933224"/>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56"/>
          <p:cNvSpPr/>
          <p:nvPr/>
        </p:nvSpPr>
        <p:spPr>
          <a:xfrm>
            <a:off x="9519453" y="2254179"/>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56"/>
          <p:cNvSpPr/>
          <p:nvPr/>
        </p:nvSpPr>
        <p:spPr>
          <a:xfrm>
            <a:off x="8977396" y="2575133"/>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56"/>
          <p:cNvSpPr/>
          <p:nvPr/>
        </p:nvSpPr>
        <p:spPr>
          <a:xfrm>
            <a:off x="9519453" y="2575133"/>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43" name="Google Shape;1843;p56"/>
          <p:cNvCxnSpPr/>
          <p:nvPr/>
        </p:nvCxnSpPr>
        <p:spPr>
          <a:xfrm>
            <a:off x="9988540" y="2332634"/>
            <a:ext cx="0" cy="320954"/>
          </a:xfrm>
          <a:prstGeom prst="straightConnector1">
            <a:avLst/>
          </a:prstGeom>
          <a:noFill/>
          <a:ln cap="flat" cmpd="sng" w="11425">
            <a:solidFill>
              <a:srgbClr val="D8D1E6"/>
            </a:solidFill>
            <a:prstDash val="solid"/>
            <a:round/>
            <a:headEnd len="sm" w="sm" type="none"/>
            <a:tailEnd len="sm" w="sm" type="none"/>
          </a:ln>
        </p:spPr>
      </p:cxnSp>
      <p:cxnSp>
        <p:nvCxnSpPr>
          <p:cNvPr id="1844" name="Google Shape;1844;p56"/>
          <p:cNvCxnSpPr/>
          <p:nvPr/>
        </p:nvCxnSpPr>
        <p:spPr>
          <a:xfrm flipH="1" rot="10800000">
            <a:off x="9988540" y="2011680"/>
            <a:ext cx="271028" cy="320954"/>
          </a:xfrm>
          <a:prstGeom prst="straightConnector1">
            <a:avLst/>
          </a:prstGeom>
          <a:noFill/>
          <a:ln cap="flat" cmpd="sng" w="11425">
            <a:solidFill>
              <a:srgbClr val="D8D1E6"/>
            </a:solidFill>
            <a:prstDash val="solid"/>
            <a:round/>
            <a:headEnd len="sm" w="sm" type="none"/>
            <a:tailEnd len="sm" w="sm" type="none"/>
          </a:ln>
        </p:spPr>
      </p:cxnSp>
      <p:cxnSp>
        <p:nvCxnSpPr>
          <p:cNvPr id="1845" name="Google Shape;1845;p56"/>
          <p:cNvCxnSpPr/>
          <p:nvPr/>
        </p:nvCxnSpPr>
        <p:spPr>
          <a:xfrm flipH="1" rot="10800000">
            <a:off x="9988540" y="2332634"/>
            <a:ext cx="542056" cy="320954"/>
          </a:xfrm>
          <a:prstGeom prst="straightConnector1">
            <a:avLst/>
          </a:prstGeom>
          <a:noFill/>
          <a:ln cap="flat" cmpd="sng" w="11425">
            <a:solidFill>
              <a:srgbClr val="D8D1E6"/>
            </a:solidFill>
            <a:prstDash val="solid"/>
            <a:round/>
            <a:headEnd len="sm" w="sm" type="none"/>
            <a:tailEnd len="sm" w="sm" type="none"/>
          </a:ln>
        </p:spPr>
      </p:cxnSp>
      <p:cxnSp>
        <p:nvCxnSpPr>
          <p:cNvPr id="1846" name="Google Shape;1846;p56"/>
          <p:cNvCxnSpPr/>
          <p:nvPr/>
        </p:nvCxnSpPr>
        <p:spPr>
          <a:xfrm rot="10800000">
            <a:off x="10259568" y="2011680"/>
            <a:ext cx="271028" cy="320954"/>
          </a:xfrm>
          <a:prstGeom prst="straightConnector1">
            <a:avLst/>
          </a:prstGeom>
          <a:noFill/>
          <a:ln cap="flat" cmpd="sng" w="11425">
            <a:solidFill>
              <a:srgbClr val="D8D1E6"/>
            </a:solidFill>
            <a:prstDash val="solid"/>
            <a:round/>
            <a:headEnd len="sm" w="sm" type="none"/>
            <a:tailEnd len="sm" w="sm" type="none"/>
          </a:ln>
        </p:spPr>
      </p:cxnSp>
      <p:sp>
        <p:nvSpPr>
          <p:cNvPr id="1847" name="Google Shape;1847;p56"/>
          <p:cNvSpPr/>
          <p:nvPr/>
        </p:nvSpPr>
        <p:spPr>
          <a:xfrm>
            <a:off x="10181112" y="1933224"/>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56"/>
          <p:cNvSpPr/>
          <p:nvPr/>
        </p:nvSpPr>
        <p:spPr>
          <a:xfrm>
            <a:off x="9910084" y="2254179"/>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56"/>
          <p:cNvSpPr/>
          <p:nvPr/>
        </p:nvSpPr>
        <p:spPr>
          <a:xfrm>
            <a:off x="10452141" y="2254179"/>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56"/>
          <p:cNvSpPr/>
          <p:nvPr/>
        </p:nvSpPr>
        <p:spPr>
          <a:xfrm>
            <a:off x="9910084" y="2575133"/>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51" name="Google Shape;1851;p56"/>
          <p:cNvCxnSpPr/>
          <p:nvPr/>
        </p:nvCxnSpPr>
        <p:spPr>
          <a:xfrm>
            <a:off x="11463284" y="2332634"/>
            <a:ext cx="0" cy="320954"/>
          </a:xfrm>
          <a:prstGeom prst="straightConnector1">
            <a:avLst/>
          </a:prstGeom>
          <a:noFill/>
          <a:ln cap="flat" cmpd="sng" w="11425">
            <a:solidFill>
              <a:srgbClr val="D8D1E6"/>
            </a:solidFill>
            <a:prstDash val="solid"/>
            <a:round/>
            <a:headEnd len="sm" w="sm" type="none"/>
            <a:tailEnd len="sm" w="sm" type="none"/>
          </a:ln>
        </p:spPr>
      </p:cxnSp>
      <p:cxnSp>
        <p:nvCxnSpPr>
          <p:cNvPr id="1852" name="Google Shape;1852;p56"/>
          <p:cNvCxnSpPr/>
          <p:nvPr/>
        </p:nvCxnSpPr>
        <p:spPr>
          <a:xfrm rot="10800000">
            <a:off x="11192256" y="2011680"/>
            <a:ext cx="271028" cy="320954"/>
          </a:xfrm>
          <a:prstGeom prst="straightConnector1">
            <a:avLst/>
          </a:prstGeom>
          <a:noFill/>
          <a:ln cap="flat" cmpd="sng" w="11425">
            <a:solidFill>
              <a:srgbClr val="D8D1E6"/>
            </a:solidFill>
            <a:prstDash val="solid"/>
            <a:round/>
            <a:headEnd len="sm" w="sm" type="none"/>
            <a:tailEnd len="sm" w="sm" type="none"/>
          </a:ln>
        </p:spPr>
      </p:cxnSp>
      <p:sp>
        <p:nvSpPr>
          <p:cNvPr id="1853" name="Google Shape;1853;p56"/>
          <p:cNvSpPr/>
          <p:nvPr/>
        </p:nvSpPr>
        <p:spPr>
          <a:xfrm>
            <a:off x="11113800" y="1933224"/>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56"/>
          <p:cNvSpPr/>
          <p:nvPr/>
        </p:nvSpPr>
        <p:spPr>
          <a:xfrm>
            <a:off x="11384829" y="2254179"/>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56"/>
          <p:cNvSpPr/>
          <p:nvPr/>
        </p:nvSpPr>
        <p:spPr>
          <a:xfrm>
            <a:off x="11384829" y="2575133"/>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56" name="Google Shape;1856;p56"/>
          <p:cNvCxnSpPr/>
          <p:nvPr/>
        </p:nvCxnSpPr>
        <p:spPr>
          <a:xfrm>
            <a:off x="9055852" y="3448202"/>
            <a:ext cx="0" cy="320954"/>
          </a:xfrm>
          <a:prstGeom prst="straightConnector1">
            <a:avLst/>
          </a:prstGeom>
          <a:noFill/>
          <a:ln cap="flat" cmpd="sng" w="11425">
            <a:solidFill>
              <a:srgbClr val="D8D1E6"/>
            </a:solidFill>
            <a:prstDash val="solid"/>
            <a:round/>
            <a:headEnd len="sm" w="sm" type="none"/>
            <a:tailEnd len="sm" w="sm" type="none"/>
          </a:ln>
        </p:spPr>
      </p:cxnSp>
      <p:cxnSp>
        <p:nvCxnSpPr>
          <p:cNvPr id="1857" name="Google Shape;1857;p56"/>
          <p:cNvCxnSpPr/>
          <p:nvPr/>
        </p:nvCxnSpPr>
        <p:spPr>
          <a:xfrm rot="10800000">
            <a:off x="9055852" y="3448202"/>
            <a:ext cx="542056" cy="320954"/>
          </a:xfrm>
          <a:prstGeom prst="straightConnector1">
            <a:avLst/>
          </a:prstGeom>
          <a:noFill/>
          <a:ln cap="flat" cmpd="sng" w="11425">
            <a:solidFill>
              <a:srgbClr val="D8D1E6"/>
            </a:solidFill>
            <a:prstDash val="solid"/>
            <a:round/>
            <a:headEnd len="sm" w="sm" type="none"/>
            <a:tailEnd len="sm" w="sm" type="none"/>
          </a:ln>
        </p:spPr>
      </p:cxnSp>
      <p:cxnSp>
        <p:nvCxnSpPr>
          <p:cNvPr id="1858" name="Google Shape;1858;p56"/>
          <p:cNvCxnSpPr/>
          <p:nvPr/>
        </p:nvCxnSpPr>
        <p:spPr>
          <a:xfrm flipH="1" rot="10800000">
            <a:off x="9055852" y="3127248"/>
            <a:ext cx="271028" cy="320954"/>
          </a:xfrm>
          <a:prstGeom prst="straightConnector1">
            <a:avLst/>
          </a:prstGeom>
          <a:noFill/>
          <a:ln cap="flat" cmpd="sng" w="11425">
            <a:solidFill>
              <a:srgbClr val="D8D1E6"/>
            </a:solidFill>
            <a:prstDash val="solid"/>
            <a:round/>
            <a:headEnd len="sm" w="sm" type="none"/>
            <a:tailEnd len="sm" w="sm" type="none"/>
          </a:ln>
        </p:spPr>
      </p:cxnSp>
      <p:sp>
        <p:nvSpPr>
          <p:cNvPr id="1859" name="Google Shape;1859;p56"/>
          <p:cNvSpPr/>
          <p:nvPr/>
        </p:nvSpPr>
        <p:spPr>
          <a:xfrm>
            <a:off x="9248424" y="3048792"/>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56"/>
          <p:cNvSpPr/>
          <p:nvPr/>
        </p:nvSpPr>
        <p:spPr>
          <a:xfrm>
            <a:off x="8977396" y="3369747"/>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56"/>
          <p:cNvSpPr/>
          <p:nvPr/>
        </p:nvSpPr>
        <p:spPr>
          <a:xfrm>
            <a:off x="8977396" y="3690701"/>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56"/>
          <p:cNvSpPr/>
          <p:nvPr/>
        </p:nvSpPr>
        <p:spPr>
          <a:xfrm>
            <a:off x="9519453" y="3690701"/>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3" name="Google Shape;1863;p56"/>
          <p:cNvCxnSpPr/>
          <p:nvPr/>
        </p:nvCxnSpPr>
        <p:spPr>
          <a:xfrm flipH="1" rot="10800000">
            <a:off x="9988540" y="3127248"/>
            <a:ext cx="271028" cy="320954"/>
          </a:xfrm>
          <a:prstGeom prst="straightConnector1">
            <a:avLst/>
          </a:prstGeom>
          <a:noFill/>
          <a:ln cap="flat" cmpd="sng" w="11425">
            <a:solidFill>
              <a:srgbClr val="D8D1E6"/>
            </a:solidFill>
            <a:prstDash val="solid"/>
            <a:round/>
            <a:headEnd len="sm" w="sm" type="none"/>
            <a:tailEnd len="sm" w="sm" type="none"/>
          </a:ln>
        </p:spPr>
      </p:cxnSp>
      <p:cxnSp>
        <p:nvCxnSpPr>
          <p:cNvPr id="1864" name="Google Shape;1864;p56"/>
          <p:cNvCxnSpPr/>
          <p:nvPr/>
        </p:nvCxnSpPr>
        <p:spPr>
          <a:xfrm rot="10800000">
            <a:off x="10259568" y="3127248"/>
            <a:ext cx="271028" cy="320954"/>
          </a:xfrm>
          <a:prstGeom prst="straightConnector1">
            <a:avLst/>
          </a:prstGeom>
          <a:noFill/>
          <a:ln cap="flat" cmpd="sng" w="11425">
            <a:solidFill>
              <a:srgbClr val="D8D1E6"/>
            </a:solidFill>
            <a:prstDash val="solid"/>
            <a:round/>
            <a:headEnd len="sm" w="sm" type="none"/>
            <a:tailEnd len="sm" w="sm" type="none"/>
          </a:ln>
        </p:spPr>
      </p:cxnSp>
      <p:sp>
        <p:nvSpPr>
          <p:cNvPr id="1865" name="Google Shape;1865;p56"/>
          <p:cNvSpPr/>
          <p:nvPr/>
        </p:nvSpPr>
        <p:spPr>
          <a:xfrm>
            <a:off x="10181112" y="3048792"/>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56"/>
          <p:cNvSpPr/>
          <p:nvPr/>
        </p:nvSpPr>
        <p:spPr>
          <a:xfrm>
            <a:off x="9910084" y="3369747"/>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56"/>
          <p:cNvSpPr/>
          <p:nvPr/>
        </p:nvSpPr>
        <p:spPr>
          <a:xfrm>
            <a:off x="10452141" y="3369747"/>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68" name="Google Shape;1868;p56"/>
          <p:cNvCxnSpPr/>
          <p:nvPr/>
        </p:nvCxnSpPr>
        <p:spPr>
          <a:xfrm>
            <a:off x="10921228" y="3448202"/>
            <a:ext cx="0" cy="320954"/>
          </a:xfrm>
          <a:prstGeom prst="straightConnector1">
            <a:avLst/>
          </a:prstGeom>
          <a:noFill/>
          <a:ln cap="flat" cmpd="sng" w="11425">
            <a:solidFill>
              <a:srgbClr val="D8D1E6"/>
            </a:solidFill>
            <a:prstDash val="solid"/>
            <a:round/>
            <a:headEnd len="sm" w="sm" type="none"/>
            <a:tailEnd len="sm" w="sm" type="none"/>
          </a:ln>
        </p:spPr>
      </p:cxnSp>
      <p:cxnSp>
        <p:nvCxnSpPr>
          <p:cNvPr id="1869" name="Google Shape;1869;p56"/>
          <p:cNvCxnSpPr/>
          <p:nvPr/>
        </p:nvCxnSpPr>
        <p:spPr>
          <a:xfrm flipH="1" rot="10800000">
            <a:off x="10921228" y="3127248"/>
            <a:ext cx="271028" cy="320954"/>
          </a:xfrm>
          <a:prstGeom prst="straightConnector1">
            <a:avLst/>
          </a:prstGeom>
          <a:noFill/>
          <a:ln cap="flat" cmpd="sng" w="11425">
            <a:solidFill>
              <a:srgbClr val="D8D1E6"/>
            </a:solidFill>
            <a:prstDash val="solid"/>
            <a:round/>
            <a:headEnd len="sm" w="sm" type="none"/>
            <a:tailEnd len="sm" w="sm" type="none"/>
          </a:ln>
        </p:spPr>
      </p:cxnSp>
      <p:sp>
        <p:nvSpPr>
          <p:cNvPr id="1870" name="Google Shape;1870;p56"/>
          <p:cNvSpPr/>
          <p:nvPr/>
        </p:nvSpPr>
        <p:spPr>
          <a:xfrm>
            <a:off x="11113800" y="3048792"/>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56"/>
          <p:cNvSpPr/>
          <p:nvPr/>
        </p:nvSpPr>
        <p:spPr>
          <a:xfrm>
            <a:off x="10842772" y="3369747"/>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56"/>
          <p:cNvSpPr/>
          <p:nvPr/>
        </p:nvSpPr>
        <p:spPr>
          <a:xfrm>
            <a:off x="10842772" y="3690701"/>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73" name="Google Shape;1873;p56"/>
          <p:cNvCxnSpPr/>
          <p:nvPr/>
        </p:nvCxnSpPr>
        <p:spPr>
          <a:xfrm rot="10800000">
            <a:off x="9055852" y="4563770"/>
            <a:ext cx="542056" cy="320954"/>
          </a:xfrm>
          <a:prstGeom prst="straightConnector1">
            <a:avLst/>
          </a:prstGeom>
          <a:noFill/>
          <a:ln cap="flat" cmpd="sng" w="11425">
            <a:solidFill>
              <a:srgbClr val="D8D1E6"/>
            </a:solidFill>
            <a:prstDash val="solid"/>
            <a:round/>
            <a:headEnd len="sm" w="sm" type="none"/>
            <a:tailEnd len="sm" w="sm" type="none"/>
          </a:ln>
        </p:spPr>
      </p:cxnSp>
      <p:cxnSp>
        <p:nvCxnSpPr>
          <p:cNvPr id="1874" name="Google Shape;1874;p56"/>
          <p:cNvCxnSpPr/>
          <p:nvPr/>
        </p:nvCxnSpPr>
        <p:spPr>
          <a:xfrm flipH="1" rot="10800000">
            <a:off x="9055852" y="4242816"/>
            <a:ext cx="271028" cy="320954"/>
          </a:xfrm>
          <a:prstGeom prst="straightConnector1">
            <a:avLst/>
          </a:prstGeom>
          <a:noFill/>
          <a:ln cap="flat" cmpd="sng" w="11425">
            <a:solidFill>
              <a:srgbClr val="D8D1E6"/>
            </a:solidFill>
            <a:prstDash val="solid"/>
            <a:round/>
            <a:headEnd len="sm" w="sm" type="none"/>
            <a:tailEnd len="sm" w="sm" type="none"/>
          </a:ln>
        </p:spPr>
      </p:cxnSp>
      <p:cxnSp>
        <p:nvCxnSpPr>
          <p:cNvPr id="1875" name="Google Shape;1875;p56"/>
          <p:cNvCxnSpPr/>
          <p:nvPr/>
        </p:nvCxnSpPr>
        <p:spPr>
          <a:xfrm>
            <a:off x="9597908" y="4563770"/>
            <a:ext cx="0" cy="320954"/>
          </a:xfrm>
          <a:prstGeom prst="straightConnector1">
            <a:avLst/>
          </a:prstGeom>
          <a:noFill/>
          <a:ln cap="flat" cmpd="sng" w="11425">
            <a:solidFill>
              <a:srgbClr val="D8D1E6"/>
            </a:solidFill>
            <a:prstDash val="solid"/>
            <a:round/>
            <a:headEnd len="sm" w="sm" type="none"/>
            <a:tailEnd len="sm" w="sm" type="none"/>
          </a:ln>
        </p:spPr>
      </p:cxnSp>
      <p:cxnSp>
        <p:nvCxnSpPr>
          <p:cNvPr id="1876" name="Google Shape;1876;p56"/>
          <p:cNvCxnSpPr/>
          <p:nvPr/>
        </p:nvCxnSpPr>
        <p:spPr>
          <a:xfrm rot="10800000">
            <a:off x="9326880" y="4242816"/>
            <a:ext cx="271028" cy="320954"/>
          </a:xfrm>
          <a:prstGeom prst="straightConnector1">
            <a:avLst/>
          </a:prstGeom>
          <a:noFill/>
          <a:ln cap="flat" cmpd="sng" w="11425">
            <a:solidFill>
              <a:srgbClr val="D8D1E6"/>
            </a:solidFill>
            <a:prstDash val="solid"/>
            <a:round/>
            <a:headEnd len="sm" w="sm" type="none"/>
            <a:tailEnd len="sm" w="sm" type="none"/>
          </a:ln>
        </p:spPr>
      </p:cxnSp>
      <p:sp>
        <p:nvSpPr>
          <p:cNvPr id="1877" name="Google Shape;1877;p56"/>
          <p:cNvSpPr/>
          <p:nvPr/>
        </p:nvSpPr>
        <p:spPr>
          <a:xfrm>
            <a:off x="9248424" y="4164360"/>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56"/>
          <p:cNvSpPr/>
          <p:nvPr/>
        </p:nvSpPr>
        <p:spPr>
          <a:xfrm>
            <a:off x="8977396" y="4485315"/>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56"/>
          <p:cNvSpPr/>
          <p:nvPr/>
        </p:nvSpPr>
        <p:spPr>
          <a:xfrm>
            <a:off x="9519453" y="4485315"/>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56"/>
          <p:cNvSpPr/>
          <p:nvPr/>
        </p:nvSpPr>
        <p:spPr>
          <a:xfrm>
            <a:off x="9519453" y="4806269"/>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56"/>
          <p:cNvSpPr/>
          <p:nvPr/>
        </p:nvSpPr>
        <p:spPr>
          <a:xfrm>
            <a:off x="10181112" y="4164360"/>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56"/>
          <p:cNvSpPr/>
          <p:nvPr/>
        </p:nvSpPr>
        <p:spPr>
          <a:xfrm>
            <a:off x="9910084" y="4806269"/>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56"/>
          <p:cNvSpPr/>
          <p:nvPr/>
        </p:nvSpPr>
        <p:spPr>
          <a:xfrm>
            <a:off x="10452141" y="4806269"/>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4" name="Google Shape;1884;p56"/>
          <p:cNvCxnSpPr/>
          <p:nvPr/>
        </p:nvCxnSpPr>
        <p:spPr>
          <a:xfrm rot="10800000">
            <a:off x="10921228" y="4563770"/>
            <a:ext cx="542056" cy="320954"/>
          </a:xfrm>
          <a:prstGeom prst="straightConnector1">
            <a:avLst/>
          </a:prstGeom>
          <a:noFill/>
          <a:ln cap="flat" cmpd="sng" w="11425">
            <a:solidFill>
              <a:srgbClr val="D8D1E6"/>
            </a:solidFill>
            <a:prstDash val="solid"/>
            <a:round/>
            <a:headEnd len="sm" w="sm" type="none"/>
            <a:tailEnd len="sm" w="sm" type="none"/>
          </a:ln>
        </p:spPr>
      </p:cxnSp>
      <p:cxnSp>
        <p:nvCxnSpPr>
          <p:cNvPr id="1885" name="Google Shape;1885;p56"/>
          <p:cNvCxnSpPr/>
          <p:nvPr/>
        </p:nvCxnSpPr>
        <p:spPr>
          <a:xfrm flipH="1" rot="10800000">
            <a:off x="10921228" y="4242816"/>
            <a:ext cx="271028" cy="320954"/>
          </a:xfrm>
          <a:prstGeom prst="straightConnector1">
            <a:avLst/>
          </a:prstGeom>
          <a:noFill/>
          <a:ln cap="flat" cmpd="sng" w="11425">
            <a:solidFill>
              <a:srgbClr val="D8D1E6"/>
            </a:solidFill>
            <a:prstDash val="solid"/>
            <a:round/>
            <a:headEnd len="sm" w="sm" type="none"/>
            <a:tailEnd len="sm" w="sm" type="none"/>
          </a:ln>
        </p:spPr>
      </p:cxnSp>
      <p:sp>
        <p:nvSpPr>
          <p:cNvPr id="1886" name="Google Shape;1886;p56"/>
          <p:cNvSpPr/>
          <p:nvPr/>
        </p:nvSpPr>
        <p:spPr>
          <a:xfrm>
            <a:off x="11113800" y="4164360"/>
            <a:ext cx="156911" cy="156911"/>
          </a:xfrm>
          <a:prstGeom prst="ellipse">
            <a:avLst/>
          </a:prstGeom>
          <a:solidFill>
            <a:srgbClr val="F9E3C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56"/>
          <p:cNvSpPr/>
          <p:nvPr/>
        </p:nvSpPr>
        <p:spPr>
          <a:xfrm>
            <a:off x="10842772" y="4485315"/>
            <a:ext cx="156911" cy="156911"/>
          </a:xfrm>
          <a:prstGeom prst="ellipse">
            <a:avLst/>
          </a:prstGeom>
          <a:solidFill>
            <a:srgbClr val="E9E3F3"/>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56"/>
          <p:cNvSpPr/>
          <p:nvPr/>
        </p:nvSpPr>
        <p:spPr>
          <a:xfrm>
            <a:off x="11384829" y="4806269"/>
            <a:ext cx="156911" cy="156911"/>
          </a:xfrm>
          <a:prstGeom prst="ellipse">
            <a:avLst/>
          </a:prstGeom>
          <a:solidFill>
            <a:srgbClr val="FFFFFF"/>
          </a:solidFill>
          <a:ln cap="flat" cmpd="sng" w="12700">
            <a:solidFill>
              <a:srgbClr val="2D1B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56"/>
          <p:cNvSpPr/>
          <p:nvPr/>
        </p:nvSpPr>
        <p:spPr>
          <a:xfrm>
            <a:off x="6949440" y="5166360"/>
            <a:ext cx="4434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Each mask defines a different sub-network; they all share the same weights.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4" name="Shape 1894"/>
        <p:cNvGrpSpPr/>
        <p:nvPr/>
      </p:nvGrpSpPr>
      <p:grpSpPr>
        <a:xfrm>
          <a:off x="0" y="0"/>
          <a:ext cx="0" cy="0"/>
          <a:chOff x="0" y="0"/>
          <a:chExt cx="0" cy="0"/>
        </a:xfrm>
      </p:grpSpPr>
      <p:sp>
        <p:nvSpPr>
          <p:cNvPr id="1895" name="Google Shape;1895;p5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896" name="Google Shape;1896;p5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Dropout: the training procedure</a:t>
            </a:r>
            <a:endParaRPr b="0" i="0" sz="2800" u="none" cap="none" strike="noStrike">
              <a:solidFill>
                <a:schemeClr val="dk1"/>
              </a:solidFill>
              <a:latin typeface="Calibri"/>
              <a:ea typeface="Calibri"/>
              <a:cs typeface="Calibri"/>
              <a:sym typeface="Calibri"/>
            </a:endParaRPr>
          </a:p>
        </p:txBody>
      </p:sp>
      <p:sp>
        <p:nvSpPr>
          <p:cNvPr id="1897" name="Google Shape;1897;p57"/>
          <p:cNvSpPr/>
          <p:nvPr/>
        </p:nvSpPr>
        <p:spPr>
          <a:xfrm>
            <a:off x="566928" y="1325880"/>
            <a:ext cx="2606040" cy="2148840"/>
          </a:xfrm>
          <a:prstGeom prst="roundRect">
            <a:avLst>
              <a:gd fmla="val 383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57"/>
          <p:cNvSpPr/>
          <p:nvPr/>
        </p:nvSpPr>
        <p:spPr>
          <a:xfrm>
            <a:off x="822960"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57"/>
          <p:cNvSpPr/>
          <p:nvPr/>
        </p:nvSpPr>
        <p:spPr>
          <a:xfrm>
            <a:off x="822960"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900" name="Google Shape;1900;p57"/>
          <p:cNvSpPr/>
          <p:nvPr/>
        </p:nvSpPr>
        <p:spPr>
          <a:xfrm>
            <a:off x="1408176" y="15453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Use mini-batches</a:t>
            </a:r>
            <a:endParaRPr b="0" i="0" sz="1350" u="none" cap="none" strike="noStrike">
              <a:solidFill>
                <a:schemeClr val="dk1"/>
              </a:solidFill>
              <a:latin typeface="Calibri"/>
              <a:ea typeface="Calibri"/>
              <a:cs typeface="Calibri"/>
              <a:sym typeface="Calibri"/>
            </a:endParaRPr>
          </a:p>
        </p:txBody>
      </p:sp>
      <p:sp>
        <p:nvSpPr>
          <p:cNvPr id="1901" name="Google Shape;1901;p57"/>
          <p:cNvSpPr/>
          <p:nvPr/>
        </p:nvSpPr>
        <p:spPr>
          <a:xfrm>
            <a:off x="841248" y="2112264"/>
            <a:ext cx="2057400"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Train with a mini-batch based learning algorithm that makes small steps.</a:t>
            </a:r>
            <a:endParaRPr b="0" i="0" sz="1150" u="none" cap="none" strike="noStrike">
              <a:solidFill>
                <a:schemeClr val="dk1"/>
              </a:solidFill>
              <a:latin typeface="Calibri"/>
              <a:ea typeface="Calibri"/>
              <a:cs typeface="Calibri"/>
              <a:sym typeface="Calibri"/>
            </a:endParaRPr>
          </a:p>
        </p:txBody>
      </p:sp>
      <p:sp>
        <p:nvSpPr>
          <p:cNvPr id="1902" name="Google Shape;1902;p57"/>
          <p:cNvSpPr/>
          <p:nvPr/>
        </p:nvSpPr>
        <p:spPr>
          <a:xfrm>
            <a:off x="3419856" y="1325880"/>
            <a:ext cx="2606040" cy="2148840"/>
          </a:xfrm>
          <a:prstGeom prst="roundRect">
            <a:avLst>
              <a:gd fmla="val 383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57"/>
          <p:cNvSpPr/>
          <p:nvPr/>
        </p:nvSpPr>
        <p:spPr>
          <a:xfrm>
            <a:off x="3675888"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57"/>
          <p:cNvSpPr/>
          <p:nvPr/>
        </p:nvSpPr>
        <p:spPr>
          <a:xfrm>
            <a:off x="3675888"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905" name="Google Shape;1905;p57"/>
          <p:cNvSpPr/>
          <p:nvPr/>
        </p:nvSpPr>
        <p:spPr>
          <a:xfrm>
            <a:off x="4261104" y="15453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Sample a mask</a:t>
            </a:r>
            <a:endParaRPr b="0" i="0" sz="1350" u="none" cap="none" strike="noStrike">
              <a:solidFill>
                <a:schemeClr val="dk1"/>
              </a:solidFill>
              <a:latin typeface="Calibri"/>
              <a:ea typeface="Calibri"/>
              <a:cs typeface="Calibri"/>
              <a:sym typeface="Calibri"/>
            </a:endParaRPr>
          </a:p>
        </p:txBody>
      </p:sp>
      <p:sp>
        <p:nvSpPr>
          <p:cNvPr id="1906" name="Google Shape;1906;p57"/>
          <p:cNvSpPr/>
          <p:nvPr/>
        </p:nvSpPr>
        <p:spPr>
          <a:xfrm>
            <a:off x="3694176" y="2112264"/>
            <a:ext cx="2057400"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Each time an example is loaded into a mini-batch, randomly sample a different binary mask μ, with one entry per input and hidden unit.</a:t>
            </a:r>
            <a:endParaRPr b="0" i="0" sz="1150" u="none" cap="none" strike="noStrike">
              <a:solidFill>
                <a:schemeClr val="dk1"/>
              </a:solidFill>
              <a:latin typeface="Calibri"/>
              <a:ea typeface="Calibri"/>
              <a:cs typeface="Calibri"/>
              <a:sym typeface="Calibri"/>
            </a:endParaRPr>
          </a:p>
        </p:txBody>
      </p:sp>
      <p:sp>
        <p:nvSpPr>
          <p:cNvPr id="1907" name="Google Shape;1907;p57"/>
          <p:cNvSpPr/>
          <p:nvPr/>
        </p:nvSpPr>
        <p:spPr>
          <a:xfrm>
            <a:off x="6272784" y="1325880"/>
            <a:ext cx="2606040" cy="2148840"/>
          </a:xfrm>
          <a:prstGeom prst="roundRect">
            <a:avLst>
              <a:gd fmla="val 383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57"/>
          <p:cNvSpPr/>
          <p:nvPr/>
        </p:nvSpPr>
        <p:spPr>
          <a:xfrm>
            <a:off x="6528816"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57"/>
          <p:cNvSpPr/>
          <p:nvPr/>
        </p:nvSpPr>
        <p:spPr>
          <a:xfrm>
            <a:off x="6528816"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910" name="Google Shape;1910;p57"/>
          <p:cNvSpPr/>
          <p:nvPr/>
        </p:nvSpPr>
        <p:spPr>
          <a:xfrm>
            <a:off x="7114032" y="15453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Sample independently</a:t>
            </a:r>
            <a:endParaRPr b="0" i="0" sz="1350" u="none" cap="none" strike="noStrike">
              <a:solidFill>
                <a:schemeClr val="dk1"/>
              </a:solidFill>
              <a:latin typeface="Calibri"/>
              <a:ea typeface="Calibri"/>
              <a:cs typeface="Calibri"/>
              <a:sym typeface="Calibri"/>
            </a:endParaRPr>
          </a:p>
        </p:txBody>
      </p:sp>
      <p:sp>
        <p:nvSpPr>
          <p:cNvPr id="1911" name="Google Shape;1911;p57"/>
          <p:cNvSpPr/>
          <p:nvPr/>
        </p:nvSpPr>
        <p:spPr>
          <a:xfrm>
            <a:off x="6547104" y="2112264"/>
            <a:ext cx="2057400"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mask for each unit is sampled independently of all the others. The probability of sampling a one — of keeping the unit — is a hyperparameter fixed before training begins.</a:t>
            </a:r>
            <a:endParaRPr b="0" i="0" sz="1150" u="none" cap="none" strike="noStrike">
              <a:solidFill>
                <a:schemeClr val="dk1"/>
              </a:solidFill>
              <a:latin typeface="Calibri"/>
              <a:ea typeface="Calibri"/>
              <a:cs typeface="Calibri"/>
              <a:sym typeface="Calibri"/>
            </a:endParaRPr>
          </a:p>
        </p:txBody>
      </p:sp>
      <p:sp>
        <p:nvSpPr>
          <p:cNvPr id="1912" name="Google Shape;1912;p57"/>
          <p:cNvSpPr/>
          <p:nvPr/>
        </p:nvSpPr>
        <p:spPr>
          <a:xfrm>
            <a:off x="9125712" y="1325880"/>
            <a:ext cx="2606040" cy="2148840"/>
          </a:xfrm>
          <a:prstGeom prst="roundRect">
            <a:avLst>
              <a:gd fmla="val 383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57"/>
          <p:cNvSpPr/>
          <p:nvPr/>
        </p:nvSpPr>
        <p:spPr>
          <a:xfrm>
            <a:off x="9381744" y="156362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57"/>
          <p:cNvSpPr/>
          <p:nvPr/>
        </p:nvSpPr>
        <p:spPr>
          <a:xfrm>
            <a:off x="9381744" y="15636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915" name="Google Shape;1915;p57"/>
          <p:cNvSpPr/>
          <p:nvPr/>
        </p:nvSpPr>
        <p:spPr>
          <a:xfrm>
            <a:off x="9966960" y="154533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50"/>
              <a:buFont typeface="Cambria"/>
              <a:buNone/>
            </a:pPr>
            <a:r>
              <a:rPr b="1" i="0" lang="en-US" sz="1350" u="none" cap="none" strike="noStrike">
                <a:solidFill>
                  <a:srgbClr val="2D1B4E"/>
                </a:solidFill>
                <a:latin typeface="Cambria"/>
                <a:ea typeface="Cambria"/>
                <a:cs typeface="Cambria"/>
                <a:sym typeface="Cambria"/>
              </a:rPr>
              <a:t>Train as usual</a:t>
            </a:r>
            <a:endParaRPr b="0" i="0" sz="1350" u="none" cap="none" strike="noStrike">
              <a:solidFill>
                <a:schemeClr val="dk1"/>
              </a:solidFill>
              <a:latin typeface="Calibri"/>
              <a:ea typeface="Calibri"/>
              <a:cs typeface="Calibri"/>
              <a:sym typeface="Calibri"/>
            </a:endParaRPr>
          </a:p>
        </p:txBody>
      </p:sp>
      <p:sp>
        <p:nvSpPr>
          <p:cNvPr id="1916" name="Google Shape;1916;p57"/>
          <p:cNvSpPr/>
          <p:nvPr/>
        </p:nvSpPr>
        <p:spPr>
          <a:xfrm>
            <a:off x="9400032" y="2112264"/>
            <a:ext cx="2057400"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Multiply each unit by its mask entry, then run forward propagation, back-propagation and the learning update exactly as normal.</a:t>
            </a:r>
            <a:endParaRPr b="0" i="0" sz="1150" u="none" cap="none" strike="noStrike">
              <a:solidFill>
                <a:schemeClr val="dk1"/>
              </a:solidFill>
              <a:latin typeface="Calibri"/>
              <a:ea typeface="Calibri"/>
              <a:cs typeface="Calibri"/>
              <a:sym typeface="Calibri"/>
            </a:endParaRPr>
          </a:p>
        </p:txBody>
      </p:sp>
      <p:sp>
        <p:nvSpPr>
          <p:cNvPr id="1917" name="Google Shape;1917;p57"/>
          <p:cNvSpPr/>
          <p:nvPr/>
        </p:nvSpPr>
        <p:spPr>
          <a:xfrm>
            <a:off x="566928" y="3657600"/>
            <a:ext cx="4937760" cy="822960"/>
          </a:xfrm>
          <a:prstGeom prst="roundRect">
            <a:avLst>
              <a:gd fmla="val 10000"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57"/>
          <p:cNvSpPr/>
          <p:nvPr/>
        </p:nvSpPr>
        <p:spPr>
          <a:xfrm>
            <a:off x="841248" y="3657600"/>
            <a:ext cx="4389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1" i="0" lang="en-US" sz="1300" u="none" cap="none" strike="noStrike">
                <a:solidFill>
                  <a:srgbClr val="241C2E"/>
                </a:solidFill>
                <a:latin typeface="Calibri"/>
                <a:ea typeface="Calibri"/>
                <a:cs typeface="Calibri"/>
                <a:sym typeface="Calibri"/>
              </a:rPr>
              <a:t>Typical values:  keep an input unit with probability 0.8,  a hidden unit with probability 0.5.</a:t>
            </a:r>
            <a:endParaRPr b="0" i="0" sz="1300" u="none" cap="none" strike="noStrike">
              <a:solidFill>
                <a:schemeClr val="dk1"/>
              </a:solidFill>
              <a:latin typeface="Calibri"/>
              <a:ea typeface="Calibri"/>
              <a:cs typeface="Calibri"/>
              <a:sym typeface="Calibri"/>
            </a:endParaRPr>
          </a:p>
        </p:txBody>
      </p:sp>
      <p:sp>
        <p:nvSpPr>
          <p:cNvPr id="1919" name="Google Shape;1919;p57"/>
          <p:cNvSpPr/>
          <p:nvPr/>
        </p:nvSpPr>
        <p:spPr>
          <a:xfrm>
            <a:off x="566928" y="4617720"/>
            <a:ext cx="11057839" cy="1143000"/>
          </a:xfrm>
          <a:prstGeom prst="roundRect">
            <a:avLst>
              <a:gd fmla="val 72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57"/>
          <p:cNvSpPr/>
          <p:nvPr/>
        </p:nvSpPr>
        <p:spPr>
          <a:xfrm>
            <a:off x="886968" y="4709160"/>
            <a:ext cx="4114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50"/>
              <a:buFont typeface="Cambria"/>
              <a:buNone/>
            </a:pPr>
            <a:r>
              <a:rPr b="1" i="0" lang="en-US" sz="1450" u="none" cap="none" strike="noStrike">
                <a:solidFill>
                  <a:srgbClr val="E8833A"/>
                </a:solidFill>
                <a:latin typeface="Cambria"/>
                <a:ea typeface="Cambria"/>
                <a:cs typeface="Cambria"/>
                <a:sym typeface="Cambria"/>
              </a:rPr>
              <a:t>Dropout is not quite bagging</a:t>
            </a:r>
            <a:endParaRPr b="0" i="0" sz="1450" u="none" cap="none" strike="noStrike">
              <a:solidFill>
                <a:schemeClr val="dk1"/>
              </a:solidFill>
              <a:latin typeface="Calibri"/>
              <a:ea typeface="Calibri"/>
              <a:cs typeface="Calibri"/>
              <a:sym typeface="Calibri"/>
            </a:endParaRPr>
          </a:p>
        </p:txBody>
      </p:sp>
      <p:sp>
        <p:nvSpPr>
          <p:cNvPr id="1921" name="Google Shape;1921;p57"/>
          <p:cNvSpPr/>
          <p:nvPr/>
        </p:nvSpPr>
        <p:spPr>
          <a:xfrm>
            <a:off x="886968" y="5010912"/>
            <a:ext cx="10417759"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200"/>
              <a:buFont typeface="Calibri"/>
              <a:buNone/>
            </a:pPr>
            <a:r>
              <a:rPr b="0" i="0" lang="en-US" sz="1200" u="none" cap="none" strike="noStrike">
                <a:solidFill>
                  <a:srgbClr val="E9E3F3"/>
                </a:solidFill>
                <a:latin typeface="Calibri"/>
                <a:ea typeface="Calibri"/>
                <a:cs typeface="Calibri"/>
                <a:sym typeface="Calibri"/>
              </a:rPr>
              <a:t>In bagging the models are independent and each is trained to convergence on its own resampled training set. In dropout the models share parameters, each inheriting a different subset from the parent network — which is what makes it possible to represent an exponential number of models in a tractable amount of memory. Typically most sub-networks are never explicitly trained at all: a tiny fraction are each trained for a single step, and the parameter sharing brings the rest to good settings.</a:t>
            </a:r>
            <a:endParaRPr b="0" i="0" sz="1200" u="none" cap="none" strike="noStrike">
              <a:solidFill>
                <a:schemeClr val="dk1"/>
              </a:solidFill>
              <a:latin typeface="Calibri"/>
              <a:ea typeface="Calibri"/>
              <a:cs typeface="Calibri"/>
              <a:sym typeface="Calibri"/>
            </a:endParaRPr>
          </a:p>
        </p:txBody>
      </p:sp>
      <p:sp>
        <p:nvSpPr>
          <p:cNvPr id="1922" name="Google Shape;1922;p57"/>
          <p:cNvSpPr/>
          <p:nvPr/>
        </p:nvSpPr>
        <p:spPr>
          <a:xfrm>
            <a:off x="5760720" y="3657600"/>
            <a:ext cx="5870448" cy="822960"/>
          </a:xfrm>
          <a:prstGeom prst="roundRect">
            <a:avLst>
              <a:gd fmla="val 10000"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57"/>
          <p:cNvSpPr/>
          <p:nvPr/>
        </p:nvSpPr>
        <p:spPr>
          <a:xfrm>
            <a:off x="6035040" y="3657600"/>
            <a:ext cx="5394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0" i="1" lang="en-US" sz="1200" u="none" cap="none" strike="noStrike">
                <a:solidFill>
                  <a:srgbClr val="2D1B4E"/>
                </a:solidFill>
                <a:latin typeface="Calibri"/>
                <a:ea typeface="Calibri"/>
                <a:cs typeface="Calibri"/>
                <a:sym typeface="Calibri"/>
              </a:rPr>
              <a:t>Because it is so cheap, dropout can be applied to almost any model that uses a distributed representation and is trained by stochastic gradient descent.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8" name="Shape 1928"/>
        <p:cNvGrpSpPr/>
        <p:nvPr/>
      </p:nvGrpSpPr>
      <p:grpSpPr>
        <a:xfrm>
          <a:off x="0" y="0"/>
          <a:ext cx="0" cy="0"/>
          <a:chOff x="0" y="0"/>
          <a:chExt cx="0" cy="0"/>
        </a:xfrm>
      </p:grpSpPr>
      <p:sp>
        <p:nvSpPr>
          <p:cNvPr id="1929" name="Google Shape;1929;p5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REGULARIZATION</a:t>
            </a:r>
            <a:endParaRPr b="0" i="0" sz="1050" u="none" cap="none" strike="noStrike">
              <a:solidFill>
                <a:schemeClr val="dk1"/>
              </a:solidFill>
              <a:latin typeface="Calibri"/>
              <a:ea typeface="Calibri"/>
              <a:cs typeface="Calibri"/>
              <a:sym typeface="Calibri"/>
            </a:endParaRPr>
          </a:p>
        </p:txBody>
      </p:sp>
      <p:sp>
        <p:nvSpPr>
          <p:cNvPr id="1930" name="Google Shape;1930;p5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Dropout: making predictions</a:t>
            </a:r>
            <a:endParaRPr b="0" i="0" sz="2800" u="none" cap="none" strike="noStrike">
              <a:solidFill>
                <a:schemeClr val="dk1"/>
              </a:solidFill>
              <a:latin typeface="Calibri"/>
              <a:ea typeface="Calibri"/>
              <a:cs typeface="Calibri"/>
              <a:sym typeface="Calibri"/>
            </a:endParaRPr>
          </a:p>
        </p:txBody>
      </p:sp>
      <p:sp>
        <p:nvSpPr>
          <p:cNvPr id="1931" name="Google Shape;1931;p58"/>
          <p:cNvSpPr/>
          <p:nvPr/>
        </p:nvSpPr>
        <p:spPr>
          <a:xfrm>
            <a:off x="566928" y="1371600"/>
            <a:ext cx="5943600" cy="37490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In a bagged ensemble we accumulate votes from all members: the prediction is the arithmetic mean over the members. How do we do that with dropout?</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Each sub-model defined by a mask μ gives a distribution p(y | x, μ). The ensemble prediction is Σ_μ p(μ) p(y | x, μ) — a sum over an exponential number of terms, so it is intractable to evaluate exactly.</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Option A — sample.</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Approximate the inference by averaging the output from many masks. 10 to 20 masks are often sufficient for good performance.</a:t>
            </a:r>
            <a:endParaRPr b="0" i="0" sz="1300" u="none" cap="none" strike="noStrike">
              <a:solidFill>
                <a:schemeClr val="dk1"/>
              </a:solidFill>
              <a:latin typeface="Calibri"/>
              <a:ea typeface="Calibri"/>
              <a:cs typeface="Calibri"/>
              <a:sym typeface="Calibri"/>
            </a:endParaRPr>
          </a:p>
          <a:p>
            <a:pPr indent="-203200" lvl="0" marL="203200" marR="0" rtl="0" algn="l">
              <a:spcBef>
                <a:spcPts val="100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Option B — weight scaling.</a:t>
            </a:r>
            <a:endParaRPr b="0" i="0" sz="1300" u="none" cap="none" strike="noStrike">
              <a:solidFill>
                <a:schemeClr val="dk1"/>
              </a:solidFill>
              <a:latin typeface="Calibri"/>
              <a:ea typeface="Calibri"/>
              <a:cs typeface="Calibri"/>
              <a:sym typeface="Calibri"/>
            </a:endParaRPr>
          </a:p>
          <a:p>
            <a:pPr indent="-203200" lvl="1" marL="406400" marR="0" rtl="0" algn="l">
              <a:spcBef>
                <a:spcPts val="3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A better approximation to the whole ensemble at the cost of a single forward propagation: use the model with all units present, but multiply the weights going out of unit i by the probability of including unit i.</a:t>
            </a:r>
            <a:endParaRPr b="0" i="0" sz="1300" u="none" cap="none" strike="noStrike">
              <a:solidFill>
                <a:schemeClr val="dk1"/>
              </a:solidFill>
              <a:latin typeface="Calibri"/>
              <a:ea typeface="Calibri"/>
              <a:cs typeface="Calibri"/>
              <a:sym typeface="Calibri"/>
            </a:endParaRPr>
          </a:p>
        </p:txBody>
      </p:sp>
      <p:sp>
        <p:nvSpPr>
          <p:cNvPr id="1932" name="Google Shape;1932;p58"/>
          <p:cNvSpPr/>
          <p:nvPr/>
        </p:nvSpPr>
        <p:spPr>
          <a:xfrm>
            <a:off x="6675120" y="1371600"/>
            <a:ext cx="4956048" cy="2103120"/>
          </a:xfrm>
          <a:prstGeom prst="roundRect">
            <a:avLst>
              <a:gd fmla="val 3913"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58"/>
          <p:cNvSpPr/>
          <p:nvPr/>
        </p:nvSpPr>
        <p:spPr>
          <a:xfrm>
            <a:off x="6949440" y="1481328"/>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350"/>
              <a:buFont typeface="Cambria"/>
              <a:buNone/>
            </a:pPr>
            <a:r>
              <a:rPr b="1" i="0" lang="en-US" sz="1350" u="none" cap="none" strike="noStrike">
                <a:solidFill>
                  <a:srgbClr val="E8833A"/>
                </a:solidFill>
                <a:latin typeface="Cambria"/>
                <a:ea typeface="Cambria"/>
                <a:cs typeface="Cambria"/>
                <a:sym typeface="Cambria"/>
              </a:rPr>
              <a:t>Implementation 1 — scale at test time</a:t>
            </a:r>
            <a:endParaRPr b="0" i="0" sz="1350" u="none" cap="none" strike="noStrike">
              <a:solidFill>
                <a:schemeClr val="dk1"/>
              </a:solidFill>
              <a:latin typeface="Calibri"/>
              <a:ea typeface="Calibri"/>
              <a:cs typeface="Calibri"/>
              <a:sym typeface="Calibri"/>
            </a:endParaRPr>
          </a:p>
        </p:txBody>
      </p:sp>
      <p:sp>
        <p:nvSpPr>
          <p:cNvPr id="1934" name="Google Shape;1934;p58"/>
          <p:cNvSpPr/>
          <p:nvPr/>
        </p:nvSpPr>
        <p:spPr>
          <a:xfrm>
            <a:off x="6949440" y="1828800"/>
            <a:ext cx="4434840" cy="150876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E9E3F3"/>
              </a:buClr>
              <a:buSzPts val="1050"/>
              <a:buFont typeface="Courier New"/>
              <a:buNone/>
            </a:pPr>
            <a:r>
              <a:rPr b="0" i="0" lang="en-US" sz="1050" u="none" cap="none" strike="noStrike">
                <a:solidFill>
                  <a:srgbClr val="E9E3F3"/>
                </a:solidFill>
                <a:latin typeface="Courier New"/>
                <a:ea typeface="Courier New"/>
                <a:cs typeface="Courier New"/>
                <a:sym typeface="Courier New"/>
              </a:rPr>
              <a:t># forward pass</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E9E3F3"/>
              </a:buClr>
              <a:buSzPts val="1050"/>
              <a:buFont typeface="Courier New"/>
              <a:buNone/>
            </a:pPr>
            <a:r>
              <a:rPr b="0" i="0" lang="en-US" sz="1050" u="none" cap="none" strike="noStrike">
                <a:solidFill>
                  <a:srgbClr val="E9E3F3"/>
                </a:solidFill>
                <a:latin typeface="Courier New"/>
                <a:ea typeface="Courier New"/>
                <a:cs typeface="Courier New"/>
                <a:sym typeface="Courier New"/>
              </a:rPr>
              <a:t>D1 = np.random.rand(*H1.shape) &lt; keep_prob</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E9E3F3"/>
              </a:buClr>
              <a:buSzPts val="1050"/>
              <a:buFont typeface="Courier New"/>
              <a:buNone/>
            </a:pPr>
            <a:r>
              <a:rPr b="0" i="0" lang="en-US" sz="1050" u="none" cap="none" strike="noStrike">
                <a:solidFill>
                  <a:srgbClr val="E9E3F3"/>
                </a:solidFill>
                <a:latin typeface="Courier New"/>
                <a:ea typeface="Courier New"/>
                <a:cs typeface="Courier New"/>
                <a:sym typeface="Courier New"/>
              </a:rPr>
              <a:t>H1 *= D1</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E9E3F3"/>
              </a:buClr>
              <a:buSzPts val="1050"/>
              <a:buFont typeface="Courier New"/>
              <a:buNone/>
            </a:pPr>
            <a:r>
              <a:rPr b="0" i="0" lang="en-US" sz="1050" u="none" cap="none" strike="noStrike">
                <a:solidFill>
                  <a:srgbClr val="E9E3F3"/>
                </a:solidFill>
                <a:latin typeface="Courier New"/>
                <a:ea typeface="Courier New"/>
                <a:cs typeface="Courier New"/>
                <a:sym typeface="Courier New"/>
              </a:rPr>
              <a:t># prediction</a:t>
            </a:r>
            <a:endParaRPr b="0" i="0" sz="1050" u="none" cap="none" strike="noStrike">
              <a:solidFill>
                <a:schemeClr val="dk1"/>
              </a:solidFill>
              <a:latin typeface="Calibri"/>
              <a:ea typeface="Calibri"/>
              <a:cs typeface="Calibri"/>
              <a:sym typeface="Calibri"/>
            </a:endParaRPr>
          </a:p>
          <a:p>
            <a:pPr indent="0" lvl="0" marL="0" marR="0" rtl="0" algn="l">
              <a:lnSpc>
                <a:spcPct val="142857"/>
              </a:lnSpc>
              <a:spcBef>
                <a:spcPts val="0"/>
              </a:spcBef>
              <a:spcAft>
                <a:spcPts val="0"/>
              </a:spcAft>
              <a:buClr>
                <a:srgbClr val="E9E3F3"/>
              </a:buClr>
              <a:buSzPts val="1050"/>
              <a:buFont typeface="Courier New"/>
              <a:buNone/>
            </a:pPr>
            <a:r>
              <a:rPr b="0" i="0" lang="en-US" sz="1050" u="none" cap="none" strike="noStrike">
                <a:solidFill>
                  <a:srgbClr val="E9E3F3"/>
                </a:solidFill>
                <a:latin typeface="Courier New"/>
                <a:ea typeface="Courier New"/>
                <a:cs typeface="Courier New"/>
                <a:sym typeface="Courier New"/>
              </a:rPr>
              <a:t>H1 = np.maximum(0, np.dot(W1, X) + b1) * keep_prob</a:t>
            </a:r>
            <a:endParaRPr b="0" i="0" sz="1050" u="none" cap="none" strike="noStrike">
              <a:solidFill>
                <a:schemeClr val="dk1"/>
              </a:solidFill>
              <a:latin typeface="Calibri"/>
              <a:ea typeface="Calibri"/>
              <a:cs typeface="Calibri"/>
              <a:sym typeface="Calibri"/>
            </a:endParaRPr>
          </a:p>
        </p:txBody>
      </p:sp>
      <p:sp>
        <p:nvSpPr>
          <p:cNvPr id="1935" name="Google Shape;1935;p58"/>
          <p:cNvSpPr/>
          <p:nvPr/>
        </p:nvSpPr>
        <p:spPr>
          <a:xfrm>
            <a:off x="6675120" y="3611880"/>
            <a:ext cx="4956048" cy="2103120"/>
          </a:xfrm>
          <a:prstGeom prst="roundRect">
            <a:avLst>
              <a:gd fmla="val 3913" name="adj"/>
            </a:avLst>
          </a:prstGeom>
          <a:solidFill>
            <a:srgbClr val="F9E3C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58"/>
          <p:cNvSpPr/>
          <p:nvPr/>
        </p:nvSpPr>
        <p:spPr>
          <a:xfrm>
            <a:off x="6949440" y="3721608"/>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350"/>
              <a:buFont typeface="Cambria"/>
              <a:buNone/>
            </a:pPr>
            <a:r>
              <a:rPr b="1" i="0" lang="en-US" sz="1350" u="none" cap="none" strike="noStrike">
                <a:solidFill>
                  <a:srgbClr val="C4661F"/>
                </a:solidFill>
                <a:latin typeface="Cambria"/>
                <a:ea typeface="Cambria"/>
                <a:cs typeface="Cambria"/>
                <a:sym typeface="Cambria"/>
              </a:rPr>
              <a:t>Implementation 2 — inverted dropout</a:t>
            </a:r>
            <a:endParaRPr b="0" i="0" sz="1350" u="none" cap="none" strike="noStrike">
              <a:solidFill>
                <a:schemeClr val="dk1"/>
              </a:solidFill>
              <a:latin typeface="Calibri"/>
              <a:ea typeface="Calibri"/>
              <a:cs typeface="Calibri"/>
              <a:sym typeface="Calibri"/>
            </a:endParaRPr>
          </a:p>
        </p:txBody>
      </p:sp>
      <p:sp>
        <p:nvSpPr>
          <p:cNvPr id="1937" name="Google Shape;1937;p58"/>
          <p:cNvSpPr/>
          <p:nvPr/>
        </p:nvSpPr>
        <p:spPr>
          <a:xfrm>
            <a:off x="6949440" y="4069080"/>
            <a:ext cx="4434840" cy="150876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241C2E"/>
              </a:buClr>
              <a:buSzPts val="1000"/>
              <a:buFont typeface="Courier New"/>
              <a:buNone/>
            </a:pPr>
            <a:r>
              <a:rPr b="0" i="0" lang="en-US" sz="1000" u="none" cap="none" strike="noStrike">
                <a:solidFill>
                  <a:srgbClr val="241C2E"/>
                </a:solidFill>
                <a:latin typeface="Courier New"/>
                <a:ea typeface="Courier New"/>
                <a:cs typeface="Courier New"/>
                <a:sym typeface="Courier New"/>
              </a:rPr>
              <a:t># forward pass</a:t>
            </a:r>
            <a:endParaRPr b="0" i="0" sz="1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241C2E"/>
              </a:buClr>
              <a:buSzPts val="1000"/>
              <a:buFont typeface="Courier New"/>
              <a:buNone/>
            </a:pPr>
            <a:r>
              <a:rPr b="0" i="0" lang="en-US" sz="1000" u="none" cap="none" strike="noStrike">
                <a:solidFill>
                  <a:srgbClr val="241C2E"/>
                </a:solidFill>
                <a:latin typeface="Courier New"/>
                <a:ea typeface="Courier New"/>
                <a:cs typeface="Courier New"/>
                <a:sym typeface="Courier New"/>
              </a:rPr>
              <a:t>D1 = (np.random.rand(*H1.shape) &lt; keep_prob) / keep_prob</a:t>
            </a:r>
            <a:endParaRPr b="0" i="0" sz="1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241C2E"/>
              </a:buClr>
              <a:buSzPts val="1000"/>
              <a:buFont typeface="Courier New"/>
              <a:buNone/>
            </a:pPr>
            <a:r>
              <a:rPr b="0" i="0" lang="en-US" sz="1000" u="none" cap="none" strike="noStrike">
                <a:solidFill>
                  <a:srgbClr val="241C2E"/>
                </a:solidFill>
                <a:latin typeface="Courier New"/>
                <a:ea typeface="Courier New"/>
                <a:cs typeface="Courier New"/>
                <a:sym typeface="Courier New"/>
              </a:rPr>
              <a:t>H1 *= D1</a:t>
            </a:r>
            <a:endParaRPr b="0" i="0" sz="1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241C2E"/>
              </a:buClr>
              <a:buSzPts val="1000"/>
              <a:buFont typeface="Courier New"/>
              <a:buNone/>
            </a:pPr>
            <a:r>
              <a:rPr b="0" i="0" lang="en-US" sz="1000" u="none" cap="none" strike="noStrike">
                <a:solidFill>
                  <a:srgbClr val="241C2E"/>
                </a:solidFill>
                <a:latin typeface="Courier New"/>
                <a:ea typeface="Courier New"/>
                <a:cs typeface="Courier New"/>
                <a:sym typeface="Courier New"/>
              </a:rPr>
              <a:t># prediction</a:t>
            </a:r>
            <a:endParaRPr b="0" i="0" sz="10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241C2E"/>
              </a:buClr>
              <a:buSzPts val="1000"/>
              <a:buFont typeface="Courier New"/>
              <a:buNone/>
            </a:pPr>
            <a:r>
              <a:rPr b="0" i="0" lang="en-US" sz="1000" u="none" cap="none" strike="noStrike">
                <a:solidFill>
                  <a:srgbClr val="241C2E"/>
                </a:solidFill>
                <a:latin typeface="Courier New"/>
                <a:ea typeface="Courier New"/>
                <a:cs typeface="Courier New"/>
                <a:sym typeface="Courier New"/>
              </a:rPr>
              <a:t>H1 = np.maximum(0, np.dot(W1, X) + b1)</a:t>
            </a:r>
            <a:endParaRPr b="0" i="0" sz="1000" u="none" cap="none" strike="noStrike">
              <a:solidFill>
                <a:schemeClr val="dk1"/>
              </a:solidFill>
              <a:latin typeface="Calibri"/>
              <a:ea typeface="Calibri"/>
              <a:cs typeface="Calibri"/>
              <a:sym typeface="Calibri"/>
            </a:endParaRPr>
          </a:p>
        </p:txBody>
      </p:sp>
      <p:sp>
        <p:nvSpPr>
          <p:cNvPr id="1938" name="Google Shape;1938;p58"/>
          <p:cNvSpPr/>
          <p:nvPr/>
        </p:nvSpPr>
        <p:spPr>
          <a:xfrm>
            <a:off x="566928" y="5257800"/>
            <a:ext cx="5943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Inverted dropout does the scaling during training, so the prediction code stays unchanged. This is what modern frameworks implement.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3" name="Shape 1943"/>
        <p:cNvGrpSpPr/>
        <p:nvPr/>
      </p:nvGrpSpPr>
      <p:grpSpPr>
        <a:xfrm>
          <a:off x="0" y="0"/>
          <a:ext cx="0" cy="0"/>
          <a:chOff x="0" y="0"/>
          <a:chExt cx="0" cy="0"/>
        </a:xfrm>
      </p:grpSpPr>
      <p:sp>
        <p:nvSpPr>
          <p:cNvPr id="1944" name="Google Shape;1944;p5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RECAP</a:t>
            </a:r>
            <a:endParaRPr b="0" i="0" sz="1050" u="none" cap="none" strike="noStrike">
              <a:solidFill>
                <a:schemeClr val="dk1"/>
              </a:solidFill>
              <a:latin typeface="Calibri"/>
              <a:ea typeface="Calibri"/>
              <a:cs typeface="Calibri"/>
              <a:sym typeface="Calibri"/>
            </a:endParaRPr>
          </a:p>
        </p:txBody>
      </p:sp>
      <p:sp>
        <p:nvSpPr>
          <p:cNvPr id="1945" name="Google Shape;1945;p5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What to take away</a:t>
            </a:r>
            <a:endParaRPr b="0" i="0" sz="2800" u="none" cap="none" strike="noStrike">
              <a:solidFill>
                <a:schemeClr val="dk1"/>
              </a:solidFill>
              <a:latin typeface="Calibri"/>
              <a:ea typeface="Calibri"/>
              <a:cs typeface="Calibri"/>
              <a:sym typeface="Calibri"/>
            </a:endParaRPr>
          </a:p>
        </p:txBody>
      </p:sp>
      <p:sp>
        <p:nvSpPr>
          <p:cNvPr id="1946" name="Google Shape;1946;p59"/>
          <p:cNvSpPr/>
          <p:nvPr/>
        </p:nvSpPr>
        <p:spPr>
          <a:xfrm>
            <a:off x="566928" y="1371600"/>
            <a:ext cx="2121408" cy="3931920"/>
          </a:xfrm>
          <a:prstGeom prst="roundRect">
            <a:avLst>
              <a:gd fmla="val 387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59"/>
          <p:cNvSpPr/>
          <p:nvPr/>
        </p:nvSpPr>
        <p:spPr>
          <a:xfrm>
            <a:off x="768096" y="1572768"/>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59"/>
          <p:cNvSpPr/>
          <p:nvPr/>
        </p:nvSpPr>
        <p:spPr>
          <a:xfrm>
            <a:off x="768096" y="1572768"/>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01</a:t>
            </a:r>
            <a:endParaRPr b="0" i="0" sz="1400" u="none" cap="none" strike="noStrike">
              <a:solidFill>
                <a:schemeClr val="dk1"/>
              </a:solidFill>
              <a:latin typeface="Calibri"/>
              <a:ea typeface="Calibri"/>
              <a:cs typeface="Calibri"/>
              <a:sym typeface="Calibri"/>
            </a:endParaRPr>
          </a:p>
        </p:txBody>
      </p:sp>
      <p:sp>
        <p:nvSpPr>
          <p:cNvPr id="1949" name="Google Shape;1949;p59"/>
          <p:cNvSpPr/>
          <p:nvPr/>
        </p:nvSpPr>
        <p:spPr>
          <a:xfrm>
            <a:off x="768096" y="2157984"/>
            <a:ext cx="1737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Representation is everything</a:t>
            </a:r>
            <a:endParaRPr b="0" i="0" sz="1400" u="none" cap="none" strike="noStrike">
              <a:solidFill>
                <a:schemeClr val="dk1"/>
              </a:solidFill>
              <a:latin typeface="Calibri"/>
              <a:ea typeface="Calibri"/>
              <a:cs typeface="Calibri"/>
              <a:sym typeface="Calibri"/>
            </a:endParaRPr>
          </a:p>
        </p:txBody>
      </p:sp>
      <p:sp>
        <p:nvSpPr>
          <p:cNvPr id="1950" name="Google Shape;1950;p59"/>
          <p:cNvSpPr/>
          <p:nvPr/>
        </p:nvSpPr>
        <p:spPr>
          <a:xfrm>
            <a:off x="768096" y="2926080"/>
            <a:ext cx="173736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Deep learning wins because it learns φ instead of asking a human to design it. Depth builds complex concepts out of simpler ones.</a:t>
            </a:r>
            <a:endParaRPr b="0" i="0" sz="1150" u="none" cap="none" strike="noStrike">
              <a:solidFill>
                <a:schemeClr val="dk1"/>
              </a:solidFill>
              <a:latin typeface="Calibri"/>
              <a:ea typeface="Calibri"/>
              <a:cs typeface="Calibri"/>
              <a:sym typeface="Calibri"/>
            </a:endParaRPr>
          </a:p>
        </p:txBody>
      </p:sp>
      <p:sp>
        <p:nvSpPr>
          <p:cNvPr id="1951" name="Google Shape;1951;p59"/>
          <p:cNvSpPr/>
          <p:nvPr/>
        </p:nvSpPr>
        <p:spPr>
          <a:xfrm>
            <a:off x="2852928" y="1371600"/>
            <a:ext cx="2121408" cy="3931920"/>
          </a:xfrm>
          <a:prstGeom prst="roundRect">
            <a:avLst>
              <a:gd fmla="val 387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59"/>
          <p:cNvSpPr/>
          <p:nvPr/>
        </p:nvSpPr>
        <p:spPr>
          <a:xfrm>
            <a:off x="3054096" y="1572768"/>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59"/>
          <p:cNvSpPr/>
          <p:nvPr/>
        </p:nvSpPr>
        <p:spPr>
          <a:xfrm>
            <a:off x="3054096" y="1572768"/>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02</a:t>
            </a:r>
            <a:endParaRPr b="0" i="0" sz="1400" u="none" cap="none" strike="noStrike">
              <a:solidFill>
                <a:schemeClr val="dk1"/>
              </a:solidFill>
              <a:latin typeface="Calibri"/>
              <a:ea typeface="Calibri"/>
              <a:cs typeface="Calibri"/>
              <a:sym typeface="Calibri"/>
            </a:endParaRPr>
          </a:p>
        </p:txBody>
      </p:sp>
      <p:sp>
        <p:nvSpPr>
          <p:cNvPr id="1954" name="Google Shape;1954;p59"/>
          <p:cNvSpPr/>
          <p:nvPr/>
        </p:nvSpPr>
        <p:spPr>
          <a:xfrm>
            <a:off x="3054096" y="2157984"/>
            <a:ext cx="1737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Capacity must be controlled</a:t>
            </a:r>
            <a:endParaRPr b="0" i="0" sz="1400" u="none" cap="none" strike="noStrike">
              <a:solidFill>
                <a:schemeClr val="dk1"/>
              </a:solidFill>
              <a:latin typeface="Calibri"/>
              <a:ea typeface="Calibri"/>
              <a:cs typeface="Calibri"/>
              <a:sym typeface="Calibri"/>
            </a:endParaRPr>
          </a:p>
        </p:txBody>
      </p:sp>
      <p:sp>
        <p:nvSpPr>
          <p:cNvPr id="1955" name="Google Shape;1955;p59"/>
          <p:cNvSpPr/>
          <p:nvPr/>
        </p:nvSpPr>
        <p:spPr>
          <a:xfrm>
            <a:off x="3054096" y="2926080"/>
            <a:ext cx="173736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Underfitting and overfitting are two sides of the bias–variance trade-off. Validation sets — never the test set — are how we tune it.</a:t>
            </a:r>
            <a:endParaRPr b="0" i="0" sz="1150" u="none" cap="none" strike="noStrike">
              <a:solidFill>
                <a:schemeClr val="dk1"/>
              </a:solidFill>
              <a:latin typeface="Calibri"/>
              <a:ea typeface="Calibri"/>
              <a:cs typeface="Calibri"/>
              <a:sym typeface="Calibri"/>
            </a:endParaRPr>
          </a:p>
        </p:txBody>
      </p:sp>
      <p:sp>
        <p:nvSpPr>
          <p:cNvPr id="1956" name="Google Shape;1956;p59"/>
          <p:cNvSpPr/>
          <p:nvPr/>
        </p:nvSpPr>
        <p:spPr>
          <a:xfrm>
            <a:off x="5138928" y="1371600"/>
            <a:ext cx="2121408" cy="3931920"/>
          </a:xfrm>
          <a:prstGeom prst="roundRect">
            <a:avLst>
              <a:gd fmla="val 387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59"/>
          <p:cNvSpPr/>
          <p:nvPr/>
        </p:nvSpPr>
        <p:spPr>
          <a:xfrm>
            <a:off x="5340096" y="1572768"/>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59"/>
          <p:cNvSpPr/>
          <p:nvPr/>
        </p:nvSpPr>
        <p:spPr>
          <a:xfrm>
            <a:off x="5340096" y="1572768"/>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03</a:t>
            </a:r>
            <a:endParaRPr b="0" i="0" sz="1400" u="none" cap="none" strike="noStrike">
              <a:solidFill>
                <a:schemeClr val="dk1"/>
              </a:solidFill>
              <a:latin typeface="Calibri"/>
              <a:ea typeface="Calibri"/>
              <a:cs typeface="Calibri"/>
              <a:sym typeface="Calibri"/>
            </a:endParaRPr>
          </a:p>
        </p:txBody>
      </p:sp>
      <p:sp>
        <p:nvSpPr>
          <p:cNvPr id="1959" name="Google Shape;1959;p59"/>
          <p:cNvSpPr/>
          <p:nvPr/>
        </p:nvSpPr>
        <p:spPr>
          <a:xfrm>
            <a:off x="5340096" y="2157984"/>
            <a:ext cx="1737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Backprop is just the chain rule</a:t>
            </a:r>
            <a:endParaRPr b="0" i="0" sz="1400" u="none" cap="none" strike="noStrike">
              <a:solidFill>
                <a:schemeClr val="dk1"/>
              </a:solidFill>
              <a:latin typeface="Calibri"/>
              <a:ea typeface="Calibri"/>
              <a:cs typeface="Calibri"/>
              <a:sym typeface="Calibri"/>
            </a:endParaRPr>
          </a:p>
        </p:txBody>
      </p:sp>
      <p:sp>
        <p:nvSpPr>
          <p:cNvPr id="1960" name="Google Shape;1960;p59"/>
          <p:cNvSpPr/>
          <p:nvPr/>
        </p:nvSpPr>
        <p:spPr>
          <a:xfrm>
            <a:off x="5340096" y="2926080"/>
            <a:ext cx="173736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Forward pass for inference, backward pass for learning. Hidden units have no targets, so we use error derivatives with respect to their outputs.</a:t>
            </a:r>
            <a:endParaRPr b="0" i="0" sz="1150" u="none" cap="none" strike="noStrike">
              <a:solidFill>
                <a:schemeClr val="dk1"/>
              </a:solidFill>
              <a:latin typeface="Calibri"/>
              <a:ea typeface="Calibri"/>
              <a:cs typeface="Calibri"/>
              <a:sym typeface="Calibri"/>
            </a:endParaRPr>
          </a:p>
        </p:txBody>
      </p:sp>
      <p:sp>
        <p:nvSpPr>
          <p:cNvPr id="1961" name="Google Shape;1961;p59"/>
          <p:cNvSpPr/>
          <p:nvPr/>
        </p:nvSpPr>
        <p:spPr>
          <a:xfrm>
            <a:off x="7424928" y="1371600"/>
            <a:ext cx="2121408" cy="3931920"/>
          </a:xfrm>
          <a:prstGeom prst="roundRect">
            <a:avLst>
              <a:gd fmla="val 3879"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59"/>
          <p:cNvSpPr/>
          <p:nvPr/>
        </p:nvSpPr>
        <p:spPr>
          <a:xfrm>
            <a:off x="7626096" y="1572768"/>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59"/>
          <p:cNvSpPr/>
          <p:nvPr/>
        </p:nvSpPr>
        <p:spPr>
          <a:xfrm>
            <a:off x="7626096" y="1572768"/>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04</a:t>
            </a:r>
            <a:endParaRPr b="0" i="0" sz="1400" u="none" cap="none" strike="noStrike">
              <a:solidFill>
                <a:schemeClr val="dk1"/>
              </a:solidFill>
              <a:latin typeface="Calibri"/>
              <a:ea typeface="Calibri"/>
              <a:cs typeface="Calibri"/>
              <a:sym typeface="Calibri"/>
            </a:endParaRPr>
          </a:p>
        </p:txBody>
      </p:sp>
      <p:sp>
        <p:nvSpPr>
          <p:cNvPr id="1964" name="Google Shape;1964;p59"/>
          <p:cNvSpPr/>
          <p:nvPr/>
        </p:nvSpPr>
        <p:spPr>
          <a:xfrm>
            <a:off x="7626096" y="2157984"/>
            <a:ext cx="1737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The output unit picks the cost</a:t>
            </a:r>
            <a:endParaRPr b="0" i="0" sz="1400" u="none" cap="none" strike="noStrike">
              <a:solidFill>
                <a:schemeClr val="dk1"/>
              </a:solidFill>
              <a:latin typeface="Calibri"/>
              <a:ea typeface="Calibri"/>
              <a:cs typeface="Calibri"/>
              <a:sym typeface="Calibri"/>
            </a:endParaRPr>
          </a:p>
        </p:txBody>
      </p:sp>
      <p:sp>
        <p:nvSpPr>
          <p:cNvPr id="1965" name="Google Shape;1965;p59"/>
          <p:cNvSpPr/>
          <p:nvPr/>
        </p:nvSpPr>
        <p:spPr>
          <a:xfrm>
            <a:off x="7626096" y="2926080"/>
            <a:ext cx="173736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Gaussian → linear + MSE. Bernoulli → sigmoid + cross-entropy. Multinoulli → softmax + cross-entropy. ReLU is the default hidden unit.</a:t>
            </a:r>
            <a:endParaRPr b="0" i="0" sz="1150" u="none" cap="none" strike="noStrike">
              <a:solidFill>
                <a:schemeClr val="dk1"/>
              </a:solidFill>
              <a:latin typeface="Calibri"/>
              <a:ea typeface="Calibri"/>
              <a:cs typeface="Calibri"/>
              <a:sym typeface="Calibri"/>
            </a:endParaRPr>
          </a:p>
        </p:txBody>
      </p:sp>
      <p:sp>
        <p:nvSpPr>
          <p:cNvPr id="1966" name="Google Shape;1966;p59"/>
          <p:cNvSpPr/>
          <p:nvPr/>
        </p:nvSpPr>
        <p:spPr>
          <a:xfrm>
            <a:off x="9710928" y="1371600"/>
            <a:ext cx="2121408" cy="3931920"/>
          </a:xfrm>
          <a:prstGeom prst="roundRect">
            <a:avLst>
              <a:gd fmla="val 387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59"/>
          <p:cNvSpPr/>
          <p:nvPr/>
        </p:nvSpPr>
        <p:spPr>
          <a:xfrm>
            <a:off x="9912096" y="1572768"/>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59"/>
          <p:cNvSpPr/>
          <p:nvPr/>
        </p:nvSpPr>
        <p:spPr>
          <a:xfrm>
            <a:off x="9912096" y="1572768"/>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05</a:t>
            </a:r>
            <a:endParaRPr b="0" i="0" sz="1400" u="none" cap="none" strike="noStrike">
              <a:solidFill>
                <a:schemeClr val="dk1"/>
              </a:solidFill>
              <a:latin typeface="Calibri"/>
              <a:ea typeface="Calibri"/>
              <a:cs typeface="Calibri"/>
              <a:sym typeface="Calibri"/>
            </a:endParaRPr>
          </a:p>
        </p:txBody>
      </p:sp>
      <p:sp>
        <p:nvSpPr>
          <p:cNvPr id="1969" name="Google Shape;1969;p59"/>
          <p:cNvSpPr/>
          <p:nvPr/>
        </p:nvSpPr>
        <p:spPr>
          <a:xfrm>
            <a:off x="9912096" y="2157984"/>
            <a:ext cx="1737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Train big, then regularize</a:t>
            </a:r>
            <a:endParaRPr b="0" i="0" sz="1400" u="none" cap="none" strike="noStrike">
              <a:solidFill>
                <a:schemeClr val="dk1"/>
              </a:solidFill>
              <a:latin typeface="Calibri"/>
              <a:ea typeface="Calibri"/>
              <a:cs typeface="Calibri"/>
              <a:sym typeface="Calibri"/>
            </a:endParaRPr>
          </a:p>
        </p:txBody>
      </p:sp>
      <p:sp>
        <p:nvSpPr>
          <p:cNvPr id="1970" name="Google Shape;1970;p59"/>
          <p:cNvSpPr/>
          <p:nvPr/>
        </p:nvSpPr>
        <p:spPr>
          <a:xfrm>
            <a:off x="9912096" y="2926080"/>
            <a:ext cx="173736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Norm penalties, augmentation, noise, early stopping and dropout all buy a large reduction in variance for a small increase in bias.</a:t>
            </a:r>
            <a:endParaRPr b="0" i="0" sz="1150" u="none" cap="none" strike="noStrike">
              <a:solidFill>
                <a:schemeClr val="dk1"/>
              </a:solidFill>
              <a:latin typeface="Calibri"/>
              <a:ea typeface="Calibri"/>
              <a:cs typeface="Calibri"/>
              <a:sym typeface="Calibri"/>
            </a:endParaRPr>
          </a:p>
        </p:txBody>
      </p:sp>
      <p:sp>
        <p:nvSpPr>
          <p:cNvPr id="1971" name="Google Shape;1971;p59"/>
          <p:cNvSpPr/>
          <p:nvPr/>
        </p:nvSpPr>
        <p:spPr>
          <a:xfrm>
            <a:off x="566928" y="5486400"/>
            <a:ext cx="11057839" cy="658368"/>
          </a:xfrm>
          <a:prstGeom prst="roundRect">
            <a:avLst>
              <a:gd fmla="val 12500"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9"/>
          <p:cNvSpPr/>
          <p:nvPr/>
        </p:nvSpPr>
        <p:spPr>
          <a:xfrm>
            <a:off x="886968" y="5486400"/>
            <a:ext cx="10417759"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250"/>
              <a:buFont typeface="Calibri"/>
              <a:buNone/>
            </a:pPr>
            <a:r>
              <a:rPr b="1" i="0" lang="en-US" sz="1250" u="none" cap="none" strike="noStrike">
                <a:solidFill>
                  <a:srgbClr val="241C2E"/>
                </a:solidFill>
                <a:latin typeface="Calibri"/>
                <a:ea typeface="Calibri"/>
                <a:cs typeface="Calibri"/>
                <a:sym typeface="Calibri"/>
              </a:rPr>
              <a:t>Everything today assumed we could actually minimise the cost. How we do that — efficiently, at scale — is the subject of the next section.</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1977" name="Shape 1977"/>
        <p:cNvGrpSpPr/>
        <p:nvPr/>
      </p:nvGrpSpPr>
      <p:grpSpPr>
        <a:xfrm>
          <a:off x="0" y="0"/>
          <a:ext cx="0" cy="0"/>
          <a:chOff x="0" y="0"/>
          <a:chExt cx="0" cy="0"/>
        </a:xfrm>
      </p:grpSpPr>
      <p:cxnSp>
        <p:nvCxnSpPr>
          <p:cNvPr id="1978" name="Google Shape;1978;p60"/>
          <p:cNvCxnSpPr/>
          <p:nvPr/>
        </p:nvCxnSpPr>
        <p:spPr>
          <a:xfrm flipH="1" rot="10800000">
            <a:off x="7955280" y="1700784"/>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979" name="Google Shape;1979;p60"/>
          <p:cNvCxnSpPr/>
          <p:nvPr/>
        </p:nvCxnSpPr>
        <p:spPr>
          <a:xfrm>
            <a:off x="7955280" y="211226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980" name="Google Shape;1980;p60"/>
          <p:cNvCxnSpPr/>
          <p:nvPr/>
        </p:nvCxnSpPr>
        <p:spPr>
          <a:xfrm>
            <a:off x="7955280" y="2112264"/>
            <a:ext cx="1219200" cy="1810512"/>
          </a:xfrm>
          <a:prstGeom prst="straightConnector1">
            <a:avLst/>
          </a:prstGeom>
          <a:noFill/>
          <a:ln cap="flat" cmpd="sng" w="9525">
            <a:solidFill>
              <a:srgbClr val="9C8CC4"/>
            </a:solidFill>
            <a:prstDash val="solid"/>
            <a:round/>
            <a:headEnd len="sm" w="sm" type="none"/>
            <a:tailEnd len="sm" w="sm" type="none"/>
          </a:ln>
        </p:spPr>
      </p:cxnSp>
      <p:cxnSp>
        <p:nvCxnSpPr>
          <p:cNvPr id="1981" name="Google Shape;1981;p60"/>
          <p:cNvCxnSpPr/>
          <p:nvPr/>
        </p:nvCxnSpPr>
        <p:spPr>
          <a:xfrm>
            <a:off x="7955280" y="2112264"/>
            <a:ext cx="1219200" cy="2962656"/>
          </a:xfrm>
          <a:prstGeom prst="straightConnector1">
            <a:avLst/>
          </a:prstGeom>
          <a:noFill/>
          <a:ln cap="flat" cmpd="sng" w="9525">
            <a:solidFill>
              <a:srgbClr val="9C8CC4"/>
            </a:solidFill>
            <a:prstDash val="solid"/>
            <a:round/>
            <a:headEnd len="sm" w="sm" type="none"/>
            <a:tailEnd len="sm" w="sm" type="none"/>
          </a:ln>
        </p:spPr>
      </p:cxnSp>
      <p:cxnSp>
        <p:nvCxnSpPr>
          <p:cNvPr id="1982" name="Google Shape;1982;p60"/>
          <p:cNvCxnSpPr/>
          <p:nvPr/>
        </p:nvCxnSpPr>
        <p:spPr>
          <a:xfrm flipH="1" rot="10800000">
            <a:off x="7955280" y="1700784"/>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1983" name="Google Shape;1983;p60"/>
          <p:cNvCxnSpPr/>
          <p:nvPr/>
        </p:nvCxnSpPr>
        <p:spPr>
          <a:xfrm flipH="1" rot="10800000">
            <a:off x="7955280" y="2770632"/>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984" name="Google Shape;1984;p60"/>
          <p:cNvCxnSpPr/>
          <p:nvPr/>
        </p:nvCxnSpPr>
        <p:spPr>
          <a:xfrm>
            <a:off x="7955280" y="3429000"/>
            <a:ext cx="1219200" cy="493776"/>
          </a:xfrm>
          <a:prstGeom prst="straightConnector1">
            <a:avLst/>
          </a:prstGeom>
          <a:noFill/>
          <a:ln cap="flat" cmpd="sng" w="9525">
            <a:solidFill>
              <a:srgbClr val="9C8CC4"/>
            </a:solidFill>
            <a:prstDash val="solid"/>
            <a:round/>
            <a:headEnd len="sm" w="sm" type="none"/>
            <a:tailEnd len="sm" w="sm" type="none"/>
          </a:ln>
        </p:spPr>
      </p:cxnSp>
      <p:cxnSp>
        <p:nvCxnSpPr>
          <p:cNvPr id="1985" name="Google Shape;1985;p60"/>
          <p:cNvCxnSpPr/>
          <p:nvPr/>
        </p:nvCxnSpPr>
        <p:spPr>
          <a:xfrm>
            <a:off x="7955280" y="3429000"/>
            <a:ext cx="1219200" cy="1645920"/>
          </a:xfrm>
          <a:prstGeom prst="straightConnector1">
            <a:avLst/>
          </a:prstGeom>
          <a:noFill/>
          <a:ln cap="flat" cmpd="sng" w="9525">
            <a:solidFill>
              <a:srgbClr val="9C8CC4"/>
            </a:solidFill>
            <a:prstDash val="solid"/>
            <a:round/>
            <a:headEnd len="sm" w="sm" type="none"/>
            <a:tailEnd len="sm" w="sm" type="none"/>
          </a:ln>
        </p:spPr>
      </p:cxnSp>
      <p:cxnSp>
        <p:nvCxnSpPr>
          <p:cNvPr id="1986" name="Google Shape;1986;p60"/>
          <p:cNvCxnSpPr/>
          <p:nvPr/>
        </p:nvCxnSpPr>
        <p:spPr>
          <a:xfrm flipH="1" rot="10800000">
            <a:off x="7955280" y="1700784"/>
            <a:ext cx="1219200" cy="3044952"/>
          </a:xfrm>
          <a:prstGeom prst="straightConnector1">
            <a:avLst/>
          </a:prstGeom>
          <a:noFill/>
          <a:ln cap="flat" cmpd="sng" w="9525">
            <a:solidFill>
              <a:srgbClr val="9C8CC4"/>
            </a:solidFill>
            <a:prstDash val="solid"/>
            <a:round/>
            <a:headEnd len="sm" w="sm" type="none"/>
            <a:tailEnd len="sm" w="sm" type="none"/>
          </a:ln>
        </p:spPr>
      </p:cxnSp>
      <p:cxnSp>
        <p:nvCxnSpPr>
          <p:cNvPr id="1987" name="Google Shape;1987;p60"/>
          <p:cNvCxnSpPr/>
          <p:nvPr/>
        </p:nvCxnSpPr>
        <p:spPr>
          <a:xfrm flipH="1" rot="10800000">
            <a:off x="7955280" y="277063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1988" name="Google Shape;1988;p60"/>
          <p:cNvCxnSpPr/>
          <p:nvPr/>
        </p:nvCxnSpPr>
        <p:spPr>
          <a:xfrm flipH="1" rot="10800000">
            <a:off x="7955280" y="3922776"/>
            <a:ext cx="1219200" cy="822960"/>
          </a:xfrm>
          <a:prstGeom prst="straightConnector1">
            <a:avLst/>
          </a:prstGeom>
          <a:noFill/>
          <a:ln cap="flat" cmpd="sng" w="9525">
            <a:solidFill>
              <a:srgbClr val="9C8CC4"/>
            </a:solidFill>
            <a:prstDash val="solid"/>
            <a:round/>
            <a:headEnd len="sm" w="sm" type="none"/>
            <a:tailEnd len="sm" w="sm" type="none"/>
          </a:ln>
        </p:spPr>
      </p:cxnSp>
      <p:cxnSp>
        <p:nvCxnSpPr>
          <p:cNvPr id="1989" name="Google Shape;1989;p60"/>
          <p:cNvCxnSpPr/>
          <p:nvPr/>
        </p:nvCxnSpPr>
        <p:spPr>
          <a:xfrm>
            <a:off x="7955280" y="4745736"/>
            <a:ext cx="1219200" cy="329184"/>
          </a:xfrm>
          <a:prstGeom prst="straightConnector1">
            <a:avLst/>
          </a:prstGeom>
          <a:noFill/>
          <a:ln cap="flat" cmpd="sng" w="9525">
            <a:solidFill>
              <a:srgbClr val="9C8CC4"/>
            </a:solidFill>
            <a:prstDash val="solid"/>
            <a:round/>
            <a:headEnd len="sm" w="sm" type="none"/>
            <a:tailEnd len="sm" w="sm" type="none"/>
          </a:ln>
        </p:spPr>
      </p:cxnSp>
      <p:cxnSp>
        <p:nvCxnSpPr>
          <p:cNvPr id="1990" name="Google Shape;1990;p60"/>
          <p:cNvCxnSpPr/>
          <p:nvPr/>
        </p:nvCxnSpPr>
        <p:spPr>
          <a:xfrm>
            <a:off x="9174480" y="1700784"/>
            <a:ext cx="1219200" cy="658368"/>
          </a:xfrm>
          <a:prstGeom prst="straightConnector1">
            <a:avLst/>
          </a:prstGeom>
          <a:noFill/>
          <a:ln cap="flat" cmpd="sng" w="9525">
            <a:solidFill>
              <a:srgbClr val="9C8CC4"/>
            </a:solidFill>
            <a:prstDash val="solid"/>
            <a:round/>
            <a:headEnd len="sm" w="sm" type="none"/>
            <a:tailEnd len="sm" w="sm" type="none"/>
          </a:ln>
        </p:spPr>
      </p:cxnSp>
      <p:cxnSp>
        <p:nvCxnSpPr>
          <p:cNvPr id="1991" name="Google Shape;1991;p60"/>
          <p:cNvCxnSpPr/>
          <p:nvPr/>
        </p:nvCxnSpPr>
        <p:spPr>
          <a:xfrm>
            <a:off x="9174480" y="1700784"/>
            <a:ext cx="1219200" cy="1933956"/>
          </a:xfrm>
          <a:prstGeom prst="straightConnector1">
            <a:avLst/>
          </a:prstGeom>
          <a:noFill/>
          <a:ln cap="flat" cmpd="sng" w="9525">
            <a:solidFill>
              <a:srgbClr val="9C8CC4"/>
            </a:solidFill>
            <a:prstDash val="solid"/>
            <a:round/>
            <a:headEnd len="sm" w="sm" type="none"/>
            <a:tailEnd len="sm" w="sm" type="none"/>
          </a:ln>
        </p:spPr>
      </p:cxnSp>
      <p:cxnSp>
        <p:nvCxnSpPr>
          <p:cNvPr id="1992" name="Google Shape;1992;p60"/>
          <p:cNvCxnSpPr/>
          <p:nvPr/>
        </p:nvCxnSpPr>
        <p:spPr>
          <a:xfrm>
            <a:off x="9174480" y="1700784"/>
            <a:ext cx="1219200" cy="3127248"/>
          </a:xfrm>
          <a:prstGeom prst="straightConnector1">
            <a:avLst/>
          </a:prstGeom>
          <a:noFill/>
          <a:ln cap="flat" cmpd="sng" w="9525">
            <a:solidFill>
              <a:srgbClr val="9C8CC4"/>
            </a:solidFill>
            <a:prstDash val="solid"/>
            <a:round/>
            <a:headEnd len="sm" w="sm" type="none"/>
            <a:tailEnd len="sm" w="sm" type="none"/>
          </a:ln>
        </p:spPr>
      </p:cxnSp>
      <p:cxnSp>
        <p:nvCxnSpPr>
          <p:cNvPr id="1993" name="Google Shape;1993;p60"/>
          <p:cNvCxnSpPr/>
          <p:nvPr/>
        </p:nvCxnSpPr>
        <p:spPr>
          <a:xfrm flipH="1" rot="10800000">
            <a:off x="9174480" y="2359152"/>
            <a:ext cx="1219200" cy="411480"/>
          </a:xfrm>
          <a:prstGeom prst="straightConnector1">
            <a:avLst/>
          </a:prstGeom>
          <a:noFill/>
          <a:ln cap="flat" cmpd="sng" w="9525">
            <a:solidFill>
              <a:srgbClr val="9C8CC4"/>
            </a:solidFill>
            <a:prstDash val="solid"/>
            <a:round/>
            <a:headEnd len="sm" w="sm" type="none"/>
            <a:tailEnd len="sm" w="sm" type="none"/>
          </a:ln>
        </p:spPr>
      </p:cxnSp>
      <p:cxnSp>
        <p:nvCxnSpPr>
          <p:cNvPr id="1994" name="Google Shape;1994;p60"/>
          <p:cNvCxnSpPr/>
          <p:nvPr/>
        </p:nvCxnSpPr>
        <p:spPr>
          <a:xfrm>
            <a:off x="9174480" y="2770632"/>
            <a:ext cx="1219200" cy="864108"/>
          </a:xfrm>
          <a:prstGeom prst="straightConnector1">
            <a:avLst/>
          </a:prstGeom>
          <a:noFill/>
          <a:ln cap="flat" cmpd="sng" w="9525">
            <a:solidFill>
              <a:srgbClr val="9C8CC4"/>
            </a:solidFill>
            <a:prstDash val="solid"/>
            <a:round/>
            <a:headEnd len="sm" w="sm" type="none"/>
            <a:tailEnd len="sm" w="sm" type="none"/>
          </a:ln>
        </p:spPr>
      </p:cxnSp>
      <p:cxnSp>
        <p:nvCxnSpPr>
          <p:cNvPr id="1995" name="Google Shape;1995;p60"/>
          <p:cNvCxnSpPr/>
          <p:nvPr/>
        </p:nvCxnSpPr>
        <p:spPr>
          <a:xfrm>
            <a:off x="9174480" y="2770632"/>
            <a:ext cx="1219200" cy="2057400"/>
          </a:xfrm>
          <a:prstGeom prst="straightConnector1">
            <a:avLst/>
          </a:prstGeom>
          <a:noFill/>
          <a:ln cap="flat" cmpd="sng" w="9525">
            <a:solidFill>
              <a:srgbClr val="9C8CC4"/>
            </a:solidFill>
            <a:prstDash val="solid"/>
            <a:round/>
            <a:headEnd len="sm" w="sm" type="none"/>
            <a:tailEnd len="sm" w="sm" type="none"/>
          </a:ln>
        </p:spPr>
      </p:cxnSp>
      <p:cxnSp>
        <p:nvCxnSpPr>
          <p:cNvPr id="1996" name="Google Shape;1996;p60"/>
          <p:cNvCxnSpPr/>
          <p:nvPr/>
        </p:nvCxnSpPr>
        <p:spPr>
          <a:xfrm flipH="1" rot="10800000">
            <a:off x="9174480" y="2359152"/>
            <a:ext cx="1219200" cy="1563624"/>
          </a:xfrm>
          <a:prstGeom prst="straightConnector1">
            <a:avLst/>
          </a:prstGeom>
          <a:noFill/>
          <a:ln cap="flat" cmpd="sng" w="9525">
            <a:solidFill>
              <a:srgbClr val="9C8CC4"/>
            </a:solidFill>
            <a:prstDash val="solid"/>
            <a:round/>
            <a:headEnd len="sm" w="sm" type="none"/>
            <a:tailEnd len="sm" w="sm" type="none"/>
          </a:ln>
        </p:spPr>
      </p:cxnSp>
      <p:cxnSp>
        <p:nvCxnSpPr>
          <p:cNvPr id="1997" name="Google Shape;1997;p60"/>
          <p:cNvCxnSpPr/>
          <p:nvPr/>
        </p:nvCxnSpPr>
        <p:spPr>
          <a:xfrm flipH="1" rot="10800000">
            <a:off x="9174480" y="3634740"/>
            <a:ext cx="1219200" cy="288036"/>
          </a:xfrm>
          <a:prstGeom prst="straightConnector1">
            <a:avLst/>
          </a:prstGeom>
          <a:noFill/>
          <a:ln cap="flat" cmpd="sng" w="9525">
            <a:solidFill>
              <a:srgbClr val="9C8CC4"/>
            </a:solidFill>
            <a:prstDash val="solid"/>
            <a:round/>
            <a:headEnd len="sm" w="sm" type="none"/>
            <a:tailEnd len="sm" w="sm" type="none"/>
          </a:ln>
        </p:spPr>
      </p:cxnSp>
      <p:cxnSp>
        <p:nvCxnSpPr>
          <p:cNvPr id="1998" name="Google Shape;1998;p60"/>
          <p:cNvCxnSpPr/>
          <p:nvPr/>
        </p:nvCxnSpPr>
        <p:spPr>
          <a:xfrm>
            <a:off x="9174480" y="3922776"/>
            <a:ext cx="1219200" cy="905256"/>
          </a:xfrm>
          <a:prstGeom prst="straightConnector1">
            <a:avLst/>
          </a:prstGeom>
          <a:noFill/>
          <a:ln cap="flat" cmpd="sng" w="9525">
            <a:solidFill>
              <a:srgbClr val="9C8CC4"/>
            </a:solidFill>
            <a:prstDash val="solid"/>
            <a:round/>
            <a:headEnd len="sm" w="sm" type="none"/>
            <a:tailEnd len="sm" w="sm" type="none"/>
          </a:ln>
        </p:spPr>
      </p:cxnSp>
      <p:cxnSp>
        <p:nvCxnSpPr>
          <p:cNvPr id="1999" name="Google Shape;1999;p60"/>
          <p:cNvCxnSpPr/>
          <p:nvPr/>
        </p:nvCxnSpPr>
        <p:spPr>
          <a:xfrm flipH="1" rot="10800000">
            <a:off x="9174480" y="2359152"/>
            <a:ext cx="1219200" cy="2715768"/>
          </a:xfrm>
          <a:prstGeom prst="straightConnector1">
            <a:avLst/>
          </a:prstGeom>
          <a:noFill/>
          <a:ln cap="flat" cmpd="sng" w="9525">
            <a:solidFill>
              <a:srgbClr val="9C8CC4"/>
            </a:solidFill>
            <a:prstDash val="solid"/>
            <a:round/>
            <a:headEnd len="sm" w="sm" type="none"/>
            <a:tailEnd len="sm" w="sm" type="none"/>
          </a:ln>
        </p:spPr>
      </p:cxnSp>
      <p:cxnSp>
        <p:nvCxnSpPr>
          <p:cNvPr id="2000" name="Google Shape;2000;p60"/>
          <p:cNvCxnSpPr/>
          <p:nvPr/>
        </p:nvCxnSpPr>
        <p:spPr>
          <a:xfrm flipH="1" rot="10800000">
            <a:off x="9174480" y="3634740"/>
            <a:ext cx="1219200" cy="1440180"/>
          </a:xfrm>
          <a:prstGeom prst="straightConnector1">
            <a:avLst/>
          </a:prstGeom>
          <a:noFill/>
          <a:ln cap="flat" cmpd="sng" w="9525">
            <a:solidFill>
              <a:srgbClr val="9C8CC4"/>
            </a:solidFill>
            <a:prstDash val="solid"/>
            <a:round/>
            <a:headEnd len="sm" w="sm" type="none"/>
            <a:tailEnd len="sm" w="sm" type="none"/>
          </a:ln>
        </p:spPr>
      </p:cxnSp>
      <p:cxnSp>
        <p:nvCxnSpPr>
          <p:cNvPr id="2001" name="Google Shape;2001;p60"/>
          <p:cNvCxnSpPr/>
          <p:nvPr/>
        </p:nvCxnSpPr>
        <p:spPr>
          <a:xfrm flipH="1" rot="10800000">
            <a:off x="9174480" y="4828032"/>
            <a:ext cx="1219200" cy="246888"/>
          </a:xfrm>
          <a:prstGeom prst="straightConnector1">
            <a:avLst/>
          </a:prstGeom>
          <a:noFill/>
          <a:ln cap="flat" cmpd="sng" w="9525">
            <a:solidFill>
              <a:srgbClr val="9C8CC4"/>
            </a:solidFill>
            <a:prstDash val="solid"/>
            <a:round/>
            <a:headEnd len="sm" w="sm" type="none"/>
            <a:tailEnd len="sm" w="sm" type="none"/>
          </a:ln>
        </p:spPr>
      </p:cxnSp>
      <p:cxnSp>
        <p:nvCxnSpPr>
          <p:cNvPr id="2002" name="Google Shape;2002;p60"/>
          <p:cNvCxnSpPr/>
          <p:nvPr/>
        </p:nvCxnSpPr>
        <p:spPr>
          <a:xfrm>
            <a:off x="10393680" y="2359152"/>
            <a:ext cx="1219200" cy="740664"/>
          </a:xfrm>
          <a:prstGeom prst="straightConnector1">
            <a:avLst/>
          </a:prstGeom>
          <a:noFill/>
          <a:ln cap="flat" cmpd="sng" w="9525">
            <a:solidFill>
              <a:srgbClr val="9C8CC4"/>
            </a:solidFill>
            <a:prstDash val="solid"/>
            <a:round/>
            <a:headEnd len="sm" w="sm" type="none"/>
            <a:tailEnd len="sm" w="sm" type="none"/>
          </a:ln>
        </p:spPr>
      </p:cxnSp>
      <p:cxnSp>
        <p:nvCxnSpPr>
          <p:cNvPr id="2003" name="Google Shape;2003;p60"/>
          <p:cNvCxnSpPr/>
          <p:nvPr/>
        </p:nvCxnSpPr>
        <p:spPr>
          <a:xfrm>
            <a:off x="10393680" y="2359152"/>
            <a:ext cx="1219200" cy="1975104"/>
          </a:xfrm>
          <a:prstGeom prst="straightConnector1">
            <a:avLst/>
          </a:prstGeom>
          <a:noFill/>
          <a:ln cap="flat" cmpd="sng" w="9525">
            <a:solidFill>
              <a:srgbClr val="9C8CC4"/>
            </a:solidFill>
            <a:prstDash val="solid"/>
            <a:round/>
            <a:headEnd len="sm" w="sm" type="none"/>
            <a:tailEnd len="sm" w="sm" type="none"/>
          </a:ln>
        </p:spPr>
      </p:cxnSp>
      <p:cxnSp>
        <p:nvCxnSpPr>
          <p:cNvPr id="2004" name="Google Shape;2004;p60"/>
          <p:cNvCxnSpPr/>
          <p:nvPr/>
        </p:nvCxnSpPr>
        <p:spPr>
          <a:xfrm flipH="1" rot="10800000">
            <a:off x="10393680" y="3099816"/>
            <a:ext cx="1219200" cy="534924"/>
          </a:xfrm>
          <a:prstGeom prst="straightConnector1">
            <a:avLst/>
          </a:prstGeom>
          <a:noFill/>
          <a:ln cap="flat" cmpd="sng" w="9525">
            <a:solidFill>
              <a:srgbClr val="9C8CC4"/>
            </a:solidFill>
            <a:prstDash val="solid"/>
            <a:round/>
            <a:headEnd len="sm" w="sm" type="none"/>
            <a:tailEnd len="sm" w="sm" type="none"/>
          </a:ln>
        </p:spPr>
      </p:cxnSp>
      <p:cxnSp>
        <p:nvCxnSpPr>
          <p:cNvPr id="2005" name="Google Shape;2005;p60"/>
          <p:cNvCxnSpPr/>
          <p:nvPr/>
        </p:nvCxnSpPr>
        <p:spPr>
          <a:xfrm>
            <a:off x="10393680" y="3634740"/>
            <a:ext cx="1219200" cy="699516"/>
          </a:xfrm>
          <a:prstGeom prst="straightConnector1">
            <a:avLst/>
          </a:prstGeom>
          <a:noFill/>
          <a:ln cap="flat" cmpd="sng" w="9525">
            <a:solidFill>
              <a:srgbClr val="9C8CC4"/>
            </a:solidFill>
            <a:prstDash val="solid"/>
            <a:round/>
            <a:headEnd len="sm" w="sm" type="none"/>
            <a:tailEnd len="sm" w="sm" type="none"/>
          </a:ln>
        </p:spPr>
      </p:cxnSp>
      <p:cxnSp>
        <p:nvCxnSpPr>
          <p:cNvPr id="2006" name="Google Shape;2006;p60"/>
          <p:cNvCxnSpPr/>
          <p:nvPr/>
        </p:nvCxnSpPr>
        <p:spPr>
          <a:xfrm flipH="1" rot="10800000">
            <a:off x="10393680" y="3099816"/>
            <a:ext cx="1219200" cy="1728216"/>
          </a:xfrm>
          <a:prstGeom prst="straightConnector1">
            <a:avLst/>
          </a:prstGeom>
          <a:noFill/>
          <a:ln cap="flat" cmpd="sng" w="9525">
            <a:solidFill>
              <a:srgbClr val="9C8CC4"/>
            </a:solidFill>
            <a:prstDash val="solid"/>
            <a:round/>
            <a:headEnd len="sm" w="sm" type="none"/>
            <a:tailEnd len="sm" w="sm" type="none"/>
          </a:ln>
        </p:spPr>
      </p:cxnSp>
      <p:cxnSp>
        <p:nvCxnSpPr>
          <p:cNvPr id="2007" name="Google Shape;2007;p60"/>
          <p:cNvCxnSpPr/>
          <p:nvPr/>
        </p:nvCxnSpPr>
        <p:spPr>
          <a:xfrm flipH="1" rot="10800000">
            <a:off x="10393680" y="4334256"/>
            <a:ext cx="1219200" cy="493776"/>
          </a:xfrm>
          <a:prstGeom prst="straightConnector1">
            <a:avLst/>
          </a:prstGeom>
          <a:noFill/>
          <a:ln cap="flat" cmpd="sng" w="9525">
            <a:solidFill>
              <a:srgbClr val="9C8CC4"/>
            </a:solidFill>
            <a:prstDash val="solid"/>
            <a:round/>
            <a:headEnd len="sm" w="sm" type="none"/>
            <a:tailEnd len="sm" w="sm" type="none"/>
          </a:ln>
        </p:spPr>
      </p:cxnSp>
      <p:sp>
        <p:nvSpPr>
          <p:cNvPr id="2008" name="Google Shape;2008;p60"/>
          <p:cNvSpPr/>
          <p:nvPr/>
        </p:nvSpPr>
        <p:spPr>
          <a:xfrm>
            <a:off x="7886700" y="20436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60"/>
          <p:cNvSpPr/>
          <p:nvPr/>
        </p:nvSpPr>
        <p:spPr>
          <a:xfrm>
            <a:off x="7886700" y="336042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60"/>
          <p:cNvSpPr/>
          <p:nvPr/>
        </p:nvSpPr>
        <p:spPr>
          <a:xfrm>
            <a:off x="7886700" y="467715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60"/>
          <p:cNvSpPr/>
          <p:nvPr/>
        </p:nvSpPr>
        <p:spPr>
          <a:xfrm>
            <a:off x="9105900" y="163220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60"/>
          <p:cNvSpPr/>
          <p:nvPr/>
        </p:nvSpPr>
        <p:spPr>
          <a:xfrm>
            <a:off x="9105900" y="27020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60"/>
          <p:cNvSpPr/>
          <p:nvPr/>
        </p:nvSpPr>
        <p:spPr>
          <a:xfrm>
            <a:off x="9105900" y="385419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60"/>
          <p:cNvSpPr/>
          <p:nvPr/>
        </p:nvSpPr>
        <p:spPr>
          <a:xfrm>
            <a:off x="9105900" y="50063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60"/>
          <p:cNvSpPr/>
          <p:nvPr/>
        </p:nvSpPr>
        <p:spPr>
          <a:xfrm>
            <a:off x="10325100" y="229057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60"/>
          <p:cNvSpPr/>
          <p:nvPr/>
        </p:nvSpPr>
        <p:spPr>
          <a:xfrm>
            <a:off x="10325100" y="356616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60"/>
          <p:cNvSpPr/>
          <p:nvPr/>
        </p:nvSpPr>
        <p:spPr>
          <a:xfrm>
            <a:off x="10325100" y="475945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60"/>
          <p:cNvSpPr/>
          <p:nvPr/>
        </p:nvSpPr>
        <p:spPr>
          <a:xfrm>
            <a:off x="11544300" y="303123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60"/>
          <p:cNvSpPr/>
          <p:nvPr/>
        </p:nvSpPr>
        <p:spPr>
          <a:xfrm>
            <a:off x="11544300" y="4265676"/>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60"/>
          <p:cNvSpPr/>
          <p:nvPr/>
        </p:nvSpPr>
        <p:spPr>
          <a:xfrm>
            <a:off x="566928" y="1417320"/>
            <a:ext cx="27432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9600"/>
              <a:buFont typeface="Cambria"/>
              <a:buNone/>
            </a:pPr>
            <a:r>
              <a:rPr b="1" i="0" lang="en-US" sz="9600" u="none" cap="none" strike="noStrike">
                <a:solidFill>
                  <a:srgbClr val="E8833A"/>
                </a:solidFill>
                <a:latin typeface="Cambria"/>
                <a:ea typeface="Cambria"/>
                <a:cs typeface="Cambria"/>
                <a:sym typeface="Cambria"/>
              </a:rPr>
              <a:t>06</a:t>
            </a:r>
            <a:endParaRPr b="0" i="0" sz="9600" u="none" cap="none" strike="noStrike">
              <a:solidFill>
                <a:schemeClr val="dk1"/>
              </a:solidFill>
              <a:latin typeface="Calibri"/>
              <a:ea typeface="Calibri"/>
              <a:cs typeface="Calibri"/>
              <a:sym typeface="Calibri"/>
            </a:endParaRPr>
          </a:p>
        </p:txBody>
      </p:sp>
      <p:sp>
        <p:nvSpPr>
          <p:cNvPr id="2021" name="Google Shape;2021;p60"/>
          <p:cNvSpPr/>
          <p:nvPr/>
        </p:nvSpPr>
        <p:spPr>
          <a:xfrm>
            <a:off x="566928" y="2880360"/>
            <a:ext cx="67665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Cambria"/>
              <a:buNone/>
            </a:pPr>
            <a:r>
              <a:rPr b="1" i="0" lang="en-US" sz="4000" u="none" cap="none" strike="noStrike">
                <a:solidFill>
                  <a:srgbClr val="FFFFFF"/>
                </a:solidFill>
                <a:latin typeface="Cambria"/>
                <a:ea typeface="Cambria"/>
                <a:cs typeface="Cambria"/>
                <a:sym typeface="Cambria"/>
              </a:rPr>
              <a:t>Optimization for training deep models</a:t>
            </a:r>
            <a:endParaRPr b="0" i="0" sz="4000" u="none" cap="none" strike="noStrike">
              <a:solidFill>
                <a:schemeClr val="dk1"/>
              </a:solidFill>
              <a:latin typeface="Calibri"/>
              <a:ea typeface="Calibri"/>
              <a:cs typeface="Calibri"/>
              <a:sym typeface="Calibri"/>
            </a:endParaRPr>
          </a:p>
        </p:txBody>
      </p:sp>
      <p:sp>
        <p:nvSpPr>
          <p:cNvPr id="2022" name="Google Shape;2022;p60"/>
          <p:cNvSpPr/>
          <p:nvPr/>
        </p:nvSpPr>
        <p:spPr>
          <a:xfrm>
            <a:off x="566928" y="3886200"/>
            <a:ext cx="6400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600"/>
              <a:buFont typeface="Calibri"/>
              <a:buNone/>
            </a:pPr>
            <a:r>
              <a:rPr b="0" i="1" lang="en-US" sz="1600" u="none" cap="none" strike="noStrike">
                <a:solidFill>
                  <a:srgbClr val="9C8CC4"/>
                </a:solidFill>
                <a:latin typeface="Calibri"/>
                <a:ea typeface="Calibri"/>
                <a:cs typeface="Calibri"/>
                <a:sym typeface="Calibri"/>
              </a:rPr>
              <a:t>Getting a deep network to actually converge</a:t>
            </a:r>
            <a:endParaRPr b="0" i="0" sz="1600" u="none" cap="none" strike="noStrike">
              <a:solidFill>
                <a:schemeClr val="dk1"/>
              </a:solidFill>
              <a:latin typeface="Calibri"/>
              <a:ea typeface="Calibri"/>
              <a:cs typeface="Calibri"/>
              <a:sym typeface="Calibri"/>
            </a:endParaRPr>
          </a:p>
        </p:txBody>
      </p:sp>
      <p:sp>
        <p:nvSpPr>
          <p:cNvPr id="2023" name="Google Shape;2023;p60"/>
          <p:cNvSpPr/>
          <p:nvPr/>
        </p:nvSpPr>
        <p:spPr>
          <a:xfrm>
            <a:off x="612648" y="4480560"/>
            <a:ext cx="6400800" cy="146304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Why learning is not the same problem as pure optimization</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The challenges: vanishing gradients, cliffs, ill-conditioning, flat regions</a:t>
            </a:r>
            <a:endParaRPr b="0" i="0" sz="135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E9E3F3"/>
              </a:buClr>
              <a:buSzPts val="1350"/>
              <a:buFont typeface="Calibri"/>
              <a:buChar char="•"/>
            </a:pPr>
            <a:r>
              <a:rPr b="0" i="0" lang="en-US" sz="1350" u="none" cap="none" strike="noStrike">
                <a:solidFill>
                  <a:srgbClr val="E9E3F3"/>
                </a:solidFill>
                <a:latin typeface="Calibri"/>
                <a:ea typeface="Calibri"/>
                <a:cs typeface="Calibri"/>
                <a:sym typeface="Calibri"/>
              </a:rPr>
              <a:t>SGD, momentum, initialization, and the adaptive learning-rate family</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8" name="Shape 2028"/>
        <p:cNvGrpSpPr/>
        <p:nvPr/>
      </p:nvGrpSpPr>
      <p:grpSpPr>
        <a:xfrm>
          <a:off x="0" y="0"/>
          <a:ext cx="0" cy="0"/>
          <a:chOff x="0" y="0"/>
          <a:chExt cx="0" cy="0"/>
        </a:xfrm>
      </p:grpSpPr>
      <p:sp>
        <p:nvSpPr>
          <p:cNvPr id="2029" name="Google Shape;2029;p61"/>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OPTIMIZATION</a:t>
            </a:r>
            <a:endParaRPr b="0" i="0" sz="1050" u="none" cap="none" strike="noStrike">
              <a:solidFill>
                <a:schemeClr val="dk1"/>
              </a:solidFill>
              <a:latin typeface="Calibri"/>
              <a:ea typeface="Calibri"/>
              <a:cs typeface="Calibri"/>
              <a:sym typeface="Calibri"/>
            </a:endParaRPr>
          </a:p>
        </p:txBody>
      </p:sp>
      <p:sp>
        <p:nvSpPr>
          <p:cNvPr id="2030" name="Google Shape;2030;p61"/>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Learning is not the same as pure optimization</a:t>
            </a:r>
            <a:endParaRPr b="0" i="0" sz="2800" u="none" cap="none" strike="noStrike">
              <a:solidFill>
                <a:schemeClr val="dk1"/>
              </a:solidFill>
              <a:latin typeface="Calibri"/>
              <a:ea typeface="Calibri"/>
              <a:cs typeface="Calibri"/>
              <a:sym typeface="Calibri"/>
            </a:endParaRPr>
          </a:p>
        </p:txBody>
      </p:sp>
      <p:sp>
        <p:nvSpPr>
          <p:cNvPr id="2031" name="Google Shape;2031;p61"/>
          <p:cNvSpPr/>
          <p:nvPr/>
        </p:nvSpPr>
        <p:spPr>
          <a:xfrm>
            <a:off x="566928" y="1280160"/>
            <a:ext cx="11057839" cy="658368"/>
          </a:xfrm>
          <a:prstGeom prst="roundRect">
            <a:avLst>
              <a:gd fmla="val 125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61"/>
          <p:cNvSpPr/>
          <p:nvPr/>
        </p:nvSpPr>
        <p:spPr>
          <a:xfrm>
            <a:off x="704088" y="1280160"/>
            <a:ext cx="10783519"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Optimization:  find the parameters θ of a network that significantly reduce a cost function J(θ).</a:t>
            </a:r>
            <a:endParaRPr b="0" i="0" sz="1500" u="none" cap="none" strike="noStrike">
              <a:solidFill>
                <a:schemeClr val="dk1"/>
              </a:solidFill>
              <a:latin typeface="Calibri"/>
              <a:ea typeface="Calibri"/>
              <a:cs typeface="Calibri"/>
              <a:sym typeface="Calibri"/>
            </a:endParaRPr>
          </a:p>
        </p:txBody>
      </p:sp>
      <p:sp>
        <p:nvSpPr>
          <p:cNvPr id="2033" name="Google Shape;2033;p61"/>
          <p:cNvSpPr/>
          <p:nvPr/>
        </p:nvSpPr>
        <p:spPr>
          <a:xfrm>
            <a:off x="566928" y="2103120"/>
            <a:ext cx="5577840" cy="2148840"/>
          </a:xfrm>
          <a:prstGeom prst="roundRect">
            <a:avLst>
              <a:gd fmla="val 383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61"/>
          <p:cNvSpPr/>
          <p:nvPr/>
        </p:nvSpPr>
        <p:spPr>
          <a:xfrm>
            <a:off x="822960" y="2340864"/>
            <a:ext cx="420624" cy="420624"/>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61"/>
          <p:cNvSpPr/>
          <p:nvPr/>
        </p:nvSpPr>
        <p:spPr>
          <a:xfrm>
            <a:off x="822960"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J</a:t>
            </a:r>
            <a:endParaRPr b="0" i="0" sz="1300" u="none" cap="none" strike="noStrike">
              <a:solidFill>
                <a:schemeClr val="dk1"/>
              </a:solidFill>
              <a:latin typeface="Calibri"/>
              <a:ea typeface="Calibri"/>
              <a:cs typeface="Calibri"/>
              <a:sym typeface="Calibri"/>
            </a:endParaRPr>
          </a:p>
        </p:txBody>
      </p:sp>
      <p:sp>
        <p:nvSpPr>
          <p:cNvPr id="2036" name="Google Shape;2036;p61"/>
          <p:cNvSpPr/>
          <p:nvPr/>
        </p:nvSpPr>
        <p:spPr>
          <a:xfrm>
            <a:off x="1408176" y="2322576"/>
            <a:ext cx="45354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What we actually minimise</a:t>
            </a:r>
            <a:endParaRPr b="0" i="0" sz="1500" u="none" cap="none" strike="noStrike">
              <a:solidFill>
                <a:schemeClr val="dk1"/>
              </a:solidFill>
              <a:latin typeface="Calibri"/>
              <a:ea typeface="Calibri"/>
              <a:cs typeface="Calibri"/>
              <a:sym typeface="Calibri"/>
            </a:endParaRPr>
          </a:p>
        </p:txBody>
      </p:sp>
      <p:sp>
        <p:nvSpPr>
          <p:cNvPr id="2037" name="Google Shape;2037;p61"/>
          <p:cNvSpPr/>
          <p:nvPr/>
        </p:nvSpPr>
        <p:spPr>
          <a:xfrm>
            <a:off x="841248" y="2889504"/>
            <a:ext cx="5029200"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In pure optimization, minimising J(θ) is a goal in and of itself — the function we care about is the function we descend.</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This is the setting classical optimization theory was built for.</a:t>
            </a:r>
            <a:endParaRPr b="0" i="0" sz="1300" u="none" cap="none" strike="noStrike">
              <a:solidFill>
                <a:schemeClr val="dk1"/>
              </a:solidFill>
              <a:latin typeface="Calibri"/>
              <a:ea typeface="Calibri"/>
              <a:cs typeface="Calibri"/>
              <a:sym typeface="Calibri"/>
            </a:endParaRPr>
          </a:p>
        </p:txBody>
      </p:sp>
      <p:sp>
        <p:nvSpPr>
          <p:cNvPr id="2038" name="Google Shape;2038;p61"/>
          <p:cNvSpPr/>
          <p:nvPr/>
        </p:nvSpPr>
        <p:spPr>
          <a:xfrm>
            <a:off x="6309360" y="2103120"/>
            <a:ext cx="5321808" cy="2148840"/>
          </a:xfrm>
          <a:prstGeom prst="roundRect">
            <a:avLst>
              <a:gd fmla="val 383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61"/>
          <p:cNvSpPr/>
          <p:nvPr/>
        </p:nvSpPr>
        <p:spPr>
          <a:xfrm>
            <a:off x="6565392" y="2340864"/>
            <a:ext cx="420624" cy="420624"/>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61"/>
          <p:cNvSpPr/>
          <p:nvPr/>
        </p:nvSpPr>
        <p:spPr>
          <a:xfrm>
            <a:off x="6565392" y="23408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P</a:t>
            </a:r>
            <a:endParaRPr b="0" i="0" sz="1300" u="none" cap="none" strike="noStrike">
              <a:solidFill>
                <a:schemeClr val="dk1"/>
              </a:solidFill>
              <a:latin typeface="Calibri"/>
              <a:ea typeface="Calibri"/>
              <a:cs typeface="Calibri"/>
              <a:sym typeface="Calibri"/>
            </a:endParaRPr>
          </a:p>
        </p:txBody>
      </p:sp>
      <p:sp>
        <p:nvSpPr>
          <p:cNvPr id="2041" name="Google Shape;2041;p61"/>
          <p:cNvSpPr/>
          <p:nvPr/>
        </p:nvSpPr>
        <p:spPr>
          <a:xfrm>
            <a:off x="7150608" y="2322576"/>
            <a:ext cx="42793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What we actually care about</a:t>
            </a:r>
            <a:endParaRPr b="0" i="0" sz="1500" u="none" cap="none" strike="noStrike">
              <a:solidFill>
                <a:schemeClr val="dk1"/>
              </a:solidFill>
              <a:latin typeface="Calibri"/>
              <a:ea typeface="Calibri"/>
              <a:cs typeface="Calibri"/>
              <a:sym typeface="Calibri"/>
            </a:endParaRPr>
          </a:p>
        </p:txBody>
      </p:sp>
      <p:sp>
        <p:nvSpPr>
          <p:cNvPr id="2042" name="Google Shape;2042;p61"/>
          <p:cNvSpPr/>
          <p:nvPr/>
        </p:nvSpPr>
        <p:spPr>
          <a:xfrm>
            <a:off x="6583680" y="2889504"/>
            <a:ext cx="4773168" cy="11795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In machine learning we care about a performance measure P, defined with respect to a test set — and often intractable to optimise directly.</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300"/>
              <a:buFont typeface="Calibri"/>
              <a:buNone/>
            </a:pPr>
            <a:r>
              <a:rPr b="0" i="0" lang="en-US" sz="1300" u="none" cap="none" strike="noStrike">
                <a:solidFill>
                  <a:srgbClr val="241C2E"/>
                </a:solidFill>
                <a:latin typeface="Calibri"/>
                <a:ea typeface="Calibri"/>
                <a:cs typeface="Calibri"/>
                <a:sym typeface="Calibri"/>
              </a:rPr>
              <a:t>So we optimise P only indirectly: we reduce a different cost function J(θ) in the hope that doing so improves P.</a:t>
            </a:r>
            <a:endParaRPr b="0" i="0" sz="1300" u="none" cap="none" strike="noStrike">
              <a:solidFill>
                <a:schemeClr val="dk1"/>
              </a:solidFill>
              <a:latin typeface="Calibri"/>
              <a:ea typeface="Calibri"/>
              <a:cs typeface="Calibri"/>
              <a:sym typeface="Calibri"/>
            </a:endParaRPr>
          </a:p>
        </p:txBody>
      </p:sp>
      <p:sp>
        <p:nvSpPr>
          <p:cNvPr id="2043" name="Google Shape;2043;p61"/>
          <p:cNvSpPr/>
          <p:nvPr/>
        </p:nvSpPr>
        <p:spPr>
          <a:xfrm>
            <a:off x="566928" y="4526280"/>
            <a:ext cx="11057839" cy="1234440"/>
          </a:xfrm>
          <a:prstGeom prst="roundRect">
            <a:avLst>
              <a:gd fmla="val 6667"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61"/>
          <p:cNvSpPr/>
          <p:nvPr/>
        </p:nvSpPr>
        <p:spPr>
          <a:xfrm>
            <a:off x="886968" y="4645152"/>
            <a:ext cx="5486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500"/>
              <a:buFont typeface="Cambria"/>
              <a:buNone/>
            </a:pPr>
            <a:r>
              <a:rPr b="1" i="0" lang="en-US" sz="1500" u="none" cap="none" strike="noStrike">
                <a:solidFill>
                  <a:srgbClr val="E8833A"/>
                </a:solidFill>
                <a:latin typeface="Cambria"/>
                <a:ea typeface="Cambria"/>
                <a:cs typeface="Cambria"/>
                <a:sym typeface="Cambria"/>
              </a:rPr>
              <a:t>Why this matters for everything that follows</a:t>
            </a:r>
            <a:endParaRPr b="0" i="0" sz="1500" u="none" cap="none" strike="noStrike">
              <a:solidFill>
                <a:schemeClr val="dk1"/>
              </a:solidFill>
              <a:latin typeface="Calibri"/>
              <a:ea typeface="Calibri"/>
              <a:cs typeface="Calibri"/>
              <a:sym typeface="Calibri"/>
            </a:endParaRPr>
          </a:p>
        </p:txBody>
      </p:sp>
      <p:sp>
        <p:nvSpPr>
          <p:cNvPr id="2045" name="Google Shape;2045;p61"/>
          <p:cNvSpPr/>
          <p:nvPr/>
        </p:nvSpPr>
        <p:spPr>
          <a:xfrm>
            <a:off x="886968" y="4956048"/>
            <a:ext cx="10417759"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250"/>
              <a:buFont typeface="Calibri"/>
              <a:buNone/>
            </a:pPr>
            <a:r>
              <a:rPr b="0" i="0" lang="en-US" sz="1250" u="none" cap="none" strike="noStrike">
                <a:solidFill>
                  <a:srgbClr val="E9E3F3"/>
                </a:solidFill>
                <a:latin typeface="Calibri"/>
                <a:ea typeface="Calibri"/>
                <a:cs typeface="Calibri"/>
                <a:sym typeface="Calibri"/>
              </a:rPr>
              <a:t>Training a single large network can absorb days to months of time on hundreds of machines. Every technique in this section exists to make that gap — between the J we descend and the P we want — cheaper to cross. In deep learning optimization we care mainly about two things: accuracy and speed.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0" name="Shape 2050"/>
        <p:cNvGrpSpPr/>
        <p:nvPr/>
      </p:nvGrpSpPr>
      <p:grpSpPr>
        <a:xfrm>
          <a:off x="0" y="0"/>
          <a:ext cx="0" cy="0"/>
          <a:chOff x="0" y="0"/>
          <a:chExt cx="0" cy="0"/>
        </a:xfrm>
      </p:grpSpPr>
      <p:sp>
        <p:nvSpPr>
          <p:cNvPr id="2051" name="Google Shape;2051;p62"/>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CHALLENGES</a:t>
            </a:r>
            <a:endParaRPr b="0" i="0" sz="1050" u="none" cap="none" strike="noStrike">
              <a:solidFill>
                <a:schemeClr val="dk1"/>
              </a:solidFill>
              <a:latin typeface="Calibri"/>
              <a:ea typeface="Calibri"/>
              <a:cs typeface="Calibri"/>
              <a:sym typeface="Calibri"/>
            </a:endParaRPr>
          </a:p>
        </p:txBody>
      </p:sp>
      <p:sp>
        <p:nvSpPr>
          <p:cNvPr id="2052" name="Google Shape;2052;p62"/>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Why this is hard</a:t>
            </a:r>
            <a:endParaRPr b="0" i="0" sz="2800" u="none" cap="none" strike="noStrike">
              <a:solidFill>
                <a:schemeClr val="dk1"/>
              </a:solidFill>
              <a:latin typeface="Calibri"/>
              <a:ea typeface="Calibri"/>
              <a:cs typeface="Calibri"/>
              <a:sym typeface="Calibri"/>
            </a:endParaRPr>
          </a:p>
        </p:txBody>
      </p:sp>
      <p:sp>
        <p:nvSpPr>
          <p:cNvPr id="2053" name="Google Shape;2053;p62"/>
          <p:cNvSpPr/>
          <p:nvPr/>
        </p:nvSpPr>
        <p:spPr>
          <a:xfrm>
            <a:off x="566928" y="1325880"/>
            <a:ext cx="11057839" cy="10058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Optimization in general is an extremely difficult task.</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Traditionally, machine learning avoided the difficulty by carefully designing the objective function and constraints so that the optimization problem is convex.</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50"/>
              <a:buFont typeface="Calibri"/>
              <a:buChar char="•"/>
            </a:pPr>
            <a:r>
              <a:rPr b="1" i="0" lang="en-US" sz="1350" u="none" cap="none" strike="noStrike">
                <a:solidFill>
                  <a:srgbClr val="C4661F"/>
                </a:solidFill>
                <a:latin typeface="Calibri"/>
                <a:ea typeface="Calibri"/>
                <a:cs typeface="Calibri"/>
                <a:sym typeface="Calibri"/>
              </a:rPr>
              <a:t>When training neural networks we must confront the general non-convex case — and even convex optimization is not without its complications.</a:t>
            </a:r>
            <a:endParaRPr b="0" i="0" sz="1350" u="none" cap="none" strike="noStrike">
              <a:solidFill>
                <a:schemeClr val="dk1"/>
              </a:solidFill>
              <a:latin typeface="Calibri"/>
              <a:ea typeface="Calibri"/>
              <a:cs typeface="Calibri"/>
              <a:sym typeface="Calibri"/>
            </a:endParaRPr>
          </a:p>
        </p:txBody>
      </p:sp>
      <p:sp>
        <p:nvSpPr>
          <p:cNvPr id="2054" name="Google Shape;2054;p62"/>
          <p:cNvSpPr/>
          <p:nvPr/>
        </p:nvSpPr>
        <p:spPr>
          <a:xfrm>
            <a:off x="566928" y="2514600"/>
            <a:ext cx="2606040" cy="2788920"/>
          </a:xfrm>
          <a:prstGeom prst="roundRect">
            <a:avLst>
              <a:gd fmla="val 315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62"/>
          <p:cNvSpPr/>
          <p:nvPr/>
        </p:nvSpPr>
        <p:spPr>
          <a:xfrm>
            <a:off x="822960" y="2752344"/>
            <a:ext cx="420624" cy="420624"/>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62"/>
          <p:cNvSpPr/>
          <p:nvPr/>
        </p:nvSpPr>
        <p:spPr>
          <a:xfrm>
            <a:off x="822960" y="2752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057" name="Google Shape;2057;p62"/>
          <p:cNvSpPr/>
          <p:nvPr/>
        </p:nvSpPr>
        <p:spPr>
          <a:xfrm>
            <a:off x="1408176" y="273405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mbria"/>
              <a:buNone/>
            </a:pPr>
            <a:r>
              <a:rPr b="1" i="0" lang="en-US" sz="1300" u="none" cap="none" strike="noStrike">
                <a:solidFill>
                  <a:srgbClr val="2D1B4E"/>
                </a:solidFill>
                <a:latin typeface="Cambria"/>
                <a:ea typeface="Cambria"/>
                <a:cs typeface="Cambria"/>
                <a:sym typeface="Cambria"/>
              </a:rPr>
              <a:t>Vanishing &amp; exploding gradients</a:t>
            </a:r>
            <a:endParaRPr b="0" i="0" sz="1300" u="none" cap="none" strike="noStrike">
              <a:solidFill>
                <a:schemeClr val="dk1"/>
              </a:solidFill>
              <a:latin typeface="Calibri"/>
              <a:ea typeface="Calibri"/>
              <a:cs typeface="Calibri"/>
              <a:sym typeface="Calibri"/>
            </a:endParaRPr>
          </a:p>
        </p:txBody>
      </p:sp>
      <p:sp>
        <p:nvSpPr>
          <p:cNvPr id="2058" name="Google Shape;2058;p62"/>
          <p:cNvSpPr/>
          <p:nvPr/>
        </p:nvSpPr>
        <p:spPr>
          <a:xfrm>
            <a:off x="841248" y="3300984"/>
            <a:ext cx="2057400" cy="18196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Arises when the computational graph becomes extremely deep. Vanishing gradients make it hard to know which way the parameters should move; exploding gradients make learning unstable.</a:t>
            </a:r>
            <a:endParaRPr b="0" i="0" sz="1150" u="none" cap="none" strike="noStrike">
              <a:solidFill>
                <a:schemeClr val="dk1"/>
              </a:solidFill>
              <a:latin typeface="Calibri"/>
              <a:ea typeface="Calibri"/>
              <a:cs typeface="Calibri"/>
              <a:sym typeface="Calibri"/>
            </a:endParaRPr>
          </a:p>
        </p:txBody>
      </p:sp>
      <p:sp>
        <p:nvSpPr>
          <p:cNvPr id="2059" name="Google Shape;2059;p62"/>
          <p:cNvSpPr/>
          <p:nvPr/>
        </p:nvSpPr>
        <p:spPr>
          <a:xfrm>
            <a:off x="3419856" y="2514600"/>
            <a:ext cx="2606040" cy="2788920"/>
          </a:xfrm>
          <a:prstGeom prst="roundRect">
            <a:avLst>
              <a:gd fmla="val 315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62"/>
          <p:cNvSpPr/>
          <p:nvPr/>
        </p:nvSpPr>
        <p:spPr>
          <a:xfrm>
            <a:off x="3675888" y="2752344"/>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62"/>
          <p:cNvSpPr/>
          <p:nvPr/>
        </p:nvSpPr>
        <p:spPr>
          <a:xfrm>
            <a:off x="3675888" y="2752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062" name="Google Shape;2062;p62"/>
          <p:cNvSpPr/>
          <p:nvPr/>
        </p:nvSpPr>
        <p:spPr>
          <a:xfrm>
            <a:off x="4261104" y="273405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mbria"/>
              <a:buNone/>
            </a:pPr>
            <a:r>
              <a:rPr b="1" i="0" lang="en-US" sz="1300" u="none" cap="none" strike="noStrike">
                <a:solidFill>
                  <a:srgbClr val="2D1B4E"/>
                </a:solidFill>
                <a:latin typeface="Cambria"/>
                <a:ea typeface="Cambria"/>
                <a:cs typeface="Cambria"/>
                <a:sym typeface="Cambria"/>
              </a:rPr>
              <a:t>Cliffs</a:t>
            </a:r>
            <a:endParaRPr b="0" i="0" sz="1300" u="none" cap="none" strike="noStrike">
              <a:solidFill>
                <a:schemeClr val="dk1"/>
              </a:solidFill>
              <a:latin typeface="Calibri"/>
              <a:ea typeface="Calibri"/>
              <a:cs typeface="Calibri"/>
              <a:sym typeface="Calibri"/>
            </a:endParaRPr>
          </a:p>
        </p:txBody>
      </p:sp>
      <p:sp>
        <p:nvSpPr>
          <p:cNvPr id="2063" name="Google Shape;2063;p62"/>
          <p:cNvSpPr/>
          <p:nvPr/>
        </p:nvSpPr>
        <p:spPr>
          <a:xfrm>
            <a:off x="3694176" y="3300984"/>
            <a:ext cx="2057400" cy="18196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Extremely steep regions in the landscape. A single gradient step taken near one can fling the parameters arbitrarily far away.</a:t>
            </a:r>
            <a:endParaRPr b="0" i="0" sz="1150" u="none" cap="none" strike="noStrike">
              <a:solidFill>
                <a:schemeClr val="dk1"/>
              </a:solidFill>
              <a:latin typeface="Calibri"/>
              <a:ea typeface="Calibri"/>
              <a:cs typeface="Calibri"/>
              <a:sym typeface="Calibri"/>
            </a:endParaRPr>
          </a:p>
        </p:txBody>
      </p:sp>
      <p:sp>
        <p:nvSpPr>
          <p:cNvPr id="2064" name="Google Shape;2064;p62"/>
          <p:cNvSpPr/>
          <p:nvPr/>
        </p:nvSpPr>
        <p:spPr>
          <a:xfrm>
            <a:off x="6272784" y="2514600"/>
            <a:ext cx="2606040" cy="2788920"/>
          </a:xfrm>
          <a:prstGeom prst="roundRect">
            <a:avLst>
              <a:gd fmla="val 315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62"/>
          <p:cNvSpPr/>
          <p:nvPr/>
        </p:nvSpPr>
        <p:spPr>
          <a:xfrm>
            <a:off x="6528816" y="2752344"/>
            <a:ext cx="420624" cy="420624"/>
          </a:xfrm>
          <a:prstGeom prst="ellipse">
            <a:avLst/>
          </a:prstGeom>
          <a:solidFill>
            <a:srgbClr val="B84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62"/>
          <p:cNvSpPr/>
          <p:nvPr/>
        </p:nvSpPr>
        <p:spPr>
          <a:xfrm>
            <a:off x="6528816" y="2752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067" name="Google Shape;2067;p62"/>
          <p:cNvSpPr/>
          <p:nvPr/>
        </p:nvSpPr>
        <p:spPr>
          <a:xfrm>
            <a:off x="7114032" y="273405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mbria"/>
              <a:buNone/>
            </a:pPr>
            <a:r>
              <a:rPr b="1" i="0" lang="en-US" sz="1300" u="none" cap="none" strike="noStrike">
                <a:solidFill>
                  <a:srgbClr val="2D1B4E"/>
                </a:solidFill>
                <a:latin typeface="Cambria"/>
                <a:ea typeface="Cambria"/>
                <a:cs typeface="Cambria"/>
                <a:sym typeface="Cambria"/>
              </a:rPr>
              <a:t>Ill-conditioning</a:t>
            </a:r>
            <a:endParaRPr b="0" i="0" sz="1300" u="none" cap="none" strike="noStrike">
              <a:solidFill>
                <a:schemeClr val="dk1"/>
              </a:solidFill>
              <a:latin typeface="Calibri"/>
              <a:ea typeface="Calibri"/>
              <a:cs typeface="Calibri"/>
              <a:sym typeface="Calibri"/>
            </a:endParaRPr>
          </a:p>
        </p:txBody>
      </p:sp>
      <p:sp>
        <p:nvSpPr>
          <p:cNvPr id="2068" name="Google Shape;2068;p62"/>
          <p:cNvSpPr/>
          <p:nvPr/>
        </p:nvSpPr>
        <p:spPr>
          <a:xfrm>
            <a:off x="6547104" y="3300984"/>
            <a:ext cx="2057400" cy="18196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Learning becomes very slow despite a strong gradient — even very small steps can increase the cost.</a:t>
            </a:r>
            <a:endParaRPr b="0" i="0" sz="1150" u="none" cap="none" strike="noStrike">
              <a:solidFill>
                <a:schemeClr val="dk1"/>
              </a:solidFill>
              <a:latin typeface="Calibri"/>
              <a:ea typeface="Calibri"/>
              <a:cs typeface="Calibri"/>
              <a:sym typeface="Calibri"/>
            </a:endParaRPr>
          </a:p>
        </p:txBody>
      </p:sp>
      <p:sp>
        <p:nvSpPr>
          <p:cNvPr id="2069" name="Google Shape;2069;p62"/>
          <p:cNvSpPr/>
          <p:nvPr/>
        </p:nvSpPr>
        <p:spPr>
          <a:xfrm>
            <a:off x="9125712" y="2514600"/>
            <a:ext cx="2606040" cy="2788920"/>
          </a:xfrm>
          <a:prstGeom prst="roundRect">
            <a:avLst>
              <a:gd fmla="val 3158"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62"/>
          <p:cNvSpPr/>
          <p:nvPr/>
        </p:nvSpPr>
        <p:spPr>
          <a:xfrm>
            <a:off x="9381744" y="2752344"/>
            <a:ext cx="420624" cy="420624"/>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62"/>
          <p:cNvSpPr/>
          <p:nvPr/>
        </p:nvSpPr>
        <p:spPr>
          <a:xfrm>
            <a:off x="9381744" y="2752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072" name="Google Shape;2072;p62"/>
          <p:cNvSpPr/>
          <p:nvPr/>
        </p:nvSpPr>
        <p:spPr>
          <a:xfrm>
            <a:off x="9966960" y="2734056"/>
            <a:ext cx="156362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300"/>
              <a:buFont typeface="Cambria"/>
              <a:buNone/>
            </a:pPr>
            <a:r>
              <a:rPr b="1" i="0" lang="en-US" sz="1300" u="none" cap="none" strike="noStrike">
                <a:solidFill>
                  <a:srgbClr val="2D1B4E"/>
                </a:solidFill>
                <a:latin typeface="Cambria"/>
                <a:ea typeface="Cambria"/>
                <a:cs typeface="Cambria"/>
                <a:sym typeface="Cambria"/>
              </a:rPr>
              <a:t>Flat regions</a:t>
            </a:r>
            <a:endParaRPr b="0" i="0" sz="1300" u="none" cap="none" strike="noStrike">
              <a:solidFill>
                <a:schemeClr val="dk1"/>
              </a:solidFill>
              <a:latin typeface="Calibri"/>
              <a:ea typeface="Calibri"/>
              <a:cs typeface="Calibri"/>
              <a:sym typeface="Calibri"/>
            </a:endParaRPr>
          </a:p>
        </p:txBody>
      </p:sp>
      <p:sp>
        <p:nvSpPr>
          <p:cNvPr id="2073" name="Google Shape;2073;p62"/>
          <p:cNvSpPr/>
          <p:nvPr/>
        </p:nvSpPr>
        <p:spPr>
          <a:xfrm>
            <a:off x="9400032" y="3300984"/>
            <a:ext cx="2057400" cy="18196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Local minima, plateaus, saddle points and other flat regions, where the gradient carries almost no information.</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8" name="Shape 2078"/>
        <p:cNvGrpSpPr/>
        <p:nvPr/>
      </p:nvGrpSpPr>
      <p:grpSpPr>
        <a:xfrm>
          <a:off x="0" y="0"/>
          <a:ext cx="0" cy="0"/>
          <a:chOff x="0" y="0"/>
          <a:chExt cx="0" cy="0"/>
        </a:xfrm>
      </p:grpSpPr>
      <p:sp>
        <p:nvSpPr>
          <p:cNvPr id="2079" name="Google Shape;2079;p6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CHALLENGES</a:t>
            </a:r>
            <a:endParaRPr b="0" i="0" sz="1050" u="none" cap="none" strike="noStrike">
              <a:solidFill>
                <a:schemeClr val="dk1"/>
              </a:solidFill>
              <a:latin typeface="Calibri"/>
              <a:ea typeface="Calibri"/>
              <a:cs typeface="Calibri"/>
              <a:sym typeface="Calibri"/>
            </a:endParaRPr>
          </a:p>
        </p:txBody>
      </p:sp>
      <p:sp>
        <p:nvSpPr>
          <p:cNvPr id="2080" name="Google Shape;2080;p6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Vanishing gradients, exploding gradients and cliffs</a:t>
            </a:r>
            <a:endParaRPr b="0" i="0" sz="2800" u="none" cap="none" strike="noStrike">
              <a:solidFill>
                <a:schemeClr val="dk1"/>
              </a:solidFill>
              <a:latin typeface="Calibri"/>
              <a:ea typeface="Calibri"/>
              <a:cs typeface="Calibri"/>
              <a:sym typeface="Calibri"/>
            </a:endParaRPr>
          </a:p>
        </p:txBody>
      </p:sp>
      <p:sp>
        <p:nvSpPr>
          <p:cNvPr id="2081" name="Google Shape;2081;p63"/>
          <p:cNvSpPr/>
          <p:nvPr/>
        </p:nvSpPr>
        <p:spPr>
          <a:xfrm>
            <a:off x="566928" y="1371600"/>
            <a:ext cx="5760720" cy="4114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Both problems arise when the computational graph becomes extremely deep.</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Vanishing gradients make it difficult to know which direction the parameters should move to improve the cost function — the signal simply dies out on its way back.</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Exploding gradients make learning unstable: the update is so large that it destroys the progress made so far.</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Cliff structures are an example of the exploding-gradient phenomenon.</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The cost surface contains a near-vertical wall. When the parameters get close to such a cliff region, the gradient update step can move them extremely far — usually jumping off the cliff structure altogether.</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The standard remedy is gradient clipping: cap the norm of the gradient before applying the update, so the step size stays bounded no matter how steep the wall.</a:t>
            </a:r>
            <a:endParaRPr b="0" i="0" sz="1300" u="none" cap="none" strike="noStrike">
              <a:solidFill>
                <a:schemeClr val="dk1"/>
              </a:solidFill>
              <a:latin typeface="Calibri"/>
              <a:ea typeface="Calibri"/>
              <a:cs typeface="Calibri"/>
              <a:sym typeface="Calibri"/>
            </a:endParaRPr>
          </a:p>
        </p:txBody>
      </p:sp>
      <p:sp>
        <p:nvSpPr>
          <p:cNvPr id="2082" name="Google Shape;2082;p63"/>
          <p:cNvSpPr/>
          <p:nvPr/>
        </p:nvSpPr>
        <p:spPr>
          <a:xfrm>
            <a:off x="6492240" y="1371600"/>
            <a:ext cx="5138928" cy="4206240"/>
          </a:xfrm>
          <a:prstGeom prst="roundRect">
            <a:avLst>
              <a:gd fmla="val 195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63"/>
          <p:cNvSpPr/>
          <p:nvPr/>
        </p:nvSpPr>
        <p:spPr>
          <a:xfrm>
            <a:off x="6766560" y="150876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1" i="0" lang="en-US" sz="1250" u="none" cap="none" strike="noStrike">
                <a:solidFill>
                  <a:srgbClr val="2D1B4E"/>
                </a:solidFill>
                <a:latin typeface="Calibri"/>
                <a:ea typeface="Calibri"/>
                <a:cs typeface="Calibri"/>
                <a:sym typeface="Calibri"/>
              </a:rPr>
              <a:t>A cliff in the cost surface</a:t>
            </a:r>
            <a:endParaRPr b="0" i="0" sz="1250" u="none" cap="none" strike="noStrike">
              <a:solidFill>
                <a:schemeClr val="dk1"/>
              </a:solidFill>
              <a:latin typeface="Calibri"/>
              <a:ea typeface="Calibri"/>
              <a:cs typeface="Calibri"/>
              <a:sym typeface="Calibri"/>
            </a:endParaRPr>
          </a:p>
        </p:txBody>
      </p:sp>
      <p:sp>
        <p:nvSpPr>
          <p:cNvPr id="2084" name="Google Shape;2084;p63"/>
          <p:cNvSpPr/>
          <p:nvPr/>
        </p:nvSpPr>
        <p:spPr>
          <a:xfrm>
            <a:off x="7040880" y="1965960"/>
            <a:ext cx="4114800" cy="2743200"/>
          </a:xfrm>
          <a:prstGeom prst="rect">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85" name="Google Shape;2085;p63"/>
          <p:cNvCxnSpPr/>
          <p:nvPr/>
        </p:nvCxnSpPr>
        <p:spPr>
          <a:xfrm>
            <a:off x="7123176" y="2350008"/>
            <a:ext cx="658368" cy="82296"/>
          </a:xfrm>
          <a:prstGeom prst="straightConnector1">
            <a:avLst/>
          </a:prstGeom>
          <a:noFill/>
          <a:ln cap="flat" cmpd="sng" w="31750">
            <a:solidFill>
              <a:srgbClr val="6B5B95"/>
            </a:solidFill>
            <a:prstDash val="solid"/>
            <a:round/>
            <a:headEnd len="sm" w="sm" type="none"/>
            <a:tailEnd len="sm" w="sm" type="none"/>
          </a:ln>
        </p:spPr>
      </p:cxnSp>
      <p:cxnSp>
        <p:nvCxnSpPr>
          <p:cNvPr id="2086" name="Google Shape;2086;p63"/>
          <p:cNvCxnSpPr/>
          <p:nvPr/>
        </p:nvCxnSpPr>
        <p:spPr>
          <a:xfrm>
            <a:off x="7781544" y="2432304"/>
            <a:ext cx="493776" cy="82296"/>
          </a:xfrm>
          <a:prstGeom prst="straightConnector1">
            <a:avLst/>
          </a:prstGeom>
          <a:noFill/>
          <a:ln cap="flat" cmpd="sng" w="31750">
            <a:solidFill>
              <a:srgbClr val="6B5B95"/>
            </a:solidFill>
            <a:prstDash val="solid"/>
            <a:round/>
            <a:headEnd len="sm" w="sm" type="none"/>
            <a:tailEnd len="sm" w="sm" type="none"/>
          </a:ln>
        </p:spPr>
      </p:cxnSp>
      <p:cxnSp>
        <p:nvCxnSpPr>
          <p:cNvPr id="2087" name="Google Shape;2087;p63"/>
          <p:cNvCxnSpPr/>
          <p:nvPr/>
        </p:nvCxnSpPr>
        <p:spPr>
          <a:xfrm>
            <a:off x="8275320" y="2514600"/>
            <a:ext cx="329184" cy="219456"/>
          </a:xfrm>
          <a:prstGeom prst="straightConnector1">
            <a:avLst/>
          </a:prstGeom>
          <a:noFill/>
          <a:ln cap="flat" cmpd="sng" w="31750">
            <a:solidFill>
              <a:srgbClr val="6B5B95"/>
            </a:solidFill>
            <a:prstDash val="solid"/>
            <a:round/>
            <a:headEnd len="sm" w="sm" type="none"/>
            <a:tailEnd len="sm" w="sm" type="none"/>
          </a:ln>
        </p:spPr>
      </p:cxnSp>
      <p:cxnSp>
        <p:nvCxnSpPr>
          <p:cNvPr id="2088" name="Google Shape;2088;p63"/>
          <p:cNvCxnSpPr/>
          <p:nvPr/>
        </p:nvCxnSpPr>
        <p:spPr>
          <a:xfrm>
            <a:off x="8604504" y="2734056"/>
            <a:ext cx="246888" cy="740664"/>
          </a:xfrm>
          <a:prstGeom prst="straightConnector1">
            <a:avLst/>
          </a:prstGeom>
          <a:noFill/>
          <a:ln cap="flat" cmpd="sng" w="31750">
            <a:solidFill>
              <a:srgbClr val="6B5B95"/>
            </a:solidFill>
            <a:prstDash val="solid"/>
            <a:round/>
            <a:headEnd len="sm" w="sm" type="none"/>
            <a:tailEnd len="sm" w="sm" type="none"/>
          </a:ln>
        </p:spPr>
      </p:cxnSp>
      <p:cxnSp>
        <p:nvCxnSpPr>
          <p:cNvPr id="2089" name="Google Shape;2089;p63"/>
          <p:cNvCxnSpPr/>
          <p:nvPr/>
        </p:nvCxnSpPr>
        <p:spPr>
          <a:xfrm>
            <a:off x="8851392" y="3474720"/>
            <a:ext cx="164592" cy="685800"/>
          </a:xfrm>
          <a:prstGeom prst="straightConnector1">
            <a:avLst/>
          </a:prstGeom>
          <a:noFill/>
          <a:ln cap="flat" cmpd="sng" w="31750">
            <a:solidFill>
              <a:srgbClr val="6B5B95"/>
            </a:solidFill>
            <a:prstDash val="solid"/>
            <a:round/>
            <a:headEnd len="sm" w="sm" type="none"/>
            <a:tailEnd len="sm" w="sm" type="none"/>
          </a:ln>
        </p:spPr>
      </p:cxnSp>
      <p:cxnSp>
        <p:nvCxnSpPr>
          <p:cNvPr id="2090" name="Google Shape;2090;p63"/>
          <p:cNvCxnSpPr/>
          <p:nvPr/>
        </p:nvCxnSpPr>
        <p:spPr>
          <a:xfrm>
            <a:off x="9015984" y="4160520"/>
            <a:ext cx="246888" cy="219456"/>
          </a:xfrm>
          <a:prstGeom prst="straightConnector1">
            <a:avLst/>
          </a:prstGeom>
          <a:noFill/>
          <a:ln cap="flat" cmpd="sng" w="31750">
            <a:solidFill>
              <a:srgbClr val="6B5B95"/>
            </a:solidFill>
            <a:prstDash val="solid"/>
            <a:round/>
            <a:headEnd len="sm" w="sm" type="none"/>
            <a:tailEnd len="sm" w="sm" type="none"/>
          </a:ln>
        </p:spPr>
      </p:cxnSp>
      <p:cxnSp>
        <p:nvCxnSpPr>
          <p:cNvPr id="2091" name="Google Shape;2091;p63"/>
          <p:cNvCxnSpPr/>
          <p:nvPr/>
        </p:nvCxnSpPr>
        <p:spPr>
          <a:xfrm>
            <a:off x="9262872" y="4379976"/>
            <a:ext cx="493776" cy="54864"/>
          </a:xfrm>
          <a:prstGeom prst="straightConnector1">
            <a:avLst/>
          </a:prstGeom>
          <a:noFill/>
          <a:ln cap="flat" cmpd="sng" w="31750">
            <a:solidFill>
              <a:srgbClr val="6B5B95"/>
            </a:solidFill>
            <a:prstDash val="solid"/>
            <a:round/>
            <a:headEnd len="sm" w="sm" type="none"/>
            <a:tailEnd len="sm" w="sm" type="none"/>
          </a:ln>
        </p:spPr>
      </p:cxnSp>
      <p:cxnSp>
        <p:nvCxnSpPr>
          <p:cNvPr id="2092" name="Google Shape;2092;p63"/>
          <p:cNvCxnSpPr/>
          <p:nvPr/>
        </p:nvCxnSpPr>
        <p:spPr>
          <a:xfrm flipH="1" rot="10800000">
            <a:off x="9756648" y="4407408"/>
            <a:ext cx="576072" cy="27432"/>
          </a:xfrm>
          <a:prstGeom prst="straightConnector1">
            <a:avLst/>
          </a:prstGeom>
          <a:noFill/>
          <a:ln cap="flat" cmpd="sng" w="31750">
            <a:solidFill>
              <a:srgbClr val="6B5B95"/>
            </a:solidFill>
            <a:prstDash val="solid"/>
            <a:round/>
            <a:headEnd len="sm" w="sm" type="none"/>
            <a:tailEnd len="sm" w="sm" type="none"/>
          </a:ln>
        </p:spPr>
      </p:cxnSp>
      <p:cxnSp>
        <p:nvCxnSpPr>
          <p:cNvPr id="2093" name="Google Shape;2093;p63"/>
          <p:cNvCxnSpPr/>
          <p:nvPr/>
        </p:nvCxnSpPr>
        <p:spPr>
          <a:xfrm flipH="1" rot="10800000">
            <a:off x="10332720" y="4352544"/>
            <a:ext cx="740664" cy="54864"/>
          </a:xfrm>
          <a:prstGeom prst="straightConnector1">
            <a:avLst/>
          </a:prstGeom>
          <a:noFill/>
          <a:ln cap="flat" cmpd="sng" w="31750">
            <a:solidFill>
              <a:srgbClr val="6B5B95"/>
            </a:solidFill>
            <a:prstDash val="solid"/>
            <a:round/>
            <a:headEnd len="sm" w="sm" type="none"/>
            <a:tailEnd len="sm" w="sm" type="none"/>
          </a:ln>
        </p:spPr>
      </p:cxnSp>
      <p:sp>
        <p:nvSpPr>
          <p:cNvPr id="2094" name="Google Shape;2094;p63"/>
          <p:cNvSpPr/>
          <p:nvPr/>
        </p:nvSpPr>
        <p:spPr>
          <a:xfrm>
            <a:off x="7242048" y="2304288"/>
            <a:ext cx="91440" cy="91440"/>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63"/>
          <p:cNvSpPr/>
          <p:nvPr/>
        </p:nvSpPr>
        <p:spPr>
          <a:xfrm>
            <a:off x="7818120" y="2386584"/>
            <a:ext cx="91440" cy="91440"/>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63"/>
          <p:cNvSpPr/>
          <p:nvPr/>
        </p:nvSpPr>
        <p:spPr>
          <a:xfrm>
            <a:off x="8394192" y="2551176"/>
            <a:ext cx="91440" cy="91440"/>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63"/>
          <p:cNvSpPr/>
          <p:nvPr/>
        </p:nvSpPr>
        <p:spPr>
          <a:xfrm>
            <a:off x="8723376" y="3154680"/>
            <a:ext cx="91440" cy="91440"/>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98" name="Google Shape;2098;p63"/>
          <p:cNvCxnSpPr/>
          <p:nvPr/>
        </p:nvCxnSpPr>
        <p:spPr>
          <a:xfrm flipH="1" rot="10800000">
            <a:off x="8769096" y="2185416"/>
            <a:ext cx="2345436" cy="1014984"/>
          </a:xfrm>
          <a:prstGeom prst="straightConnector1">
            <a:avLst/>
          </a:prstGeom>
          <a:noFill/>
          <a:ln cap="flat" cmpd="sng" w="25400">
            <a:solidFill>
              <a:srgbClr val="B8455F"/>
            </a:solidFill>
            <a:prstDash val="solid"/>
            <a:round/>
            <a:headEnd len="sm" w="sm" type="none"/>
            <a:tailEnd len="med" w="med" type="triangle"/>
          </a:ln>
        </p:spPr>
      </p:cxnSp>
      <p:sp>
        <p:nvSpPr>
          <p:cNvPr id="2099" name="Google Shape;2099;p63"/>
          <p:cNvSpPr/>
          <p:nvPr/>
        </p:nvSpPr>
        <p:spPr>
          <a:xfrm>
            <a:off x="9052560" y="1947672"/>
            <a:ext cx="20116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455F"/>
              </a:buClr>
              <a:buSzPts val="1050"/>
              <a:buFont typeface="Calibri"/>
              <a:buNone/>
            </a:pPr>
            <a:r>
              <a:rPr b="0" i="1" lang="en-US" sz="1050" u="none" cap="none" strike="noStrike">
                <a:solidFill>
                  <a:srgbClr val="B8455F"/>
                </a:solidFill>
                <a:latin typeface="Calibri"/>
                <a:ea typeface="Calibri"/>
                <a:cs typeface="Calibri"/>
                <a:sym typeface="Calibri"/>
              </a:rPr>
              <a:t>one step off the cliff</a:t>
            </a:r>
            <a:endParaRPr b="0" i="0" sz="1050" u="none" cap="none" strike="noStrike">
              <a:solidFill>
                <a:schemeClr val="dk1"/>
              </a:solidFill>
              <a:latin typeface="Calibri"/>
              <a:ea typeface="Calibri"/>
              <a:cs typeface="Calibri"/>
              <a:sym typeface="Calibri"/>
            </a:endParaRPr>
          </a:p>
        </p:txBody>
      </p:sp>
      <p:sp>
        <p:nvSpPr>
          <p:cNvPr id="2100" name="Google Shape;2100;p63"/>
          <p:cNvSpPr/>
          <p:nvPr/>
        </p:nvSpPr>
        <p:spPr>
          <a:xfrm>
            <a:off x="7040880" y="4754880"/>
            <a:ext cx="41148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parameter</a:t>
            </a:r>
            <a:endParaRPr b="0" i="0" sz="1050" u="none" cap="none" strike="noStrike">
              <a:solidFill>
                <a:schemeClr val="dk1"/>
              </a:solidFill>
              <a:latin typeface="Calibri"/>
              <a:ea typeface="Calibri"/>
              <a:cs typeface="Calibri"/>
              <a:sym typeface="Calibri"/>
            </a:endParaRPr>
          </a:p>
        </p:txBody>
      </p:sp>
      <p:sp>
        <p:nvSpPr>
          <p:cNvPr id="2101" name="Google Shape;2101;p63"/>
          <p:cNvSpPr/>
          <p:nvPr/>
        </p:nvSpPr>
        <p:spPr>
          <a:xfrm>
            <a:off x="6629400" y="3200400"/>
            <a:ext cx="3200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J</a:t>
            </a:r>
            <a:endParaRPr b="0" i="0" sz="1100" u="none" cap="none" strike="noStrike">
              <a:solidFill>
                <a:schemeClr val="dk1"/>
              </a:solidFill>
              <a:latin typeface="Calibri"/>
              <a:ea typeface="Calibri"/>
              <a:cs typeface="Calibri"/>
              <a:sym typeface="Calibri"/>
            </a:endParaRPr>
          </a:p>
        </p:txBody>
      </p:sp>
      <p:sp>
        <p:nvSpPr>
          <p:cNvPr id="2102" name="Google Shape;2102;p63"/>
          <p:cNvSpPr/>
          <p:nvPr/>
        </p:nvSpPr>
        <p:spPr>
          <a:xfrm>
            <a:off x="6766560" y="4956048"/>
            <a:ext cx="4572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1" lang="en-US" sz="1100" u="none" cap="none" strike="noStrike">
                <a:solidFill>
                  <a:srgbClr val="6E6880"/>
                </a:solidFill>
                <a:latin typeface="Calibri"/>
                <a:ea typeface="Calibri"/>
                <a:cs typeface="Calibri"/>
                <a:sym typeface="Calibri"/>
              </a:rPr>
              <a:t>Gradient clipping bounds the length of the red step, keeping the parameters on the surface.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7" name="Shape 2107"/>
        <p:cNvGrpSpPr/>
        <p:nvPr/>
      </p:nvGrpSpPr>
      <p:grpSpPr>
        <a:xfrm>
          <a:off x="0" y="0"/>
          <a:ext cx="0" cy="0"/>
          <a:chOff x="0" y="0"/>
          <a:chExt cx="0" cy="0"/>
        </a:xfrm>
      </p:grpSpPr>
      <p:sp>
        <p:nvSpPr>
          <p:cNvPr id="2108" name="Google Shape;2108;p64"/>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CHALLENGES</a:t>
            </a:r>
            <a:endParaRPr b="0" i="0" sz="1050" u="none" cap="none" strike="noStrike">
              <a:solidFill>
                <a:schemeClr val="dk1"/>
              </a:solidFill>
              <a:latin typeface="Calibri"/>
              <a:ea typeface="Calibri"/>
              <a:cs typeface="Calibri"/>
              <a:sym typeface="Calibri"/>
            </a:endParaRPr>
          </a:p>
        </p:txBody>
      </p:sp>
      <p:sp>
        <p:nvSpPr>
          <p:cNvPr id="2109" name="Google Shape;2109;p64"/>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Ill-conditioning</a:t>
            </a:r>
            <a:endParaRPr b="0" i="0" sz="2800" u="none" cap="none" strike="noStrike">
              <a:solidFill>
                <a:schemeClr val="dk1"/>
              </a:solidFill>
              <a:latin typeface="Calibri"/>
              <a:ea typeface="Calibri"/>
              <a:cs typeface="Calibri"/>
              <a:sym typeface="Calibri"/>
            </a:endParaRPr>
          </a:p>
        </p:txBody>
      </p:sp>
      <p:sp>
        <p:nvSpPr>
          <p:cNvPr id="2110" name="Google Shape;2110;p64"/>
          <p:cNvSpPr/>
          <p:nvPr/>
        </p:nvSpPr>
        <p:spPr>
          <a:xfrm>
            <a:off x="566928" y="1371600"/>
            <a:ext cx="5486400" cy="40233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Learning becomes very slow despite the presence of a strong gradient.</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SGD can get stuck in a state where even very small steps increase the cost function, so convergence becomes hard.</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tell-tale symptom: the gradient norm clearly increases over time, rather than decreasing as we would expect if the training process were converging to a critical point.</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50"/>
              <a:buFont typeface="Calibri"/>
              <a:buChar char="•"/>
            </a:pPr>
            <a:r>
              <a:rPr b="1" i="0" lang="en-US" sz="1350" u="none" cap="none" strike="noStrike">
                <a:solidFill>
                  <a:srgbClr val="C4661F"/>
                </a:solidFill>
                <a:latin typeface="Calibri"/>
                <a:ea typeface="Calibri"/>
                <a:cs typeface="Calibri"/>
                <a:sym typeface="Calibri"/>
              </a:rPr>
              <a:t>The cost is still falling — but the surface is so badly scaled that the step we take in one direction undoes the progress made in another.</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This is precisely the situation that momentum and the adaptive learning-rate methods later in this section are designed to fix.</a:t>
            </a:r>
            <a:endParaRPr b="0" i="0" sz="1350" u="none" cap="none" strike="noStrike">
              <a:solidFill>
                <a:schemeClr val="dk1"/>
              </a:solidFill>
              <a:latin typeface="Calibri"/>
              <a:ea typeface="Calibri"/>
              <a:cs typeface="Calibri"/>
              <a:sym typeface="Calibri"/>
            </a:endParaRPr>
          </a:p>
        </p:txBody>
      </p:sp>
      <p:graphicFrame>
        <p:nvGraphicFramePr>
          <p:cNvPr id="2111" name="Google Shape;2111;p64"/>
          <p:cNvGraphicFramePr/>
          <p:nvPr/>
        </p:nvGraphicFramePr>
        <p:xfrm>
          <a:off x="6309360" y="1371600"/>
          <a:ext cx="5321808" cy="3566160"/>
        </p:xfrm>
        <a:graphic>
          <a:graphicData uri="http://schemas.openxmlformats.org/drawingml/2006/chart">
            <c:chart r:id="rId3"/>
          </a:graphicData>
        </a:graphic>
      </p:graphicFrame>
      <p:sp>
        <p:nvSpPr>
          <p:cNvPr id="2112" name="Google Shape;2112;p64"/>
          <p:cNvSpPr/>
          <p:nvPr/>
        </p:nvSpPr>
        <p:spPr>
          <a:xfrm>
            <a:off x="7863840" y="4919472"/>
            <a:ext cx="2377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100"/>
              <a:buFont typeface="Calibri"/>
              <a:buNone/>
            </a:pPr>
            <a:r>
              <a:rPr b="0" i="0" lang="en-US" sz="1100" u="none" cap="none" strike="noStrike">
                <a:solidFill>
                  <a:srgbClr val="6E6880"/>
                </a:solidFill>
                <a:latin typeface="Calibri"/>
                <a:ea typeface="Calibri"/>
                <a:cs typeface="Calibri"/>
                <a:sym typeface="Calibri"/>
              </a:rPr>
              <a:t>Training time (epochs)</a:t>
            </a:r>
            <a:endParaRPr b="0" i="0" sz="1100" u="none" cap="none" strike="noStrike">
              <a:solidFill>
                <a:schemeClr val="dk1"/>
              </a:solidFill>
              <a:latin typeface="Calibri"/>
              <a:ea typeface="Calibri"/>
              <a:cs typeface="Calibri"/>
              <a:sym typeface="Calibri"/>
            </a:endParaRPr>
          </a:p>
        </p:txBody>
      </p:sp>
      <p:sp>
        <p:nvSpPr>
          <p:cNvPr id="2113" name="Google Shape;2113;p64"/>
          <p:cNvSpPr/>
          <p:nvPr/>
        </p:nvSpPr>
        <p:spPr>
          <a:xfrm>
            <a:off x="6309360" y="5257800"/>
            <a:ext cx="5321808" cy="502920"/>
          </a:xfrm>
          <a:prstGeom prst="roundRect">
            <a:avLst>
              <a:gd fmla="val 16364"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64"/>
          <p:cNvSpPr/>
          <p:nvPr/>
        </p:nvSpPr>
        <p:spPr>
          <a:xfrm>
            <a:off x="6537960" y="5257800"/>
            <a:ext cx="4846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150"/>
              <a:buFont typeface="Calibri"/>
              <a:buNone/>
            </a:pPr>
            <a:r>
              <a:rPr b="0" i="1" lang="en-US" sz="1150" u="none" cap="none" strike="noStrike">
                <a:solidFill>
                  <a:srgbClr val="2D1B4E"/>
                </a:solidFill>
                <a:latin typeface="Calibri"/>
                <a:ea typeface="Calibri"/>
                <a:cs typeface="Calibri"/>
                <a:sym typeface="Calibri"/>
              </a:rPr>
              <a:t>Rising, not falling — the opposite of what convergence looks like.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9" name="Shape 2119"/>
        <p:cNvGrpSpPr/>
        <p:nvPr/>
      </p:nvGrpSpPr>
      <p:grpSpPr>
        <a:xfrm>
          <a:off x="0" y="0"/>
          <a:ext cx="0" cy="0"/>
          <a:chOff x="0" y="0"/>
          <a:chExt cx="0" cy="0"/>
        </a:xfrm>
      </p:grpSpPr>
      <p:sp>
        <p:nvSpPr>
          <p:cNvPr id="2120" name="Google Shape;2120;p6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CHALLENGES</a:t>
            </a:r>
            <a:endParaRPr b="0" i="0" sz="1050" u="none" cap="none" strike="noStrike">
              <a:solidFill>
                <a:schemeClr val="dk1"/>
              </a:solidFill>
              <a:latin typeface="Calibri"/>
              <a:ea typeface="Calibri"/>
              <a:cs typeface="Calibri"/>
              <a:sym typeface="Calibri"/>
            </a:endParaRPr>
          </a:p>
        </p:txBody>
      </p:sp>
      <p:sp>
        <p:nvSpPr>
          <p:cNvPr id="2121" name="Google Shape;2121;p6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Local minima, plateaus and saddle points</a:t>
            </a:r>
            <a:endParaRPr b="0" i="0" sz="2800" u="none" cap="none" strike="noStrike">
              <a:solidFill>
                <a:schemeClr val="dk1"/>
              </a:solidFill>
              <a:latin typeface="Calibri"/>
              <a:ea typeface="Calibri"/>
              <a:cs typeface="Calibri"/>
              <a:sym typeface="Calibri"/>
            </a:endParaRPr>
          </a:p>
        </p:txBody>
      </p:sp>
      <p:sp>
        <p:nvSpPr>
          <p:cNvPr id="2122" name="Google Shape;2122;p65"/>
          <p:cNvSpPr/>
          <p:nvPr/>
        </p:nvSpPr>
        <p:spPr>
          <a:xfrm>
            <a:off x="566928" y="1325880"/>
            <a:ext cx="6675120" cy="2834640"/>
          </a:xfrm>
          <a:prstGeom prst="roundRect">
            <a:avLst>
              <a:gd fmla="val 290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23" name="Google Shape;2123;p65"/>
          <p:cNvCxnSpPr/>
          <p:nvPr/>
        </p:nvCxnSpPr>
        <p:spPr>
          <a:xfrm>
            <a:off x="1024128" y="1979676"/>
            <a:ext cx="288036" cy="164592"/>
          </a:xfrm>
          <a:prstGeom prst="straightConnector1">
            <a:avLst/>
          </a:prstGeom>
          <a:noFill/>
          <a:ln cap="flat" cmpd="sng" w="31750">
            <a:solidFill>
              <a:srgbClr val="3F2A69"/>
            </a:solidFill>
            <a:prstDash val="solid"/>
            <a:round/>
            <a:headEnd len="sm" w="sm" type="none"/>
            <a:tailEnd len="sm" w="sm" type="none"/>
          </a:ln>
        </p:spPr>
      </p:cxnSp>
      <p:cxnSp>
        <p:nvCxnSpPr>
          <p:cNvPr id="2124" name="Google Shape;2124;p65"/>
          <p:cNvCxnSpPr/>
          <p:nvPr/>
        </p:nvCxnSpPr>
        <p:spPr>
          <a:xfrm>
            <a:off x="1312164" y="2144268"/>
            <a:ext cx="288036" cy="195453"/>
          </a:xfrm>
          <a:prstGeom prst="straightConnector1">
            <a:avLst/>
          </a:prstGeom>
          <a:noFill/>
          <a:ln cap="flat" cmpd="sng" w="31750">
            <a:solidFill>
              <a:srgbClr val="3F2A69"/>
            </a:solidFill>
            <a:prstDash val="solid"/>
            <a:round/>
            <a:headEnd len="sm" w="sm" type="none"/>
            <a:tailEnd len="sm" w="sm" type="none"/>
          </a:ln>
        </p:spPr>
      </p:cxnSp>
      <p:cxnSp>
        <p:nvCxnSpPr>
          <p:cNvPr id="2125" name="Google Shape;2125;p65"/>
          <p:cNvCxnSpPr/>
          <p:nvPr/>
        </p:nvCxnSpPr>
        <p:spPr>
          <a:xfrm>
            <a:off x="1600200" y="2339721"/>
            <a:ext cx="288036" cy="113157"/>
          </a:xfrm>
          <a:prstGeom prst="straightConnector1">
            <a:avLst/>
          </a:prstGeom>
          <a:noFill/>
          <a:ln cap="flat" cmpd="sng" w="31750">
            <a:solidFill>
              <a:srgbClr val="3F2A69"/>
            </a:solidFill>
            <a:prstDash val="solid"/>
            <a:round/>
            <a:headEnd len="sm" w="sm" type="none"/>
            <a:tailEnd len="sm" w="sm" type="none"/>
          </a:ln>
        </p:spPr>
      </p:cxnSp>
      <p:cxnSp>
        <p:nvCxnSpPr>
          <p:cNvPr id="2126" name="Google Shape;2126;p65"/>
          <p:cNvCxnSpPr/>
          <p:nvPr/>
        </p:nvCxnSpPr>
        <p:spPr>
          <a:xfrm flipH="1" rot="10800000">
            <a:off x="1888236" y="2422017"/>
            <a:ext cx="288036" cy="30861"/>
          </a:xfrm>
          <a:prstGeom prst="straightConnector1">
            <a:avLst/>
          </a:prstGeom>
          <a:noFill/>
          <a:ln cap="flat" cmpd="sng" w="31750">
            <a:solidFill>
              <a:srgbClr val="3F2A69"/>
            </a:solidFill>
            <a:prstDash val="solid"/>
            <a:round/>
            <a:headEnd len="sm" w="sm" type="none"/>
            <a:tailEnd len="sm" w="sm" type="none"/>
          </a:ln>
        </p:spPr>
      </p:cxnSp>
      <p:cxnSp>
        <p:nvCxnSpPr>
          <p:cNvPr id="2127" name="Google Shape;2127;p65"/>
          <p:cNvCxnSpPr/>
          <p:nvPr/>
        </p:nvCxnSpPr>
        <p:spPr>
          <a:xfrm flipH="1" rot="10800000">
            <a:off x="2176272" y="2308860"/>
            <a:ext cx="288036" cy="113157"/>
          </a:xfrm>
          <a:prstGeom prst="straightConnector1">
            <a:avLst/>
          </a:prstGeom>
          <a:noFill/>
          <a:ln cap="flat" cmpd="sng" w="31750">
            <a:solidFill>
              <a:srgbClr val="3F2A69"/>
            </a:solidFill>
            <a:prstDash val="solid"/>
            <a:round/>
            <a:headEnd len="sm" w="sm" type="none"/>
            <a:tailEnd len="sm" w="sm" type="none"/>
          </a:ln>
        </p:spPr>
      </p:cxnSp>
      <p:cxnSp>
        <p:nvCxnSpPr>
          <p:cNvPr id="2128" name="Google Shape;2128;p65"/>
          <p:cNvCxnSpPr/>
          <p:nvPr/>
        </p:nvCxnSpPr>
        <p:spPr>
          <a:xfrm>
            <a:off x="2464308" y="2308860"/>
            <a:ext cx="288036" cy="154305"/>
          </a:xfrm>
          <a:prstGeom prst="straightConnector1">
            <a:avLst/>
          </a:prstGeom>
          <a:noFill/>
          <a:ln cap="flat" cmpd="sng" w="31750">
            <a:solidFill>
              <a:srgbClr val="3F2A69"/>
            </a:solidFill>
            <a:prstDash val="solid"/>
            <a:round/>
            <a:headEnd len="sm" w="sm" type="none"/>
            <a:tailEnd len="sm" w="sm" type="none"/>
          </a:ln>
        </p:spPr>
      </p:cxnSp>
      <p:cxnSp>
        <p:nvCxnSpPr>
          <p:cNvPr id="2129" name="Google Shape;2129;p65"/>
          <p:cNvCxnSpPr/>
          <p:nvPr/>
        </p:nvCxnSpPr>
        <p:spPr>
          <a:xfrm>
            <a:off x="2752344" y="2463165"/>
            <a:ext cx="288036" cy="246888"/>
          </a:xfrm>
          <a:prstGeom prst="straightConnector1">
            <a:avLst/>
          </a:prstGeom>
          <a:noFill/>
          <a:ln cap="flat" cmpd="sng" w="31750">
            <a:solidFill>
              <a:srgbClr val="3F2A69"/>
            </a:solidFill>
            <a:prstDash val="solid"/>
            <a:round/>
            <a:headEnd len="sm" w="sm" type="none"/>
            <a:tailEnd len="sm" w="sm" type="none"/>
          </a:ln>
        </p:spPr>
      </p:cxnSp>
      <p:cxnSp>
        <p:nvCxnSpPr>
          <p:cNvPr id="2130" name="Google Shape;2130;p65"/>
          <p:cNvCxnSpPr/>
          <p:nvPr/>
        </p:nvCxnSpPr>
        <p:spPr>
          <a:xfrm>
            <a:off x="3040380" y="2710053"/>
            <a:ext cx="288036" cy="133731"/>
          </a:xfrm>
          <a:prstGeom prst="straightConnector1">
            <a:avLst/>
          </a:prstGeom>
          <a:noFill/>
          <a:ln cap="flat" cmpd="sng" w="31750">
            <a:solidFill>
              <a:srgbClr val="3F2A69"/>
            </a:solidFill>
            <a:prstDash val="solid"/>
            <a:round/>
            <a:headEnd len="sm" w="sm" type="none"/>
            <a:tailEnd len="sm" w="sm" type="none"/>
          </a:ln>
        </p:spPr>
      </p:cxnSp>
      <p:cxnSp>
        <p:nvCxnSpPr>
          <p:cNvPr id="2131" name="Google Shape;2131;p65"/>
          <p:cNvCxnSpPr/>
          <p:nvPr/>
        </p:nvCxnSpPr>
        <p:spPr>
          <a:xfrm>
            <a:off x="3328416" y="2843784"/>
            <a:ext cx="288036" cy="30861"/>
          </a:xfrm>
          <a:prstGeom prst="straightConnector1">
            <a:avLst/>
          </a:prstGeom>
          <a:noFill/>
          <a:ln cap="flat" cmpd="sng" w="31750">
            <a:solidFill>
              <a:srgbClr val="3F2A69"/>
            </a:solidFill>
            <a:prstDash val="solid"/>
            <a:round/>
            <a:headEnd len="sm" w="sm" type="none"/>
            <a:tailEnd len="sm" w="sm" type="none"/>
          </a:ln>
        </p:spPr>
      </p:cxnSp>
      <p:cxnSp>
        <p:nvCxnSpPr>
          <p:cNvPr id="2132" name="Google Shape;2132;p65"/>
          <p:cNvCxnSpPr/>
          <p:nvPr/>
        </p:nvCxnSpPr>
        <p:spPr>
          <a:xfrm>
            <a:off x="3616452" y="2874645"/>
            <a:ext cx="403250" cy="10287"/>
          </a:xfrm>
          <a:prstGeom prst="straightConnector1">
            <a:avLst/>
          </a:prstGeom>
          <a:noFill/>
          <a:ln cap="flat" cmpd="sng" w="31750">
            <a:solidFill>
              <a:srgbClr val="3F2A69"/>
            </a:solidFill>
            <a:prstDash val="solid"/>
            <a:round/>
            <a:headEnd len="sm" w="sm" type="none"/>
            <a:tailEnd len="sm" w="sm" type="none"/>
          </a:ln>
        </p:spPr>
      </p:cxnSp>
      <p:cxnSp>
        <p:nvCxnSpPr>
          <p:cNvPr id="2133" name="Google Shape;2133;p65"/>
          <p:cNvCxnSpPr/>
          <p:nvPr/>
        </p:nvCxnSpPr>
        <p:spPr>
          <a:xfrm flipH="1" rot="10800000">
            <a:off x="4019702" y="2874645"/>
            <a:ext cx="345643" cy="10287"/>
          </a:xfrm>
          <a:prstGeom prst="straightConnector1">
            <a:avLst/>
          </a:prstGeom>
          <a:noFill/>
          <a:ln cap="flat" cmpd="sng" w="31750">
            <a:solidFill>
              <a:srgbClr val="3F2A69"/>
            </a:solidFill>
            <a:prstDash val="solid"/>
            <a:round/>
            <a:headEnd len="sm" w="sm" type="none"/>
            <a:tailEnd len="sm" w="sm" type="none"/>
          </a:ln>
        </p:spPr>
      </p:cxnSp>
      <p:cxnSp>
        <p:nvCxnSpPr>
          <p:cNvPr id="2134" name="Google Shape;2134;p65"/>
          <p:cNvCxnSpPr/>
          <p:nvPr/>
        </p:nvCxnSpPr>
        <p:spPr>
          <a:xfrm>
            <a:off x="4365346" y="2874645"/>
            <a:ext cx="288036" cy="51435"/>
          </a:xfrm>
          <a:prstGeom prst="straightConnector1">
            <a:avLst/>
          </a:prstGeom>
          <a:noFill/>
          <a:ln cap="flat" cmpd="sng" w="31750">
            <a:solidFill>
              <a:srgbClr val="3F2A69"/>
            </a:solidFill>
            <a:prstDash val="solid"/>
            <a:round/>
            <a:headEnd len="sm" w="sm" type="none"/>
            <a:tailEnd len="sm" w="sm" type="none"/>
          </a:ln>
        </p:spPr>
      </p:cxnSp>
      <p:cxnSp>
        <p:nvCxnSpPr>
          <p:cNvPr id="2135" name="Google Shape;2135;p65"/>
          <p:cNvCxnSpPr/>
          <p:nvPr/>
        </p:nvCxnSpPr>
        <p:spPr>
          <a:xfrm>
            <a:off x="4653382" y="2926080"/>
            <a:ext cx="288036" cy="164592"/>
          </a:xfrm>
          <a:prstGeom prst="straightConnector1">
            <a:avLst/>
          </a:prstGeom>
          <a:noFill/>
          <a:ln cap="flat" cmpd="sng" w="31750">
            <a:solidFill>
              <a:srgbClr val="3F2A69"/>
            </a:solidFill>
            <a:prstDash val="solid"/>
            <a:round/>
            <a:headEnd len="sm" w="sm" type="none"/>
            <a:tailEnd len="sm" w="sm" type="none"/>
          </a:ln>
        </p:spPr>
      </p:cxnSp>
      <p:cxnSp>
        <p:nvCxnSpPr>
          <p:cNvPr id="2136" name="Google Shape;2136;p65"/>
          <p:cNvCxnSpPr/>
          <p:nvPr/>
        </p:nvCxnSpPr>
        <p:spPr>
          <a:xfrm>
            <a:off x="4941418" y="3090672"/>
            <a:ext cx="345643" cy="246888"/>
          </a:xfrm>
          <a:prstGeom prst="straightConnector1">
            <a:avLst/>
          </a:prstGeom>
          <a:noFill/>
          <a:ln cap="flat" cmpd="sng" w="31750">
            <a:solidFill>
              <a:srgbClr val="3F2A69"/>
            </a:solidFill>
            <a:prstDash val="solid"/>
            <a:round/>
            <a:headEnd len="sm" w="sm" type="none"/>
            <a:tailEnd len="sm" w="sm" type="none"/>
          </a:ln>
        </p:spPr>
      </p:cxnSp>
      <p:cxnSp>
        <p:nvCxnSpPr>
          <p:cNvPr id="2137" name="Google Shape;2137;p65"/>
          <p:cNvCxnSpPr/>
          <p:nvPr/>
        </p:nvCxnSpPr>
        <p:spPr>
          <a:xfrm>
            <a:off x="5287061" y="3337560"/>
            <a:ext cx="345643" cy="144018"/>
          </a:xfrm>
          <a:prstGeom prst="straightConnector1">
            <a:avLst/>
          </a:prstGeom>
          <a:noFill/>
          <a:ln cap="flat" cmpd="sng" w="31750">
            <a:solidFill>
              <a:srgbClr val="3F2A69"/>
            </a:solidFill>
            <a:prstDash val="solid"/>
            <a:round/>
            <a:headEnd len="sm" w="sm" type="none"/>
            <a:tailEnd len="sm" w="sm" type="none"/>
          </a:ln>
        </p:spPr>
      </p:cxnSp>
      <p:cxnSp>
        <p:nvCxnSpPr>
          <p:cNvPr id="2138" name="Google Shape;2138;p65"/>
          <p:cNvCxnSpPr/>
          <p:nvPr/>
        </p:nvCxnSpPr>
        <p:spPr>
          <a:xfrm>
            <a:off x="5632704" y="3481578"/>
            <a:ext cx="345643" cy="30861"/>
          </a:xfrm>
          <a:prstGeom prst="straightConnector1">
            <a:avLst/>
          </a:prstGeom>
          <a:noFill/>
          <a:ln cap="flat" cmpd="sng" w="31750">
            <a:solidFill>
              <a:srgbClr val="3F2A69"/>
            </a:solidFill>
            <a:prstDash val="solid"/>
            <a:round/>
            <a:headEnd len="sm" w="sm" type="none"/>
            <a:tailEnd len="sm" w="sm" type="none"/>
          </a:ln>
        </p:spPr>
      </p:cxnSp>
      <p:cxnSp>
        <p:nvCxnSpPr>
          <p:cNvPr id="2139" name="Google Shape;2139;p65"/>
          <p:cNvCxnSpPr/>
          <p:nvPr/>
        </p:nvCxnSpPr>
        <p:spPr>
          <a:xfrm flipH="1" rot="10800000">
            <a:off x="5978347" y="3440430"/>
            <a:ext cx="345643" cy="72009"/>
          </a:xfrm>
          <a:prstGeom prst="straightConnector1">
            <a:avLst/>
          </a:prstGeom>
          <a:noFill/>
          <a:ln cap="flat" cmpd="sng" w="31750">
            <a:solidFill>
              <a:srgbClr val="3F2A69"/>
            </a:solidFill>
            <a:prstDash val="solid"/>
            <a:round/>
            <a:headEnd len="sm" w="sm" type="none"/>
            <a:tailEnd len="sm" w="sm" type="none"/>
          </a:ln>
        </p:spPr>
      </p:cxnSp>
      <p:cxnSp>
        <p:nvCxnSpPr>
          <p:cNvPr id="2140" name="Google Shape;2140;p65"/>
          <p:cNvCxnSpPr/>
          <p:nvPr/>
        </p:nvCxnSpPr>
        <p:spPr>
          <a:xfrm flipH="1" rot="10800000">
            <a:off x="6323990" y="3255264"/>
            <a:ext cx="460858" cy="185166"/>
          </a:xfrm>
          <a:prstGeom prst="straightConnector1">
            <a:avLst/>
          </a:prstGeom>
          <a:noFill/>
          <a:ln cap="flat" cmpd="sng" w="31750">
            <a:solidFill>
              <a:srgbClr val="3F2A69"/>
            </a:solidFill>
            <a:prstDash val="solid"/>
            <a:round/>
            <a:headEnd len="sm" w="sm" type="none"/>
            <a:tailEnd len="sm" w="sm" type="none"/>
          </a:ln>
        </p:spPr>
      </p:cxnSp>
      <p:sp>
        <p:nvSpPr>
          <p:cNvPr id="2141" name="Google Shape;2141;p65"/>
          <p:cNvSpPr/>
          <p:nvPr/>
        </p:nvSpPr>
        <p:spPr>
          <a:xfrm>
            <a:off x="1819656" y="2384298"/>
            <a:ext cx="137160" cy="137160"/>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65"/>
          <p:cNvSpPr/>
          <p:nvPr/>
        </p:nvSpPr>
        <p:spPr>
          <a:xfrm>
            <a:off x="1065276" y="2580894"/>
            <a:ext cx="164592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6B5B95"/>
              </a:buClr>
              <a:buSzPts val="1000"/>
              <a:buFont typeface="Calibri"/>
              <a:buNone/>
            </a:pPr>
            <a:r>
              <a:rPr b="1" i="0" lang="en-US" sz="1000" u="none" cap="none" strike="noStrike">
                <a:solidFill>
                  <a:srgbClr val="6B5B95"/>
                </a:solidFill>
                <a:latin typeface="Calibri"/>
                <a:ea typeface="Calibri"/>
                <a:cs typeface="Calibri"/>
                <a:sym typeface="Calibri"/>
              </a:rPr>
              <a:t>local minimum</a:t>
            </a:r>
            <a:endParaRPr b="0" i="0" sz="1000" u="none" cap="none" strike="noStrike">
              <a:solidFill>
                <a:schemeClr val="dk1"/>
              </a:solidFill>
              <a:latin typeface="Calibri"/>
              <a:ea typeface="Calibri"/>
              <a:cs typeface="Calibri"/>
              <a:sym typeface="Calibri"/>
            </a:endParaRPr>
          </a:p>
        </p:txBody>
      </p:sp>
      <p:sp>
        <p:nvSpPr>
          <p:cNvPr id="2143" name="Google Shape;2143;p65"/>
          <p:cNvSpPr/>
          <p:nvPr/>
        </p:nvSpPr>
        <p:spPr>
          <a:xfrm>
            <a:off x="3951122" y="2816352"/>
            <a:ext cx="137160" cy="137160"/>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65"/>
          <p:cNvSpPr/>
          <p:nvPr/>
        </p:nvSpPr>
        <p:spPr>
          <a:xfrm>
            <a:off x="3196742" y="2354580"/>
            <a:ext cx="1645920" cy="384048"/>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C4661F"/>
              </a:buClr>
              <a:buSzPts val="1000"/>
              <a:buFont typeface="Calibri"/>
              <a:buNone/>
            </a:pPr>
            <a:r>
              <a:rPr b="1" i="0" lang="en-US" sz="1000" u="none" cap="none" strike="noStrike">
                <a:solidFill>
                  <a:srgbClr val="C4661F"/>
                </a:solidFill>
                <a:latin typeface="Calibri"/>
                <a:ea typeface="Calibri"/>
                <a:cs typeface="Calibri"/>
                <a:sym typeface="Calibri"/>
              </a:rPr>
              <a:t>plateau</a:t>
            </a:r>
            <a:endParaRPr b="0" i="0" sz="1000" u="none" cap="none" strike="noStrike">
              <a:solidFill>
                <a:schemeClr val="dk1"/>
              </a:solidFill>
              <a:latin typeface="Calibri"/>
              <a:ea typeface="Calibri"/>
              <a:cs typeface="Calibri"/>
              <a:sym typeface="Calibri"/>
            </a:endParaRPr>
          </a:p>
        </p:txBody>
      </p:sp>
      <p:sp>
        <p:nvSpPr>
          <p:cNvPr id="2145" name="Google Shape;2145;p65"/>
          <p:cNvSpPr/>
          <p:nvPr/>
        </p:nvSpPr>
        <p:spPr>
          <a:xfrm>
            <a:off x="5909767" y="3443859"/>
            <a:ext cx="137160" cy="137160"/>
          </a:xfrm>
          <a:prstGeom prst="ellipse">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65"/>
          <p:cNvSpPr/>
          <p:nvPr/>
        </p:nvSpPr>
        <p:spPr>
          <a:xfrm>
            <a:off x="5155387" y="3640455"/>
            <a:ext cx="1645920" cy="384048"/>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8A7D"/>
              </a:buClr>
              <a:buSzPts val="1000"/>
              <a:buFont typeface="Calibri"/>
              <a:buNone/>
            </a:pPr>
            <a:r>
              <a:rPr b="1" i="0" lang="en-US" sz="1000" u="none" cap="none" strike="noStrike">
                <a:solidFill>
                  <a:srgbClr val="1F8A7D"/>
                </a:solidFill>
                <a:latin typeface="Calibri"/>
                <a:ea typeface="Calibri"/>
                <a:cs typeface="Calibri"/>
                <a:sym typeface="Calibri"/>
              </a:rPr>
              <a:t>global minimum</a:t>
            </a:r>
            <a:endParaRPr b="0" i="0" sz="1000" u="none" cap="none" strike="noStrike">
              <a:solidFill>
                <a:schemeClr val="dk1"/>
              </a:solidFill>
              <a:latin typeface="Calibri"/>
              <a:ea typeface="Calibri"/>
              <a:cs typeface="Calibri"/>
              <a:sym typeface="Calibri"/>
            </a:endParaRPr>
          </a:p>
        </p:txBody>
      </p:sp>
      <p:sp>
        <p:nvSpPr>
          <p:cNvPr id="2147" name="Google Shape;2147;p65"/>
          <p:cNvSpPr/>
          <p:nvPr/>
        </p:nvSpPr>
        <p:spPr>
          <a:xfrm>
            <a:off x="1024128" y="3803904"/>
            <a:ext cx="5760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parameter space</a:t>
            </a:r>
            <a:endParaRPr b="0" i="0" sz="1050" u="none" cap="none" strike="noStrike">
              <a:solidFill>
                <a:schemeClr val="dk1"/>
              </a:solidFill>
              <a:latin typeface="Calibri"/>
              <a:ea typeface="Calibri"/>
              <a:cs typeface="Calibri"/>
              <a:sym typeface="Calibri"/>
            </a:endParaRPr>
          </a:p>
        </p:txBody>
      </p:sp>
      <p:sp>
        <p:nvSpPr>
          <p:cNvPr id="2148" name="Google Shape;2148;p65"/>
          <p:cNvSpPr/>
          <p:nvPr/>
        </p:nvSpPr>
        <p:spPr>
          <a:xfrm>
            <a:off x="7406640" y="1325880"/>
            <a:ext cx="4224528" cy="2834640"/>
          </a:xfrm>
          <a:prstGeom prst="roundRect">
            <a:avLst>
              <a:gd fmla="val 290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65"/>
          <p:cNvSpPr/>
          <p:nvPr/>
        </p:nvSpPr>
        <p:spPr>
          <a:xfrm>
            <a:off x="7635240" y="1444752"/>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50"/>
              <a:buFont typeface="Calibri"/>
              <a:buNone/>
            </a:pPr>
            <a:r>
              <a:rPr b="1" i="0" lang="en-US" sz="1250" u="none" cap="none" strike="noStrike">
                <a:solidFill>
                  <a:srgbClr val="2D1B4E"/>
                </a:solidFill>
                <a:latin typeface="Calibri"/>
                <a:ea typeface="Calibri"/>
                <a:cs typeface="Calibri"/>
                <a:sym typeface="Calibri"/>
              </a:rPr>
              <a:t>A saddle point</a:t>
            </a:r>
            <a:endParaRPr b="0" i="0" sz="1250" u="none" cap="none" strike="noStrike">
              <a:solidFill>
                <a:schemeClr val="dk1"/>
              </a:solidFill>
              <a:latin typeface="Calibri"/>
              <a:ea typeface="Calibri"/>
              <a:cs typeface="Calibri"/>
              <a:sym typeface="Calibri"/>
            </a:endParaRPr>
          </a:p>
        </p:txBody>
      </p:sp>
      <p:cxnSp>
        <p:nvCxnSpPr>
          <p:cNvPr id="2150" name="Google Shape;2150;p65"/>
          <p:cNvCxnSpPr/>
          <p:nvPr/>
        </p:nvCxnSpPr>
        <p:spPr>
          <a:xfrm>
            <a:off x="7726680" y="1906524"/>
            <a:ext cx="84582" cy="236281"/>
          </a:xfrm>
          <a:prstGeom prst="straightConnector1">
            <a:avLst/>
          </a:prstGeom>
          <a:noFill/>
          <a:ln cap="flat" cmpd="sng" w="27925">
            <a:solidFill>
              <a:srgbClr val="1F8A7D"/>
            </a:solidFill>
            <a:prstDash val="solid"/>
            <a:round/>
            <a:headEnd len="sm" w="sm" type="none"/>
            <a:tailEnd len="sm" w="sm" type="none"/>
          </a:ln>
        </p:spPr>
      </p:cxnSp>
      <p:cxnSp>
        <p:nvCxnSpPr>
          <p:cNvPr id="2151" name="Google Shape;2151;p65"/>
          <p:cNvCxnSpPr/>
          <p:nvPr/>
        </p:nvCxnSpPr>
        <p:spPr>
          <a:xfrm>
            <a:off x="7811262" y="2142805"/>
            <a:ext cx="84582" cy="211409"/>
          </a:xfrm>
          <a:prstGeom prst="straightConnector1">
            <a:avLst/>
          </a:prstGeom>
          <a:noFill/>
          <a:ln cap="flat" cmpd="sng" w="27925">
            <a:solidFill>
              <a:srgbClr val="1F8A7D"/>
            </a:solidFill>
            <a:prstDash val="solid"/>
            <a:round/>
            <a:headEnd len="sm" w="sm" type="none"/>
            <a:tailEnd len="sm" w="sm" type="none"/>
          </a:ln>
        </p:spPr>
      </p:cxnSp>
      <p:cxnSp>
        <p:nvCxnSpPr>
          <p:cNvPr id="2152" name="Google Shape;2152;p65"/>
          <p:cNvCxnSpPr/>
          <p:nvPr/>
        </p:nvCxnSpPr>
        <p:spPr>
          <a:xfrm>
            <a:off x="7895844" y="2354214"/>
            <a:ext cx="84582" cy="186538"/>
          </a:xfrm>
          <a:prstGeom prst="straightConnector1">
            <a:avLst/>
          </a:prstGeom>
          <a:noFill/>
          <a:ln cap="flat" cmpd="sng" w="27925">
            <a:solidFill>
              <a:srgbClr val="1F8A7D"/>
            </a:solidFill>
            <a:prstDash val="solid"/>
            <a:round/>
            <a:headEnd len="sm" w="sm" type="none"/>
            <a:tailEnd len="sm" w="sm" type="none"/>
          </a:ln>
        </p:spPr>
      </p:cxnSp>
      <p:cxnSp>
        <p:nvCxnSpPr>
          <p:cNvPr id="2153" name="Google Shape;2153;p65"/>
          <p:cNvCxnSpPr/>
          <p:nvPr/>
        </p:nvCxnSpPr>
        <p:spPr>
          <a:xfrm>
            <a:off x="7980426" y="2540752"/>
            <a:ext cx="84582" cy="161666"/>
          </a:xfrm>
          <a:prstGeom prst="straightConnector1">
            <a:avLst/>
          </a:prstGeom>
          <a:noFill/>
          <a:ln cap="flat" cmpd="sng" w="27925">
            <a:solidFill>
              <a:srgbClr val="1F8A7D"/>
            </a:solidFill>
            <a:prstDash val="solid"/>
            <a:round/>
            <a:headEnd len="sm" w="sm" type="none"/>
            <a:tailEnd len="sm" w="sm" type="none"/>
          </a:ln>
        </p:spPr>
      </p:cxnSp>
      <p:cxnSp>
        <p:nvCxnSpPr>
          <p:cNvPr id="2154" name="Google Shape;2154;p65"/>
          <p:cNvCxnSpPr/>
          <p:nvPr/>
        </p:nvCxnSpPr>
        <p:spPr>
          <a:xfrm>
            <a:off x="8065008" y="2702418"/>
            <a:ext cx="84582" cy="136794"/>
          </a:xfrm>
          <a:prstGeom prst="straightConnector1">
            <a:avLst/>
          </a:prstGeom>
          <a:noFill/>
          <a:ln cap="flat" cmpd="sng" w="27925">
            <a:solidFill>
              <a:srgbClr val="1F8A7D"/>
            </a:solidFill>
            <a:prstDash val="solid"/>
            <a:round/>
            <a:headEnd len="sm" w="sm" type="none"/>
            <a:tailEnd len="sm" w="sm" type="none"/>
          </a:ln>
        </p:spPr>
      </p:cxnSp>
      <p:cxnSp>
        <p:nvCxnSpPr>
          <p:cNvPr id="2155" name="Google Shape;2155;p65"/>
          <p:cNvCxnSpPr/>
          <p:nvPr/>
        </p:nvCxnSpPr>
        <p:spPr>
          <a:xfrm>
            <a:off x="8149590" y="2839212"/>
            <a:ext cx="84582" cy="111923"/>
          </a:xfrm>
          <a:prstGeom prst="straightConnector1">
            <a:avLst/>
          </a:prstGeom>
          <a:noFill/>
          <a:ln cap="flat" cmpd="sng" w="27925">
            <a:solidFill>
              <a:srgbClr val="1F8A7D"/>
            </a:solidFill>
            <a:prstDash val="solid"/>
            <a:round/>
            <a:headEnd len="sm" w="sm" type="none"/>
            <a:tailEnd len="sm" w="sm" type="none"/>
          </a:ln>
        </p:spPr>
      </p:cxnSp>
      <p:cxnSp>
        <p:nvCxnSpPr>
          <p:cNvPr id="2156" name="Google Shape;2156;p65"/>
          <p:cNvCxnSpPr/>
          <p:nvPr/>
        </p:nvCxnSpPr>
        <p:spPr>
          <a:xfrm>
            <a:off x="8234172" y="2951135"/>
            <a:ext cx="84582" cy="87051"/>
          </a:xfrm>
          <a:prstGeom prst="straightConnector1">
            <a:avLst/>
          </a:prstGeom>
          <a:noFill/>
          <a:ln cap="flat" cmpd="sng" w="27925">
            <a:solidFill>
              <a:srgbClr val="1F8A7D"/>
            </a:solidFill>
            <a:prstDash val="solid"/>
            <a:round/>
            <a:headEnd len="sm" w="sm" type="none"/>
            <a:tailEnd len="sm" w="sm" type="none"/>
          </a:ln>
        </p:spPr>
      </p:cxnSp>
      <p:cxnSp>
        <p:nvCxnSpPr>
          <p:cNvPr id="2157" name="Google Shape;2157;p65"/>
          <p:cNvCxnSpPr/>
          <p:nvPr/>
        </p:nvCxnSpPr>
        <p:spPr>
          <a:xfrm>
            <a:off x="8318754" y="3038185"/>
            <a:ext cx="84582" cy="62179"/>
          </a:xfrm>
          <a:prstGeom prst="straightConnector1">
            <a:avLst/>
          </a:prstGeom>
          <a:noFill/>
          <a:ln cap="flat" cmpd="sng" w="27925">
            <a:solidFill>
              <a:srgbClr val="1F8A7D"/>
            </a:solidFill>
            <a:prstDash val="solid"/>
            <a:round/>
            <a:headEnd len="sm" w="sm" type="none"/>
            <a:tailEnd len="sm" w="sm" type="none"/>
          </a:ln>
        </p:spPr>
      </p:cxnSp>
      <p:cxnSp>
        <p:nvCxnSpPr>
          <p:cNvPr id="2158" name="Google Shape;2158;p65"/>
          <p:cNvCxnSpPr/>
          <p:nvPr/>
        </p:nvCxnSpPr>
        <p:spPr>
          <a:xfrm>
            <a:off x="8403336" y="3100365"/>
            <a:ext cx="84582" cy="37308"/>
          </a:xfrm>
          <a:prstGeom prst="straightConnector1">
            <a:avLst/>
          </a:prstGeom>
          <a:noFill/>
          <a:ln cap="flat" cmpd="sng" w="27925">
            <a:solidFill>
              <a:srgbClr val="1F8A7D"/>
            </a:solidFill>
            <a:prstDash val="solid"/>
            <a:round/>
            <a:headEnd len="sm" w="sm" type="none"/>
            <a:tailEnd len="sm" w="sm" type="none"/>
          </a:ln>
        </p:spPr>
      </p:cxnSp>
      <p:cxnSp>
        <p:nvCxnSpPr>
          <p:cNvPr id="2159" name="Google Shape;2159;p65"/>
          <p:cNvCxnSpPr/>
          <p:nvPr/>
        </p:nvCxnSpPr>
        <p:spPr>
          <a:xfrm>
            <a:off x="8487918" y="3137672"/>
            <a:ext cx="84582" cy="12436"/>
          </a:xfrm>
          <a:prstGeom prst="straightConnector1">
            <a:avLst/>
          </a:prstGeom>
          <a:noFill/>
          <a:ln cap="flat" cmpd="sng" w="27925">
            <a:solidFill>
              <a:srgbClr val="1F8A7D"/>
            </a:solidFill>
            <a:prstDash val="solid"/>
            <a:round/>
            <a:headEnd len="sm" w="sm" type="none"/>
            <a:tailEnd len="sm" w="sm" type="none"/>
          </a:ln>
        </p:spPr>
      </p:cxnSp>
      <p:cxnSp>
        <p:nvCxnSpPr>
          <p:cNvPr id="2160" name="Google Shape;2160;p65"/>
          <p:cNvCxnSpPr/>
          <p:nvPr/>
        </p:nvCxnSpPr>
        <p:spPr>
          <a:xfrm flipH="1" rot="10800000">
            <a:off x="8572500" y="3137672"/>
            <a:ext cx="84582" cy="12436"/>
          </a:xfrm>
          <a:prstGeom prst="straightConnector1">
            <a:avLst/>
          </a:prstGeom>
          <a:noFill/>
          <a:ln cap="flat" cmpd="sng" w="27925">
            <a:solidFill>
              <a:srgbClr val="1F8A7D"/>
            </a:solidFill>
            <a:prstDash val="solid"/>
            <a:round/>
            <a:headEnd len="sm" w="sm" type="none"/>
            <a:tailEnd len="sm" w="sm" type="none"/>
          </a:ln>
        </p:spPr>
      </p:cxnSp>
      <p:cxnSp>
        <p:nvCxnSpPr>
          <p:cNvPr id="2161" name="Google Shape;2161;p65"/>
          <p:cNvCxnSpPr/>
          <p:nvPr/>
        </p:nvCxnSpPr>
        <p:spPr>
          <a:xfrm flipH="1" rot="10800000">
            <a:off x="8657082" y="3100365"/>
            <a:ext cx="84582" cy="37308"/>
          </a:xfrm>
          <a:prstGeom prst="straightConnector1">
            <a:avLst/>
          </a:prstGeom>
          <a:noFill/>
          <a:ln cap="flat" cmpd="sng" w="27925">
            <a:solidFill>
              <a:srgbClr val="1F8A7D"/>
            </a:solidFill>
            <a:prstDash val="solid"/>
            <a:round/>
            <a:headEnd len="sm" w="sm" type="none"/>
            <a:tailEnd len="sm" w="sm" type="none"/>
          </a:ln>
        </p:spPr>
      </p:cxnSp>
      <p:cxnSp>
        <p:nvCxnSpPr>
          <p:cNvPr id="2162" name="Google Shape;2162;p65"/>
          <p:cNvCxnSpPr/>
          <p:nvPr/>
        </p:nvCxnSpPr>
        <p:spPr>
          <a:xfrm flipH="1" rot="10800000">
            <a:off x="8741664" y="3038185"/>
            <a:ext cx="84582" cy="62179"/>
          </a:xfrm>
          <a:prstGeom prst="straightConnector1">
            <a:avLst/>
          </a:prstGeom>
          <a:noFill/>
          <a:ln cap="flat" cmpd="sng" w="27925">
            <a:solidFill>
              <a:srgbClr val="1F8A7D"/>
            </a:solidFill>
            <a:prstDash val="solid"/>
            <a:round/>
            <a:headEnd len="sm" w="sm" type="none"/>
            <a:tailEnd len="sm" w="sm" type="none"/>
          </a:ln>
        </p:spPr>
      </p:cxnSp>
      <p:cxnSp>
        <p:nvCxnSpPr>
          <p:cNvPr id="2163" name="Google Shape;2163;p65"/>
          <p:cNvCxnSpPr/>
          <p:nvPr/>
        </p:nvCxnSpPr>
        <p:spPr>
          <a:xfrm flipH="1" rot="10800000">
            <a:off x="8826246" y="2951135"/>
            <a:ext cx="84582" cy="87051"/>
          </a:xfrm>
          <a:prstGeom prst="straightConnector1">
            <a:avLst/>
          </a:prstGeom>
          <a:noFill/>
          <a:ln cap="flat" cmpd="sng" w="27925">
            <a:solidFill>
              <a:srgbClr val="1F8A7D"/>
            </a:solidFill>
            <a:prstDash val="solid"/>
            <a:round/>
            <a:headEnd len="sm" w="sm" type="none"/>
            <a:tailEnd len="sm" w="sm" type="none"/>
          </a:ln>
        </p:spPr>
      </p:cxnSp>
      <p:cxnSp>
        <p:nvCxnSpPr>
          <p:cNvPr id="2164" name="Google Shape;2164;p65"/>
          <p:cNvCxnSpPr/>
          <p:nvPr/>
        </p:nvCxnSpPr>
        <p:spPr>
          <a:xfrm flipH="1" rot="10800000">
            <a:off x="8910828" y="2839212"/>
            <a:ext cx="84582" cy="111923"/>
          </a:xfrm>
          <a:prstGeom prst="straightConnector1">
            <a:avLst/>
          </a:prstGeom>
          <a:noFill/>
          <a:ln cap="flat" cmpd="sng" w="27925">
            <a:solidFill>
              <a:srgbClr val="1F8A7D"/>
            </a:solidFill>
            <a:prstDash val="solid"/>
            <a:round/>
            <a:headEnd len="sm" w="sm" type="none"/>
            <a:tailEnd len="sm" w="sm" type="none"/>
          </a:ln>
        </p:spPr>
      </p:cxnSp>
      <p:cxnSp>
        <p:nvCxnSpPr>
          <p:cNvPr id="2165" name="Google Shape;2165;p65"/>
          <p:cNvCxnSpPr/>
          <p:nvPr/>
        </p:nvCxnSpPr>
        <p:spPr>
          <a:xfrm flipH="1" rot="10800000">
            <a:off x="8995410" y="2702418"/>
            <a:ext cx="84582" cy="136794"/>
          </a:xfrm>
          <a:prstGeom prst="straightConnector1">
            <a:avLst/>
          </a:prstGeom>
          <a:noFill/>
          <a:ln cap="flat" cmpd="sng" w="27925">
            <a:solidFill>
              <a:srgbClr val="1F8A7D"/>
            </a:solidFill>
            <a:prstDash val="solid"/>
            <a:round/>
            <a:headEnd len="sm" w="sm" type="none"/>
            <a:tailEnd len="sm" w="sm" type="none"/>
          </a:ln>
        </p:spPr>
      </p:cxnSp>
      <p:cxnSp>
        <p:nvCxnSpPr>
          <p:cNvPr id="2166" name="Google Shape;2166;p65"/>
          <p:cNvCxnSpPr/>
          <p:nvPr/>
        </p:nvCxnSpPr>
        <p:spPr>
          <a:xfrm flipH="1" rot="10800000">
            <a:off x="9079992" y="2540752"/>
            <a:ext cx="84582" cy="161666"/>
          </a:xfrm>
          <a:prstGeom prst="straightConnector1">
            <a:avLst/>
          </a:prstGeom>
          <a:noFill/>
          <a:ln cap="flat" cmpd="sng" w="27925">
            <a:solidFill>
              <a:srgbClr val="1F8A7D"/>
            </a:solidFill>
            <a:prstDash val="solid"/>
            <a:round/>
            <a:headEnd len="sm" w="sm" type="none"/>
            <a:tailEnd len="sm" w="sm" type="none"/>
          </a:ln>
        </p:spPr>
      </p:cxnSp>
      <p:cxnSp>
        <p:nvCxnSpPr>
          <p:cNvPr id="2167" name="Google Shape;2167;p65"/>
          <p:cNvCxnSpPr/>
          <p:nvPr/>
        </p:nvCxnSpPr>
        <p:spPr>
          <a:xfrm flipH="1" rot="10800000">
            <a:off x="9164574" y="2354214"/>
            <a:ext cx="84582" cy="186538"/>
          </a:xfrm>
          <a:prstGeom prst="straightConnector1">
            <a:avLst/>
          </a:prstGeom>
          <a:noFill/>
          <a:ln cap="flat" cmpd="sng" w="27925">
            <a:solidFill>
              <a:srgbClr val="1F8A7D"/>
            </a:solidFill>
            <a:prstDash val="solid"/>
            <a:round/>
            <a:headEnd len="sm" w="sm" type="none"/>
            <a:tailEnd len="sm" w="sm" type="none"/>
          </a:ln>
        </p:spPr>
      </p:cxnSp>
      <p:cxnSp>
        <p:nvCxnSpPr>
          <p:cNvPr id="2168" name="Google Shape;2168;p65"/>
          <p:cNvCxnSpPr/>
          <p:nvPr/>
        </p:nvCxnSpPr>
        <p:spPr>
          <a:xfrm flipH="1" rot="10800000">
            <a:off x="9249156" y="2142805"/>
            <a:ext cx="84582" cy="211409"/>
          </a:xfrm>
          <a:prstGeom prst="straightConnector1">
            <a:avLst/>
          </a:prstGeom>
          <a:noFill/>
          <a:ln cap="flat" cmpd="sng" w="27925">
            <a:solidFill>
              <a:srgbClr val="1F8A7D"/>
            </a:solidFill>
            <a:prstDash val="solid"/>
            <a:round/>
            <a:headEnd len="sm" w="sm" type="none"/>
            <a:tailEnd len="sm" w="sm" type="none"/>
          </a:ln>
        </p:spPr>
      </p:cxnSp>
      <p:cxnSp>
        <p:nvCxnSpPr>
          <p:cNvPr id="2169" name="Google Shape;2169;p65"/>
          <p:cNvCxnSpPr/>
          <p:nvPr/>
        </p:nvCxnSpPr>
        <p:spPr>
          <a:xfrm flipH="1" rot="10800000">
            <a:off x="9333738" y="1906524"/>
            <a:ext cx="84582" cy="236281"/>
          </a:xfrm>
          <a:prstGeom prst="straightConnector1">
            <a:avLst/>
          </a:prstGeom>
          <a:noFill/>
          <a:ln cap="flat" cmpd="sng" w="27925">
            <a:solidFill>
              <a:srgbClr val="1F8A7D"/>
            </a:solidFill>
            <a:prstDash val="solid"/>
            <a:round/>
            <a:headEnd len="sm" w="sm" type="none"/>
            <a:tailEnd len="sm" w="sm" type="none"/>
          </a:ln>
        </p:spPr>
      </p:cxnSp>
      <p:cxnSp>
        <p:nvCxnSpPr>
          <p:cNvPr id="2170" name="Google Shape;2170;p65"/>
          <p:cNvCxnSpPr/>
          <p:nvPr/>
        </p:nvCxnSpPr>
        <p:spPr>
          <a:xfrm flipH="1" rot="10800000">
            <a:off x="9646920" y="3069275"/>
            <a:ext cx="84582" cy="236281"/>
          </a:xfrm>
          <a:prstGeom prst="straightConnector1">
            <a:avLst/>
          </a:prstGeom>
          <a:noFill/>
          <a:ln cap="flat" cmpd="sng" w="27925">
            <a:solidFill>
              <a:srgbClr val="B8455F"/>
            </a:solidFill>
            <a:prstDash val="solid"/>
            <a:round/>
            <a:headEnd len="sm" w="sm" type="none"/>
            <a:tailEnd len="sm" w="sm" type="none"/>
          </a:ln>
        </p:spPr>
      </p:cxnSp>
      <p:cxnSp>
        <p:nvCxnSpPr>
          <p:cNvPr id="2171" name="Google Shape;2171;p65"/>
          <p:cNvCxnSpPr/>
          <p:nvPr/>
        </p:nvCxnSpPr>
        <p:spPr>
          <a:xfrm flipH="1" rot="10800000">
            <a:off x="9731502" y="2857866"/>
            <a:ext cx="84582" cy="211409"/>
          </a:xfrm>
          <a:prstGeom prst="straightConnector1">
            <a:avLst/>
          </a:prstGeom>
          <a:noFill/>
          <a:ln cap="flat" cmpd="sng" w="27925">
            <a:solidFill>
              <a:srgbClr val="B8455F"/>
            </a:solidFill>
            <a:prstDash val="solid"/>
            <a:round/>
            <a:headEnd len="sm" w="sm" type="none"/>
            <a:tailEnd len="sm" w="sm" type="none"/>
          </a:ln>
        </p:spPr>
      </p:cxnSp>
      <p:cxnSp>
        <p:nvCxnSpPr>
          <p:cNvPr id="2172" name="Google Shape;2172;p65"/>
          <p:cNvCxnSpPr/>
          <p:nvPr/>
        </p:nvCxnSpPr>
        <p:spPr>
          <a:xfrm flipH="1" rot="10800000">
            <a:off x="9816084" y="2671328"/>
            <a:ext cx="84582" cy="186538"/>
          </a:xfrm>
          <a:prstGeom prst="straightConnector1">
            <a:avLst/>
          </a:prstGeom>
          <a:noFill/>
          <a:ln cap="flat" cmpd="sng" w="27925">
            <a:solidFill>
              <a:srgbClr val="B8455F"/>
            </a:solidFill>
            <a:prstDash val="solid"/>
            <a:round/>
            <a:headEnd len="sm" w="sm" type="none"/>
            <a:tailEnd len="sm" w="sm" type="none"/>
          </a:ln>
        </p:spPr>
      </p:cxnSp>
      <p:cxnSp>
        <p:nvCxnSpPr>
          <p:cNvPr id="2173" name="Google Shape;2173;p65"/>
          <p:cNvCxnSpPr/>
          <p:nvPr/>
        </p:nvCxnSpPr>
        <p:spPr>
          <a:xfrm flipH="1" rot="10800000">
            <a:off x="9900666" y="2509662"/>
            <a:ext cx="84582" cy="161666"/>
          </a:xfrm>
          <a:prstGeom prst="straightConnector1">
            <a:avLst/>
          </a:prstGeom>
          <a:noFill/>
          <a:ln cap="flat" cmpd="sng" w="27925">
            <a:solidFill>
              <a:srgbClr val="B8455F"/>
            </a:solidFill>
            <a:prstDash val="solid"/>
            <a:round/>
            <a:headEnd len="sm" w="sm" type="none"/>
            <a:tailEnd len="sm" w="sm" type="none"/>
          </a:ln>
        </p:spPr>
      </p:cxnSp>
      <p:cxnSp>
        <p:nvCxnSpPr>
          <p:cNvPr id="2174" name="Google Shape;2174;p65"/>
          <p:cNvCxnSpPr/>
          <p:nvPr/>
        </p:nvCxnSpPr>
        <p:spPr>
          <a:xfrm flipH="1" rot="10800000">
            <a:off x="9985248" y="2372868"/>
            <a:ext cx="84582" cy="136794"/>
          </a:xfrm>
          <a:prstGeom prst="straightConnector1">
            <a:avLst/>
          </a:prstGeom>
          <a:noFill/>
          <a:ln cap="flat" cmpd="sng" w="27925">
            <a:solidFill>
              <a:srgbClr val="B8455F"/>
            </a:solidFill>
            <a:prstDash val="solid"/>
            <a:round/>
            <a:headEnd len="sm" w="sm" type="none"/>
            <a:tailEnd len="sm" w="sm" type="none"/>
          </a:ln>
        </p:spPr>
      </p:cxnSp>
      <p:cxnSp>
        <p:nvCxnSpPr>
          <p:cNvPr id="2175" name="Google Shape;2175;p65"/>
          <p:cNvCxnSpPr/>
          <p:nvPr/>
        </p:nvCxnSpPr>
        <p:spPr>
          <a:xfrm flipH="1" rot="10800000">
            <a:off x="10069830" y="2260945"/>
            <a:ext cx="84582" cy="111923"/>
          </a:xfrm>
          <a:prstGeom prst="straightConnector1">
            <a:avLst/>
          </a:prstGeom>
          <a:noFill/>
          <a:ln cap="flat" cmpd="sng" w="27925">
            <a:solidFill>
              <a:srgbClr val="B8455F"/>
            </a:solidFill>
            <a:prstDash val="solid"/>
            <a:round/>
            <a:headEnd len="sm" w="sm" type="none"/>
            <a:tailEnd len="sm" w="sm" type="none"/>
          </a:ln>
        </p:spPr>
      </p:cxnSp>
      <p:cxnSp>
        <p:nvCxnSpPr>
          <p:cNvPr id="2176" name="Google Shape;2176;p65"/>
          <p:cNvCxnSpPr/>
          <p:nvPr/>
        </p:nvCxnSpPr>
        <p:spPr>
          <a:xfrm flipH="1" rot="10800000">
            <a:off x="10154412" y="2173895"/>
            <a:ext cx="84582" cy="87051"/>
          </a:xfrm>
          <a:prstGeom prst="straightConnector1">
            <a:avLst/>
          </a:prstGeom>
          <a:noFill/>
          <a:ln cap="flat" cmpd="sng" w="27925">
            <a:solidFill>
              <a:srgbClr val="B8455F"/>
            </a:solidFill>
            <a:prstDash val="solid"/>
            <a:round/>
            <a:headEnd len="sm" w="sm" type="none"/>
            <a:tailEnd len="sm" w="sm" type="none"/>
          </a:ln>
        </p:spPr>
      </p:cxnSp>
      <p:cxnSp>
        <p:nvCxnSpPr>
          <p:cNvPr id="2177" name="Google Shape;2177;p65"/>
          <p:cNvCxnSpPr/>
          <p:nvPr/>
        </p:nvCxnSpPr>
        <p:spPr>
          <a:xfrm flipH="1" rot="10800000">
            <a:off x="10238994" y="2111715"/>
            <a:ext cx="84582" cy="62179"/>
          </a:xfrm>
          <a:prstGeom prst="straightConnector1">
            <a:avLst/>
          </a:prstGeom>
          <a:noFill/>
          <a:ln cap="flat" cmpd="sng" w="27925">
            <a:solidFill>
              <a:srgbClr val="B8455F"/>
            </a:solidFill>
            <a:prstDash val="solid"/>
            <a:round/>
            <a:headEnd len="sm" w="sm" type="none"/>
            <a:tailEnd len="sm" w="sm" type="none"/>
          </a:ln>
        </p:spPr>
      </p:cxnSp>
      <p:cxnSp>
        <p:nvCxnSpPr>
          <p:cNvPr id="2178" name="Google Shape;2178;p65"/>
          <p:cNvCxnSpPr/>
          <p:nvPr/>
        </p:nvCxnSpPr>
        <p:spPr>
          <a:xfrm flipH="1" rot="10800000">
            <a:off x="10323576" y="2074408"/>
            <a:ext cx="84582" cy="37308"/>
          </a:xfrm>
          <a:prstGeom prst="straightConnector1">
            <a:avLst/>
          </a:prstGeom>
          <a:noFill/>
          <a:ln cap="flat" cmpd="sng" w="27925">
            <a:solidFill>
              <a:srgbClr val="B8455F"/>
            </a:solidFill>
            <a:prstDash val="solid"/>
            <a:round/>
            <a:headEnd len="sm" w="sm" type="none"/>
            <a:tailEnd len="sm" w="sm" type="none"/>
          </a:ln>
        </p:spPr>
      </p:cxnSp>
      <p:cxnSp>
        <p:nvCxnSpPr>
          <p:cNvPr id="2179" name="Google Shape;2179;p65"/>
          <p:cNvCxnSpPr/>
          <p:nvPr/>
        </p:nvCxnSpPr>
        <p:spPr>
          <a:xfrm flipH="1" rot="10800000">
            <a:off x="10408158" y="2061972"/>
            <a:ext cx="84582" cy="12436"/>
          </a:xfrm>
          <a:prstGeom prst="straightConnector1">
            <a:avLst/>
          </a:prstGeom>
          <a:noFill/>
          <a:ln cap="flat" cmpd="sng" w="27925">
            <a:solidFill>
              <a:srgbClr val="B8455F"/>
            </a:solidFill>
            <a:prstDash val="solid"/>
            <a:round/>
            <a:headEnd len="sm" w="sm" type="none"/>
            <a:tailEnd len="sm" w="sm" type="none"/>
          </a:ln>
        </p:spPr>
      </p:cxnSp>
      <p:cxnSp>
        <p:nvCxnSpPr>
          <p:cNvPr id="2180" name="Google Shape;2180;p65"/>
          <p:cNvCxnSpPr/>
          <p:nvPr/>
        </p:nvCxnSpPr>
        <p:spPr>
          <a:xfrm>
            <a:off x="10492740" y="2061972"/>
            <a:ext cx="84582" cy="12436"/>
          </a:xfrm>
          <a:prstGeom prst="straightConnector1">
            <a:avLst/>
          </a:prstGeom>
          <a:noFill/>
          <a:ln cap="flat" cmpd="sng" w="27925">
            <a:solidFill>
              <a:srgbClr val="B8455F"/>
            </a:solidFill>
            <a:prstDash val="solid"/>
            <a:round/>
            <a:headEnd len="sm" w="sm" type="none"/>
            <a:tailEnd len="sm" w="sm" type="none"/>
          </a:ln>
        </p:spPr>
      </p:cxnSp>
      <p:cxnSp>
        <p:nvCxnSpPr>
          <p:cNvPr id="2181" name="Google Shape;2181;p65"/>
          <p:cNvCxnSpPr/>
          <p:nvPr/>
        </p:nvCxnSpPr>
        <p:spPr>
          <a:xfrm>
            <a:off x="10577322" y="2074408"/>
            <a:ext cx="84582" cy="37308"/>
          </a:xfrm>
          <a:prstGeom prst="straightConnector1">
            <a:avLst/>
          </a:prstGeom>
          <a:noFill/>
          <a:ln cap="flat" cmpd="sng" w="27925">
            <a:solidFill>
              <a:srgbClr val="B8455F"/>
            </a:solidFill>
            <a:prstDash val="solid"/>
            <a:round/>
            <a:headEnd len="sm" w="sm" type="none"/>
            <a:tailEnd len="sm" w="sm" type="none"/>
          </a:ln>
        </p:spPr>
      </p:cxnSp>
      <p:cxnSp>
        <p:nvCxnSpPr>
          <p:cNvPr id="2182" name="Google Shape;2182;p65"/>
          <p:cNvCxnSpPr/>
          <p:nvPr/>
        </p:nvCxnSpPr>
        <p:spPr>
          <a:xfrm>
            <a:off x="10661904" y="2111715"/>
            <a:ext cx="84582" cy="62179"/>
          </a:xfrm>
          <a:prstGeom prst="straightConnector1">
            <a:avLst/>
          </a:prstGeom>
          <a:noFill/>
          <a:ln cap="flat" cmpd="sng" w="27925">
            <a:solidFill>
              <a:srgbClr val="B8455F"/>
            </a:solidFill>
            <a:prstDash val="solid"/>
            <a:round/>
            <a:headEnd len="sm" w="sm" type="none"/>
            <a:tailEnd len="sm" w="sm" type="none"/>
          </a:ln>
        </p:spPr>
      </p:cxnSp>
      <p:cxnSp>
        <p:nvCxnSpPr>
          <p:cNvPr id="2183" name="Google Shape;2183;p65"/>
          <p:cNvCxnSpPr/>
          <p:nvPr/>
        </p:nvCxnSpPr>
        <p:spPr>
          <a:xfrm>
            <a:off x="10746486" y="2173895"/>
            <a:ext cx="84582" cy="87051"/>
          </a:xfrm>
          <a:prstGeom prst="straightConnector1">
            <a:avLst/>
          </a:prstGeom>
          <a:noFill/>
          <a:ln cap="flat" cmpd="sng" w="27925">
            <a:solidFill>
              <a:srgbClr val="B8455F"/>
            </a:solidFill>
            <a:prstDash val="solid"/>
            <a:round/>
            <a:headEnd len="sm" w="sm" type="none"/>
            <a:tailEnd len="sm" w="sm" type="none"/>
          </a:ln>
        </p:spPr>
      </p:cxnSp>
      <p:cxnSp>
        <p:nvCxnSpPr>
          <p:cNvPr id="2184" name="Google Shape;2184;p65"/>
          <p:cNvCxnSpPr/>
          <p:nvPr/>
        </p:nvCxnSpPr>
        <p:spPr>
          <a:xfrm>
            <a:off x="10831068" y="2260945"/>
            <a:ext cx="84582" cy="111923"/>
          </a:xfrm>
          <a:prstGeom prst="straightConnector1">
            <a:avLst/>
          </a:prstGeom>
          <a:noFill/>
          <a:ln cap="flat" cmpd="sng" w="27925">
            <a:solidFill>
              <a:srgbClr val="B8455F"/>
            </a:solidFill>
            <a:prstDash val="solid"/>
            <a:round/>
            <a:headEnd len="sm" w="sm" type="none"/>
            <a:tailEnd len="sm" w="sm" type="none"/>
          </a:ln>
        </p:spPr>
      </p:cxnSp>
      <p:cxnSp>
        <p:nvCxnSpPr>
          <p:cNvPr id="2185" name="Google Shape;2185;p65"/>
          <p:cNvCxnSpPr/>
          <p:nvPr/>
        </p:nvCxnSpPr>
        <p:spPr>
          <a:xfrm>
            <a:off x="10915650" y="2372868"/>
            <a:ext cx="84582" cy="136794"/>
          </a:xfrm>
          <a:prstGeom prst="straightConnector1">
            <a:avLst/>
          </a:prstGeom>
          <a:noFill/>
          <a:ln cap="flat" cmpd="sng" w="27925">
            <a:solidFill>
              <a:srgbClr val="B8455F"/>
            </a:solidFill>
            <a:prstDash val="solid"/>
            <a:round/>
            <a:headEnd len="sm" w="sm" type="none"/>
            <a:tailEnd len="sm" w="sm" type="none"/>
          </a:ln>
        </p:spPr>
      </p:cxnSp>
      <p:cxnSp>
        <p:nvCxnSpPr>
          <p:cNvPr id="2186" name="Google Shape;2186;p65"/>
          <p:cNvCxnSpPr/>
          <p:nvPr/>
        </p:nvCxnSpPr>
        <p:spPr>
          <a:xfrm>
            <a:off x="11000232" y="2509662"/>
            <a:ext cx="84582" cy="161666"/>
          </a:xfrm>
          <a:prstGeom prst="straightConnector1">
            <a:avLst/>
          </a:prstGeom>
          <a:noFill/>
          <a:ln cap="flat" cmpd="sng" w="27925">
            <a:solidFill>
              <a:srgbClr val="B8455F"/>
            </a:solidFill>
            <a:prstDash val="solid"/>
            <a:round/>
            <a:headEnd len="sm" w="sm" type="none"/>
            <a:tailEnd len="sm" w="sm" type="none"/>
          </a:ln>
        </p:spPr>
      </p:cxnSp>
      <p:cxnSp>
        <p:nvCxnSpPr>
          <p:cNvPr id="2187" name="Google Shape;2187;p65"/>
          <p:cNvCxnSpPr/>
          <p:nvPr/>
        </p:nvCxnSpPr>
        <p:spPr>
          <a:xfrm>
            <a:off x="11084814" y="2671328"/>
            <a:ext cx="84582" cy="186538"/>
          </a:xfrm>
          <a:prstGeom prst="straightConnector1">
            <a:avLst/>
          </a:prstGeom>
          <a:noFill/>
          <a:ln cap="flat" cmpd="sng" w="27925">
            <a:solidFill>
              <a:srgbClr val="B8455F"/>
            </a:solidFill>
            <a:prstDash val="solid"/>
            <a:round/>
            <a:headEnd len="sm" w="sm" type="none"/>
            <a:tailEnd len="sm" w="sm" type="none"/>
          </a:ln>
        </p:spPr>
      </p:cxnSp>
      <p:cxnSp>
        <p:nvCxnSpPr>
          <p:cNvPr id="2188" name="Google Shape;2188;p65"/>
          <p:cNvCxnSpPr/>
          <p:nvPr/>
        </p:nvCxnSpPr>
        <p:spPr>
          <a:xfrm>
            <a:off x="11169396" y="2857866"/>
            <a:ext cx="84582" cy="211409"/>
          </a:xfrm>
          <a:prstGeom prst="straightConnector1">
            <a:avLst/>
          </a:prstGeom>
          <a:noFill/>
          <a:ln cap="flat" cmpd="sng" w="27925">
            <a:solidFill>
              <a:srgbClr val="B8455F"/>
            </a:solidFill>
            <a:prstDash val="solid"/>
            <a:round/>
            <a:headEnd len="sm" w="sm" type="none"/>
            <a:tailEnd len="sm" w="sm" type="none"/>
          </a:ln>
        </p:spPr>
      </p:cxnSp>
      <p:cxnSp>
        <p:nvCxnSpPr>
          <p:cNvPr id="2189" name="Google Shape;2189;p65"/>
          <p:cNvCxnSpPr/>
          <p:nvPr/>
        </p:nvCxnSpPr>
        <p:spPr>
          <a:xfrm>
            <a:off x="11253978" y="3069275"/>
            <a:ext cx="84582" cy="236281"/>
          </a:xfrm>
          <a:prstGeom prst="straightConnector1">
            <a:avLst/>
          </a:prstGeom>
          <a:noFill/>
          <a:ln cap="flat" cmpd="sng" w="27925">
            <a:solidFill>
              <a:srgbClr val="B8455F"/>
            </a:solidFill>
            <a:prstDash val="solid"/>
            <a:round/>
            <a:headEnd len="sm" w="sm" type="none"/>
            <a:tailEnd len="sm" w="sm" type="none"/>
          </a:ln>
        </p:spPr>
      </p:cxnSp>
      <p:sp>
        <p:nvSpPr>
          <p:cNvPr id="2190" name="Google Shape;2190;p65"/>
          <p:cNvSpPr/>
          <p:nvPr/>
        </p:nvSpPr>
        <p:spPr>
          <a:xfrm>
            <a:off x="7589520" y="3419856"/>
            <a:ext cx="1965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950"/>
              <a:buFont typeface="Calibri"/>
              <a:buNone/>
            </a:pPr>
            <a:r>
              <a:rPr b="0" i="0" lang="en-US" sz="950" u="none" cap="none" strike="noStrike">
                <a:solidFill>
                  <a:srgbClr val="6E6880"/>
                </a:solidFill>
                <a:latin typeface="Calibri"/>
                <a:ea typeface="Calibri"/>
                <a:cs typeface="Calibri"/>
                <a:sym typeface="Calibri"/>
              </a:rPr>
              <a:t>along w₁: a minimum</a:t>
            </a:r>
            <a:endParaRPr b="0" i="0" sz="950" u="none" cap="none" strike="noStrike">
              <a:solidFill>
                <a:schemeClr val="dk1"/>
              </a:solidFill>
              <a:latin typeface="Calibri"/>
              <a:ea typeface="Calibri"/>
              <a:cs typeface="Calibri"/>
              <a:sym typeface="Calibri"/>
            </a:endParaRPr>
          </a:p>
        </p:txBody>
      </p:sp>
      <p:sp>
        <p:nvSpPr>
          <p:cNvPr id="2191" name="Google Shape;2191;p65"/>
          <p:cNvSpPr/>
          <p:nvPr/>
        </p:nvSpPr>
        <p:spPr>
          <a:xfrm>
            <a:off x="9509760" y="3419856"/>
            <a:ext cx="19659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950"/>
              <a:buFont typeface="Calibri"/>
              <a:buNone/>
            </a:pPr>
            <a:r>
              <a:rPr b="0" i="0" lang="en-US" sz="950" u="none" cap="none" strike="noStrike">
                <a:solidFill>
                  <a:srgbClr val="6E6880"/>
                </a:solidFill>
                <a:latin typeface="Calibri"/>
                <a:ea typeface="Calibri"/>
                <a:cs typeface="Calibri"/>
                <a:sym typeface="Calibri"/>
              </a:rPr>
              <a:t>along w₂: a maximum</a:t>
            </a:r>
            <a:endParaRPr b="0" i="0" sz="950" u="none" cap="none" strike="noStrike">
              <a:solidFill>
                <a:schemeClr val="dk1"/>
              </a:solidFill>
              <a:latin typeface="Calibri"/>
              <a:ea typeface="Calibri"/>
              <a:cs typeface="Calibri"/>
              <a:sym typeface="Calibri"/>
            </a:endParaRPr>
          </a:p>
        </p:txBody>
      </p:sp>
      <p:sp>
        <p:nvSpPr>
          <p:cNvPr id="2192" name="Google Shape;2192;p65"/>
          <p:cNvSpPr/>
          <p:nvPr/>
        </p:nvSpPr>
        <p:spPr>
          <a:xfrm>
            <a:off x="8508492" y="3086100"/>
            <a:ext cx="128016" cy="128016"/>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65"/>
          <p:cNvSpPr/>
          <p:nvPr/>
        </p:nvSpPr>
        <p:spPr>
          <a:xfrm>
            <a:off x="10428732" y="1997964"/>
            <a:ext cx="128016" cy="128016"/>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65"/>
          <p:cNvSpPr/>
          <p:nvPr/>
        </p:nvSpPr>
        <p:spPr>
          <a:xfrm>
            <a:off x="7635240" y="3712464"/>
            <a:ext cx="3749040" cy="4023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The same point is a relative minimum along one axis and a relative maximum along the crossing axis.</a:t>
            </a:r>
            <a:endParaRPr b="0" i="0" sz="1050" u="none" cap="none" strike="noStrike">
              <a:solidFill>
                <a:schemeClr val="dk1"/>
              </a:solidFill>
              <a:latin typeface="Calibri"/>
              <a:ea typeface="Calibri"/>
              <a:cs typeface="Calibri"/>
              <a:sym typeface="Calibri"/>
            </a:endParaRPr>
          </a:p>
        </p:txBody>
      </p:sp>
      <p:sp>
        <p:nvSpPr>
          <p:cNvPr id="2195" name="Google Shape;2195;p65"/>
          <p:cNvSpPr/>
          <p:nvPr/>
        </p:nvSpPr>
        <p:spPr>
          <a:xfrm>
            <a:off x="566928" y="4297680"/>
            <a:ext cx="11057839" cy="146304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250"/>
              <a:buFont typeface="Calibri"/>
              <a:buChar char="•"/>
            </a:pPr>
            <a:r>
              <a:rPr b="1" i="0" lang="en-US" sz="1250" u="none" cap="none" strike="noStrike">
                <a:solidFill>
                  <a:srgbClr val="241C2E"/>
                </a:solidFill>
                <a:latin typeface="Calibri"/>
                <a:ea typeface="Calibri"/>
                <a:cs typeface="Calibri"/>
                <a:sym typeface="Calibri"/>
              </a:rPr>
              <a:t>A plateau is a wide flat region: the gradient is nearly zero, so the optimizer receives almost no information about where to go, and progress stalls.</a:t>
            </a:r>
            <a:endParaRPr b="0" i="0" sz="12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250"/>
              <a:buFont typeface="Calibri"/>
              <a:buChar char="•"/>
            </a:pPr>
            <a:r>
              <a:rPr b="1" i="0" lang="en-US" sz="1250" u="none" cap="none" strike="noStrike">
                <a:solidFill>
                  <a:srgbClr val="241C2E"/>
                </a:solidFill>
                <a:latin typeface="Calibri"/>
                <a:ea typeface="Calibri"/>
                <a:cs typeface="Calibri"/>
                <a:sym typeface="Calibri"/>
              </a:rPr>
              <a:t>At a saddle point the gradient is exactly zero, but it is not a minimum — some directions curve up and others curve down. In high-dimensional spaces saddle points vastly outnumber local minima.</a:t>
            </a:r>
            <a:endParaRPr b="0" i="0" sz="12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250"/>
              <a:buFont typeface="Calibri"/>
              <a:buChar char="•"/>
            </a:pPr>
            <a:r>
              <a:rPr b="1" i="0" lang="en-US" sz="1250" u="none" cap="none" strike="noStrike">
                <a:solidFill>
                  <a:srgbClr val="241C2E"/>
                </a:solidFill>
                <a:latin typeface="Calibri"/>
                <a:ea typeface="Calibri"/>
                <a:cs typeface="Calibri"/>
                <a:sym typeface="Calibri"/>
              </a:rPr>
              <a:t>Not every flat region is fatal: a local minimum is only a problem if its cost is much higher than the global minimum.</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0" name="Shape 2200"/>
        <p:cNvGrpSpPr/>
        <p:nvPr/>
      </p:nvGrpSpPr>
      <p:grpSpPr>
        <a:xfrm>
          <a:off x="0" y="0"/>
          <a:ext cx="0" cy="0"/>
          <a:chOff x="0" y="0"/>
          <a:chExt cx="0" cy="0"/>
        </a:xfrm>
      </p:grpSpPr>
      <p:sp>
        <p:nvSpPr>
          <p:cNvPr id="2201" name="Google Shape;2201;p6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BASIC ALGORITHMS</a:t>
            </a:r>
            <a:endParaRPr b="0" i="0" sz="1050" u="none" cap="none" strike="noStrike">
              <a:solidFill>
                <a:schemeClr val="dk1"/>
              </a:solidFill>
              <a:latin typeface="Calibri"/>
              <a:ea typeface="Calibri"/>
              <a:cs typeface="Calibri"/>
              <a:sym typeface="Calibri"/>
            </a:endParaRPr>
          </a:p>
        </p:txBody>
      </p:sp>
      <p:sp>
        <p:nvSpPr>
          <p:cNvPr id="2202" name="Google Shape;2202;p6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Batch, stochastic and mini-batch methods</a:t>
            </a:r>
            <a:endParaRPr b="0" i="0" sz="2800" u="none" cap="none" strike="noStrike">
              <a:solidFill>
                <a:schemeClr val="dk1"/>
              </a:solidFill>
              <a:latin typeface="Calibri"/>
              <a:ea typeface="Calibri"/>
              <a:cs typeface="Calibri"/>
              <a:sym typeface="Calibri"/>
            </a:endParaRPr>
          </a:p>
        </p:txBody>
      </p:sp>
      <p:sp>
        <p:nvSpPr>
          <p:cNvPr id="2203" name="Google Shape;2203;p66"/>
          <p:cNvSpPr/>
          <p:nvPr/>
        </p:nvSpPr>
        <p:spPr>
          <a:xfrm>
            <a:off x="566928" y="1325880"/>
            <a:ext cx="356616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66"/>
          <p:cNvSpPr/>
          <p:nvPr/>
        </p:nvSpPr>
        <p:spPr>
          <a:xfrm>
            <a:off x="822960" y="1508760"/>
            <a:ext cx="3054096" cy="457200"/>
          </a:xfrm>
          <a:prstGeom prst="roundRect">
            <a:avLst>
              <a:gd fmla="val 16000" name="adj"/>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66"/>
          <p:cNvSpPr/>
          <p:nvPr/>
        </p:nvSpPr>
        <p:spPr>
          <a:xfrm>
            <a:off x="822960" y="1508760"/>
            <a:ext cx="30540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Batch  ·  deterministic</a:t>
            </a:r>
            <a:endParaRPr b="0" i="0" sz="1350" u="none" cap="none" strike="noStrike">
              <a:solidFill>
                <a:schemeClr val="dk1"/>
              </a:solidFill>
              <a:latin typeface="Calibri"/>
              <a:ea typeface="Calibri"/>
              <a:cs typeface="Calibri"/>
              <a:sym typeface="Calibri"/>
            </a:endParaRPr>
          </a:p>
        </p:txBody>
      </p:sp>
      <p:sp>
        <p:nvSpPr>
          <p:cNvPr id="2206" name="Google Shape;2206;p66"/>
          <p:cNvSpPr/>
          <p:nvPr/>
        </p:nvSpPr>
        <p:spPr>
          <a:xfrm>
            <a:off x="841248" y="2103120"/>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Use the entire training set for every update. All examples are processed simultaneously in one large batch.</a:t>
            </a:r>
            <a:endParaRPr b="0" i="0" sz="1200" u="none" cap="none" strike="noStrike">
              <a:solidFill>
                <a:schemeClr val="dk1"/>
              </a:solidFill>
              <a:latin typeface="Calibri"/>
              <a:ea typeface="Calibri"/>
              <a:cs typeface="Calibri"/>
              <a:sym typeface="Calibri"/>
            </a:endParaRPr>
          </a:p>
        </p:txBody>
      </p:sp>
      <p:sp>
        <p:nvSpPr>
          <p:cNvPr id="2207" name="Google Shape;2207;p66"/>
          <p:cNvSpPr/>
          <p:nvPr/>
        </p:nvSpPr>
        <p:spPr>
          <a:xfrm>
            <a:off x="822960" y="3063240"/>
            <a:ext cx="3054096" cy="457200"/>
          </a:xfrm>
          <a:prstGeom prst="roundRect">
            <a:avLst>
              <a:gd fmla="val 18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66"/>
          <p:cNvSpPr/>
          <p:nvPr/>
        </p:nvSpPr>
        <p:spPr>
          <a:xfrm>
            <a:off x="822960" y="3063240"/>
            <a:ext cx="30540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50"/>
              <a:buFont typeface="Calibri"/>
              <a:buNone/>
            </a:pPr>
            <a:r>
              <a:rPr b="1" i="0" lang="en-US" sz="1050" u="none" cap="none" strike="noStrike">
                <a:solidFill>
                  <a:srgbClr val="2D1B4E"/>
                </a:solidFill>
                <a:latin typeface="Calibri"/>
                <a:ea typeface="Calibri"/>
                <a:cs typeface="Calibri"/>
                <a:sym typeface="Calibri"/>
              </a:rPr>
              <a:t>ĝ ← (1/N) ∇θ Σᵢ L( f(x⁽ⁱ⁾; θ), y⁽ⁱ⁾ )</a:t>
            </a:r>
            <a:endParaRPr b="0" i="0" sz="1050" u="none" cap="none" strike="noStrike">
              <a:solidFill>
                <a:schemeClr val="dk1"/>
              </a:solidFill>
              <a:latin typeface="Calibri"/>
              <a:ea typeface="Calibri"/>
              <a:cs typeface="Calibri"/>
              <a:sym typeface="Calibri"/>
            </a:endParaRPr>
          </a:p>
        </p:txBody>
      </p:sp>
      <p:sp>
        <p:nvSpPr>
          <p:cNvPr id="2209" name="Google Shape;2209;p66"/>
          <p:cNvSpPr/>
          <p:nvPr/>
        </p:nvSpPr>
        <p:spPr>
          <a:xfrm>
            <a:off x="4370832" y="1325880"/>
            <a:ext cx="356616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66"/>
          <p:cNvSpPr/>
          <p:nvPr/>
        </p:nvSpPr>
        <p:spPr>
          <a:xfrm>
            <a:off x="4626864" y="1508760"/>
            <a:ext cx="3054096" cy="457200"/>
          </a:xfrm>
          <a:prstGeom prst="roundRect">
            <a:avLst>
              <a:gd fmla="val 16000" name="adj"/>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66"/>
          <p:cNvSpPr/>
          <p:nvPr/>
        </p:nvSpPr>
        <p:spPr>
          <a:xfrm>
            <a:off x="4626864" y="1508760"/>
            <a:ext cx="30540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Stochastic  ·  online</a:t>
            </a:r>
            <a:endParaRPr b="0" i="0" sz="1350" u="none" cap="none" strike="noStrike">
              <a:solidFill>
                <a:schemeClr val="dk1"/>
              </a:solidFill>
              <a:latin typeface="Calibri"/>
              <a:ea typeface="Calibri"/>
              <a:cs typeface="Calibri"/>
              <a:sym typeface="Calibri"/>
            </a:endParaRPr>
          </a:p>
        </p:txBody>
      </p:sp>
      <p:sp>
        <p:nvSpPr>
          <p:cNvPr id="2212" name="Google Shape;2212;p66"/>
          <p:cNvSpPr/>
          <p:nvPr/>
        </p:nvSpPr>
        <p:spPr>
          <a:xfrm>
            <a:off x="4645152" y="2103120"/>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Use a single example at a time. Sample (x⁽ⁱ⁾, y⁽ⁱ⁾) from the training set and update immediately.</a:t>
            </a:r>
            <a:endParaRPr b="0" i="0" sz="1200" u="none" cap="none" strike="noStrike">
              <a:solidFill>
                <a:schemeClr val="dk1"/>
              </a:solidFill>
              <a:latin typeface="Calibri"/>
              <a:ea typeface="Calibri"/>
              <a:cs typeface="Calibri"/>
              <a:sym typeface="Calibri"/>
            </a:endParaRPr>
          </a:p>
        </p:txBody>
      </p:sp>
      <p:sp>
        <p:nvSpPr>
          <p:cNvPr id="2213" name="Google Shape;2213;p66"/>
          <p:cNvSpPr/>
          <p:nvPr/>
        </p:nvSpPr>
        <p:spPr>
          <a:xfrm>
            <a:off x="4626864" y="3063240"/>
            <a:ext cx="3054096" cy="457200"/>
          </a:xfrm>
          <a:prstGeom prst="roundRect">
            <a:avLst>
              <a:gd fmla="val 18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66"/>
          <p:cNvSpPr/>
          <p:nvPr/>
        </p:nvSpPr>
        <p:spPr>
          <a:xfrm>
            <a:off x="4626864" y="3063240"/>
            <a:ext cx="30540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50"/>
              <a:buFont typeface="Calibri"/>
              <a:buNone/>
            </a:pPr>
            <a:r>
              <a:rPr b="1" i="0" lang="en-US" sz="1050" u="none" cap="none" strike="noStrike">
                <a:solidFill>
                  <a:srgbClr val="2D1B4E"/>
                </a:solidFill>
                <a:latin typeface="Calibri"/>
                <a:ea typeface="Calibri"/>
                <a:cs typeface="Calibri"/>
                <a:sym typeface="Calibri"/>
              </a:rPr>
              <a:t>ĝ ← ∇θ L( f(x⁽ⁱ⁾; θ), y⁽ⁱ⁾ )</a:t>
            </a:r>
            <a:endParaRPr b="0" i="0" sz="1050" u="none" cap="none" strike="noStrike">
              <a:solidFill>
                <a:schemeClr val="dk1"/>
              </a:solidFill>
              <a:latin typeface="Calibri"/>
              <a:ea typeface="Calibri"/>
              <a:cs typeface="Calibri"/>
              <a:sym typeface="Calibri"/>
            </a:endParaRPr>
          </a:p>
        </p:txBody>
      </p:sp>
      <p:sp>
        <p:nvSpPr>
          <p:cNvPr id="2215" name="Google Shape;2215;p66"/>
          <p:cNvSpPr/>
          <p:nvPr/>
        </p:nvSpPr>
        <p:spPr>
          <a:xfrm>
            <a:off x="8174736" y="1325880"/>
            <a:ext cx="356616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66"/>
          <p:cNvSpPr/>
          <p:nvPr/>
        </p:nvSpPr>
        <p:spPr>
          <a:xfrm>
            <a:off x="8430768" y="1508760"/>
            <a:ext cx="3054096" cy="457200"/>
          </a:xfrm>
          <a:prstGeom prst="roundRect">
            <a:avLst>
              <a:gd fmla="val 16000" name="adj"/>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66"/>
          <p:cNvSpPr/>
          <p:nvPr/>
        </p:nvSpPr>
        <p:spPr>
          <a:xfrm>
            <a:off x="8430768" y="1508760"/>
            <a:ext cx="30540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mbria"/>
              <a:buNone/>
            </a:pPr>
            <a:r>
              <a:rPr b="1" i="0" lang="en-US" sz="1350" u="none" cap="none" strike="noStrike">
                <a:solidFill>
                  <a:srgbClr val="FFFFFF"/>
                </a:solidFill>
                <a:latin typeface="Cambria"/>
                <a:ea typeface="Cambria"/>
                <a:cs typeface="Cambria"/>
                <a:sym typeface="Cambria"/>
              </a:rPr>
              <a:t>Mini-batch</a:t>
            </a:r>
            <a:endParaRPr b="0" i="0" sz="1350" u="none" cap="none" strike="noStrike">
              <a:solidFill>
                <a:schemeClr val="dk1"/>
              </a:solidFill>
              <a:latin typeface="Calibri"/>
              <a:ea typeface="Calibri"/>
              <a:cs typeface="Calibri"/>
              <a:sym typeface="Calibri"/>
            </a:endParaRPr>
          </a:p>
        </p:txBody>
      </p:sp>
      <p:sp>
        <p:nvSpPr>
          <p:cNvPr id="2218" name="Google Shape;2218;p66"/>
          <p:cNvSpPr/>
          <p:nvPr/>
        </p:nvSpPr>
        <p:spPr>
          <a:xfrm>
            <a:off x="8449056" y="2103120"/>
            <a:ext cx="3017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Use more than one but fewer than all examples. Traditionally called mini-batch stochastic methods — now usually just “stochastic”.</a:t>
            </a:r>
            <a:endParaRPr b="0" i="0" sz="1200" u="none" cap="none" strike="noStrike">
              <a:solidFill>
                <a:schemeClr val="dk1"/>
              </a:solidFill>
              <a:latin typeface="Calibri"/>
              <a:ea typeface="Calibri"/>
              <a:cs typeface="Calibri"/>
              <a:sym typeface="Calibri"/>
            </a:endParaRPr>
          </a:p>
        </p:txBody>
      </p:sp>
      <p:sp>
        <p:nvSpPr>
          <p:cNvPr id="2219" name="Google Shape;2219;p66"/>
          <p:cNvSpPr/>
          <p:nvPr/>
        </p:nvSpPr>
        <p:spPr>
          <a:xfrm>
            <a:off x="8430768" y="3063240"/>
            <a:ext cx="3054096" cy="457200"/>
          </a:xfrm>
          <a:prstGeom prst="roundRect">
            <a:avLst>
              <a:gd fmla="val 180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66"/>
          <p:cNvSpPr/>
          <p:nvPr/>
        </p:nvSpPr>
        <p:spPr>
          <a:xfrm>
            <a:off x="8430768" y="3063240"/>
            <a:ext cx="3054096"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050"/>
              <a:buFont typeface="Calibri"/>
              <a:buNone/>
            </a:pPr>
            <a:r>
              <a:rPr b="1" i="0" lang="en-US" sz="1050" u="none" cap="none" strike="noStrike">
                <a:solidFill>
                  <a:srgbClr val="2D1B4E"/>
                </a:solidFill>
                <a:latin typeface="Calibri"/>
                <a:ea typeface="Calibri"/>
                <a:cs typeface="Calibri"/>
                <a:sym typeface="Calibri"/>
              </a:rPr>
              <a:t>ĝ ← (1/m) ∇θ Σᵢ L( f(x⁽ⁱ⁾; θ), y⁽ⁱ⁾ )</a:t>
            </a:r>
            <a:endParaRPr b="0" i="0" sz="1050" u="none" cap="none" strike="noStrike">
              <a:solidFill>
                <a:schemeClr val="dk1"/>
              </a:solidFill>
              <a:latin typeface="Calibri"/>
              <a:ea typeface="Calibri"/>
              <a:cs typeface="Calibri"/>
              <a:sym typeface="Calibri"/>
            </a:endParaRPr>
          </a:p>
        </p:txBody>
      </p:sp>
      <p:sp>
        <p:nvSpPr>
          <p:cNvPr id="2221" name="Google Shape;2221;p66"/>
          <p:cNvSpPr/>
          <p:nvPr/>
        </p:nvSpPr>
        <p:spPr>
          <a:xfrm>
            <a:off x="566928" y="3794760"/>
            <a:ext cx="3566160" cy="1965960"/>
          </a:xfrm>
          <a:prstGeom prst="roundRect">
            <a:avLst>
              <a:gd fmla="val 418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66"/>
          <p:cNvSpPr/>
          <p:nvPr/>
        </p:nvSpPr>
        <p:spPr>
          <a:xfrm rot="-1200000">
            <a:off x="2269998" y="4658868"/>
            <a:ext cx="525780" cy="283464"/>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66"/>
          <p:cNvSpPr/>
          <p:nvPr/>
        </p:nvSpPr>
        <p:spPr>
          <a:xfrm rot="-1200000">
            <a:off x="2007108" y="4517136"/>
            <a:ext cx="1051560" cy="566928"/>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66"/>
          <p:cNvSpPr/>
          <p:nvPr/>
        </p:nvSpPr>
        <p:spPr>
          <a:xfrm rot="-1200000">
            <a:off x="1744218" y="4375404"/>
            <a:ext cx="1577340" cy="850392"/>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66"/>
          <p:cNvSpPr/>
          <p:nvPr/>
        </p:nvSpPr>
        <p:spPr>
          <a:xfrm rot="-1200000">
            <a:off x="1481328" y="4233672"/>
            <a:ext cx="2103120" cy="1133856"/>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66"/>
          <p:cNvSpPr/>
          <p:nvPr/>
        </p:nvSpPr>
        <p:spPr>
          <a:xfrm>
            <a:off x="2478024" y="4745736"/>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7" name="Google Shape;2227;p66"/>
          <p:cNvCxnSpPr/>
          <p:nvPr/>
        </p:nvCxnSpPr>
        <p:spPr>
          <a:xfrm>
            <a:off x="1207008" y="4297680"/>
            <a:ext cx="411480" cy="173736"/>
          </a:xfrm>
          <a:prstGeom prst="straightConnector1">
            <a:avLst/>
          </a:prstGeom>
          <a:noFill/>
          <a:ln cap="flat" cmpd="sng" w="19050">
            <a:solidFill>
              <a:srgbClr val="6B5B95"/>
            </a:solidFill>
            <a:prstDash val="solid"/>
            <a:round/>
            <a:headEnd len="sm" w="sm" type="none"/>
            <a:tailEnd len="sm" w="sm" type="none"/>
          </a:ln>
        </p:spPr>
      </p:cxnSp>
      <p:cxnSp>
        <p:nvCxnSpPr>
          <p:cNvPr id="2228" name="Google Shape;2228;p66"/>
          <p:cNvCxnSpPr/>
          <p:nvPr/>
        </p:nvCxnSpPr>
        <p:spPr>
          <a:xfrm>
            <a:off x="1618488" y="4471416"/>
            <a:ext cx="347472" cy="128016"/>
          </a:xfrm>
          <a:prstGeom prst="straightConnector1">
            <a:avLst/>
          </a:prstGeom>
          <a:noFill/>
          <a:ln cap="flat" cmpd="sng" w="19050">
            <a:solidFill>
              <a:srgbClr val="6B5B95"/>
            </a:solidFill>
            <a:prstDash val="solid"/>
            <a:round/>
            <a:headEnd len="sm" w="sm" type="none"/>
            <a:tailEnd len="sm" w="sm" type="none"/>
          </a:ln>
        </p:spPr>
      </p:cxnSp>
      <p:cxnSp>
        <p:nvCxnSpPr>
          <p:cNvPr id="2229" name="Google Shape;2229;p66"/>
          <p:cNvCxnSpPr/>
          <p:nvPr/>
        </p:nvCxnSpPr>
        <p:spPr>
          <a:xfrm>
            <a:off x="1965960" y="4599432"/>
            <a:ext cx="256032" cy="91440"/>
          </a:xfrm>
          <a:prstGeom prst="straightConnector1">
            <a:avLst/>
          </a:prstGeom>
          <a:noFill/>
          <a:ln cap="flat" cmpd="sng" w="19050">
            <a:solidFill>
              <a:srgbClr val="6B5B95"/>
            </a:solidFill>
            <a:prstDash val="solid"/>
            <a:round/>
            <a:headEnd len="sm" w="sm" type="none"/>
            <a:tailEnd len="sm" w="sm" type="none"/>
          </a:ln>
        </p:spPr>
      </p:cxnSp>
      <p:cxnSp>
        <p:nvCxnSpPr>
          <p:cNvPr id="2230" name="Google Shape;2230;p66"/>
          <p:cNvCxnSpPr/>
          <p:nvPr/>
        </p:nvCxnSpPr>
        <p:spPr>
          <a:xfrm>
            <a:off x="2221992" y="4690872"/>
            <a:ext cx="173736" cy="64008"/>
          </a:xfrm>
          <a:prstGeom prst="straightConnector1">
            <a:avLst/>
          </a:prstGeom>
          <a:noFill/>
          <a:ln cap="flat" cmpd="sng" w="19050">
            <a:solidFill>
              <a:srgbClr val="6B5B95"/>
            </a:solidFill>
            <a:prstDash val="solid"/>
            <a:round/>
            <a:headEnd len="sm" w="sm" type="none"/>
            <a:tailEnd len="sm" w="sm" type="none"/>
          </a:ln>
        </p:spPr>
      </p:cxnSp>
      <p:cxnSp>
        <p:nvCxnSpPr>
          <p:cNvPr id="2231" name="Google Shape;2231;p66"/>
          <p:cNvCxnSpPr/>
          <p:nvPr/>
        </p:nvCxnSpPr>
        <p:spPr>
          <a:xfrm>
            <a:off x="2395728" y="4754880"/>
            <a:ext cx="118872" cy="36576"/>
          </a:xfrm>
          <a:prstGeom prst="straightConnector1">
            <a:avLst/>
          </a:prstGeom>
          <a:noFill/>
          <a:ln cap="flat" cmpd="sng" w="19050">
            <a:solidFill>
              <a:srgbClr val="6B5B95"/>
            </a:solidFill>
            <a:prstDash val="solid"/>
            <a:round/>
            <a:headEnd len="sm" w="sm" type="none"/>
            <a:tailEnd len="med" w="med" type="triangle"/>
          </a:ln>
        </p:spPr>
      </p:cxnSp>
      <p:sp>
        <p:nvSpPr>
          <p:cNvPr id="2232" name="Google Shape;2232;p66"/>
          <p:cNvSpPr/>
          <p:nvPr/>
        </p:nvSpPr>
        <p:spPr>
          <a:xfrm>
            <a:off x="749808" y="5440680"/>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5B95"/>
              </a:buClr>
              <a:buSzPts val="1050"/>
              <a:buFont typeface="Calibri"/>
              <a:buNone/>
            </a:pPr>
            <a:r>
              <a:rPr b="0" i="1" lang="en-US" sz="1050" u="none" cap="none" strike="noStrike">
                <a:solidFill>
                  <a:srgbClr val="6B5B95"/>
                </a:solidFill>
                <a:latin typeface="Calibri"/>
                <a:ea typeface="Calibri"/>
                <a:cs typeface="Calibri"/>
                <a:sym typeface="Calibri"/>
              </a:rPr>
              <a:t>smooth but expensive</a:t>
            </a:r>
            <a:endParaRPr b="0" i="0" sz="1050" u="none" cap="none" strike="noStrike">
              <a:solidFill>
                <a:schemeClr val="dk1"/>
              </a:solidFill>
              <a:latin typeface="Calibri"/>
              <a:ea typeface="Calibri"/>
              <a:cs typeface="Calibri"/>
              <a:sym typeface="Calibri"/>
            </a:endParaRPr>
          </a:p>
        </p:txBody>
      </p:sp>
      <p:sp>
        <p:nvSpPr>
          <p:cNvPr id="2233" name="Google Shape;2233;p66"/>
          <p:cNvSpPr/>
          <p:nvPr/>
        </p:nvSpPr>
        <p:spPr>
          <a:xfrm>
            <a:off x="4370832" y="3794760"/>
            <a:ext cx="3566160" cy="1965960"/>
          </a:xfrm>
          <a:prstGeom prst="roundRect">
            <a:avLst>
              <a:gd fmla="val 418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66"/>
          <p:cNvSpPr/>
          <p:nvPr/>
        </p:nvSpPr>
        <p:spPr>
          <a:xfrm rot="-1200000">
            <a:off x="6073902" y="4658868"/>
            <a:ext cx="525780" cy="283464"/>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66"/>
          <p:cNvSpPr/>
          <p:nvPr/>
        </p:nvSpPr>
        <p:spPr>
          <a:xfrm rot="-1200000">
            <a:off x="5811012" y="4517136"/>
            <a:ext cx="1051560" cy="566928"/>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66"/>
          <p:cNvSpPr/>
          <p:nvPr/>
        </p:nvSpPr>
        <p:spPr>
          <a:xfrm rot="-1200000">
            <a:off x="5548122" y="4375404"/>
            <a:ext cx="1577340" cy="850392"/>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66"/>
          <p:cNvSpPr/>
          <p:nvPr/>
        </p:nvSpPr>
        <p:spPr>
          <a:xfrm rot="-1200000">
            <a:off x="5285232" y="4233672"/>
            <a:ext cx="2103120" cy="1133856"/>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66"/>
          <p:cNvSpPr/>
          <p:nvPr/>
        </p:nvSpPr>
        <p:spPr>
          <a:xfrm>
            <a:off x="6281928" y="4745736"/>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39" name="Google Shape;2239;p66"/>
          <p:cNvCxnSpPr/>
          <p:nvPr/>
        </p:nvCxnSpPr>
        <p:spPr>
          <a:xfrm>
            <a:off x="4965192" y="4343400"/>
            <a:ext cx="320040" cy="566928"/>
          </a:xfrm>
          <a:prstGeom prst="straightConnector1">
            <a:avLst/>
          </a:prstGeom>
          <a:noFill/>
          <a:ln cap="flat" cmpd="sng" w="19050">
            <a:solidFill>
              <a:srgbClr val="3F2A69"/>
            </a:solidFill>
            <a:prstDash val="solid"/>
            <a:round/>
            <a:headEnd len="sm" w="sm" type="none"/>
            <a:tailEnd len="sm" w="sm" type="none"/>
          </a:ln>
        </p:spPr>
      </p:cxnSp>
      <p:cxnSp>
        <p:nvCxnSpPr>
          <p:cNvPr id="2240" name="Google Shape;2240;p66"/>
          <p:cNvCxnSpPr/>
          <p:nvPr/>
        </p:nvCxnSpPr>
        <p:spPr>
          <a:xfrm flipH="1" rot="10800000">
            <a:off x="5285232" y="4416552"/>
            <a:ext cx="182880" cy="493776"/>
          </a:xfrm>
          <a:prstGeom prst="straightConnector1">
            <a:avLst/>
          </a:prstGeom>
          <a:noFill/>
          <a:ln cap="flat" cmpd="sng" w="19050">
            <a:solidFill>
              <a:srgbClr val="3F2A69"/>
            </a:solidFill>
            <a:prstDash val="solid"/>
            <a:round/>
            <a:headEnd len="sm" w="sm" type="none"/>
            <a:tailEnd len="sm" w="sm" type="none"/>
          </a:ln>
        </p:spPr>
      </p:cxnSp>
      <p:cxnSp>
        <p:nvCxnSpPr>
          <p:cNvPr id="2241" name="Google Shape;2241;p66"/>
          <p:cNvCxnSpPr/>
          <p:nvPr/>
        </p:nvCxnSpPr>
        <p:spPr>
          <a:xfrm>
            <a:off x="5468112" y="4416552"/>
            <a:ext cx="301752" cy="585216"/>
          </a:xfrm>
          <a:prstGeom prst="straightConnector1">
            <a:avLst/>
          </a:prstGeom>
          <a:noFill/>
          <a:ln cap="flat" cmpd="sng" w="19050">
            <a:solidFill>
              <a:srgbClr val="3F2A69"/>
            </a:solidFill>
            <a:prstDash val="solid"/>
            <a:round/>
            <a:headEnd len="sm" w="sm" type="none"/>
            <a:tailEnd len="sm" w="sm" type="none"/>
          </a:ln>
        </p:spPr>
      </p:cxnSp>
      <p:cxnSp>
        <p:nvCxnSpPr>
          <p:cNvPr id="2242" name="Google Shape;2242;p66"/>
          <p:cNvCxnSpPr/>
          <p:nvPr/>
        </p:nvCxnSpPr>
        <p:spPr>
          <a:xfrm flipH="1" rot="10800000">
            <a:off x="5769864" y="4526280"/>
            <a:ext cx="109728" cy="475488"/>
          </a:xfrm>
          <a:prstGeom prst="straightConnector1">
            <a:avLst/>
          </a:prstGeom>
          <a:noFill/>
          <a:ln cap="flat" cmpd="sng" w="19050">
            <a:solidFill>
              <a:srgbClr val="3F2A69"/>
            </a:solidFill>
            <a:prstDash val="solid"/>
            <a:round/>
            <a:headEnd len="sm" w="sm" type="none"/>
            <a:tailEnd len="sm" w="sm" type="none"/>
          </a:ln>
        </p:spPr>
      </p:cxnSp>
      <p:cxnSp>
        <p:nvCxnSpPr>
          <p:cNvPr id="2243" name="Google Shape;2243;p66"/>
          <p:cNvCxnSpPr/>
          <p:nvPr/>
        </p:nvCxnSpPr>
        <p:spPr>
          <a:xfrm>
            <a:off x="5879592" y="4526280"/>
            <a:ext cx="182880" cy="438912"/>
          </a:xfrm>
          <a:prstGeom prst="straightConnector1">
            <a:avLst/>
          </a:prstGeom>
          <a:noFill/>
          <a:ln cap="flat" cmpd="sng" w="19050">
            <a:solidFill>
              <a:srgbClr val="3F2A69"/>
            </a:solidFill>
            <a:prstDash val="solid"/>
            <a:round/>
            <a:headEnd len="sm" w="sm" type="none"/>
            <a:tailEnd len="sm" w="sm" type="none"/>
          </a:ln>
        </p:spPr>
      </p:cxnSp>
      <p:cxnSp>
        <p:nvCxnSpPr>
          <p:cNvPr id="2244" name="Google Shape;2244;p66"/>
          <p:cNvCxnSpPr/>
          <p:nvPr/>
        </p:nvCxnSpPr>
        <p:spPr>
          <a:xfrm flipH="1" rot="10800000">
            <a:off x="6062472" y="4654296"/>
            <a:ext cx="91440" cy="310896"/>
          </a:xfrm>
          <a:prstGeom prst="straightConnector1">
            <a:avLst/>
          </a:prstGeom>
          <a:noFill/>
          <a:ln cap="flat" cmpd="sng" w="19050">
            <a:solidFill>
              <a:srgbClr val="3F2A69"/>
            </a:solidFill>
            <a:prstDash val="solid"/>
            <a:round/>
            <a:headEnd len="sm" w="sm" type="none"/>
            <a:tailEnd len="sm" w="sm" type="none"/>
          </a:ln>
        </p:spPr>
      </p:cxnSp>
      <p:cxnSp>
        <p:nvCxnSpPr>
          <p:cNvPr id="2245" name="Google Shape;2245;p66"/>
          <p:cNvCxnSpPr/>
          <p:nvPr/>
        </p:nvCxnSpPr>
        <p:spPr>
          <a:xfrm>
            <a:off x="6153912" y="4654296"/>
            <a:ext cx="109728" cy="210312"/>
          </a:xfrm>
          <a:prstGeom prst="straightConnector1">
            <a:avLst/>
          </a:prstGeom>
          <a:noFill/>
          <a:ln cap="flat" cmpd="sng" w="19050">
            <a:solidFill>
              <a:srgbClr val="3F2A69"/>
            </a:solidFill>
            <a:prstDash val="solid"/>
            <a:round/>
            <a:headEnd len="sm" w="sm" type="none"/>
            <a:tailEnd len="sm" w="sm" type="none"/>
          </a:ln>
        </p:spPr>
      </p:cxnSp>
      <p:cxnSp>
        <p:nvCxnSpPr>
          <p:cNvPr id="2246" name="Google Shape;2246;p66"/>
          <p:cNvCxnSpPr/>
          <p:nvPr/>
        </p:nvCxnSpPr>
        <p:spPr>
          <a:xfrm flipH="1" rot="10800000">
            <a:off x="6263640" y="4791456"/>
            <a:ext cx="54864" cy="73152"/>
          </a:xfrm>
          <a:prstGeom prst="straightConnector1">
            <a:avLst/>
          </a:prstGeom>
          <a:noFill/>
          <a:ln cap="flat" cmpd="sng" w="19050">
            <a:solidFill>
              <a:srgbClr val="3F2A69"/>
            </a:solidFill>
            <a:prstDash val="solid"/>
            <a:round/>
            <a:headEnd len="sm" w="sm" type="none"/>
            <a:tailEnd len="med" w="med" type="triangle"/>
          </a:ln>
        </p:spPr>
      </p:cxnSp>
      <p:sp>
        <p:nvSpPr>
          <p:cNvPr id="2247" name="Google Shape;2247;p66"/>
          <p:cNvSpPr/>
          <p:nvPr/>
        </p:nvSpPr>
        <p:spPr>
          <a:xfrm>
            <a:off x="4553712" y="5440680"/>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2A69"/>
              </a:buClr>
              <a:buSzPts val="1050"/>
              <a:buFont typeface="Calibri"/>
              <a:buNone/>
            </a:pPr>
            <a:r>
              <a:rPr b="0" i="1" lang="en-US" sz="1050" u="none" cap="none" strike="noStrike">
                <a:solidFill>
                  <a:srgbClr val="3F2A69"/>
                </a:solidFill>
                <a:latin typeface="Calibri"/>
                <a:ea typeface="Calibri"/>
                <a:cs typeface="Calibri"/>
                <a:sym typeface="Calibri"/>
              </a:rPr>
              <a:t>cheap but noisy</a:t>
            </a:r>
            <a:endParaRPr b="0" i="0" sz="1050" u="none" cap="none" strike="noStrike">
              <a:solidFill>
                <a:schemeClr val="dk1"/>
              </a:solidFill>
              <a:latin typeface="Calibri"/>
              <a:ea typeface="Calibri"/>
              <a:cs typeface="Calibri"/>
              <a:sym typeface="Calibri"/>
            </a:endParaRPr>
          </a:p>
        </p:txBody>
      </p:sp>
      <p:sp>
        <p:nvSpPr>
          <p:cNvPr id="2248" name="Google Shape;2248;p66"/>
          <p:cNvSpPr/>
          <p:nvPr/>
        </p:nvSpPr>
        <p:spPr>
          <a:xfrm>
            <a:off x="8174736" y="3794760"/>
            <a:ext cx="3566160" cy="1965960"/>
          </a:xfrm>
          <a:prstGeom prst="roundRect">
            <a:avLst>
              <a:gd fmla="val 418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66"/>
          <p:cNvSpPr/>
          <p:nvPr/>
        </p:nvSpPr>
        <p:spPr>
          <a:xfrm rot="-1200000">
            <a:off x="9877806" y="4658868"/>
            <a:ext cx="525780" cy="283464"/>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66"/>
          <p:cNvSpPr/>
          <p:nvPr/>
        </p:nvSpPr>
        <p:spPr>
          <a:xfrm rot="-1200000">
            <a:off x="9614916" y="4517136"/>
            <a:ext cx="1051560" cy="566928"/>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66"/>
          <p:cNvSpPr/>
          <p:nvPr/>
        </p:nvSpPr>
        <p:spPr>
          <a:xfrm rot="-1200000">
            <a:off x="9352026" y="4375404"/>
            <a:ext cx="1577340" cy="850392"/>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66"/>
          <p:cNvSpPr/>
          <p:nvPr/>
        </p:nvSpPr>
        <p:spPr>
          <a:xfrm rot="-1200000">
            <a:off x="9089136" y="4233672"/>
            <a:ext cx="2103120" cy="1133856"/>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66"/>
          <p:cNvSpPr/>
          <p:nvPr/>
        </p:nvSpPr>
        <p:spPr>
          <a:xfrm>
            <a:off x="10085832" y="4745736"/>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54" name="Google Shape;2254;p66"/>
          <p:cNvCxnSpPr/>
          <p:nvPr/>
        </p:nvCxnSpPr>
        <p:spPr>
          <a:xfrm>
            <a:off x="8814816" y="4325112"/>
            <a:ext cx="365760" cy="365760"/>
          </a:xfrm>
          <a:prstGeom prst="straightConnector1">
            <a:avLst/>
          </a:prstGeom>
          <a:noFill/>
          <a:ln cap="flat" cmpd="sng" w="19050">
            <a:solidFill>
              <a:srgbClr val="C4661F"/>
            </a:solidFill>
            <a:prstDash val="solid"/>
            <a:round/>
            <a:headEnd len="sm" w="sm" type="none"/>
            <a:tailEnd len="sm" w="sm" type="none"/>
          </a:ln>
        </p:spPr>
      </p:cxnSp>
      <p:cxnSp>
        <p:nvCxnSpPr>
          <p:cNvPr id="2255" name="Google Shape;2255;p66"/>
          <p:cNvCxnSpPr/>
          <p:nvPr/>
        </p:nvCxnSpPr>
        <p:spPr>
          <a:xfrm flipH="1" rot="10800000">
            <a:off x="9180576" y="4507992"/>
            <a:ext cx="274320" cy="182880"/>
          </a:xfrm>
          <a:prstGeom prst="straightConnector1">
            <a:avLst/>
          </a:prstGeom>
          <a:noFill/>
          <a:ln cap="flat" cmpd="sng" w="19050">
            <a:solidFill>
              <a:srgbClr val="C4661F"/>
            </a:solidFill>
            <a:prstDash val="solid"/>
            <a:round/>
            <a:headEnd len="sm" w="sm" type="none"/>
            <a:tailEnd len="sm" w="sm" type="none"/>
          </a:ln>
        </p:spPr>
      </p:cxnSp>
      <p:cxnSp>
        <p:nvCxnSpPr>
          <p:cNvPr id="2256" name="Google Shape;2256;p66"/>
          <p:cNvCxnSpPr/>
          <p:nvPr/>
        </p:nvCxnSpPr>
        <p:spPr>
          <a:xfrm>
            <a:off x="9454896" y="4507992"/>
            <a:ext cx="274320" cy="246888"/>
          </a:xfrm>
          <a:prstGeom prst="straightConnector1">
            <a:avLst/>
          </a:prstGeom>
          <a:noFill/>
          <a:ln cap="flat" cmpd="sng" w="19050">
            <a:solidFill>
              <a:srgbClr val="C4661F"/>
            </a:solidFill>
            <a:prstDash val="solid"/>
            <a:round/>
            <a:headEnd len="sm" w="sm" type="none"/>
            <a:tailEnd len="sm" w="sm" type="none"/>
          </a:ln>
        </p:spPr>
      </p:cxnSp>
      <p:cxnSp>
        <p:nvCxnSpPr>
          <p:cNvPr id="2257" name="Google Shape;2257;p66"/>
          <p:cNvCxnSpPr/>
          <p:nvPr/>
        </p:nvCxnSpPr>
        <p:spPr>
          <a:xfrm flipH="1" rot="10800000">
            <a:off x="9729216" y="4617720"/>
            <a:ext cx="155448" cy="137160"/>
          </a:xfrm>
          <a:prstGeom prst="straightConnector1">
            <a:avLst/>
          </a:prstGeom>
          <a:noFill/>
          <a:ln cap="flat" cmpd="sng" w="19050">
            <a:solidFill>
              <a:srgbClr val="C4661F"/>
            </a:solidFill>
            <a:prstDash val="solid"/>
            <a:round/>
            <a:headEnd len="sm" w="sm" type="none"/>
            <a:tailEnd len="sm" w="sm" type="none"/>
          </a:ln>
        </p:spPr>
      </p:cxnSp>
      <p:cxnSp>
        <p:nvCxnSpPr>
          <p:cNvPr id="2258" name="Google Shape;2258;p66"/>
          <p:cNvCxnSpPr/>
          <p:nvPr/>
        </p:nvCxnSpPr>
        <p:spPr>
          <a:xfrm>
            <a:off x="9884664" y="4617720"/>
            <a:ext cx="146304" cy="155448"/>
          </a:xfrm>
          <a:prstGeom prst="straightConnector1">
            <a:avLst/>
          </a:prstGeom>
          <a:noFill/>
          <a:ln cap="flat" cmpd="sng" w="19050">
            <a:solidFill>
              <a:srgbClr val="C4661F"/>
            </a:solidFill>
            <a:prstDash val="solid"/>
            <a:round/>
            <a:headEnd len="sm" w="sm" type="none"/>
            <a:tailEnd len="sm" w="sm" type="none"/>
          </a:ln>
        </p:spPr>
      </p:cxnSp>
      <p:cxnSp>
        <p:nvCxnSpPr>
          <p:cNvPr id="2259" name="Google Shape;2259;p66"/>
          <p:cNvCxnSpPr/>
          <p:nvPr/>
        </p:nvCxnSpPr>
        <p:spPr>
          <a:xfrm>
            <a:off x="10030968" y="4773168"/>
            <a:ext cx="91440" cy="18288"/>
          </a:xfrm>
          <a:prstGeom prst="straightConnector1">
            <a:avLst/>
          </a:prstGeom>
          <a:noFill/>
          <a:ln cap="flat" cmpd="sng" w="19050">
            <a:solidFill>
              <a:srgbClr val="C4661F"/>
            </a:solidFill>
            <a:prstDash val="solid"/>
            <a:round/>
            <a:headEnd len="sm" w="sm" type="none"/>
            <a:tailEnd len="med" w="med" type="triangle"/>
          </a:ln>
        </p:spPr>
      </p:cxnSp>
      <p:sp>
        <p:nvSpPr>
          <p:cNvPr id="2260" name="Google Shape;2260;p66"/>
          <p:cNvSpPr/>
          <p:nvPr/>
        </p:nvSpPr>
        <p:spPr>
          <a:xfrm>
            <a:off x="8357616" y="5440680"/>
            <a:ext cx="32004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661F"/>
              </a:buClr>
              <a:buSzPts val="1050"/>
              <a:buFont typeface="Calibri"/>
              <a:buNone/>
            </a:pPr>
            <a:r>
              <a:rPr b="0" i="1" lang="en-US" sz="1050" u="none" cap="none" strike="noStrike">
                <a:solidFill>
                  <a:srgbClr val="C4661F"/>
                </a:solidFill>
                <a:latin typeface="Calibri"/>
                <a:ea typeface="Calibri"/>
                <a:cs typeface="Calibri"/>
                <a:sym typeface="Calibri"/>
              </a:rPr>
              <a:t>the practical compromise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5" name="Shape 2265"/>
        <p:cNvGrpSpPr/>
        <p:nvPr/>
      </p:nvGrpSpPr>
      <p:grpSpPr>
        <a:xfrm>
          <a:off x="0" y="0"/>
          <a:ext cx="0" cy="0"/>
          <a:chOff x="0" y="0"/>
          <a:chExt cx="0" cy="0"/>
        </a:xfrm>
      </p:grpSpPr>
      <p:sp>
        <p:nvSpPr>
          <p:cNvPr id="2266" name="Google Shape;2266;p6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BASIC ALGORITHMS</a:t>
            </a:r>
            <a:endParaRPr b="0" i="0" sz="1050" u="none" cap="none" strike="noStrike">
              <a:solidFill>
                <a:schemeClr val="dk1"/>
              </a:solidFill>
              <a:latin typeface="Calibri"/>
              <a:ea typeface="Calibri"/>
              <a:cs typeface="Calibri"/>
              <a:sym typeface="Calibri"/>
            </a:endParaRPr>
          </a:p>
        </p:txBody>
      </p:sp>
      <p:sp>
        <p:nvSpPr>
          <p:cNvPr id="2267" name="Google Shape;2267;p6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The update rules, side by side</a:t>
            </a:r>
            <a:endParaRPr b="0" i="0" sz="2800" u="none" cap="none" strike="noStrike">
              <a:solidFill>
                <a:schemeClr val="dk1"/>
              </a:solidFill>
              <a:latin typeface="Calibri"/>
              <a:ea typeface="Calibri"/>
              <a:cs typeface="Calibri"/>
              <a:sym typeface="Calibri"/>
            </a:endParaRPr>
          </a:p>
        </p:txBody>
      </p:sp>
      <p:sp>
        <p:nvSpPr>
          <p:cNvPr id="2268" name="Google Shape;2268;p67"/>
          <p:cNvSpPr/>
          <p:nvPr/>
        </p:nvSpPr>
        <p:spPr>
          <a:xfrm>
            <a:off x="566928" y="1325880"/>
            <a:ext cx="3657600" cy="2148840"/>
          </a:xfrm>
          <a:prstGeom prst="roundRect">
            <a:avLst>
              <a:gd fmla="val 3830" name="adj"/>
            </a:avLst>
          </a:prstGeom>
          <a:solidFill>
            <a:srgbClr val="6B5B95"/>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67"/>
          <p:cNvSpPr/>
          <p:nvPr/>
        </p:nvSpPr>
        <p:spPr>
          <a:xfrm>
            <a:off x="841248" y="147218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Batch gradient descent</a:t>
            </a:r>
            <a:endParaRPr b="0" i="0" sz="1400" u="none" cap="none" strike="noStrike">
              <a:solidFill>
                <a:schemeClr val="dk1"/>
              </a:solidFill>
              <a:latin typeface="Calibri"/>
              <a:ea typeface="Calibri"/>
              <a:cs typeface="Calibri"/>
              <a:sym typeface="Calibri"/>
            </a:endParaRPr>
          </a:p>
        </p:txBody>
      </p:sp>
      <p:sp>
        <p:nvSpPr>
          <p:cNvPr id="2270" name="Google Shape;2270;p67"/>
          <p:cNvSpPr/>
          <p:nvPr/>
        </p:nvSpPr>
        <p:spPr>
          <a:xfrm>
            <a:off x="841248" y="1837944"/>
            <a:ext cx="3108960" cy="14904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learning rate εₖ</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initial parameter θ</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while stopping criterion not met:</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ĝ ← (1/N) ∇θ Σᵢ L(f(x⁽ⁱ⁾;θ), y⁽ⁱ⁾)</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θ ← θ − εₖ ĝ</a:t>
            </a:r>
            <a:endParaRPr b="0" i="0" sz="1000" u="none" cap="none" strike="noStrike">
              <a:solidFill>
                <a:schemeClr val="dk1"/>
              </a:solidFill>
              <a:latin typeface="Calibri"/>
              <a:ea typeface="Calibri"/>
              <a:cs typeface="Calibri"/>
              <a:sym typeface="Calibri"/>
            </a:endParaRPr>
          </a:p>
        </p:txBody>
      </p:sp>
      <p:sp>
        <p:nvSpPr>
          <p:cNvPr id="2271" name="Google Shape;2271;p67"/>
          <p:cNvSpPr/>
          <p:nvPr/>
        </p:nvSpPr>
        <p:spPr>
          <a:xfrm>
            <a:off x="4425696" y="1325880"/>
            <a:ext cx="3657600" cy="2148840"/>
          </a:xfrm>
          <a:prstGeom prst="roundRect">
            <a:avLst>
              <a:gd fmla="val 3830" name="adj"/>
            </a:avLst>
          </a:prstGeom>
          <a:solidFill>
            <a:srgbClr val="3F2A6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67"/>
          <p:cNvSpPr/>
          <p:nvPr/>
        </p:nvSpPr>
        <p:spPr>
          <a:xfrm>
            <a:off x="4700016" y="147218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Stochastic gradient descent</a:t>
            </a:r>
            <a:endParaRPr b="0" i="0" sz="1400" u="none" cap="none" strike="noStrike">
              <a:solidFill>
                <a:schemeClr val="dk1"/>
              </a:solidFill>
              <a:latin typeface="Calibri"/>
              <a:ea typeface="Calibri"/>
              <a:cs typeface="Calibri"/>
              <a:sym typeface="Calibri"/>
            </a:endParaRPr>
          </a:p>
        </p:txBody>
      </p:sp>
      <p:sp>
        <p:nvSpPr>
          <p:cNvPr id="2273" name="Google Shape;2273;p67"/>
          <p:cNvSpPr/>
          <p:nvPr/>
        </p:nvSpPr>
        <p:spPr>
          <a:xfrm>
            <a:off x="4700016" y="1837944"/>
            <a:ext cx="3108960" cy="14904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learning rate εₖ</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initial parameter θ</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while stopping criterion not met:</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sample (x⁽ⁱ⁾, y⁽ⁱ⁾) from training set</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ĝ ← ∇θ L(f(x⁽ⁱ⁾;θ), y⁽ⁱ⁾)</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θ ← θ − εₖ ĝ</a:t>
            </a:r>
            <a:endParaRPr b="0" i="0" sz="1000" u="none" cap="none" strike="noStrike">
              <a:solidFill>
                <a:schemeClr val="dk1"/>
              </a:solidFill>
              <a:latin typeface="Calibri"/>
              <a:ea typeface="Calibri"/>
              <a:cs typeface="Calibri"/>
              <a:sym typeface="Calibri"/>
            </a:endParaRPr>
          </a:p>
        </p:txBody>
      </p:sp>
      <p:sp>
        <p:nvSpPr>
          <p:cNvPr id="2274" name="Google Shape;2274;p67"/>
          <p:cNvSpPr/>
          <p:nvPr/>
        </p:nvSpPr>
        <p:spPr>
          <a:xfrm>
            <a:off x="8284464" y="1325880"/>
            <a:ext cx="3657600" cy="2148840"/>
          </a:xfrm>
          <a:prstGeom prst="roundRect">
            <a:avLst>
              <a:gd fmla="val 3830" name="adj"/>
            </a:avLst>
          </a:prstGeom>
          <a:solidFill>
            <a:srgbClr val="C4661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67"/>
          <p:cNvSpPr/>
          <p:nvPr/>
        </p:nvSpPr>
        <p:spPr>
          <a:xfrm>
            <a:off x="8558784" y="1472184"/>
            <a:ext cx="31089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Mini-batch SGD  (Alg. 8.1)</a:t>
            </a:r>
            <a:endParaRPr b="0" i="0" sz="1400" u="none" cap="none" strike="noStrike">
              <a:solidFill>
                <a:schemeClr val="dk1"/>
              </a:solidFill>
              <a:latin typeface="Calibri"/>
              <a:ea typeface="Calibri"/>
              <a:cs typeface="Calibri"/>
              <a:sym typeface="Calibri"/>
            </a:endParaRPr>
          </a:p>
        </p:txBody>
      </p:sp>
      <p:sp>
        <p:nvSpPr>
          <p:cNvPr id="2276" name="Google Shape;2276;p67"/>
          <p:cNvSpPr/>
          <p:nvPr/>
        </p:nvSpPr>
        <p:spPr>
          <a:xfrm>
            <a:off x="8558784" y="1837944"/>
            <a:ext cx="3108960" cy="149047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learning rate εₖ</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initial parameter θ</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while stopping criterion not met:</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sample a minibatch of m examples</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ĝ ← (1/m) ∇θ Σᵢ L(f(x⁽ⁱ⁾;θ), y⁽ⁱ⁾)</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θ ← θ − εₖ ĝ</a:t>
            </a:r>
            <a:endParaRPr b="0" i="0" sz="1000" u="none" cap="none" strike="noStrike">
              <a:solidFill>
                <a:schemeClr val="dk1"/>
              </a:solidFill>
              <a:latin typeface="Calibri"/>
              <a:ea typeface="Calibri"/>
              <a:cs typeface="Calibri"/>
              <a:sym typeface="Calibri"/>
            </a:endParaRPr>
          </a:p>
        </p:txBody>
      </p:sp>
      <p:sp>
        <p:nvSpPr>
          <p:cNvPr id="2277" name="Google Shape;2277;p67"/>
          <p:cNvSpPr/>
          <p:nvPr/>
        </p:nvSpPr>
        <p:spPr>
          <a:xfrm>
            <a:off x="566928" y="3657600"/>
            <a:ext cx="11057839" cy="210312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67"/>
          <p:cNvSpPr/>
          <p:nvPr/>
        </p:nvSpPr>
        <p:spPr>
          <a:xfrm>
            <a:off x="886968" y="3794760"/>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Choosing the mini-batches well</a:t>
            </a:r>
            <a:endParaRPr b="0" i="0" sz="1500" u="none" cap="none" strike="noStrike">
              <a:solidFill>
                <a:schemeClr val="dk1"/>
              </a:solidFill>
              <a:latin typeface="Calibri"/>
              <a:ea typeface="Calibri"/>
              <a:cs typeface="Calibri"/>
              <a:sym typeface="Calibri"/>
            </a:endParaRPr>
          </a:p>
        </p:txBody>
      </p:sp>
      <p:sp>
        <p:nvSpPr>
          <p:cNvPr id="2279" name="Google Shape;2279;p67"/>
          <p:cNvSpPr/>
          <p:nvPr/>
        </p:nvSpPr>
        <p:spPr>
          <a:xfrm>
            <a:off x="886968" y="4160520"/>
            <a:ext cx="10417759" cy="15087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200"/>
              <a:buFont typeface="Calibri"/>
              <a:buChar char="•"/>
            </a:pPr>
            <a:r>
              <a:rPr b="1" i="0" lang="en-US" sz="1200" u="none" cap="none" strike="noStrike">
                <a:solidFill>
                  <a:srgbClr val="241C2E"/>
                </a:solidFill>
                <a:latin typeface="Calibri"/>
                <a:ea typeface="Calibri"/>
                <a:cs typeface="Calibri"/>
                <a:sym typeface="Calibri"/>
              </a:rPr>
              <a:t>It is crucial that the mini-batches be selected randomly.</a:t>
            </a:r>
            <a:endParaRPr b="0" i="0" sz="12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Computing an unbiased estimate of the expected gradient from a set of samples requires that those samples be independent.</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0" i="0" lang="en-US" sz="1200" u="none" cap="none" strike="noStrike">
                <a:solidFill>
                  <a:srgbClr val="241C2E"/>
                </a:solidFill>
                <a:latin typeface="Calibri"/>
                <a:ea typeface="Calibri"/>
                <a:cs typeface="Calibri"/>
                <a:sym typeface="Calibri"/>
              </a:rPr>
              <a:t>We also want two subsequent gradient estimates to be independent of each other, so two subsequent mini-batches should be independent too.</a:t>
            </a:r>
            <a:endParaRPr b="0" i="0" sz="12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200"/>
              <a:buFont typeface="Calibri"/>
              <a:buChar char="•"/>
            </a:pPr>
            <a:r>
              <a:rPr b="1" i="0" lang="en-US" sz="1200" u="none" cap="none" strike="noStrike">
                <a:solidFill>
                  <a:srgbClr val="241C2E"/>
                </a:solidFill>
                <a:latin typeface="Calibri"/>
                <a:ea typeface="Calibri"/>
                <a:cs typeface="Calibri"/>
                <a:sym typeface="Calibri"/>
              </a:rPr>
              <a:t>Small batches can offer a regularizing effect (Wilson &amp; Martinez, 2003), perhaps due to the noise they add to the learning process — but they may require a small learning rate to stay stable, given the high variance of the gradient estimate, and the total runtime can become very high.</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4" name="Shape 2284"/>
        <p:cNvGrpSpPr/>
        <p:nvPr/>
      </p:nvGrpSpPr>
      <p:grpSpPr>
        <a:xfrm>
          <a:off x="0" y="0"/>
          <a:ext cx="0" cy="0"/>
          <a:chOff x="0" y="0"/>
          <a:chExt cx="0" cy="0"/>
        </a:xfrm>
      </p:grpSpPr>
      <p:sp>
        <p:nvSpPr>
          <p:cNvPr id="2285" name="Google Shape;2285;p6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BASIC ALGORITHMS</a:t>
            </a:r>
            <a:endParaRPr b="0" i="0" sz="1050" u="none" cap="none" strike="noStrike">
              <a:solidFill>
                <a:schemeClr val="dk1"/>
              </a:solidFill>
              <a:latin typeface="Calibri"/>
              <a:ea typeface="Calibri"/>
              <a:cs typeface="Calibri"/>
              <a:sym typeface="Calibri"/>
            </a:endParaRPr>
          </a:p>
        </p:txBody>
      </p:sp>
      <p:sp>
        <p:nvSpPr>
          <p:cNvPr id="2286" name="Google Shape;2286;p6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The learning rate and its schedule</a:t>
            </a:r>
            <a:endParaRPr b="0" i="0" sz="2800" u="none" cap="none" strike="noStrike">
              <a:solidFill>
                <a:schemeClr val="dk1"/>
              </a:solidFill>
              <a:latin typeface="Calibri"/>
              <a:ea typeface="Calibri"/>
              <a:cs typeface="Calibri"/>
              <a:sym typeface="Calibri"/>
            </a:endParaRPr>
          </a:p>
        </p:txBody>
      </p:sp>
      <p:sp>
        <p:nvSpPr>
          <p:cNvPr id="2287" name="Google Shape;2287;p68"/>
          <p:cNvSpPr/>
          <p:nvPr/>
        </p:nvSpPr>
        <p:spPr>
          <a:xfrm>
            <a:off x="566928" y="1371600"/>
            <a:ext cx="5669280" cy="173736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In practice it is necessary to gradually decrease the learning rate over time — hence εₖ, the learning rate at iteration k.</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The reason: the SGD gradient estimator introduces a source of noise (the random sampling of m examples) that does not vanish even when we arrive at a minimum.</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50"/>
              <a:buFont typeface="Calibri"/>
              <a:buChar char="•"/>
            </a:pPr>
            <a:r>
              <a:rPr b="1" i="0" lang="en-US" sz="1350" u="none" cap="none" strike="noStrike">
                <a:solidFill>
                  <a:srgbClr val="2D1B4E"/>
                </a:solidFill>
                <a:latin typeface="Calibri"/>
                <a:ea typeface="Calibri"/>
                <a:cs typeface="Calibri"/>
                <a:sym typeface="Calibri"/>
              </a:rPr>
              <a:t>It is common to decay the learning rate linearly until iteration τ:</a:t>
            </a:r>
            <a:endParaRPr b="0" i="0" sz="1350" u="none" cap="none" strike="noStrike">
              <a:solidFill>
                <a:schemeClr val="dk1"/>
              </a:solidFill>
              <a:latin typeface="Calibri"/>
              <a:ea typeface="Calibri"/>
              <a:cs typeface="Calibri"/>
              <a:sym typeface="Calibri"/>
            </a:endParaRPr>
          </a:p>
        </p:txBody>
      </p:sp>
      <p:sp>
        <p:nvSpPr>
          <p:cNvPr id="2288" name="Google Shape;2288;p68"/>
          <p:cNvSpPr/>
          <p:nvPr/>
        </p:nvSpPr>
        <p:spPr>
          <a:xfrm>
            <a:off x="566928" y="3063240"/>
            <a:ext cx="5669280" cy="868680"/>
          </a:xfrm>
          <a:prstGeom prst="roundRect">
            <a:avLst>
              <a:gd fmla="val 9474"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68"/>
          <p:cNvSpPr/>
          <p:nvPr/>
        </p:nvSpPr>
        <p:spPr>
          <a:xfrm>
            <a:off x="704088" y="3063240"/>
            <a:ext cx="539496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700"/>
              <a:buFont typeface="Calibri"/>
              <a:buNone/>
            </a:pPr>
            <a:r>
              <a:rPr b="1" i="0" lang="en-US" sz="1700" u="none" cap="none" strike="noStrike">
                <a:solidFill>
                  <a:srgbClr val="2D1B4E"/>
                </a:solidFill>
                <a:latin typeface="Calibri"/>
                <a:ea typeface="Calibri"/>
                <a:cs typeface="Calibri"/>
                <a:sym typeface="Calibri"/>
              </a:rPr>
              <a:t>εₖ = (1 − α) ε₀ + α ε_τ        with   α = k / τ</a:t>
            </a:r>
            <a:endParaRPr b="0" i="0" sz="1700" u="none" cap="none" strike="noStrike">
              <a:solidFill>
                <a:schemeClr val="dk1"/>
              </a:solidFill>
              <a:latin typeface="Calibri"/>
              <a:ea typeface="Calibri"/>
              <a:cs typeface="Calibri"/>
              <a:sym typeface="Calibri"/>
            </a:endParaRPr>
          </a:p>
        </p:txBody>
      </p:sp>
      <p:sp>
        <p:nvSpPr>
          <p:cNvPr id="2290" name="Google Shape;2290;p68"/>
          <p:cNvSpPr/>
          <p:nvPr/>
        </p:nvSpPr>
        <p:spPr>
          <a:xfrm>
            <a:off x="566928" y="4069080"/>
            <a:ext cx="5669280" cy="11887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After iteration τ the learning rate is normally left constant.</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The learning rate may be chosen by trial and error, but it is usually best to choose it by monitoring learning curves that plot the objective function as a function of time.</a:t>
            </a:r>
            <a:endParaRPr b="0" i="0" sz="1300" u="none" cap="none" strike="noStrike">
              <a:solidFill>
                <a:schemeClr val="dk1"/>
              </a:solidFill>
              <a:latin typeface="Calibri"/>
              <a:ea typeface="Calibri"/>
              <a:cs typeface="Calibri"/>
              <a:sym typeface="Calibri"/>
            </a:endParaRPr>
          </a:p>
        </p:txBody>
      </p:sp>
      <p:sp>
        <p:nvSpPr>
          <p:cNvPr id="2291" name="Google Shape;2291;p68"/>
          <p:cNvSpPr/>
          <p:nvPr/>
        </p:nvSpPr>
        <p:spPr>
          <a:xfrm>
            <a:off x="6492240" y="1371600"/>
            <a:ext cx="5138928" cy="1005840"/>
          </a:xfrm>
          <a:prstGeom prst="roundRect">
            <a:avLst>
              <a:gd fmla="val 8182"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68"/>
          <p:cNvSpPr/>
          <p:nvPr/>
        </p:nvSpPr>
        <p:spPr>
          <a:xfrm>
            <a:off x="6720840" y="1618488"/>
            <a:ext cx="1051560" cy="512064"/>
          </a:xfrm>
          <a:prstGeom prst="roundRect">
            <a:avLst>
              <a:gd fmla="val 14286"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68"/>
          <p:cNvSpPr/>
          <p:nvPr/>
        </p:nvSpPr>
        <p:spPr>
          <a:xfrm>
            <a:off x="6720840" y="1618488"/>
            <a:ext cx="10515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τ</a:t>
            </a:r>
            <a:endParaRPr b="0" i="0" sz="1300" u="none" cap="none" strike="noStrike">
              <a:solidFill>
                <a:schemeClr val="dk1"/>
              </a:solidFill>
              <a:latin typeface="Calibri"/>
              <a:ea typeface="Calibri"/>
              <a:cs typeface="Calibri"/>
              <a:sym typeface="Calibri"/>
            </a:endParaRPr>
          </a:p>
        </p:txBody>
      </p:sp>
      <p:sp>
        <p:nvSpPr>
          <p:cNvPr id="2294" name="Google Shape;2294;p68"/>
          <p:cNvSpPr/>
          <p:nvPr/>
        </p:nvSpPr>
        <p:spPr>
          <a:xfrm>
            <a:off x="7909560" y="1481328"/>
            <a:ext cx="352044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Set τ to the number of iterations required to make a few hundred passes through the training set.</a:t>
            </a:r>
            <a:endParaRPr b="0" i="0" sz="1150" u="none" cap="none" strike="noStrike">
              <a:solidFill>
                <a:schemeClr val="dk1"/>
              </a:solidFill>
              <a:latin typeface="Calibri"/>
              <a:ea typeface="Calibri"/>
              <a:cs typeface="Calibri"/>
              <a:sym typeface="Calibri"/>
            </a:endParaRPr>
          </a:p>
        </p:txBody>
      </p:sp>
      <p:sp>
        <p:nvSpPr>
          <p:cNvPr id="2295" name="Google Shape;2295;p68"/>
          <p:cNvSpPr/>
          <p:nvPr/>
        </p:nvSpPr>
        <p:spPr>
          <a:xfrm>
            <a:off x="6492240" y="2487168"/>
            <a:ext cx="5138928" cy="1005840"/>
          </a:xfrm>
          <a:prstGeom prst="roundRect">
            <a:avLst>
              <a:gd fmla="val 8182"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68"/>
          <p:cNvSpPr/>
          <p:nvPr/>
        </p:nvSpPr>
        <p:spPr>
          <a:xfrm>
            <a:off x="6720840" y="2734056"/>
            <a:ext cx="1051560" cy="512064"/>
          </a:xfrm>
          <a:prstGeom prst="roundRect">
            <a:avLst>
              <a:gd fmla="val 14286"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68"/>
          <p:cNvSpPr/>
          <p:nvPr/>
        </p:nvSpPr>
        <p:spPr>
          <a:xfrm>
            <a:off x="6720840" y="2734056"/>
            <a:ext cx="10515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ε_τ</a:t>
            </a:r>
            <a:endParaRPr b="0" i="0" sz="1300" u="none" cap="none" strike="noStrike">
              <a:solidFill>
                <a:schemeClr val="dk1"/>
              </a:solidFill>
              <a:latin typeface="Calibri"/>
              <a:ea typeface="Calibri"/>
              <a:cs typeface="Calibri"/>
              <a:sym typeface="Calibri"/>
            </a:endParaRPr>
          </a:p>
        </p:txBody>
      </p:sp>
      <p:sp>
        <p:nvSpPr>
          <p:cNvPr id="2298" name="Google Shape;2298;p68"/>
          <p:cNvSpPr/>
          <p:nvPr/>
        </p:nvSpPr>
        <p:spPr>
          <a:xfrm>
            <a:off x="7909560" y="2596896"/>
            <a:ext cx="352044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Set ε_τ to roughly 1% of the value of ε₀.</a:t>
            </a:r>
            <a:endParaRPr b="0" i="0" sz="1150" u="none" cap="none" strike="noStrike">
              <a:solidFill>
                <a:schemeClr val="dk1"/>
              </a:solidFill>
              <a:latin typeface="Calibri"/>
              <a:ea typeface="Calibri"/>
              <a:cs typeface="Calibri"/>
              <a:sym typeface="Calibri"/>
            </a:endParaRPr>
          </a:p>
        </p:txBody>
      </p:sp>
      <p:sp>
        <p:nvSpPr>
          <p:cNvPr id="2299" name="Google Shape;2299;p68"/>
          <p:cNvSpPr/>
          <p:nvPr/>
        </p:nvSpPr>
        <p:spPr>
          <a:xfrm>
            <a:off x="6492240" y="3602736"/>
            <a:ext cx="5138928" cy="1005840"/>
          </a:xfrm>
          <a:prstGeom prst="roundRect">
            <a:avLst>
              <a:gd fmla="val 8182" name="adj"/>
            </a:avLst>
          </a:prstGeom>
          <a:solidFill>
            <a:srgbClr val="F9E3C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68"/>
          <p:cNvSpPr/>
          <p:nvPr/>
        </p:nvSpPr>
        <p:spPr>
          <a:xfrm>
            <a:off x="6720840" y="3849624"/>
            <a:ext cx="1051560" cy="512064"/>
          </a:xfrm>
          <a:prstGeom prst="roundRect">
            <a:avLst>
              <a:gd fmla="val 14286" name="adj"/>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68"/>
          <p:cNvSpPr/>
          <p:nvPr/>
        </p:nvSpPr>
        <p:spPr>
          <a:xfrm>
            <a:off x="6720840" y="3849624"/>
            <a:ext cx="10515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ε₀ too large</a:t>
            </a:r>
            <a:endParaRPr b="0" i="0" sz="1300" u="none" cap="none" strike="noStrike">
              <a:solidFill>
                <a:schemeClr val="dk1"/>
              </a:solidFill>
              <a:latin typeface="Calibri"/>
              <a:ea typeface="Calibri"/>
              <a:cs typeface="Calibri"/>
              <a:sym typeface="Calibri"/>
            </a:endParaRPr>
          </a:p>
        </p:txBody>
      </p:sp>
      <p:sp>
        <p:nvSpPr>
          <p:cNvPr id="2302" name="Google Shape;2302;p68"/>
          <p:cNvSpPr/>
          <p:nvPr/>
        </p:nvSpPr>
        <p:spPr>
          <a:xfrm>
            <a:off x="7909560" y="3712464"/>
            <a:ext cx="352044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learning curve shows violent oscillations, with the cost function often increasing significantly.</a:t>
            </a:r>
            <a:endParaRPr b="0" i="0" sz="1150" u="none" cap="none" strike="noStrike">
              <a:solidFill>
                <a:schemeClr val="dk1"/>
              </a:solidFill>
              <a:latin typeface="Calibri"/>
              <a:ea typeface="Calibri"/>
              <a:cs typeface="Calibri"/>
              <a:sym typeface="Calibri"/>
            </a:endParaRPr>
          </a:p>
        </p:txBody>
      </p:sp>
      <p:sp>
        <p:nvSpPr>
          <p:cNvPr id="2303" name="Google Shape;2303;p68"/>
          <p:cNvSpPr/>
          <p:nvPr/>
        </p:nvSpPr>
        <p:spPr>
          <a:xfrm>
            <a:off x="6492240" y="4718304"/>
            <a:ext cx="5138928" cy="1005840"/>
          </a:xfrm>
          <a:prstGeom prst="roundRect">
            <a:avLst>
              <a:gd fmla="val 8182" name="adj"/>
            </a:avLst>
          </a:prstGeom>
          <a:solidFill>
            <a:srgbClr val="F9E3C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68"/>
          <p:cNvSpPr/>
          <p:nvPr/>
        </p:nvSpPr>
        <p:spPr>
          <a:xfrm>
            <a:off x="6720840" y="4965192"/>
            <a:ext cx="1051560" cy="512064"/>
          </a:xfrm>
          <a:prstGeom prst="roundRect">
            <a:avLst>
              <a:gd fmla="val 14286" name="adj"/>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68"/>
          <p:cNvSpPr/>
          <p:nvPr/>
        </p:nvSpPr>
        <p:spPr>
          <a:xfrm>
            <a:off x="6720840" y="4965192"/>
            <a:ext cx="1051560" cy="51206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ε₀ too low</a:t>
            </a:r>
            <a:endParaRPr b="0" i="0" sz="1300" u="none" cap="none" strike="noStrike">
              <a:solidFill>
                <a:schemeClr val="dk1"/>
              </a:solidFill>
              <a:latin typeface="Calibri"/>
              <a:ea typeface="Calibri"/>
              <a:cs typeface="Calibri"/>
              <a:sym typeface="Calibri"/>
            </a:endParaRPr>
          </a:p>
        </p:txBody>
      </p:sp>
      <p:sp>
        <p:nvSpPr>
          <p:cNvPr id="2306" name="Google Shape;2306;p68"/>
          <p:cNvSpPr/>
          <p:nvPr/>
        </p:nvSpPr>
        <p:spPr>
          <a:xfrm>
            <a:off x="7909560" y="4828032"/>
            <a:ext cx="3520440" cy="8046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Learning proceeds slowly — and if the initial rate is too low, learning may become stuck with a high-cost value.</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1" name="Shape 2311"/>
        <p:cNvGrpSpPr/>
        <p:nvPr/>
      </p:nvGrpSpPr>
      <p:grpSpPr>
        <a:xfrm>
          <a:off x="0" y="0"/>
          <a:ext cx="0" cy="0"/>
          <a:chOff x="0" y="0"/>
          <a:chExt cx="0" cy="0"/>
        </a:xfrm>
      </p:grpSpPr>
      <p:sp>
        <p:nvSpPr>
          <p:cNvPr id="2312" name="Google Shape;2312;p6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BASIC ALGORITHMS</a:t>
            </a:r>
            <a:endParaRPr b="0" i="0" sz="1050" u="none" cap="none" strike="noStrike">
              <a:solidFill>
                <a:schemeClr val="dk1"/>
              </a:solidFill>
              <a:latin typeface="Calibri"/>
              <a:ea typeface="Calibri"/>
              <a:cs typeface="Calibri"/>
              <a:sym typeface="Calibri"/>
            </a:endParaRPr>
          </a:p>
        </p:txBody>
      </p:sp>
      <p:sp>
        <p:nvSpPr>
          <p:cNvPr id="2313" name="Google Shape;2313;p6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Momentum</a:t>
            </a:r>
            <a:endParaRPr b="0" i="0" sz="2800" u="none" cap="none" strike="noStrike">
              <a:solidFill>
                <a:schemeClr val="dk1"/>
              </a:solidFill>
              <a:latin typeface="Calibri"/>
              <a:ea typeface="Calibri"/>
              <a:cs typeface="Calibri"/>
              <a:sym typeface="Calibri"/>
            </a:endParaRPr>
          </a:p>
        </p:txBody>
      </p:sp>
      <p:sp>
        <p:nvSpPr>
          <p:cNvPr id="2314" name="Google Shape;2314;p69"/>
          <p:cNvSpPr/>
          <p:nvPr/>
        </p:nvSpPr>
        <p:spPr>
          <a:xfrm>
            <a:off x="566928" y="1371600"/>
            <a:ext cx="5760720" cy="24688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Designed to accelerate learning, especially in the face of high curvature, small but consistent gradients, or noisy gradients.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It accumulates an exponentially decaying moving average of past gradients and continues to move in their direction — the momentum makes it keep going the way it was already going.</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Introduces a variable v that plays the role of velocity, typically initialized at zero: the direction and speed at which the parameters move through parameter space.</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The velocity is set to an exponentially decaying average of the negative gradient. The larger α is relative to ε, the more previous gradients affect the current direction.</a:t>
            </a:r>
            <a:endParaRPr b="0" i="0" sz="1300" u="none" cap="none" strike="noStrike">
              <a:solidFill>
                <a:schemeClr val="dk1"/>
              </a:solidFill>
              <a:latin typeface="Calibri"/>
              <a:ea typeface="Calibri"/>
              <a:cs typeface="Calibri"/>
              <a:sym typeface="Calibri"/>
            </a:endParaRPr>
          </a:p>
        </p:txBody>
      </p:sp>
      <p:sp>
        <p:nvSpPr>
          <p:cNvPr id="2315" name="Google Shape;2315;p69"/>
          <p:cNvSpPr/>
          <p:nvPr/>
        </p:nvSpPr>
        <p:spPr>
          <a:xfrm>
            <a:off x="566928" y="3931920"/>
            <a:ext cx="5760720" cy="713232"/>
          </a:xfrm>
          <a:prstGeom prst="roundRect">
            <a:avLst>
              <a:gd fmla="val 11538"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69"/>
          <p:cNvSpPr/>
          <p:nvPr/>
        </p:nvSpPr>
        <p:spPr>
          <a:xfrm>
            <a:off x="704088" y="3931920"/>
            <a:ext cx="54864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v ← α v − ε ∇θ ( (1/m) Σᵢ L( f(x⁽ⁱ⁾; θ), y⁽ⁱ⁾ ) )</a:t>
            </a:r>
            <a:endParaRPr b="0" i="0" sz="1400" u="none" cap="none" strike="noStrike">
              <a:solidFill>
                <a:schemeClr val="dk1"/>
              </a:solidFill>
              <a:latin typeface="Calibri"/>
              <a:ea typeface="Calibri"/>
              <a:cs typeface="Calibri"/>
              <a:sym typeface="Calibri"/>
            </a:endParaRPr>
          </a:p>
        </p:txBody>
      </p:sp>
      <p:sp>
        <p:nvSpPr>
          <p:cNvPr id="2317" name="Google Shape;2317;p69"/>
          <p:cNvSpPr/>
          <p:nvPr/>
        </p:nvSpPr>
        <p:spPr>
          <a:xfrm>
            <a:off x="566928" y="4736592"/>
            <a:ext cx="5760720" cy="603504"/>
          </a:xfrm>
          <a:prstGeom prst="roundRect">
            <a:avLst>
              <a:gd fmla="val 13636"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69"/>
          <p:cNvSpPr/>
          <p:nvPr/>
        </p:nvSpPr>
        <p:spPr>
          <a:xfrm>
            <a:off x="704088" y="4736592"/>
            <a:ext cx="5486400"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θ ← θ + v            α ∈ [0, 1)</a:t>
            </a:r>
            <a:endParaRPr b="0" i="0" sz="1500" u="none" cap="none" strike="noStrike">
              <a:solidFill>
                <a:schemeClr val="dk1"/>
              </a:solidFill>
              <a:latin typeface="Calibri"/>
              <a:ea typeface="Calibri"/>
              <a:cs typeface="Calibri"/>
              <a:sym typeface="Calibri"/>
            </a:endParaRPr>
          </a:p>
        </p:txBody>
      </p:sp>
      <p:sp>
        <p:nvSpPr>
          <p:cNvPr id="2319" name="Google Shape;2319;p69"/>
          <p:cNvSpPr/>
          <p:nvPr/>
        </p:nvSpPr>
        <p:spPr>
          <a:xfrm>
            <a:off x="6492240" y="1371600"/>
            <a:ext cx="5138928" cy="2468880"/>
          </a:xfrm>
          <a:prstGeom prst="roundRect">
            <a:avLst>
              <a:gd fmla="val 333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69"/>
          <p:cNvSpPr/>
          <p:nvPr/>
        </p:nvSpPr>
        <p:spPr>
          <a:xfrm rot="-1500000">
            <a:off x="8641080" y="2299716"/>
            <a:ext cx="914400" cy="374904"/>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69"/>
          <p:cNvSpPr/>
          <p:nvPr/>
        </p:nvSpPr>
        <p:spPr>
          <a:xfrm rot="-1500000">
            <a:off x="8183880" y="2112264"/>
            <a:ext cx="1828800" cy="749808"/>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69"/>
          <p:cNvSpPr/>
          <p:nvPr/>
        </p:nvSpPr>
        <p:spPr>
          <a:xfrm rot="-1500000">
            <a:off x="7726680" y="1924812"/>
            <a:ext cx="2743200" cy="1124712"/>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69"/>
          <p:cNvSpPr/>
          <p:nvPr/>
        </p:nvSpPr>
        <p:spPr>
          <a:xfrm rot="-1500000">
            <a:off x="7269480" y="1737360"/>
            <a:ext cx="3657600" cy="1499616"/>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69"/>
          <p:cNvSpPr/>
          <p:nvPr/>
        </p:nvSpPr>
        <p:spPr>
          <a:xfrm>
            <a:off x="9034272" y="2423160"/>
            <a:ext cx="128016" cy="128016"/>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25" name="Google Shape;2325;p69"/>
          <p:cNvCxnSpPr/>
          <p:nvPr/>
        </p:nvCxnSpPr>
        <p:spPr>
          <a:xfrm flipH="1" rot="10800000">
            <a:off x="7178040" y="2029968"/>
            <a:ext cx="365760" cy="914400"/>
          </a:xfrm>
          <a:prstGeom prst="straightConnector1">
            <a:avLst/>
          </a:prstGeom>
          <a:noFill/>
          <a:ln cap="flat" cmpd="sng" w="19050">
            <a:solidFill>
              <a:srgbClr val="B8455F"/>
            </a:solidFill>
            <a:prstDash val="solid"/>
            <a:round/>
            <a:headEnd len="sm" w="sm" type="none"/>
            <a:tailEnd len="sm" w="sm" type="none"/>
          </a:ln>
        </p:spPr>
      </p:cxnSp>
      <p:cxnSp>
        <p:nvCxnSpPr>
          <p:cNvPr id="2326" name="Google Shape;2326;p69"/>
          <p:cNvCxnSpPr/>
          <p:nvPr/>
        </p:nvCxnSpPr>
        <p:spPr>
          <a:xfrm>
            <a:off x="7543800" y="2029968"/>
            <a:ext cx="320040" cy="877824"/>
          </a:xfrm>
          <a:prstGeom prst="straightConnector1">
            <a:avLst/>
          </a:prstGeom>
          <a:noFill/>
          <a:ln cap="flat" cmpd="sng" w="19050">
            <a:solidFill>
              <a:srgbClr val="B8455F"/>
            </a:solidFill>
            <a:prstDash val="solid"/>
            <a:round/>
            <a:headEnd len="sm" w="sm" type="none"/>
            <a:tailEnd len="sm" w="sm" type="none"/>
          </a:ln>
        </p:spPr>
      </p:cxnSp>
      <p:cxnSp>
        <p:nvCxnSpPr>
          <p:cNvPr id="2327" name="Google Shape;2327;p69"/>
          <p:cNvCxnSpPr/>
          <p:nvPr/>
        </p:nvCxnSpPr>
        <p:spPr>
          <a:xfrm flipH="1" rot="10800000">
            <a:off x="7863840" y="2103120"/>
            <a:ext cx="320040" cy="804672"/>
          </a:xfrm>
          <a:prstGeom prst="straightConnector1">
            <a:avLst/>
          </a:prstGeom>
          <a:noFill/>
          <a:ln cap="flat" cmpd="sng" w="19050">
            <a:solidFill>
              <a:srgbClr val="B8455F"/>
            </a:solidFill>
            <a:prstDash val="solid"/>
            <a:round/>
            <a:headEnd len="sm" w="sm" type="none"/>
            <a:tailEnd len="sm" w="sm" type="none"/>
          </a:ln>
        </p:spPr>
      </p:cxnSp>
      <p:cxnSp>
        <p:nvCxnSpPr>
          <p:cNvPr id="2328" name="Google Shape;2328;p69"/>
          <p:cNvCxnSpPr/>
          <p:nvPr/>
        </p:nvCxnSpPr>
        <p:spPr>
          <a:xfrm>
            <a:off x="8183880" y="2103120"/>
            <a:ext cx="274320" cy="731520"/>
          </a:xfrm>
          <a:prstGeom prst="straightConnector1">
            <a:avLst/>
          </a:prstGeom>
          <a:noFill/>
          <a:ln cap="flat" cmpd="sng" w="19050">
            <a:solidFill>
              <a:srgbClr val="B8455F"/>
            </a:solidFill>
            <a:prstDash val="solid"/>
            <a:round/>
            <a:headEnd len="sm" w="sm" type="none"/>
            <a:tailEnd len="sm" w="sm" type="none"/>
          </a:ln>
        </p:spPr>
      </p:cxnSp>
      <p:cxnSp>
        <p:nvCxnSpPr>
          <p:cNvPr id="2329" name="Google Shape;2329;p69"/>
          <p:cNvCxnSpPr/>
          <p:nvPr/>
        </p:nvCxnSpPr>
        <p:spPr>
          <a:xfrm flipH="1" rot="10800000">
            <a:off x="8458200" y="2231136"/>
            <a:ext cx="256032" cy="603504"/>
          </a:xfrm>
          <a:prstGeom prst="straightConnector1">
            <a:avLst/>
          </a:prstGeom>
          <a:noFill/>
          <a:ln cap="flat" cmpd="sng" w="19050">
            <a:solidFill>
              <a:srgbClr val="B8455F"/>
            </a:solidFill>
            <a:prstDash val="solid"/>
            <a:round/>
            <a:headEnd len="sm" w="sm" type="none"/>
            <a:tailEnd len="sm" w="sm" type="none"/>
          </a:ln>
        </p:spPr>
      </p:cxnSp>
      <p:cxnSp>
        <p:nvCxnSpPr>
          <p:cNvPr id="2330" name="Google Shape;2330;p69"/>
          <p:cNvCxnSpPr/>
          <p:nvPr/>
        </p:nvCxnSpPr>
        <p:spPr>
          <a:xfrm>
            <a:off x="8714232" y="2231136"/>
            <a:ext cx="182880" cy="438912"/>
          </a:xfrm>
          <a:prstGeom prst="straightConnector1">
            <a:avLst/>
          </a:prstGeom>
          <a:noFill/>
          <a:ln cap="flat" cmpd="sng" w="19050">
            <a:solidFill>
              <a:srgbClr val="B8455F"/>
            </a:solidFill>
            <a:prstDash val="solid"/>
            <a:round/>
            <a:headEnd len="sm" w="sm" type="none"/>
            <a:tailEnd len="sm" w="sm" type="none"/>
          </a:ln>
        </p:spPr>
      </p:cxnSp>
      <p:cxnSp>
        <p:nvCxnSpPr>
          <p:cNvPr id="2331" name="Google Shape;2331;p69"/>
          <p:cNvCxnSpPr/>
          <p:nvPr/>
        </p:nvCxnSpPr>
        <p:spPr>
          <a:xfrm flipH="1" rot="10800000">
            <a:off x="8897112" y="2432304"/>
            <a:ext cx="128016" cy="237744"/>
          </a:xfrm>
          <a:prstGeom prst="straightConnector1">
            <a:avLst/>
          </a:prstGeom>
          <a:noFill/>
          <a:ln cap="flat" cmpd="sng" w="19050">
            <a:solidFill>
              <a:srgbClr val="B8455F"/>
            </a:solidFill>
            <a:prstDash val="solid"/>
            <a:round/>
            <a:headEnd len="sm" w="sm" type="none"/>
            <a:tailEnd len="sm" w="sm" type="none"/>
          </a:ln>
        </p:spPr>
      </p:cxnSp>
      <p:cxnSp>
        <p:nvCxnSpPr>
          <p:cNvPr id="2332" name="Google Shape;2332;p69"/>
          <p:cNvCxnSpPr/>
          <p:nvPr/>
        </p:nvCxnSpPr>
        <p:spPr>
          <a:xfrm>
            <a:off x="9025128" y="2432304"/>
            <a:ext cx="54864" cy="54864"/>
          </a:xfrm>
          <a:prstGeom prst="straightConnector1">
            <a:avLst/>
          </a:prstGeom>
          <a:noFill/>
          <a:ln cap="flat" cmpd="sng" w="19050">
            <a:solidFill>
              <a:srgbClr val="B8455F"/>
            </a:solidFill>
            <a:prstDash val="solid"/>
            <a:round/>
            <a:headEnd len="sm" w="sm" type="none"/>
            <a:tailEnd len="med" w="med" type="triangle"/>
          </a:ln>
        </p:spPr>
      </p:cxnSp>
      <p:sp>
        <p:nvSpPr>
          <p:cNvPr id="2333" name="Google Shape;2333;p69"/>
          <p:cNvSpPr/>
          <p:nvPr/>
        </p:nvSpPr>
        <p:spPr>
          <a:xfrm>
            <a:off x="6720840" y="3456432"/>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momentum damps the oscillation across the valley and adds up the steps along it</a:t>
            </a:r>
            <a:endParaRPr b="0" i="0" sz="1050" u="none" cap="none" strike="noStrike">
              <a:solidFill>
                <a:schemeClr val="dk1"/>
              </a:solidFill>
              <a:latin typeface="Calibri"/>
              <a:ea typeface="Calibri"/>
              <a:cs typeface="Calibri"/>
              <a:sym typeface="Calibri"/>
            </a:endParaRPr>
          </a:p>
        </p:txBody>
      </p:sp>
      <p:sp>
        <p:nvSpPr>
          <p:cNvPr id="2334" name="Google Shape;2334;p69"/>
          <p:cNvSpPr/>
          <p:nvPr/>
        </p:nvSpPr>
        <p:spPr>
          <a:xfrm>
            <a:off x="6492240" y="3977640"/>
            <a:ext cx="5138928" cy="1828800"/>
          </a:xfrm>
          <a:prstGeom prst="roundRect">
            <a:avLst>
              <a:gd fmla="val 45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69"/>
          <p:cNvSpPr/>
          <p:nvPr/>
        </p:nvSpPr>
        <p:spPr>
          <a:xfrm>
            <a:off x="6766560" y="4123944"/>
            <a:ext cx="459028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Algorithm 8.2 — SGD with momentum</a:t>
            </a:r>
            <a:endParaRPr b="0" i="0" sz="1400" u="none" cap="none" strike="noStrike">
              <a:solidFill>
                <a:schemeClr val="dk1"/>
              </a:solidFill>
              <a:latin typeface="Calibri"/>
              <a:ea typeface="Calibri"/>
              <a:cs typeface="Calibri"/>
              <a:sym typeface="Calibri"/>
            </a:endParaRPr>
          </a:p>
        </p:txBody>
      </p:sp>
      <p:sp>
        <p:nvSpPr>
          <p:cNvPr id="2336" name="Google Shape;2336;p69"/>
          <p:cNvSpPr/>
          <p:nvPr/>
        </p:nvSpPr>
        <p:spPr>
          <a:xfrm>
            <a:off x="6766560" y="4489704"/>
            <a:ext cx="4590288" cy="1170432"/>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learning rate ε, momentum parameter α</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initial parameter θ, initial velocity v</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while stopping criterion not met:</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sample a minibatch of m examples</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g ← (1/m) ∇θ Σᵢ L(f(x⁽ⁱ⁾;θ), y⁽ⁱ⁾)</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v ← α v − ε g</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θ ← θ + v</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1" name="Shape 2341"/>
        <p:cNvGrpSpPr/>
        <p:nvPr/>
      </p:nvGrpSpPr>
      <p:grpSpPr>
        <a:xfrm>
          <a:off x="0" y="0"/>
          <a:ext cx="0" cy="0"/>
          <a:chOff x="0" y="0"/>
          <a:chExt cx="0" cy="0"/>
        </a:xfrm>
      </p:grpSpPr>
      <p:sp>
        <p:nvSpPr>
          <p:cNvPr id="2342" name="Google Shape;2342;p70"/>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BASIC ALGORITHMS</a:t>
            </a:r>
            <a:endParaRPr b="0" i="0" sz="1050" u="none" cap="none" strike="noStrike">
              <a:solidFill>
                <a:schemeClr val="dk1"/>
              </a:solidFill>
              <a:latin typeface="Calibri"/>
              <a:ea typeface="Calibri"/>
              <a:cs typeface="Calibri"/>
              <a:sym typeface="Calibri"/>
            </a:endParaRPr>
          </a:p>
        </p:txBody>
      </p:sp>
      <p:sp>
        <p:nvSpPr>
          <p:cNvPr id="2343" name="Google Shape;2343;p70"/>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Nesterov momentum</a:t>
            </a:r>
            <a:endParaRPr b="0" i="0" sz="2800" u="none" cap="none" strike="noStrike">
              <a:solidFill>
                <a:schemeClr val="dk1"/>
              </a:solidFill>
              <a:latin typeface="Calibri"/>
              <a:ea typeface="Calibri"/>
              <a:cs typeface="Calibri"/>
              <a:sym typeface="Calibri"/>
            </a:endParaRPr>
          </a:p>
        </p:txBody>
      </p:sp>
      <p:sp>
        <p:nvSpPr>
          <p:cNvPr id="2344" name="Google Shape;2344;p70"/>
          <p:cNvSpPr/>
          <p:nvPr/>
        </p:nvSpPr>
        <p:spPr>
          <a:xfrm>
            <a:off x="566928" y="1371600"/>
            <a:ext cx="5760720" cy="29260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Presented by Sutskever (2013), inspired by Nesterov's accelerated gradient method (Nesterov, 1983, 2004). In most cases it works better than standard momentum.</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Standard momentum</a:t>
            </a:r>
            <a:endParaRPr b="0" i="0" sz="1300" u="none" cap="none" strike="noStrike">
              <a:solidFill>
                <a:schemeClr val="dk1"/>
              </a:solidFill>
              <a:latin typeface="Calibri"/>
              <a:ea typeface="Calibri"/>
              <a:cs typeface="Calibri"/>
              <a:sym typeface="Calibri"/>
            </a:endParaRPr>
          </a:p>
          <a:p>
            <a:pPr indent="-203200" lvl="1" marL="406400" marR="0" rtl="0" algn="l">
              <a:spcBef>
                <a:spcPts val="2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First computes the gradient at the current location, then makes a jump in the direction of the updated accumulated gradient.</a:t>
            </a:r>
            <a:endParaRPr b="0" i="0" sz="1300" u="none" cap="none" strike="noStrike">
              <a:solidFill>
                <a:schemeClr val="dk1"/>
              </a:solidFill>
              <a:latin typeface="Calibri"/>
              <a:ea typeface="Calibri"/>
              <a:cs typeface="Calibri"/>
              <a:sym typeface="Calibri"/>
            </a:endParaRPr>
          </a:p>
          <a:p>
            <a:pPr indent="-203200" lvl="0" marL="203200" marR="0" rtl="0" algn="l">
              <a:spcBef>
                <a:spcPts val="100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Nesterov momentum</a:t>
            </a:r>
            <a:endParaRPr b="0" i="0" sz="1300" u="none" cap="none" strike="noStrike">
              <a:solidFill>
                <a:schemeClr val="dk1"/>
              </a:solidFill>
              <a:latin typeface="Calibri"/>
              <a:ea typeface="Calibri"/>
              <a:cs typeface="Calibri"/>
              <a:sym typeface="Calibri"/>
            </a:endParaRPr>
          </a:p>
          <a:p>
            <a:pPr indent="-203200" lvl="1" marL="406400" marR="0" rtl="0" algn="l">
              <a:spcBef>
                <a:spcPts val="2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First makes a jump in the direction of the previous accumulated gradient, then computes the gradient there and makes a correction.</a:t>
            </a:r>
            <a:endParaRPr b="0" i="0" sz="1300" u="none" cap="none" strike="noStrike">
              <a:solidFill>
                <a:schemeClr val="dk1"/>
              </a:solidFill>
              <a:latin typeface="Calibri"/>
              <a:ea typeface="Calibri"/>
              <a:cs typeface="Calibri"/>
              <a:sym typeface="Calibri"/>
            </a:endParaRPr>
          </a:p>
          <a:p>
            <a:pPr indent="-203200" lvl="0" marL="203200" marR="0" rtl="0" algn="l">
              <a:spcBef>
                <a:spcPts val="100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Looking ahead before committing means the correction can cancel an overshoot in the same step, rather than one step later.</a:t>
            </a:r>
            <a:endParaRPr b="0" i="0" sz="1300" u="none" cap="none" strike="noStrike">
              <a:solidFill>
                <a:schemeClr val="dk1"/>
              </a:solidFill>
              <a:latin typeface="Calibri"/>
              <a:ea typeface="Calibri"/>
              <a:cs typeface="Calibri"/>
              <a:sym typeface="Calibri"/>
            </a:endParaRPr>
          </a:p>
        </p:txBody>
      </p:sp>
      <p:sp>
        <p:nvSpPr>
          <p:cNvPr id="2345" name="Google Shape;2345;p70"/>
          <p:cNvSpPr/>
          <p:nvPr/>
        </p:nvSpPr>
        <p:spPr>
          <a:xfrm>
            <a:off x="566928" y="4069080"/>
            <a:ext cx="5760720" cy="1691640"/>
          </a:xfrm>
          <a:prstGeom prst="roundRect">
            <a:avLst>
              <a:gd fmla="val 486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70"/>
          <p:cNvSpPr/>
          <p:nvPr/>
        </p:nvSpPr>
        <p:spPr>
          <a:xfrm>
            <a:off x="841248" y="4215384"/>
            <a:ext cx="52120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Algorithm 8.3 — SGD with Nesterov momentum</a:t>
            </a:r>
            <a:endParaRPr b="0" i="0" sz="1400" u="none" cap="none" strike="noStrike">
              <a:solidFill>
                <a:schemeClr val="dk1"/>
              </a:solidFill>
              <a:latin typeface="Calibri"/>
              <a:ea typeface="Calibri"/>
              <a:cs typeface="Calibri"/>
              <a:sym typeface="Calibri"/>
            </a:endParaRPr>
          </a:p>
        </p:txBody>
      </p:sp>
      <p:sp>
        <p:nvSpPr>
          <p:cNvPr id="2347" name="Google Shape;2347;p70"/>
          <p:cNvSpPr/>
          <p:nvPr/>
        </p:nvSpPr>
        <p:spPr>
          <a:xfrm>
            <a:off x="841248" y="4581144"/>
            <a:ext cx="5212080" cy="1033272"/>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while stopping criterion not met:</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sample a minibatch of m examples</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θ̃ ← θ + α v                    (interim update)</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g ← (1/m) ∇θ̃ Σᵢ L(f(x⁽ⁱ⁾;θ̃), y⁽ⁱ⁾)</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v ← α v − ε g</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θ ← θ + v</a:t>
            </a:r>
            <a:endParaRPr b="0" i="0" sz="950" u="none" cap="none" strike="noStrike">
              <a:solidFill>
                <a:schemeClr val="dk1"/>
              </a:solidFill>
              <a:latin typeface="Calibri"/>
              <a:ea typeface="Calibri"/>
              <a:cs typeface="Calibri"/>
              <a:sym typeface="Calibri"/>
            </a:endParaRPr>
          </a:p>
        </p:txBody>
      </p:sp>
      <p:sp>
        <p:nvSpPr>
          <p:cNvPr id="2348" name="Google Shape;2348;p70"/>
          <p:cNvSpPr/>
          <p:nvPr/>
        </p:nvSpPr>
        <p:spPr>
          <a:xfrm>
            <a:off x="6492240" y="1371600"/>
            <a:ext cx="5138928" cy="4389120"/>
          </a:xfrm>
          <a:prstGeom prst="roundRect">
            <a:avLst>
              <a:gd fmla="val 1875"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70"/>
          <p:cNvSpPr/>
          <p:nvPr/>
        </p:nvSpPr>
        <p:spPr>
          <a:xfrm>
            <a:off x="6812280" y="1481328"/>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Standard momentum</a:t>
            </a:r>
            <a:endParaRPr b="0" i="0" sz="1200" u="none" cap="none" strike="noStrike">
              <a:solidFill>
                <a:schemeClr val="dk1"/>
              </a:solidFill>
              <a:latin typeface="Calibri"/>
              <a:ea typeface="Calibri"/>
              <a:cs typeface="Calibri"/>
              <a:sym typeface="Calibri"/>
            </a:endParaRPr>
          </a:p>
        </p:txBody>
      </p:sp>
      <p:cxnSp>
        <p:nvCxnSpPr>
          <p:cNvPr id="2350" name="Google Shape;2350;p70"/>
          <p:cNvCxnSpPr/>
          <p:nvPr/>
        </p:nvCxnSpPr>
        <p:spPr>
          <a:xfrm>
            <a:off x="7269480" y="2148840"/>
            <a:ext cx="2194560" cy="0"/>
          </a:xfrm>
          <a:prstGeom prst="straightConnector1">
            <a:avLst/>
          </a:prstGeom>
          <a:noFill/>
          <a:ln cap="flat" cmpd="sng" w="27925">
            <a:solidFill>
              <a:srgbClr val="6B5B95"/>
            </a:solidFill>
            <a:prstDash val="solid"/>
            <a:round/>
            <a:headEnd len="sm" w="sm" type="none"/>
            <a:tailEnd len="med" w="med" type="triangle"/>
          </a:ln>
        </p:spPr>
      </p:cxnSp>
      <p:sp>
        <p:nvSpPr>
          <p:cNvPr id="2351" name="Google Shape;2351;p70"/>
          <p:cNvSpPr/>
          <p:nvPr/>
        </p:nvSpPr>
        <p:spPr>
          <a:xfrm>
            <a:off x="7406640" y="1837944"/>
            <a:ext cx="21031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5B95"/>
              </a:buClr>
              <a:buSzPts val="950"/>
              <a:buFont typeface="Calibri"/>
              <a:buNone/>
            </a:pPr>
            <a:r>
              <a:rPr b="0" i="0" lang="en-US" sz="950" u="none" cap="none" strike="noStrike">
                <a:solidFill>
                  <a:srgbClr val="6B5B95"/>
                </a:solidFill>
                <a:latin typeface="Calibri"/>
                <a:ea typeface="Calibri"/>
                <a:cs typeface="Calibri"/>
                <a:sym typeface="Calibri"/>
              </a:rPr>
              <a:t>accumulated gradient</a:t>
            </a:r>
            <a:endParaRPr b="0" i="0" sz="950" u="none" cap="none" strike="noStrike">
              <a:solidFill>
                <a:schemeClr val="dk1"/>
              </a:solidFill>
              <a:latin typeface="Calibri"/>
              <a:ea typeface="Calibri"/>
              <a:cs typeface="Calibri"/>
              <a:sym typeface="Calibri"/>
            </a:endParaRPr>
          </a:p>
        </p:txBody>
      </p:sp>
      <p:cxnSp>
        <p:nvCxnSpPr>
          <p:cNvPr id="2352" name="Google Shape;2352;p70"/>
          <p:cNvCxnSpPr/>
          <p:nvPr/>
        </p:nvCxnSpPr>
        <p:spPr>
          <a:xfrm>
            <a:off x="7269480" y="2148840"/>
            <a:ext cx="548640" cy="731520"/>
          </a:xfrm>
          <a:prstGeom prst="straightConnector1">
            <a:avLst/>
          </a:prstGeom>
          <a:noFill/>
          <a:ln cap="flat" cmpd="sng" w="27925">
            <a:solidFill>
              <a:srgbClr val="B8455F"/>
            </a:solidFill>
            <a:prstDash val="solid"/>
            <a:round/>
            <a:headEnd len="sm" w="sm" type="none"/>
            <a:tailEnd len="med" w="med" type="triangle"/>
          </a:ln>
        </p:spPr>
      </p:cxnSp>
      <p:sp>
        <p:nvSpPr>
          <p:cNvPr id="2353" name="Google Shape;2353;p70"/>
          <p:cNvSpPr/>
          <p:nvPr/>
        </p:nvSpPr>
        <p:spPr>
          <a:xfrm>
            <a:off x="6812280" y="2898648"/>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455F"/>
              </a:buClr>
              <a:buSzPts val="950"/>
              <a:buFont typeface="Calibri"/>
              <a:buNone/>
            </a:pPr>
            <a:r>
              <a:rPr b="0" i="0" lang="en-US" sz="950" u="none" cap="none" strike="noStrike">
                <a:solidFill>
                  <a:srgbClr val="B8455F"/>
                </a:solidFill>
                <a:latin typeface="Calibri"/>
                <a:ea typeface="Calibri"/>
                <a:cs typeface="Calibri"/>
                <a:sym typeface="Calibri"/>
              </a:rPr>
              <a:t>gradient measured here</a:t>
            </a:r>
            <a:endParaRPr b="0" i="0" sz="950" u="none" cap="none" strike="noStrike">
              <a:solidFill>
                <a:schemeClr val="dk1"/>
              </a:solidFill>
              <a:latin typeface="Calibri"/>
              <a:ea typeface="Calibri"/>
              <a:cs typeface="Calibri"/>
              <a:sym typeface="Calibri"/>
            </a:endParaRPr>
          </a:p>
        </p:txBody>
      </p:sp>
      <p:cxnSp>
        <p:nvCxnSpPr>
          <p:cNvPr id="2354" name="Google Shape;2354;p70"/>
          <p:cNvCxnSpPr/>
          <p:nvPr/>
        </p:nvCxnSpPr>
        <p:spPr>
          <a:xfrm>
            <a:off x="7269480" y="2148840"/>
            <a:ext cx="2743200" cy="731520"/>
          </a:xfrm>
          <a:prstGeom prst="straightConnector1">
            <a:avLst/>
          </a:prstGeom>
          <a:noFill/>
          <a:ln cap="flat" cmpd="sng" w="27925">
            <a:solidFill>
              <a:srgbClr val="2D1B4E"/>
            </a:solidFill>
            <a:prstDash val="dash"/>
            <a:round/>
            <a:headEnd len="sm" w="sm" type="none"/>
            <a:tailEnd len="med" w="med" type="triangle"/>
          </a:ln>
        </p:spPr>
      </p:cxnSp>
      <p:sp>
        <p:nvSpPr>
          <p:cNvPr id="2355" name="Google Shape;2355;p70"/>
          <p:cNvSpPr/>
          <p:nvPr/>
        </p:nvSpPr>
        <p:spPr>
          <a:xfrm>
            <a:off x="8503920" y="2624328"/>
            <a:ext cx="1280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950"/>
              <a:buFont typeface="Calibri"/>
              <a:buNone/>
            </a:pPr>
            <a:r>
              <a:rPr b="1" i="0" lang="en-US" sz="950" u="none" cap="none" strike="noStrike">
                <a:solidFill>
                  <a:srgbClr val="2D1B4E"/>
                </a:solidFill>
                <a:latin typeface="Calibri"/>
                <a:ea typeface="Calibri"/>
                <a:cs typeface="Calibri"/>
                <a:sym typeface="Calibri"/>
              </a:rPr>
              <a:t>actual step</a:t>
            </a:r>
            <a:endParaRPr b="0" i="0" sz="950" u="none" cap="none" strike="noStrike">
              <a:solidFill>
                <a:schemeClr val="dk1"/>
              </a:solidFill>
              <a:latin typeface="Calibri"/>
              <a:ea typeface="Calibri"/>
              <a:cs typeface="Calibri"/>
              <a:sym typeface="Calibri"/>
            </a:endParaRPr>
          </a:p>
        </p:txBody>
      </p:sp>
      <p:sp>
        <p:nvSpPr>
          <p:cNvPr id="2356" name="Google Shape;2356;p70"/>
          <p:cNvSpPr/>
          <p:nvPr/>
        </p:nvSpPr>
        <p:spPr>
          <a:xfrm>
            <a:off x="7205472" y="2084832"/>
            <a:ext cx="128016" cy="128016"/>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70"/>
          <p:cNvSpPr/>
          <p:nvPr/>
        </p:nvSpPr>
        <p:spPr>
          <a:xfrm>
            <a:off x="6812280" y="3611880"/>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200"/>
              <a:buFont typeface="Calibri"/>
              <a:buNone/>
            </a:pPr>
            <a:r>
              <a:rPr b="1" i="0" lang="en-US" sz="1200" u="none" cap="none" strike="noStrike">
                <a:solidFill>
                  <a:srgbClr val="C4661F"/>
                </a:solidFill>
                <a:latin typeface="Calibri"/>
                <a:ea typeface="Calibri"/>
                <a:cs typeface="Calibri"/>
                <a:sym typeface="Calibri"/>
              </a:rPr>
              <a:t>Nesterov momentum</a:t>
            </a:r>
            <a:endParaRPr b="0" i="0" sz="1200" u="none" cap="none" strike="noStrike">
              <a:solidFill>
                <a:schemeClr val="dk1"/>
              </a:solidFill>
              <a:latin typeface="Calibri"/>
              <a:ea typeface="Calibri"/>
              <a:cs typeface="Calibri"/>
              <a:sym typeface="Calibri"/>
            </a:endParaRPr>
          </a:p>
        </p:txBody>
      </p:sp>
      <p:cxnSp>
        <p:nvCxnSpPr>
          <p:cNvPr id="2358" name="Google Shape;2358;p70"/>
          <p:cNvCxnSpPr/>
          <p:nvPr/>
        </p:nvCxnSpPr>
        <p:spPr>
          <a:xfrm>
            <a:off x="7269480" y="4297680"/>
            <a:ext cx="2194560" cy="0"/>
          </a:xfrm>
          <a:prstGeom prst="straightConnector1">
            <a:avLst/>
          </a:prstGeom>
          <a:noFill/>
          <a:ln cap="flat" cmpd="sng" w="27925">
            <a:solidFill>
              <a:srgbClr val="6B5B95"/>
            </a:solidFill>
            <a:prstDash val="solid"/>
            <a:round/>
            <a:headEnd len="sm" w="sm" type="none"/>
            <a:tailEnd len="med" w="med" type="triangle"/>
          </a:ln>
        </p:spPr>
      </p:cxnSp>
      <p:sp>
        <p:nvSpPr>
          <p:cNvPr id="2359" name="Google Shape;2359;p70"/>
          <p:cNvSpPr/>
          <p:nvPr/>
        </p:nvSpPr>
        <p:spPr>
          <a:xfrm>
            <a:off x="7955280" y="3986784"/>
            <a:ext cx="1463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5B95"/>
              </a:buClr>
              <a:buSzPts val="950"/>
              <a:buFont typeface="Calibri"/>
              <a:buNone/>
            </a:pPr>
            <a:r>
              <a:rPr b="0" i="0" lang="en-US" sz="950" u="none" cap="none" strike="noStrike">
                <a:solidFill>
                  <a:srgbClr val="6B5B95"/>
                </a:solidFill>
                <a:latin typeface="Calibri"/>
                <a:ea typeface="Calibri"/>
                <a:cs typeface="Calibri"/>
                <a:sym typeface="Calibri"/>
              </a:rPr>
              <a:t>jump first</a:t>
            </a:r>
            <a:endParaRPr b="0" i="0" sz="950" u="none" cap="none" strike="noStrike">
              <a:solidFill>
                <a:schemeClr val="dk1"/>
              </a:solidFill>
              <a:latin typeface="Calibri"/>
              <a:ea typeface="Calibri"/>
              <a:cs typeface="Calibri"/>
              <a:sym typeface="Calibri"/>
            </a:endParaRPr>
          </a:p>
        </p:txBody>
      </p:sp>
      <p:cxnSp>
        <p:nvCxnSpPr>
          <p:cNvPr id="2360" name="Google Shape;2360;p70"/>
          <p:cNvCxnSpPr/>
          <p:nvPr/>
        </p:nvCxnSpPr>
        <p:spPr>
          <a:xfrm>
            <a:off x="9464040" y="4297680"/>
            <a:ext cx="548640" cy="731520"/>
          </a:xfrm>
          <a:prstGeom prst="straightConnector1">
            <a:avLst/>
          </a:prstGeom>
          <a:noFill/>
          <a:ln cap="flat" cmpd="sng" w="27925">
            <a:solidFill>
              <a:srgbClr val="E8833A"/>
            </a:solidFill>
            <a:prstDash val="solid"/>
            <a:round/>
            <a:headEnd len="sm" w="sm" type="none"/>
            <a:tailEnd len="med" w="med" type="triangle"/>
          </a:ln>
        </p:spPr>
      </p:cxnSp>
      <p:sp>
        <p:nvSpPr>
          <p:cNvPr id="2361" name="Google Shape;2361;p70"/>
          <p:cNvSpPr/>
          <p:nvPr/>
        </p:nvSpPr>
        <p:spPr>
          <a:xfrm>
            <a:off x="10030968" y="4617720"/>
            <a:ext cx="1417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950"/>
              <a:buFont typeface="Calibri"/>
              <a:buNone/>
            </a:pPr>
            <a:r>
              <a:rPr b="0" i="0" lang="en-US" sz="950" u="none" cap="none" strike="noStrike">
                <a:solidFill>
                  <a:srgbClr val="C4661F"/>
                </a:solidFill>
                <a:latin typeface="Calibri"/>
                <a:ea typeface="Calibri"/>
                <a:cs typeface="Calibri"/>
                <a:sym typeface="Calibri"/>
              </a:rPr>
              <a:t>correction, measured</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4661F"/>
              </a:buClr>
              <a:buSzPts val="950"/>
              <a:buFont typeface="Calibri"/>
              <a:buNone/>
            </a:pPr>
            <a:r>
              <a:rPr b="0" i="0" lang="en-US" sz="950" u="none" cap="none" strike="noStrike">
                <a:solidFill>
                  <a:srgbClr val="C4661F"/>
                </a:solidFill>
                <a:latin typeface="Calibri"/>
                <a:ea typeface="Calibri"/>
                <a:cs typeface="Calibri"/>
                <a:sym typeface="Calibri"/>
              </a:rPr>
              <a:t>after the jump</a:t>
            </a:r>
            <a:endParaRPr b="0" i="0" sz="950" u="none" cap="none" strike="noStrike">
              <a:solidFill>
                <a:schemeClr val="dk1"/>
              </a:solidFill>
              <a:latin typeface="Calibri"/>
              <a:ea typeface="Calibri"/>
              <a:cs typeface="Calibri"/>
              <a:sym typeface="Calibri"/>
            </a:endParaRPr>
          </a:p>
        </p:txBody>
      </p:sp>
      <p:cxnSp>
        <p:nvCxnSpPr>
          <p:cNvPr id="2362" name="Google Shape;2362;p70"/>
          <p:cNvCxnSpPr/>
          <p:nvPr/>
        </p:nvCxnSpPr>
        <p:spPr>
          <a:xfrm>
            <a:off x="7269480" y="4297680"/>
            <a:ext cx="2743200" cy="731520"/>
          </a:xfrm>
          <a:prstGeom prst="straightConnector1">
            <a:avLst/>
          </a:prstGeom>
          <a:noFill/>
          <a:ln cap="flat" cmpd="sng" w="27925">
            <a:solidFill>
              <a:srgbClr val="2D1B4E"/>
            </a:solidFill>
            <a:prstDash val="dash"/>
            <a:round/>
            <a:headEnd len="sm" w="sm" type="none"/>
            <a:tailEnd len="med" w="med" type="triangle"/>
          </a:ln>
        </p:spPr>
      </p:cxnSp>
      <p:sp>
        <p:nvSpPr>
          <p:cNvPr id="2363" name="Google Shape;2363;p70"/>
          <p:cNvSpPr/>
          <p:nvPr/>
        </p:nvSpPr>
        <p:spPr>
          <a:xfrm>
            <a:off x="7406640" y="4773168"/>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950"/>
              <a:buFont typeface="Calibri"/>
              <a:buNone/>
            </a:pPr>
            <a:r>
              <a:rPr b="1" i="0" lang="en-US" sz="950" u="none" cap="none" strike="noStrike">
                <a:solidFill>
                  <a:srgbClr val="2D1B4E"/>
                </a:solidFill>
                <a:latin typeface="Calibri"/>
                <a:ea typeface="Calibri"/>
                <a:cs typeface="Calibri"/>
                <a:sym typeface="Calibri"/>
              </a:rPr>
              <a:t>new accumulated gradient</a:t>
            </a:r>
            <a:endParaRPr b="0" i="0" sz="950" u="none" cap="none" strike="noStrike">
              <a:solidFill>
                <a:schemeClr val="dk1"/>
              </a:solidFill>
              <a:latin typeface="Calibri"/>
              <a:ea typeface="Calibri"/>
              <a:cs typeface="Calibri"/>
              <a:sym typeface="Calibri"/>
            </a:endParaRPr>
          </a:p>
        </p:txBody>
      </p:sp>
      <p:sp>
        <p:nvSpPr>
          <p:cNvPr id="2364" name="Google Shape;2364;p70"/>
          <p:cNvSpPr/>
          <p:nvPr/>
        </p:nvSpPr>
        <p:spPr>
          <a:xfrm>
            <a:off x="7205472" y="4233672"/>
            <a:ext cx="128016" cy="128016"/>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9" name="Shape 2369"/>
        <p:cNvGrpSpPr/>
        <p:nvPr/>
      </p:nvGrpSpPr>
      <p:grpSpPr>
        <a:xfrm>
          <a:off x="0" y="0"/>
          <a:ext cx="0" cy="0"/>
          <a:chOff x="0" y="0"/>
          <a:chExt cx="0" cy="0"/>
        </a:xfrm>
      </p:grpSpPr>
      <p:sp>
        <p:nvSpPr>
          <p:cNvPr id="2370" name="Google Shape;2370;p71"/>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INITIALIZATION</a:t>
            </a:r>
            <a:endParaRPr b="0" i="0" sz="1050" u="none" cap="none" strike="noStrike">
              <a:solidFill>
                <a:schemeClr val="dk1"/>
              </a:solidFill>
              <a:latin typeface="Calibri"/>
              <a:ea typeface="Calibri"/>
              <a:cs typeface="Calibri"/>
              <a:sym typeface="Calibri"/>
            </a:endParaRPr>
          </a:p>
        </p:txBody>
      </p:sp>
      <p:sp>
        <p:nvSpPr>
          <p:cNvPr id="2371" name="Google Shape;2371;p71"/>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Parameter initialization: breaking symmetry</a:t>
            </a:r>
            <a:endParaRPr b="0" i="0" sz="2800" u="none" cap="none" strike="noStrike">
              <a:solidFill>
                <a:schemeClr val="dk1"/>
              </a:solidFill>
              <a:latin typeface="Calibri"/>
              <a:ea typeface="Calibri"/>
              <a:cs typeface="Calibri"/>
              <a:sym typeface="Calibri"/>
            </a:endParaRPr>
          </a:p>
        </p:txBody>
      </p:sp>
      <p:sp>
        <p:nvSpPr>
          <p:cNvPr id="2372" name="Google Shape;2372;p71"/>
          <p:cNvSpPr/>
          <p:nvPr/>
        </p:nvSpPr>
        <p:spPr>
          <a:xfrm>
            <a:off x="566928" y="1371600"/>
            <a:ext cx="5669280" cy="24688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Most algorithms for training deep models are strongly affected by the choice of initialization — the initial point can determine whether the algorithm converges at all.</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Designing improved initialization strategies is difficult, because neural network optimization is not yet well understood.</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Perhaps the only property known with complete certainty: the initial parameters need to break symmetry between different units.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If two hidden units with the same activation function are connected to the same inputs, they must have different initial parameters.</a:t>
            </a:r>
            <a:endParaRPr b="0" i="0" sz="1300" u="none" cap="none" strike="noStrike">
              <a:solidFill>
                <a:schemeClr val="dk1"/>
              </a:solidFill>
              <a:latin typeface="Calibri"/>
              <a:ea typeface="Calibri"/>
              <a:cs typeface="Calibri"/>
              <a:sym typeface="Calibri"/>
            </a:endParaRPr>
          </a:p>
        </p:txBody>
      </p:sp>
      <p:sp>
        <p:nvSpPr>
          <p:cNvPr id="2373" name="Google Shape;2373;p71"/>
          <p:cNvSpPr/>
          <p:nvPr/>
        </p:nvSpPr>
        <p:spPr>
          <a:xfrm>
            <a:off x="566925" y="3931925"/>
            <a:ext cx="5669400" cy="1968300"/>
          </a:xfrm>
          <a:prstGeom prst="roundRect">
            <a:avLst>
              <a:gd fmla="val 45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71"/>
          <p:cNvSpPr/>
          <p:nvPr/>
        </p:nvSpPr>
        <p:spPr>
          <a:xfrm>
            <a:off x="841248" y="4059936"/>
            <a:ext cx="4572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50"/>
              <a:buFont typeface="Cambria"/>
              <a:buNone/>
            </a:pPr>
            <a:r>
              <a:rPr b="1" i="0" lang="en-US" sz="1450" u="none" cap="none" strike="noStrike">
                <a:solidFill>
                  <a:srgbClr val="E8833A"/>
                </a:solidFill>
                <a:latin typeface="Cambria"/>
                <a:ea typeface="Cambria"/>
                <a:cs typeface="Cambria"/>
                <a:sym typeface="Cambria"/>
              </a:rPr>
              <a:t>Why identical initialization fails</a:t>
            </a:r>
            <a:endParaRPr b="0" i="0" sz="1450" u="none" cap="none" strike="noStrike">
              <a:solidFill>
                <a:schemeClr val="dk1"/>
              </a:solidFill>
              <a:latin typeface="Calibri"/>
              <a:ea typeface="Calibri"/>
              <a:cs typeface="Calibri"/>
              <a:sym typeface="Calibri"/>
            </a:endParaRPr>
          </a:p>
        </p:txBody>
      </p:sp>
      <p:sp>
        <p:nvSpPr>
          <p:cNvPr id="2375" name="Google Shape;2375;p71"/>
          <p:cNvSpPr/>
          <p:nvPr/>
        </p:nvSpPr>
        <p:spPr>
          <a:xfrm>
            <a:off x="841248" y="4407408"/>
            <a:ext cx="5120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9E3F3"/>
              </a:buClr>
              <a:buSzPts val="1150"/>
              <a:buFont typeface="Calibri"/>
              <a:buNone/>
            </a:pPr>
            <a:r>
              <a:rPr b="0" i="0" lang="en-US" sz="1150" u="none" cap="none" strike="noStrike">
                <a:solidFill>
                  <a:srgbClr val="E9E3F3"/>
                </a:solidFill>
                <a:latin typeface="Calibri"/>
                <a:ea typeface="Calibri"/>
                <a:cs typeface="Calibri"/>
                <a:sym typeface="Calibri"/>
              </a:rPr>
              <a:t>If two units have the same initial parameters, a deterministic learning algorithm applied to a deterministic cost and model will constantly update both of them in exactly the same way — they stay duplicates forever, and the layer's effective width collapses.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9E3F3"/>
              </a:buClr>
              <a:buSzPts val="1150"/>
              <a:buFont typeface="Calibri"/>
              <a:buNone/>
            </a:pPr>
            <a:r>
              <a:rPr b="0" i="0" lang="en-US" sz="1150" u="none" cap="none" strike="noStrike">
                <a:solidFill>
                  <a:srgbClr val="E9E3F3"/>
                </a:solidFill>
                <a:latin typeface="Calibri"/>
                <a:ea typeface="Calibri"/>
                <a:cs typeface="Calibri"/>
                <a:sym typeface="Calibri"/>
              </a:rPr>
              <a:t>Even when the model or training algorithm can use stochasticity to compute different updates for different units (training with dropout, for instance), it is usually best to initialize each unit to compute a different function from all the others.</a:t>
            </a:r>
            <a:endParaRPr b="0" i="0" sz="1150" u="none" cap="none" strike="noStrike">
              <a:solidFill>
                <a:schemeClr val="dk1"/>
              </a:solidFill>
              <a:latin typeface="Calibri"/>
              <a:ea typeface="Calibri"/>
              <a:cs typeface="Calibri"/>
              <a:sym typeface="Calibri"/>
            </a:endParaRPr>
          </a:p>
        </p:txBody>
      </p:sp>
      <p:sp>
        <p:nvSpPr>
          <p:cNvPr id="2376" name="Google Shape;2376;p71"/>
          <p:cNvSpPr/>
          <p:nvPr/>
        </p:nvSpPr>
        <p:spPr>
          <a:xfrm>
            <a:off x="6492240" y="1371600"/>
            <a:ext cx="5138928" cy="210312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71"/>
          <p:cNvSpPr/>
          <p:nvPr/>
        </p:nvSpPr>
        <p:spPr>
          <a:xfrm>
            <a:off x="6748272" y="1609344"/>
            <a:ext cx="420624" cy="420624"/>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71"/>
          <p:cNvSpPr/>
          <p:nvPr/>
        </p:nvSpPr>
        <p:spPr>
          <a:xfrm>
            <a:off x="6748272" y="1609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379" name="Google Shape;2379;p71"/>
          <p:cNvSpPr/>
          <p:nvPr/>
        </p:nvSpPr>
        <p:spPr>
          <a:xfrm>
            <a:off x="7333488" y="1591056"/>
            <a:ext cx="40965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Initialize randomly</a:t>
            </a:r>
            <a:endParaRPr b="0" i="0" sz="1500" u="none" cap="none" strike="noStrike">
              <a:solidFill>
                <a:schemeClr val="dk1"/>
              </a:solidFill>
              <a:latin typeface="Calibri"/>
              <a:ea typeface="Calibri"/>
              <a:cs typeface="Calibri"/>
              <a:sym typeface="Calibri"/>
            </a:endParaRPr>
          </a:p>
        </p:txBody>
      </p:sp>
      <p:sp>
        <p:nvSpPr>
          <p:cNvPr id="2380" name="Google Shape;2380;p71"/>
          <p:cNvSpPr/>
          <p:nvPr/>
        </p:nvSpPr>
        <p:spPr>
          <a:xfrm>
            <a:off x="6766560" y="2157984"/>
            <a:ext cx="4590288" cy="11338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goal of having each unit compute a different function motivates random initialization. We could explicitly search for a large set of mutually different basis functions, but that incurs a noticeable computational cost.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Typically we set the biases to heuristically chosen constants and initialize only the weights randomly.</a:t>
            </a:r>
            <a:endParaRPr b="0" i="0" sz="1150" u="none" cap="none" strike="noStrike">
              <a:solidFill>
                <a:schemeClr val="dk1"/>
              </a:solidFill>
              <a:latin typeface="Calibri"/>
              <a:ea typeface="Calibri"/>
              <a:cs typeface="Calibri"/>
              <a:sym typeface="Calibri"/>
            </a:endParaRPr>
          </a:p>
        </p:txBody>
      </p:sp>
      <p:sp>
        <p:nvSpPr>
          <p:cNvPr id="2381" name="Google Shape;2381;p71"/>
          <p:cNvSpPr/>
          <p:nvPr/>
        </p:nvSpPr>
        <p:spPr>
          <a:xfrm>
            <a:off x="6492250" y="3657600"/>
            <a:ext cx="5139000" cy="224250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71"/>
          <p:cNvSpPr/>
          <p:nvPr/>
        </p:nvSpPr>
        <p:spPr>
          <a:xfrm>
            <a:off x="6748272" y="3895344"/>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71"/>
          <p:cNvSpPr/>
          <p:nvPr/>
        </p:nvSpPr>
        <p:spPr>
          <a:xfrm>
            <a:off x="6748272" y="38953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384" name="Google Shape;2384;p71"/>
          <p:cNvSpPr/>
          <p:nvPr/>
        </p:nvSpPr>
        <p:spPr>
          <a:xfrm>
            <a:off x="7333488" y="3877056"/>
            <a:ext cx="40965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scale matters more than the shape</a:t>
            </a:r>
            <a:endParaRPr b="0" i="0" sz="1500" u="none" cap="none" strike="noStrike">
              <a:solidFill>
                <a:schemeClr val="dk1"/>
              </a:solidFill>
              <a:latin typeface="Calibri"/>
              <a:ea typeface="Calibri"/>
              <a:cs typeface="Calibri"/>
              <a:sym typeface="Calibri"/>
            </a:endParaRPr>
          </a:p>
        </p:txBody>
      </p:sp>
      <p:sp>
        <p:nvSpPr>
          <p:cNvPr id="2385" name="Google Shape;2385;p71"/>
          <p:cNvSpPr/>
          <p:nvPr/>
        </p:nvSpPr>
        <p:spPr>
          <a:xfrm>
            <a:off x="6766560" y="4443984"/>
            <a:ext cx="4590288" cy="11338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We almost always draw weights from a Gaussian or uniform distribution. The choice between them does not seem to matter much and has not been exhaustively studied.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The scale of the initial distribution, however, has a large effect on both the outcome of optimization and the network's ability to generalize: weights must be large enough to propagate information successfully, and larger initial weights break symmetry more strongly, helping avoid redundant units.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0" name="Shape 2390"/>
        <p:cNvGrpSpPr/>
        <p:nvPr/>
      </p:nvGrpSpPr>
      <p:grpSpPr>
        <a:xfrm>
          <a:off x="0" y="0"/>
          <a:ext cx="0" cy="0"/>
          <a:chOff x="0" y="0"/>
          <a:chExt cx="0" cy="0"/>
        </a:xfrm>
      </p:grpSpPr>
      <p:sp>
        <p:nvSpPr>
          <p:cNvPr id="2391" name="Google Shape;2391;p72"/>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INITIALIZATION</a:t>
            </a:r>
            <a:endParaRPr b="0" i="0" sz="1050" u="none" cap="none" strike="noStrike">
              <a:solidFill>
                <a:schemeClr val="dk1"/>
              </a:solidFill>
              <a:latin typeface="Calibri"/>
              <a:ea typeface="Calibri"/>
              <a:cs typeface="Calibri"/>
              <a:sym typeface="Calibri"/>
            </a:endParaRPr>
          </a:p>
        </p:txBody>
      </p:sp>
      <p:sp>
        <p:nvSpPr>
          <p:cNvPr id="2392" name="Google Shape;2392;p72"/>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Two standard initialization schemes</a:t>
            </a:r>
            <a:endParaRPr b="0" i="0" sz="2800" u="none" cap="none" strike="noStrike">
              <a:solidFill>
                <a:schemeClr val="dk1"/>
              </a:solidFill>
              <a:latin typeface="Calibri"/>
              <a:ea typeface="Calibri"/>
              <a:cs typeface="Calibri"/>
              <a:sym typeface="Calibri"/>
            </a:endParaRPr>
          </a:p>
        </p:txBody>
      </p:sp>
      <p:sp>
        <p:nvSpPr>
          <p:cNvPr id="2393" name="Google Shape;2393;p72"/>
          <p:cNvSpPr/>
          <p:nvPr/>
        </p:nvSpPr>
        <p:spPr>
          <a:xfrm>
            <a:off x="566928" y="1261872"/>
            <a:ext cx="11057839"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6880"/>
              </a:buClr>
              <a:buSzPts val="1350"/>
              <a:buFont typeface="Calibri"/>
              <a:buNone/>
            </a:pPr>
            <a:r>
              <a:rPr b="0" i="0" lang="en-US" sz="1350" u="none" cap="none" strike="noStrike">
                <a:solidFill>
                  <a:srgbClr val="6E6880"/>
                </a:solidFill>
                <a:latin typeface="Calibri"/>
                <a:ea typeface="Calibri"/>
                <a:cs typeface="Calibri"/>
                <a:sym typeface="Calibri"/>
              </a:rPr>
              <a:t>Some heuristics are available for choosing the initial scale. The key idea: draw from a distribution on [−1, 1] and then scale by 1/√m, so that the variance of a unit's output does not blow up or die out as m inputs are summed.</a:t>
            </a:r>
            <a:endParaRPr b="0" i="0" sz="1350" u="none" cap="none" strike="noStrike">
              <a:solidFill>
                <a:schemeClr val="dk1"/>
              </a:solidFill>
              <a:latin typeface="Calibri"/>
              <a:ea typeface="Calibri"/>
              <a:cs typeface="Calibri"/>
              <a:sym typeface="Calibri"/>
            </a:endParaRPr>
          </a:p>
        </p:txBody>
      </p:sp>
      <p:sp>
        <p:nvSpPr>
          <p:cNvPr id="2394" name="Google Shape;2394;p72"/>
          <p:cNvSpPr/>
          <p:nvPr/>
        </p:nvSpPr>
        <p:spPr>
          <a:xfrm>
            <a:off x="566928" y="1920240"/>
            <a:ext cx="5577840" cy="3063240"/>
          </a:xfrm>
          <a:prstGeom prst="roundRect">
            <a:avLst>
              <a:gd fmla="val 2687"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72"/>
          <p:cNvSpPr/>
          <p:nvPr/>
        </p:nvSpPr>
        <p:spPr>
          <a:xfrm>
            <a:off x="859536" y="2148840"/>
            <a:ext cx="457200" cy="457200"/>
          </a:xfrm>
          <a:prstGeom prst="ellipse">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72"/>
          <p:cNvSpPr/>
          <p:nvPr/>
        </p:nvSpPr>
        <p:spPr>
          <a:xfrm>
            <a:off x="859536" y="2148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X</a:t>
            </a:r>
            <a:endParaRPr b="0" i="0" sz="1400" u="none" cap="none" strike="noStrike">
              <a:solidFill>
                <a:schemeClr val="dk1"/>
              </a:solidFill>
              <a:latin typeface="Calibri"/>
              <a:ea typeface="Calibri"/>
              <a:cs typeface="Calibri"/>
              <a:sym typeface="Calibri"/>
            </a:endParaRPr>
          </a:p>
        </p:txBody>
      </p:sp>
      <p:sp>
        <p:nvSpPr>
          <p:cNvPr id="2397" name="Google Shape;2397;p72"/>
          <p:cNvSpPr/>
          <p:nvPr/>
        </p:nvSpPr>
        <p:spPr>
          <a:xfrm>
            <a:off x="1463040" y="2130552"/>
            <a:ext cx="4480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Xavier initialization</a:t>
            </a:r>
            <a:endParaRPr b="0" i="0" sz="1550" u="none" cap="none" strike="noStrike">
              <a:solidFill>
                <a:schemeClr val="dk1"/>
              </a:solidFill>
              <a:latin typeface="Calibri"/>
              <a:ea typeface="Calibri"/>
              <a:cs typeface="Calibri"/>
              <a:sym typeface="Calibri"/>
            </a:endParaRPr>
          </a:p>
        </p:txBody>
      </p:sp>
      <p:sp>
        <p:nvSpPr>
          <p:cNvPr id="2398" name="Google Shape;2398;p72"/>
          <p:cNvSpPr/>
          <p:nvPr/>
        </p:nvSpPr>
        <p:spPr>
          <a:xfrm>
            <a:off x="859536" y="2670048"/>
            <a:ext cx="502920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Glorot &amp; Bengio (2010). Derived by considering the linear case: for a fully connected layer with m inputs and n outputs, sample each weight from</a:t>
            </a:r>
            <a:endParaRPr b="0" i="0" sz="1200" u="none" cap="none" strike="noStrike">
              <a:solidFill>
                <a:schemeClr val="dk1"/>
              </a:solidFill>
              <a:latin typeface="Calibri"/>
              <a:ea typeface="Calibri"/>
              <a:cs typeface="Calibri"/>
              <a:sym typeface="Calibri"/>
            </a:endParaRPr>
          </a:p>
        </p:txBody>
      </p:sp>
      <p:sp>
        <p:nvSpPr>
          <p:cNvPr id="2399" name="Google Shape;2399;p72"/>
          <p:cNvSpPr/>
          <p:nvPr/>
        </p:nvSpPr>
        <p:spPr>
          <a:xfrm>
            <a:off x="859536" y="3291840"/>
            <a:ext cx="5029200" cy="658368"/>
          </a:xfrm>
          <a:prstGeom prst="roundRect">
            <a:avLst>
              <a:gd fmla="val 125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72"/>
          <p:cNvSpPr/>
          <p:nvPr/>
        </p:nvSpPr>
        <p:spPr>
          <a:xfrm>
            <a:off x="996696" y="3291840"/>
            <a:ext cx="47548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Wᵢ,ⱼ ~ U ( −√(6/(m+n)) ,  √(6/(m+n)) )</a:t>
            </a:r>
            <a:endParaRPr b="0" i="0" sz="1400" u="none" cap="none" strike="noStrike">
              <a:solidFill>
                <a:schemeClr val="dk1"/>
              </a:solidFill>
              <a:latin typeface="Calibri"/>
              <a:ea typeface="Calibri"/>
              <a:cs typeface="Calibri"/>
              <a:sym typeface="Calibri"/>
            </a:endParaRPr>
          </a:p>
        </p:txBody>
      </p:sp>
      <p:sp>
        <p:nvSpPr>
          <p:cNvPr id="2401" name="Google Shape;2401;p72"/>
          <p:cNvSpPr/>
          <p:nvPr/>
        </p:nvSpPr>
        <p:spPr>
          <a:xfrm>
            <a:off x="859536" y="402336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200"/>
              <a:buFont typeface="Calibri"/>
              <a:buNone/>
            </a:pPr>
            <a:r>
              <a:rPr b="0" i="0" lang="en-US" sz="1200" u="none" cap="none" strike="noStrike">
                <a:solidFill>
                  <a:srgbClr val="6E6880"/>
                </a:solidFill>
                <a:latin typeface="Calibri"/>
                <a:ea typeface="Calibri"/>
                <a:cs typeface="Calibri"/>
                <a:sym typeface="Calibri"/>
              </a:rPr>
              <a:t>Gaussian form:</a:t>
            </a:r>
            <a:endParaRPr b="0" i="0" sz="1200" u="none" cap="none" strike="noStrike">
              <a:solidFill>
                <a:schemeClr val="dk1"/>
              </a:solidFill>
              <a:latin typeface="Calibri"/>
              <a:ea typeface="Calibri"/>
              <a:cs typeface="Calibri"/>
              <a:sym typeface="Calibri"/>
            </a:endParaRPr>
          </a:p>
        </p:txBody>
      </p:sp>
      <p:sp>
        <p:nvSpPr>
          <p:cNvPr id="2402" name="Google Shape;2402;p72"/>
          <p:cNvSpPr/>
          <p:nvPr/>
        </p:nvSpPr>
        <p:spPr>
          <a:xfrm>
            <a:off x="859536" y="4297680"/>
            <a:ext cx="5029200" cy="566928"/>
          </a:xfrm>
          <a:prstGeom prst="roundRect">
            <a:avLst>
              <a:gd fmla="val 145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72"/>
          <p:cNvSpPr/>
          <p:nvPr/>
        </p:nvSpPr>
        <p:spPr>
          <a:xfrm>
            <a:off x="996696" y="4297680"/>
            <a:ext cx="475488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500"/>
              <a:buFont typeface="Calibri"/>
              <a:buNone/>
            </a:pPr>
            <a:r>
              <a:rPr b="1" i="0" lang="en-US" sz="1500" u="none" cap="none" strike="noStrike">
                <a:solidFill>
                  <a:srgbClr val="2D1B4E"/>
                </a:solidFill>
                <a:latin typeface="Calibri"/>
                <a:ea typeface="Calibri"/>
                <a:cs typeface="Calibri"/>
                <a:sym typeface="Calibri"/>
              </a:rPr>
              <a:t>Wᵢ,ⱼ ~ N ( 0 , 1/m )</a:t>
            </a:r>
            <a:endParaRPr b="0" i="0" sz="1500" u="none" cap="none" strike="noStrike">
              <a:solidFill>
                <a:schemeClr val="dk1"/>
              </a:solidFill>
              <a:latin typeface="Calibri"/>
              <a:ea typeface="Calibri"/>
              <a:cs typeface="Calibri"/>
              <a:sym typeface="Calibri"/>
            </a:endParaRPr>
          </a:p>
        </p:txBody>
      </p:sp>
      <p:sp>
        <p:nvSpPr>
          <p:cNvPr id="2404" name="Google Shape;2404;p72"/>
          <p:cNvSpPr/>
          <p:nvPr/>
        </p:nvSpPr>
        <p:spPr>
          <a:xfrm>
            <a:off x="6309360" y="1920240"/>
            <a:ext cx="5321808" cy="3063240"/>
          </a:xfrm>
          <a:prstGeom prst="roundRect">
            <a:avLst>
              <a:gd fmla="val 2687" name="adj"/>
            </a:avLst>
          </a:prstGeom>
          <a:solidFill>
            <a:srgbClr val="F9E3CF"/>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72"/>
          <p:cNvSpPr/>
          <p:nvPr/>
        </p:nvSpPr>
        <p:spPr>
          <a:xfrm>
            <a:off x="6601968" y="2148840"/>
            <a:ext cx="457200" cy="457200"/>
          </a:xfrm>
          <a:prstGeom prst="ellipse">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72"/>
          <p:cNvSpPr/>
          <p:nvPr/>
        </p:nvSpPr>
        <p:spPr>
          <a:xfrm>
            <a:off x="6601968" y="214884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H</a:t>
            </a:r>
            <a:endParaRPr b="0" i="0" sz="1400" u="none" cap="none" strike="noStrike">
              <a:solidFill>
                <a:schemeClr val="dk1"/>
              </a:solidFill>
              <a:latin typeface="Calibri"/>
              <a:ea typeface="Calibri"/>
              <a:cs typeface="Calibri"/>
              <a:sym typeface="Calibri"/>
            </a:endParaRPr>
          </a:p>
        </p:txBody>
      </p:sp>
      <p:sp>
        <p:nvSpPr>
          <p:cNvPr id="2407" name="Google Shape;2407;p72"/>
          <p:cNvSpPr/>
          <p:nvPr/>
        </p:nvSpPr>
        <p:spPr>
          <a:xfrm>
            <a:off x="7205472" y="2130552"/>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50"/>
              <a:buFont typeface="Cambria"/>
              <a:buNone/>
            </a:pPr>
            <a:r>
              <a:rPr b="1" i="0" lang="en-US" sz="1550" u="none" cap="none" strike="noStrike">
                <a:solidFill>
                  <a:srgbClr val="2D1B4E"/>
                </a:solidFill>
                <a:latin typeface="Cambria"/>
                <a:ea typeface="Cambria"/>
                <a:cs typeface="Cambria"/>
                <a:sym typeface="Cambria"/>
              </a:rPr>
              <a:t>He (Kaiming) initialization</a:t>
            </a:r>
            <a:endParaRPr b="0" i="0" sz="1550" u="none" cap="none" strike="noStrike">
              <a:solidFill>
                <a:schemeClr val="dk1"/>
              </a:solidFill>
              <a:latin typeface="Calibri"/>
              <a:ea typeface="Calibri"/>
              <a:cs typeface="Calibri"/>
              <a:sym typeface="Calibri"/>
            </a:endParaRPr>
          </a:p>
        </p:txBody>
      </p:sp>
      <p:sp>
        <p:nvSpPr>
          <p:cNvPr id="2408" name="Google Shape;2408;p72"/>
          <p:cNvSpPr/>
          <p:nvPr/>
        </p:nvSpPr>
        <p:spPr>
          <a:xfrm>
            <a:off x="6601968" y="2670048"/>
            <a:ext cx="47548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200"/>
              <a:buFont typeface="Calibri"/>
              <a:buNone/>
            </a:pPr>
            <a:r>
              <a:rPr b="0" i="0" lang="en-US" sz="1200" u="none" cap="none" strike="noStrike">
                <a:solidFill>
                  <a:srgbClr val="241C2E"/>
                </a:solidFill>
                <a:latin typeface="Calibri"/>
                <a:ea typeface="Calibri"/>
                <a:cs typeface="Calibri"/>
                <a:sym typeface="Calibri"/>
              </a:rPr>
              <a:t>The initialization strategy for the ReLU activation function and its variants. A zero-centred Gaussian with standard deviation √(2/m):</a:t>
            </a:r>
            <a:endParaRPr b="0" i="0" sz="1200" u="none" cap="none" strike="noStrike">
              <a:solidFill>
                <a:schemeClr val="dk1"/>
              </a:solidFill>
              <a:latin typeface="Calibri"/>
              <a:ea typeface="Calibri"/>
              <a:cs typeface="Calibri"/>
              <a:sym typeface="Calibri"/>
            </a:endParaRPr>
          </a:p>
        </p:txBody>
      </p:sp>
      <p:sp>
        <p:nvSpPr>
          <p:cNvPr id="2409" name="Google Shape;2409;p72"/>
          <p:cNvSpPr/>
          <p:nvPr/>
        </p:nvSpPr>
        <p:spPr>
          <a:xfrm>
            <a:off x="6601968" y="3291840"/>
            <a:ext cx="4754880" cy="658368"/>
          </a:xfrm>
          <a:prstGeom prst="roundRect">
            <a:avLst>
              <a:gd fmla="val 125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72"/>
          <p:cNvSpPr/>
          <p:nvPr/>
        </p:nvSpPr>
        <p:spPr>
          <a:xfrm>
            <a:off x="6739128" y="3291840"/>
            <a:ext cx="448056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600"/>
              <a:buFont typeface="Calibri"/>
              <a:buNone/>
            </a:pPr>
            <a:r>
              <a:rPr b="1" i="0" lang="en-US" sz="1600" u="none" cap="none" strike="noStrike">
                <a:solidFill>
                  <a:srgbClr val="2D1B4E"/>
                </a:solidFill>
                <a:latin typeface="Calibri"/>
                <a:ea typeface="Calibri"/>
                <a:cs typeface="Calibri"/>
                <a:sym typeface="Calibri"/>
              </a:rPr>
              <a:t>Wᵢ,ⱼ ~ N ( 0 , 2/m )</a:t>
            </a:r>
            <a:endParaRPr b="0" i="0" sz="1600" u="none" cap="none" strike="noStrike">
              <a:solidFill>
                <a:schemeClr val="dk1"/>
              </a:solidFill>
              <a:latin typeface="Calibri"/>
              <a:ea typeface="Calibri"/>
              <a:cs typeface="Calibri"/>
              <a:sym typeface="Calibri"/>
            </a:endParaRPr>
          </a:p>
        </p:txBody>
      </p:sp>
      <p:sp>
        <p:nvSpPr>
          <p:cNvPr id="2411" name="Google Shape;2411;p72"/>
          <p:cNvSpPr/>
          <p:nvPr/>
        </p:nvSpPr>
        <p:spPr>
          <a:xfrm>
            <a:off x="6601968" y="4069080"/>
            <a:ext cx="47548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1" lang="en-US" sz="1150" u="none" cap="none" strike="noStrike">
                <a:solidFill>
                  <a:srgbClr val="241C2E"/>
                </a:solidFill>
                <a:latin typeface="Calibri"/>
                <a:ea typeface="Calibri"/>
                <a:cs typeface="Calibri"/>
                <a:sym typeface="Calibri"/>
              </a:rPr>
              <a:t>The factor of 2 compensates for the fact that a ReLU zeroes out roughly half its inputs, which would otherwise halve the variance at every layer.</a:t>
            </a:r>
            <a:endParaRPr b="0" i="0" sz="1150" u="none" cap="none" strike="noStrike">
              <a:solidFill>
                <a:schemeClr val="dk1"/>
              </a:solidFill>
              <a:latin typeface="Calibri"/>
              <a:ea typeface="Calibri"/>
              <a:cs typeface="Calibri"/>
              <a:sym typeface="Calibri"/>
            </a:endParaRPr>
          </a:p>
        </p:txBody>
      </p:sp>
      <p:sp>
        <p:nvSpPr>
          <p:cNvPr id="2412" name="Google Shape;2412;p72"/>
          <p:cNvSpPr/>
          <p:nvPr/>
        </p:nvSpPr>
        <p:spPr>
          <a:xfrm>
            <a:off x="566928" y="5120640"/>
            <a:ext cx="11057839" cy="658368"/>
          </a:xfrm>
          <a:prstGeom prst="roundRect">
            <a:avLst>
              <a:gd fmla="val 125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72"/>
          <p:cNvSpPr/>
          <p:nvPr/>
        </p:nvSpPr>
        <p:spPr>
          <a:xfrm>
            <a:off x="886968" y="5120640"/>
            <a:ext cx="10417759"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250"/>
              <a:buFont typeface="Calibri"/>
              <a:buNone/>
            </a:pPr>
            <a:r>
              <a:rPr b="1" i="0" lang="en-US" sz="1250" u="none" cap="none" strike="noStrike">
                <a:solidFill>
                  <a:srgbClr val="E8833A"/>
                </a:solidFill>
                <a:latin typeface="Calibri"/>
                <a:ea typeface="Calibri"/>
                <a:cs typeface="Calibri"/>
                <a:sym typeface="Calibri"/>
              </a:rPr>
              <a:t>Rule of thumb: He initialization with ReLU hidden units, Xavier with tanh or sigmoid. Both are one-line calls in every modern framework.</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8" name="Shape 2418"/>
        <p:cNvGrpSpPr/>
        <p:nvPr/>
      </p:nvGrpSpPr>
      <p:grpSpPr>
        <a:xfrm>
          <a:off x="0" y="0"/>
          <a:ext cx="0" cy="0"/>
          <a:chOff x="0" y="0"/>
          <a:chExt cx="0" cy="0"/>
        </a:xfrm>
      </p:grpSpPr>
      <p:sp>
        <p:nvSpPr>
          <p:cNvPr id="2419" name="Google Shape;2419;p73"/>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ADAPTIVE LEARNING RATES</a:t>
            </a:r>
            <a:endParaRPr b="0" i="0" sz="1050" u="none" cap="none" strike="noStrike">
              <a:solidFill>
                <a:schemeClr val="dk1"/>
              </a:solidFill>
              <a:latin typeface="Calibri"/>
              <a:ea typeface="Calibri"/>
              <a:cs typeface="Calibri"/>
              <a:sym typeface="Calibri"/>
            </a:endParaRPr>
          </a:p>
        </p:txBody>
      </p:sp>
      <p:sp>
        <p:nvSpPr>
          <p:cNvPr id="2420" name="Google Shape;2420;p73"/>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Why one learning rate for everything is wrong</a:t>
            </a:r>
            <a:endParaRPr b="0" i="0" sz="2800" u="none" cap="none" strike="noStrike">
              <a:solidFill>
                <a:schemeClr val="dk1"/>
              </a:solidFill>
              <a:latin typeface="Calibri"/>
              <a:ea typeface="Calibri"/>
              <a:cs typeface="Calibri"/>
              <a:sym typeface="Calibri"/>
            </a:endParaRPr>
          </a:p>
        </p:txBody>
      </p:sp>
      <p:sp>
        <p:nvSpPr>
          <p:cNvPr id="2421" name="Google Shape;2421;p73"/>
          <p:cNvSpPr/>
          <p:nvPr/>
        </p:nvSpPr>
        <p:spPr>
          <a:xfrm>
            <a:off x="566928" y="1371600"/>
            <a:ext cx="5669280" cy="3657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Every technique so far uses the same learning rate for all parameters.</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That is fine when the loss surface is roughly spherical (case a): one step size suits every direction.</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50"/>
              <a:buFont typeface="Calibri"/>
              <a:buChar char="•"/>
            </a:pPr>
            <a:r>
              <a:rPr b="1" i="0" lang="en-US" sz="1350" u="none" cap="none" strike="noStrike">
                <a:solidFill>
                  <a:srgbClr val="C4661F"/>
                </a:solidFill>
                <a:latin typeface="Calibri"/>
                <a:ea typeface="Calibri"/>
                <a:cs typeface="Calibri"/>
                <a:sym typeface="Calibri"/>
              </a:rPr>
              <a:t>But when the surface is elongated (case b), the same step that is sensible along θ₁ is far too large along θ₂ — so we oscillate across the narrow valley while creeping along the flat one.</a:t>
            </a:r>
            <a:endParaRPr b="0" i="0" sz="135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50"/>
              <a:buFont typeface="Calibri"/>
              <a:buChar char="•"/>
            </a:pPr>
            <a:r>
              <a:rPr b="0" i="0" lang="en-US" sz="1350" u="none" cap="none" strike="noStrike">
                <a:solidFill>
                  <a:srgbClr val="241C2E"/>
                </a:solidFill>
                <a:latin typeface="Calibri"/>
                <a:ea typeface="Calibri"/>
                <a:cs typeface="Calibri"/>
                <a:sym typeface="Calibri"/>
              </a:rPr>
              <a:t>We would like a large step in the gently sloped directions and a small step in the steep ones — without having to know in advance which is which.</a:t>
            </a:r>
            <a:endParaRPr b="0" i="0" sz="135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The adaptive learning-rate family does exactly this: it gives every parameter its own step size, derived from the gradients it has seen so far.</a:t>
            </a:r>
            <a:endParaRPr b="0" i="0" sz="1350" u="none" cap="none" strike="noStrike">
              <a:solidFill>
                <a:schemeClr val="dk1"/>
              </a:solidFill>
              <a:latin typeface="Calibri"/>
              <a:ea typeface="Calibri"/>
              <a:cs typeface="Calibri"/>
              <a:sym typeface="Calibri"/>
            </a:endParaRPr>
          </a:p>
        </p:txBody>
      </p:sp>
      <p:sp>
        <p:nvSpPr>
          <p:cNvPr id="2422" name="Google Shape;2422;p73"/>
          <p:cNvSpPr/>
          <p:nvPr/>
        </p:nvSpPr>
        <p:spPr>
          <a:xfrm>
            <a:off x="6492240" y="1371600"/>
            <a:ext cx="5138928" cy="210312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73"/>
          <p:cNvSpPr/>
          <p:nvPr/>
        </p:nvSpPr>
        <p:spPr>
          <a:xfrm>
            <a:off x="6720840" y="1481328"/>
            <a:ext cx="365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5B95"/>
              </a:buClr>
              <a:buSzPts val="1500"/>
              <a:buFont typeface="Cambria"/>
              <a:buNone/>
            </a:pPr>
            <a:r>
              <a:rPr b="1" i="0" lang="en-US" sz="1500" u="none" cap="none" strike="noStrike">
                <a:solidFill>
                  <a:srgbClr val="6B5B95"/>
                </a:solidFill>
                <a:latin typeface="Cambria"/>
                <a:ea typeface="Cambria"/>
                <a:cs typeface="Cambria"/>
                <a:sym typeface="Cambria"/>
              </a:rPr>
              <a:t>a</a:t>
            </a:r>
            <a:endParaRPr b="0" i="0" sz="1500" u="none" cap="none" strike="noStrike">
              <a:solidFill>
                <a:schemeClr val="dk1"/>
              </a:solidFill>
              <a:latin typeface="Calibri"/>
              <a:ea typeface="Calibri"/>
              <a:cs typeface="Calibri"/>
              <a:sym typeface="Calibri"/>
            </a:endParaRPr>
          </a:p>
        </p:txBody>
      </p:sp>
      <p:sp>
        <p:nvSpPr>
          <p:cNvPr id="2424" name="Google Shape;2424;p73"/>
          <p:cNvSpPr/>
          <p:nvPr/>
        </p:nvSpPr>
        <p:spPr>
          <a:xfrm>
            <a:off x="7555230" y="2114550"/>
            <a:ext cx="525780" cy="52578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73"/>
          <p:cNvSpPr/>
          <p:nvPr/>
        </p:nvSpPr>
        <p:spPr>
          <a:xfrm>
            <a:off x="7292340" y="1851660"/>
            <a:ext cx="1051560" cy="105156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73"/>
          <p:cNvSpPr/>
          <p:nvPr/>
        </p:nvSpPr>
        <p:spPr>
          <a:xfrm>
            <a:off x="7029450" y="1588770"/>
            <a:ext cx="1577340" cy="157734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73"/>
          <p:cNvSpPr/>
          <p:nvPr/>
        </p:nvSpPr>
        <p:spPr>
          <a:xfrm>
            <a:off x="6766560" y="1325880"/>
            <a:ext cx="2103120" cy="210312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73"/>
          <p:cNvSpPr/>
          <p:nvPr/>
        </p:nvSpPr>
        <p:spPr>
          <a:xfrm>
            <a:off x="7763256" y="2322576"/>
            <a:ext cx="109728" cy="109728"/>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29" name="Google Shape;2429;p73"/>
          <p:cNvCxnSpPr/>
          <p:nvPr/>
        </p:nvCxnSpPr>
        <p:spPr>
          <a:xfrm>
            <a:off x="6766560" y="1691640"/>
            <a:ext cx="548640" cy="365760"/>
          </a:xfrm>
          <a:prstGeom prst="straightConnector1">
            <a:avLst/>
          </a:prstGeom>
          <a:noFill/>
          <a:ln cap="flat" cmpd="sng" w="19050">
            <a:solidFill>
              <a:srgbClr val="6B5B95"/>
            </a:solidFill>
            <a:prstDash val="solid"/>
            <a:round/>
            <a:headEnd len="sm" w="sm" type="none"/>
            <a:tailEnd len="sm" w="sm" type="none"/>
          </a:ln>
        </p:spPr>
      </p:cxnSp>
      <p:cxnSp>
        <p:nvCxnSpPr>
          <p:cNvPr id="2430" name="Google Shape;2430;p73"/>
          <p:cNvCxnSpPr/>
          <p:nvPr/>
        </p:nvCxnSpPr>
        <p:spPr>
          <a:xfrm>
            <a:off x="7315200" y="2057400"/>
            <a:ext cx="320040" cy="210312"/>
          </a:xfrm>
          <a:prstGeom prst="straightConnector1">
            <a:avLst/>
          </a:prstGeom>
          <a:noFill/>
          <a:ln cap="flat" cmpd="sng" w="19050">
            <a:solidFill>
              <a:srgbClr val="6B5B95"/>
            </a:solidFill>
            <a:prstDash val="solid"/>
            <a:round/>
            <a:headEnd len="sm" w="sm" type="none"/>
            <a:tailEnd len="sm" w="sm" type="none"/>
          </a:ln>
        </p:spPr>
      </p:cxnSp>
      <p:cxnSp>
        <p:nvCxnSpPr>
          <p:cNvPr id="2431" name="Google Shape;2431;p73"/>
          <p:cNvCxnSpPr/>
          <p:nvPr/>
        </p:nvCxnSpPr>
        <p:spPr>
          <a:xfrm>
            <a:off x="7635240" y="2267712"/>
            <a:ext cx="118872" cy="91440"/>
          </a:xfrm>
          <a:prstGeom prst="straightConnector1">
            <a:avLst/>
          </a:prstGeom>
          <a:noFill/>
          <a:ln cap="flat" cmpd="sng" w="19050">
            <a:solidFill>
              <a:srgbClr val="6B5B95"/>
            </a:solidFill>
            <a:prstDash val="solid"/>
            <a:round/>
            <a:headEnd len="sm" w="sm" type="none"/>
            <a:tailEnd len="med" w="med" type="triangle"/>
          </a:ln>
        </p:spPr>
      </p:cxnSp>
      <p:sp>
        <p:nvSpPr>
          <p:cNvPr id="2432" name="Google Shape;2432;p73"/>
          <p:cNvSpPr/>
          <p:nvPr/>
        </p:nvSpPr>
        <p:spPr>
          <a:xfrm>
            <a:off x="9006840" y="2249424"/>
            <a:ext cx="3200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00"/>
              <a:buFont typeface="Calibri"/>
              <a:buNone/>
            </a:pPr>
            <a:r>
              <a:rPr b="0" i="0" lang="en-US" sz="1000" u="none" cap="none" strike="noStrike">
                <a:solidFill>
                  <a:srgbClr val="6E6880"/>
                </a:solidFill>
                <a:latin typeface="Calibri"/>
                <a:ea typeface="Calibri"/>
                <a:cs typeface="Calibri"/>
                <a:sym typeface="Calibri"/>
              </a:rPr>
              <a:t>θ₁</a:t>
            </a:r>
            <a:endParaRPr b="0" i="0" sz="1000" u="none" cap="none" strike="noStrike">
              <a:solidFill>
                <a:schemeClr val="dk1"/>
              </a:solidFill>
              <a:latin typeface="Calibri"/>
              <a:ea typeface="Calibri"/>
              <a:cs typeface="Calibri"/>
              <a:sym typeface="Calibri"/>
            </a:endParaRPr>
          </a:p>
        </p:txBody>
      </p:sp>
      <p:sp>
        <p:nvSpPr>
          <p:cNvPr id="2433" name="Google Shape;2433;p73"/>
          <p:cNvSpPr/>
          <p:nvPr/>
        </p:nvSpPr>
        <p:spPr>
          <a:xfrm>
            <a:off x="7635240" y="960120"/>
            <a:ext cx="365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00"/>
              <a:buFont typeface="Calibri"/>
              <a:buNone/>
            </a:pPr>
            <a:r>
              <a:rPr b="0" i="0" lang="en-US" sz="1000" u="none" cap="none" strike="noStrike">
                <a:solidFill>
                  <a:srgbClr val="6E6880"/>
                </a:solidFill>
                <a:latin typeface="Calibri"/>
                <a:ea typeface="Calibri"/>
                <a:cs typeface="Calibri"/>
                <a:sym typeface="Calibri"/>
              </a:rPr>
              <a:t>θ₂</a:t>
            </a:r>
            <a:endParaRPr b="0" i="0" sz="1000" u="none" cap="none" strike="noStrike">
              <a:solidFill>
                <a:schemeClr val="dk1"/>
              </a:solidFill>
              <a:latin typeface="Calibri"/>
              <a:ea typeface="Calibri"/>
              <a:cs typeface="Calibri"/>
              <a:sym typeface="Calibri"/>
            </a:endParaRPr>
          </a:p>
        </p:txBody>
      </p:sp>
      <p:sp>
        <p:nvSpPr>
          <p:cNvPr id="2434" name="Google Shape;2434;p73"/>
          <p:cNvSpPr/>
          <p:nvPr/>
        </p:nvSpPr>
        <p:spPr>
          <a:xfrm>
            <a:off x="6720840" y="3154680"/>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well-conditioned: one rate works</a:t>
            </a:r>
            <a:endParaRPr b="0" i="0" sz="1050" u="none" cap="none" strike="noStrike">
              <a:solidFill>
                <a:schemeClr val="dk1"/>
              </a:solidFill>
              <a:latin typeface="Calibri"/>
              <a:ea typeface="Calibri"/>
              <a:cs typeface="Calibri"/>
              <a:sym typeface="Calibri"/>
            </a:endParaRPr>
          </a:p>
        </p:txBody>
      </p:sp>
      <p:sp>
        <p:nvSpPr>
          <p:cNvPr id="2435" name="Google Shape;2435;p73"/>
          <p:cNvSpPr/>
          <p:nvPr/>
        </p:nvSpPr>
        <p:spPr>
          <a:xfrm>
            <a:off x="6492240" y="3611880"/>
            <a:ext cx="5139000" cy="2103000"/>
          </a:xfrm>
          <a:prstGeom prst="roundRect">
            <a:avLst>
              <a:gd fmla="val 3913"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73"/>
          <p:cNvSpPr/>
          <p:nvPr/>
        </p:nvSpPr>
        <p:spPr>
          <a:xfrm>
            <a:off x="7627577" y="3721608"/>
            <a:ext cx="365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500"/>
              <a:buFont typeface="Cambria"/>
              <a:buNone/>
            </a:pPr>
            <a:r>
              <a:rPr b="1" i="0" lang="en-US" sz="1500" u="none" cap="none" strike="noStrike">
                <a:solidFill>
                  <a:srgbClr val="C4661F"/>
                </a:solidFill>
                <a:latin typeface="Cambria"/>
                <a:ea typeface="Cambria"/>
                <a:cs typeface="Cambria"/>
                <a:sym typeface="Cambria"/>
              </a:rPr>
              <a:t>b</a:t>
            </a:r>
            <a:endParaRPr b="0" i="0" sz="1500" u="none" cap="none" strike="noStrike">
              <a:solidFill>
                <a:schemeClr val="dk1"/>
              </a:solidFill>
              <a:latin typeface="Calibri"/>
              <a:ea typeface="Calibri"/>
              <a:cs typeface="Calibri"/>
              <a:sym typeface="Calibri"/>
            </a:endParaRPr>
          </a:p>
        </p:txBody>
      </p:sp>
      <p:sp>
        <p:nvSpPr>
          <p:cNvPr id="2437" name="Google Shape;2437;p73"/>
          <p:cNvSpPr/>
          <p:nvPr/>
        </p:nvSpPr>
        <p:spPr>
          <a:xfrm>
            <a:off x="8199077" y="4491990"/>
            <a:ext cx="1051500" cy="25140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73"/>
          <p:cNvSpPr/>
          <p:nvPr/>
        </p:nvSpPr>
        <p:spPr>
          <a:xfrm>
            <a:off x="7673297" y="4366260"/>
            <a:ext cx="2103000" cy="50280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73"/>
          <p:cNvSpPr/>
          <p:nvPr/>
        </p:nvSpPr>
        <p:spPr>
          <a:xfrm>
            <a:off x="7147517" y="4240530"/>
            <a:ext cx="3154800" cy="75450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73"/>
          <p:cNvSpPr/>
          <p:nvPr/>
        </p:nvSpPr>
        <p:spPr>
          <a:xfrm>
            <a:off x="6621737" y="4114800"/>
            <a:ext cx="4206300" cy="1005900"/>
          </a:xfrm>
          <a:prstGeom prst="ellipse">
            <a:avLst/>
          </a:prstGeom>
          <a:no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73"/>
          <p:cNvSpPr/>
          <p:nvPr/>
        </p:nvSpPr>
        <p:spPr>
          <a:xfrm>
            <a:off x="8669993" y="4562856"/>
            <a:ext cx="109800" cy="109800"/>
          </a:xfrm>
          <a:prstGeom prst="ellipse">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42" name="Google Shape;2442;p73"/>
          <p:cNvCxnSpPr/>
          <p:nvPr/>
        </p:nvCxnSpPr>
        <p:spPr>
          <a:xfrm>
            <a:off x="6713177" y="4206240"/>
            <a:ext cx="411600" cy="731400"/>
          </a:xfrm>
          <a:prstGeom prst="straightConnector1">
            <a:avLst/>
          </a:prstGeom>
          <a:noFill/>
          <a:ln cap="flat" cmpd="sng" w="19050">
            <a:solidFill>
              <a:srgbClr val="C4661F"/>
            </a:solidFill>
            <a:prstDash val="solid"/>
            <a:round/>
            <a:headEnd len="sm" w="sm" type="none"/>
            <a:tailEnd len="sm" w="sm" type="none"/>
          </a:ln>
        </p:spPr>
      </p:cxnSp>
      <p:cxnSp>
        <p:nvCxnSpPr>
          <p:cNvPr id="2443" name="Google Shape;2443;p73"/>
          <p:cNvCxnSpPr/>
          <p:nvPr/>
        </p:nvCxnSpPr>
        <p:spPr>
          <a:xfrm flipH="1" rot="10800000">
            <a:off x="7124657" y="4297560"/>
            <a:ext cx="411600" cy="640200"/>
          </a:xfrm>
          <a:prstGeom prst="straightConnector1">
            <a:avLst/>
          </a:prstGeom>
          <a:noFill/>
          <a:ln cap="flat" cmpd="sng" w="19050">
            <a:solidFill>
              <a:srgbClr val="C4661F"/>
            </a:solidFill>
            <a:prstDash val="solid"/>
            <a:round/>
            <a:headEnd len="sm" w="sm" type="none"/>
            <a:tailEnd len="sm" w="sm" type="none"/>
          </a:ln>
        </p:spPr>
      </p:cxnSp>
      <p:cxnSp>
        <p:nvCxnSpPr>
          <p:cNvPr id="2444" name="Google Shape;2444;p73"/>
          <p:cNvCxnSpPr/>
          <p:nvPr/>
        </p:nvCxnSpPr>
        <p:spPr>
          <a:xfrm>
            <a:off x="7536137" y="4297680"/>
            <a:ext cx="411600" cy="594300"/>
          </a:xfrm>
          <a:prstGeom prst="straightConnector1">
            <a:avLst/>
          </a:prstGeom>
          <a:noFill/>
          <a:ln cap="flat" cmpd="sng" w="19050">
            <a:solidFill>
              <a:srgbClr val="C4661F"/>
            </a:solidFill>
            <a:prstDash val="solid"/>
            <a:round/>
            <a:headEnd len="sm" w="sm" type="none"/>
            <a:tailEnd len="sm" w="sm" type="none"/>
          </a:ln>
        </p:spPr>
      </p:cxnSp>
      <p:cxnSp>
        <p:nvCxnSpPr>
          <p:cNvPr id="2445" name="Google Shape;2445;p73"/>
          <p:cNvCxnSpPr/>
          <p:nvPr/>
        </p:nvCxnSpPr>
        <p:spPr>
          <a:xfrm flipH="1" rot="10800000">
            <a:off x="7947617" y="4434840"/>
            <a:ext cx="365700" cy="457200"/>
          </a:xfrm>
          <a:prstGeom prst="straightConnector1">
            <a:avLst/>
          </a:prstGeom>
          <a:noFill/>
          <a:ln cap="flat" cmpd="sng" w="19050">
            <a:solidFill>
              <a:srgbClr val="C4661F"/>
            </a:solidFill>
            <a:prstDash val="solid"/>
            <a:round/>
            <a:headEnd len="sm" w="sm" type="none"/>
            <a:tailEnd len="sm" w="sm" type="none"/>
          </a:ln>
        </p:spPr>
      </p:cxnSp>
      <p:cxnSp>
        <p:nvCxnSpPr>
          <p:cNvPr id="2446" name="Google Shape;2446;p73"/>
          <p:cNvCxnSpPr/>
          <p:nvPr/>
        </p:nvCxnSpPr>
        <p:spPr>
          <a:xfrm>
            <a:off x="8313377" y="4434840"/>
            <a:ext cx="320100" cy="228600"/>
          </a:xfrm>
          <a:prstGeom prst="straightConnector1">
            <a:avLst/>
          </a:prstGeom>
          <a:noFill/>
          <a:ln cap="flat" cmpd="sng" w="19050">
            <a:solidFill>
              <a:srgbClr val="C4661F"/>
            </a:solidFill>
            <a:prstDash val="solid"/>
            <a:round/>
            <a:headEnd len="sm" w="sm" type="none"/>
            <a:tailEnd len="med" w="med" type="triangle"/>
          </a:ln>
        </p:spPr>
      </p:cxnSp>
      <p:sp>
        <p:nvSpPr>
          <p:cNvPr id="2447" name="Google Shape;2447;p73"/>
          <p:cNvSpPr/>
          <p:nvPr/>
        </p:nvSpPr>
        <p:spPr>
          <a:xfrm>
            <a:off x="10965137" y="4489704"/>
            <a:ext cx="320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00"/>
              <a:buFont typeface="Calibri"/>
              <a:buNone/>
            </a:pPr>
            <a:r>
              <a:rPr b="0" i="0" lang="en-US" sz="1000" u="none" cap="none" strike="noStrike">
                <a:solidFill>
                  <a:srgbClr val="6E6880"/>
                </a:solidFill>
                <a:latin typeface="Calibri"/>
                <a:ea typeface="Calibri"/>
                <a:cs typeface="Calibri"/>
                <a:sym typeface="Calibri"/>
              </a:rPr>
              <a:t>θ₁</a:t>
            </a:r>
            <a:endParaRPr b="0" i="0" sz="1000" u="none" cap="none" strike="noStrike">
              <a:solidFill>
                <a:schemeClr val="dk1"/>
              </a:solidFill>
              <a:latin typeface="Calibri"/>
              <a:ea typeface="Calibri"/>
              <a:cs typeface="Calibri"/>
              <a:sym typeface="Calibri"/>
            </a:endParaRPr>
          </a:p>
        </p:txBody>
      </p:sp>
      <p:sp>
        <p:nvSpPr>
          <p:cNvPr id="2448" name="Google Shape;2448;p73"/>
          <p:cNvSpPr/>
          <p:nvPr/>
        </p:nvSpPr>
        <p:spPr>
          <a:xfrm>
            <a:off x="8541977" y="3749040"/>
            <a:ext cx="365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00"/>
              <a:buFont typeface="Calibri"/>
              <a:buNone/>
            </a:pPr>
            <a:r>
              <a:rPr b="0" i="0" lang="en-US" sz="1000" u="none" cap="none" strike="noStrike">
                <a:solidFill>
                  <a:srgbClr val="6E6880"/>
                </a:solidFill>
                <a:latin typeface="Calibri"/>
                <a:ea typeface="Calibri"/>
                <a:cs typeface="Calibri"/>
                <a:sym typeface="Calibri"/>
              </a:rPr>
              <a:t>θ₂</a:t>
            </a:r>
            <a:endParaRPr b="0" i="0" sz="1000" u="none" cap="none" strike="noStrike">
              <a:solidFill>
                <a:schemeClr val="dk1"/>
              </a:solidFill>
              <a:latin typeface="Calibri"/>
              <a:ea typeface="Calibri"/>
              <a:cs typeface="Calibri"/>
              <a:sym typeface="Calibri"/>
            </a:endParaRPr>
          </a:p>
        </p:txBody>
      </p:sp>
      <p:sp>
        <p:nvSpPr>
          <p:cNvPr id="2449" name="Google Shape;2449;p73"/>
          <p:cNvSpPr/>
          <p:nvPr/>
        </p:nvSpPr>
        <p:spPr>
          <a:xfrm>
            <a:off x="6720840" y="5394960"/>
            <a:ext cx="4663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1" lang="en-US" sz="1050" u="none" cap="none" strike="noStrike">
                <a:solidFill>
                  <a:srgbClr val="6E6880"/>
                </a:solidFill>
                <a:latin typeface="Calibri"/>
                <a:ea typeface="Calibri"/>
                <a:cs typeface="Calibri"/>
                <a:sym typeface="Calibri"/>
              </a:rPr>
              <a:t>ill-conditioned: one rate cannot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4" name="Shape 2454"/>
        <p:cNvGrpSpPr/>
        <p:nvPr/>
      </p:nvGrpSpPr>
      <p:grpSpPr>
        <a:xfrm>
          <a:off x="0" y="0"/>
          <a:ext cx="0" cy="0"/>
          <a:chOff x="0" y="0"/>
          <a:chExt cx="0" cy="0"/>
        </a:xfrm>
      </p:grpSpPr>
      <p:sp>
        <p:nvSpPr>
          <p:cNvPr id="2455" name="Google Shape;2455;p74"/>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ADAPTIVE LEARNING RATES</a:t>
            </a:r>
            <a:endParaRPr b="0" i="0" sz="1050" u="none" cap="none" strike="noStrike">
              <a:solidFill>
                <a:schemeClr val="dk1"/>
              </a:solidFill>
              <a:latin typeface="Calibri"/>
              <a:ea typeface="Calibri"/>
              <a:cs typeface="Calibri"/>
              <a:sym typeface="Calibri"/>
            </a:endParaRPr>
          </a:p>
        </p:txBody>
      </p:sp>
      <p:sp>
        <p:nvSpPr>
          <p:cNvPr id="2456" name="Google Shape;2456;p74"/>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AdaGrad</a:t>
            </a:r>
            <a:endParaRPr b="0" i="0" sz="2800" u="none" cap="none" strike="noStrike">
              <a:solidFill>
                <a:schemeClr val="dk1"/>
              </a:solidFill>
              <a:latin typeface="Calibri"/>
              <a:ea typeface="Calibri"/>
              <a:cs typeface="Calibri"/>
              <a:sym typeface="Calibri"/>
            </a:endParaRPr>
          </a:p>
        </p:txBody>
      </p:sp>
      <p:sp>
        <p:nvSpPr>
          <p:cNvPr id="2457" name="Google Shape;2457;p74"/>
          <p:cNvSpPr/>
          <p:nvPr/>
        </p:nvSpPr>
        <p:spPr>
          <a:xfrm>
            <a:off x="566928" y="1371600"/>
            <a:ext cx="5669280" cy="246888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Proposed by Duchi et al. (2011). It performs well for some, but not all, deep learning models.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Individually adapts the learning rates of all model parameters by scaling them inversely proportional to the square root of the sum of all of their historical squared values.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Parameters with the largest partial derivative of the loss have a correspondingly rapid decrease in their learning rate, while parameters with small partial derivatives — those updated infrequently — have a relatively smaller decrease.</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The net effect is greater progress in the more gently sloped directions of parameter space.</a:t>
            </a:r>
            <a:endParaRPr b="0" i="0" sz="1300" u="none" cap="none" strike="noStrike">
              <a:solidFill>
                <a:schemeClr val="dk1"/>
              </a:solidFill>
              <a:latin typeface="Calibri"/>
              <a:ea typeface="Calibri"/>
              <a:cs typeface="Calibri"/>
              <a:sym typeface="Calibri"/>
            </a:endParaRPr>
          </a:p>
        </p:txBody>
      </p:sp>
      <p:sp>
        <p:nvSpPr>
          <p:cNvPr id="2458" name="Google Shape;2458;p74"/>
          <p:cNvSpPr/>
          <p:nvPr/>
        </p:nvSpPr>
        <p:spPr>
          <a:xfrm>
            <a:off x="566928" y="3931920"/>
            <a:ext cx="5669280" cy="1828800"/>
          </a:xfrm>
          <a:prstGeom prst="roundRect">
            <a:avLst>
              <a:gd fmla="val 45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74"/>
          <p:cNvSpPr/>
          <p:nvPr/>
        </p:nvSpPr>
        <p:spPr>
          <a:xfrm>
            <a:off x="841248" y="4059936"/>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455F"/>
              </a:buClr>
              <a:buSzPts val="1450"/>
              <a:buFont typeface="Cambria"/>
              <a:buNone/>
            </a:pPr>
            <a:r>
              <a:rPr b="1" i="0" lang="en-US" sz="1450" u="none" cap="none" strike="noStrike">
                <a:solidFill>
                  <a:srgbClr val="B8455F"/>
                </a:solidFill>
                <a:latin typeface="Cambria"/>
                <a:ea typeface="Cambria"/>
                <a:cs typeface="Cambria"/>
                <a:sym typeface="Cambria"/>
              </a:rPr>
              <a:t>The catch</a:t>
            </a:r>
            <a:endParaRPr b="0" i="0" sz="1450" u="none" cap="none" strike="noStrike">
              <a:solidFill>
                <a:schemeClr val="dk1"/>
              </a:solidFill>
              <a:latin typeface="Calibri"/>
              <a:ea typeface="Calibri"/>
              <a:cs typeface="Calibri"/>
              <a:sym typeface="Calibri"/>
            </a:endParaRPr>
          </a:p>
        </p:txBody>
      </p:sp>
      <p:sp>
        <p:nvSpPr>
          <p:cNvPr id="2460" name="Google Shape;2460;p74"/>
          <p:cNvSpPr/>
          <p:nvPr/>
        </p:nvSpPr>
        <p:spPr>
          <a:xfrm>
            <a:off x="841248" y="4389120"/>
            <a:ext cx="5120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AdaGrad enjoys desirable theoretical properties and is designed to converge rapidly on a convex function. But empirically, for deep networks, accumulating squared gradients from the very beginning of training can cause a premature and excessive decrease in the effective learning rate — learning stops early.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On a non-convex problem the trajectory passes through many structures before reaching a locally convex bowl; AdaGrad has shrunk the rate according to the entire history by then, and all those earlier structures counted just as much as the useful one.</a:t>
            </a:r>
            <a:endParaRPr b="0" i="0" sz="1100" u="none" cap="none" strike="noStrike">
              <a:solidFill>
                <a:schemeClr val="dk1"/>
              </a:solidFill>
              <a:latin typeface="Calibri"/>
              <a:ea typeface="Calibri"/>
              <a:cs typeface="Calibri"/>
              <a:sym typeface="Calibri"/>
            </a:endParaRPr>
          </a:p>
        </p:txBody>
      </p:sp>
      <p:sp>
        <p:nvSpPr>
          <p:cNvPr id="2461" name="Google Shape;2461;p74"/>
          <p:cNvSpPr/>
          <p:nvPr/>
        </p:nvSpPr>
        <p:spPr>
          <a:xfrm>
            <a:off x="6492240" y="1371600"/>
            <a:ext cx="5138928" cy="3246120"/>
          </a:xfrm>
          <a:prstGeom prst="roundRect">
            <a:avLst>
              <a:gd fmla="val 253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74"/>
          <p:cNvSpPr/>
          <p:nvPr/>
        </p:nvSpPr>
        <p:spPr>
          <a:xfrm>
            <a:off x="6766560" y="1517904"/>
            <a:ext cx="459028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Algorithm 8.4 — AdaGrad</a:t>
            </a:r>
            <a:endParaRPr b="0" i="0" sz="1400" u="none" cap="none" strike="noStrike">
              <a:solidFill>
                <a:schemeClr val="dk1"/>
              </a:solidFill>
              <a:latin typeface="Calibri"/>
              <a:ea typeface="Calibri"/>
              <a:cs typeface="Calibri"/>
              <a:sym typeface="Calibri"/>
            </a:endParaRPr>
          </a:p>
        </p:txBody>
      </p:sp>
      <p:sp>
        <p:nvSpPr>
          <p:cNvPr id="2463" name="Google Shape;2463;p74"/>
          <p:cNvSpPr/>
          <p:nvPr/>
        </p:nvSpPr>
        <p:spPr>
          <a:xfrm>
            <a:off x="6766560" y="1883664"/>
            <a:ext cx="4590288" cy="258775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global learning rate ε</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initial parameter θ</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Require: small constant δ ≈ 10⁻⁷, for</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numerical stability</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Initialize accumulation variable r = 0</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while stopping criterion not met:</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sample a minibatch of m examples</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g ← (1/m) ∇θ Σᵢ L(f(x⁽ⁱ⁾;θ), y⁽ⁱ⁾)</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r ← r + g ⊙ g</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Δθ ← − ( ε / (δ + √r) ) ⊙ g</a:t>
            </a:r>
            <a:endParaRPr b="0" i="0" sz="10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9E3F3"/>
              </a:buClr>
              <a:buSzPts val="1000"/>
              <a:buFont typeface="Courier New"/>
              <a:buNone/>
            </a:pPr>
            <a:r>
              <a:rPr b="0" i="0" lang="en-US" sz="1000" u="none" cap="none" strike="noStrike">
                <a:solidFill>
                  <a:srgbClr val="E9E3F3"/>
                </a:solidFill>
                <a:latin typeface="Courier New"/>
                <a:ea typeface="Courier New"/>
                <a:cs typeface="Courier New"/>
                <a:sym typeface="Courier New"/>
              </a:rPr>
              <a:t>   θ ← θ + Δθ</a:t>
            </a:r>
            <a:endParaRPr b="0" i="0" sz="1000" u="none" cap="none" strike="noStrike">
              <a:solidFill>
                <a:schemeClr val="dk1"/>
              </a:solidFill>
              <a:latin typeface="Calibri"/>
              <a:ea typeface="Calibri"/>
              <a:cs typeface="Calibri"/>
              <a:sym typeface="Calibri"/>
            </a:endParaRPr>
          </a:p>
        </p:txBody>
      </p:sp>
      <p:sp>
        <p:nvSpPr>
          <p:cNvPr id="2464" name="Google Shape;2464;p74"/>
          <p:cNvSpPr/>
          <p:nvPr/>
        </p:nvSpPr>
        <p:spPr>
          <a:xfrm>
            <a:off x="6492240" y="4800600"/>
            <a:ext cx="5138928" cy="960120"/>
          </a:xfrm>
          <a:prstGeom prst="roundRect">
            <a:avLst>
              <a:gd fmla="val 8571"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74"/>
          <p:cNvSpPr/>
          <p:nvPr/>
        </p:nvSpPr>
        <p:spPr>
          <a:xfrm>
            <a:off x="6766560" y="4800600"/>
            <a:ext cx="4590288"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100"/>
              <a:buFont typeface="Calibri"/>
              <a:buNone/>
            </a:pPr>
            <a:r>
              <a:rPr b="0" i="0" lang="en-US" sz="1100" u="none" cap="none" strike="noStrike">
                <a:solidFill>
                  <a:srgbClr val="241C2E"/>
                </a:solidFill>
                <a:latin typeface="Calibri"/>
                <a:ea typeface="Calibri"/>
                <a:cs typeface="Calibri"/>
                <a:sym typeface="Calibri"/>
              </a:rPr>
              <a:t>⊙ is the element-wise (Hadamard) product; the division and square root are applied element-wise too, so every parameter really does get its own rate.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0" name="Shape 2470"/>
        <p:cNvGrpSpPr/>
        <p:nvPr/>
      </p:nvGrpSpPr>
      <p:grpSpPr>
        <a:xfrm>
          <a:off x="0" y="0"/>
          <a:ext cx="0" cy="0"/>
          <a:chOff x="0" y="0"/>
          <a:chExt cx="0" cy="0"/>
        </a:xfrm>
      </p:grpSpPr>
      <p:sp>
        <p:nvSpPr>
          <p:cNvPr id="2471" name="Google Shape;2471;p75"/>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ADAPTIVE LEARNING RATES</a:t>
            </a:r>
            <a:endParaRPr b="0" i="0" sz="1050" u="none" cap="none" strike="noStrike">
              <a:solidFill>
                <a:schemeClr val="dk1"/>
              </a:solidFill>
              <a:latin typeface="Calibri"/>
              <a:ea typeface="Calibri"/>
              <a:cs typeface="Calibri"/>
              <a:sym typeface="Calibri"/>
            </a:endParaRPr>
          </a:p>
        </p:txBody>
      </p:sp>
      <p:sp>
        <p:nvSpPr>
          <p:cNvPr id="2472" name="Google Shape;2472;p75"/>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RMSProp</a:t>
            </a:r>
            <a:endParaRPr b="0" i="0" sz="2800" u="none" cap="none" strike="noStrike">
              <a:solidFill>
                <a:schemeClr val="dk1"/>
              </a:solidFill>
              <a:latin typeface="Calibri"/>
              <a:ea typeface="Calibri"/>
              <a:cs typeface="Calibri"/>
              <a:sym typeface="Calibri"/>
            </a:endParaRPr>
          </a:p>
        </p:txBody>
      </p:sp>
      <p:sp>
        <p:nvSpPr>
          <p:cNvPr id="2473" name="Google Shape;2473;p75"/>
          <p:cNvSpPr/>
          <p:nvPr/>
        </p:nvSpPr>
        <p:spPr>
          <a:xfrm>
            <a:off x="566928" y="1371600"/>
            <a:ext cx="5669280" cy="301752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RMSProp (Tieleman &amp; Hinton, 2012) modifies AdaGrad to perform better in the non-convex setting, by changing the gradient accumulation into an exponentially weighted moving average.</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It uses that decaying average to discard history from the extreme past, so it can converge rapidly after finding a convex bowl — as if it were an instance of AdaGrad initialized inside that bowl.</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C4661F"/>
              </a:buClr>
              <a:buSzPts val="1300"/>
              <a:buFont typeface="Calibri"/>
              <a:buChar char="•"/>
            </a:pPr>
            <a:r>
              <a:rPr b="1" i="0" lang="en-US" sz="1300" u="none" cap="none" strike="noStrike">
                <a:solidFill>
                  <a:srgbClr val="C4661F"/>
                </a:solidFill>
                <a:latin typeface="Calibri"/>
                <a:ea typeface="Calibri"/>
                <a:cs typeface="Calibri"/>
                <a:sym typeface="Calibri"/>
              </a:rPr>
              <a:t>Empirically, RMSProp is an effective and practical optimization algorithm for deep networks, and one of the go-to methods employed routinely by practitioners.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Compared with AdaGrad it introduces one new hyperparameter, ρ, controlling the length scale of the moving average.</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41C2E"/>
              </a:buClr>
              <a:buSzPts val="1300"/>
              <a:buFont typeface="Calibri"/>
              <a:buChar char="•"/>
            </a:pPr>
            <a:r>
              <a:rPr b="1" i="1" lang="en-US" sz="1300" u="none" cap="none" strike="noStrike">
                <a:solidFill>
                  <a:srgbClr val="241C2E"/>
                </a:solidFill>
                <a:latin typeface="Calibri"/>
                <a:ea typeface="Calibri"/>
                <a:cs typeface="Calibri"/>
                <a:sym typeface="Calibri"/>
              </a:rPr>
              <a:t>Proposed in a slide of a Coursera lecture — and now cited thousands of times.</a:t>
            </a:r>
            <a:endParaRPr b="0" i="0" sz="1300" u="none" cap="none" strike="noStrike">
              <a:solidFill>
                <a:schemeClr val="dk1"/>
              </a:solidFill>
              <a:latin typeface="Calibri"/>
              <a:ea typeface="Calibri"/>
              <a:cs typeface="Calibri"/>
              <a:sym typeface="Calibri"/>
            </a:endParaRPr>
          </a:p>
        </p:txBody>
      </p:sp>
      <p:sp>
        <p:nvSpPr>
          <p:cNvPr id="2474" name="Google Shape;2474;p75"/>
          <p:cNvSpPr/>
          <p:nvPr/>
        </p:nvSpPr>
        <p:spPr>
          <a:xfrm>
            <a:off x="566928" y="4526280"/>
            <a:ext cx="5669280" cy="658368"/>
          </a:xfrm>
          <a:prstGeom prst="roundRect">
            <a:avLst>
              <a:gd fmla="val 12500" name="adj"/>
            </a:avLst>
          </a:prstGeom>
          <a:solidFill>
            <a:srgbClr val="E9E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75"/>
          <p:cNvSpPr/>
          <p:nvPr/>
        </p:nvSpPr>
        <p:spPr>
          <a:xfrm>
            <a:off x="704088" y="4526280"/>
            <a:ext cx="539496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AdaGrad:   r ← r + g ⊙ g</a:t>
            </a:r>
            <a:endParaRPr b="0" i="0" sz="1400" u="none" cap="none" strike="noStrike">
              <a:solidFill>
                <a:schemeClr val="dk1"/>
              </a:solidFill>
              <a:latin typeface="Calibri"/>
              <a:ea typeface="Calibri"/>
              <a:cs typeface="Calibri"/>
              <a:sym typeface="Calibri"/>
            </a:endParaRPr>
          </a:p>
        </p:txBody>
      </p:sp>
      <p:sp>
        <p:nvSpPr>
          <p:cNvPr id="2476" name="Google Shape;2476;p75"/>
          <p:cNvSpPr/>
          <p:nvPr/>
        </p:nvSpPr>
        <p:spPr>
          <a:xfrm>
            <a:off x="566928" y="5257800"/>
            <a:ext cx="5669280" cy="658368"/>
          </a:xfrm>
          <a:prstGeom prst="roundRect">
            <a:avLst>
              <a:gd fmla="val 12500"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75"/>
          <p:cNvSpPr/>
          <p:nvPr/>
        </p:nvSpPr>
        <p:spPr>
          <a:xfrm>
            <a:off x="704088" y="5257800"/>
            <a:ext cx="539496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RMSProp:   r ← ρ r + (1 − ρ) g ⊙ g</a:t>
            </a:r>
            <a:endParaRPr b="0" i="0" sz="1400" u="none" cap="none" strike="noStrike">
              <a:solidFill>
                <a:schemeClr val="dk1"/>
              </a:solidFill>
              <a:latin typeface="Calibri"/>
              <a:ea typeface="Calibri"/>
              <a:cs typeface="Calibri"/>
              <a:sym typeface="Calibri"/>
            </a:endParaRPr>
          </a:p>
        </p:txBody>
      </p:sp>
      <p:sp>
        <p:nvSpPr>
          <p:cNvPr id="2478" name="Google Shape;2478;p75"/>
          <p:cNvSpPr/>
          <p:nvPr/>
        </p:nvSpPr>
        <p:spPr>
          <a:xfrm>
            <a:off x="6492240" y="1371600"/>
            <a:ext cx="5138928" cy="3291840"/>
          </a:xfrm>
          <a:prstGeom prst="roundRect">
            <a:avLst>
              <a:gd fmla="val 2500"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75"/>
          <p:cNvSpPr/>
          <p:nvPr/>
        </p:nvSpPr>
        <p:spPr>
          <a:xfrm>
            <a:off x="6766560" y="1517904"/>
            <a:ext cx="459028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Algorithm 8.5 — RMSProp</a:t>
            </a:r>
            <a:endParaRPr b="0" i="0" sz="1400" u="none" cap="none" strike="noStrike">
              <a:solidFill>
                <a:schemeClr val="dk1"/>
              </a:solidFill>
              <a:latin typeface="Calibri"/>
              <a:ea typeface="Calibri"/>
              <a:cs typeface="Calibri"/>
              <a:sym typeface="Calibri"/>
            </a:endParaRPr>
          </a:p>
        </p:txBody>
      </p:sp>
      <p:sp>
        <p:nvSpPr>
          <p:cNvPr id="2480" name="Google Shape;2480;p75"/>
          <p:cNvSpPr/>
          <p:nvPr/>
        </p:nvSpPr>
        <p:spPr>
          <a:xfrm>
            <a:off x="6766560" y="1883664"/>
            <a:ext cx="4590288" cy="2633472"/>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global learning rate ε, decay rate ρ</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initial parameter θ</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small constant δ ≈ 10⁻⁶, to stabilize</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division by small numbers</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Initialize accumulation variable r = 0</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while stopping criterion not met:</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sample a minibatch of m examples</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g ← (1/m) ∇θ Σᵢ L(f(x⁽ⁱ⁾;θ), y⁽ⁱ⁾)</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r ← ρ r + (1 − ρ) g ⊙ g</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Δθ ← − ( ε / √(δ + r) ) ⊙ g</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θ ← θ + Δθ</a:t>
            </a:r>
            <a:endParaRPr b="0" i="0" sz="950" u="none" cap="none" strike="noStrike">
              <a:solidFill>
                <a:schemeClr val="dk1"/>
              </a:solidFill>
              <a:latin typeface="Calibri"/>
              <a:ea typeface="Calibri"/>
              <a:cs typeface="Calibri"/>
              <a:sym typeface="Calibri"/>
            </a:endParaRPr>
          </a:p>
        </p:txBody>
      </p:sp>
      <p:sp>
        <p:nvSpPr>
          <p:cNvPr id="2481" name="Google Shape;2481;p75"/>
          <p:cNvSpPr/>
          <p:nvPr/>
        </p:nvSpPr>
        <p:spPr>
          <a:xfrm>
            <a:off x="6492240" y="4846320"/>
            <a:ext cx="5138928" cy="914400"/>
          </a:xfrm>
          <a:prstGeom prst="roundRect">
            <a:avLst>
              <a:gd fmla="val 9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75"/>
          <p:cNvSpPr/>
          <p:nvPr/>
        </p:nvSpPr>
        <p:spPr>
          <a:xfrm>
            <a:off x="6766560" y="4846320"/>
            <a:ext cx="4590288"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E3F3"/>
              </a:buClr>
              <a:buSzPts val="1100"/>
              <a:buFont typeface="Calibri"/>
              <a:buNone/>
            </a:pPr>
            <a:r>
              <a:rPr b="0" i="0" lang="en-US" sz="1100" u="none" cap="none" strike="noStrike">
                <a:solidFill>
                  <a:srgbClr val="E9E3F3"/>
                </a:solidFill>
                <a:latin typeface="Calibri"/>
                <a:ea typeface="Calibri"/>
                <a:cs typeface="Calibri"/>
                <a:sym typeface="Calibri"/>
              </a:rPr>
              <a:t>A Nesterov-momentum variant also exists (Algorithm 8.6): take the interim step θ̃ ← θ + αv first, then accumulate and update from the gradient measured there.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7" name="Shape 2487"/>
        <p:cNvGrpSpPr/>
        <p:nvPr/>
      </p:nvGrpSpPr>
      <p:grpSpPr>
        <a:xfrm>
          <a:off x="0" y="0"/>
          <a:ext cx="0" cy="0"/>
          <a:chOff x="0" y="0"/>
          <a:chExt cx="0" cy="0"/>
        </a:xfrm>
      </p:grpSpPr>
      <p:sp>
        <p:nvSpPr>
          <p:cNvPr id="2488" name="Google Shape;2488;p76"/>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ADAPTIVE LEARNING RATES</a:t>
            </a:r>
            <a:endParaRPr b="0" i="0" sz="1050" u="none" cap="none" strike="noStrike">
              <a:solidFill>
                <a:schemeClr val="dk1"/>
              </a:solidFill>
              <a:latin typeface="Calibri"/>
              <a:ea typeface="Calibri"/>
              <a:cs typeface="Calibri"/>
              <a:sym typeface="Calibri"/>
            </a:endParaRPr>
          </a:p>
        </p:txBody>
      </p:sp>
      <p:sp>
        <p:nvSpPr>
          <p:cNvPr id="2489" name="Google Shape;2489;p76"/>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Adam</a:t>
            </a:r>
            <a:endParaRPr b="0" i="0" sz="2800" u="none" cap="none" strike="noStrike">
              <a:solidFill>
                <a:schemeClr val="dk1"/>
              </a:solidFill>
              <a:latin typeface="Calibri"/>
              <a:ea typeface="Calibri"/>
              <a:cs typeface="Calibri"/>
              <a:sym typeface="Calibri"/>
            </a:endParaRPr>
          </a:p>
        </p:txBody>
      </p:sp>
      <p:sp>
        <p:nvSpPr>
          <p:cNvPr id="2490" name="Google Shape;2490;p76"/>
          <p:cNvSpPr/>
          <p:nvPr/>
        </p:nvSpPr>
        <p:spPr>
          <a:xfrm>
            <a:off x="566928" y="1371600"/>
            <a:ext cx="5669280" cy="32004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00"/>
              <a:buFont typeface="Calibri"/>
              <a:buChar char="•"/>
            </a:pPr>
            <a:r>
              <a:rPr b="1" i="0" lang="en-US" sz="1300" u="none" cap="none" strike="noStrike">
                <a:solidFill>
                  <a:srgbClr val="241C2E"/>
                </a:solidFill>
                <a:latin typeface="Calibri"/>
                <a:ea typeface="Calibri"/>
                <a:cs typeface="Calibri"/>
                <a:sym typeface="Calibri"/>
              </a:rPr>
              <a:t>Presented by Kingma &amp; Ba (2014). The name derives from the phrase “adaptive moments”.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In the context of the earlier algorithms it is perhaps best seen as a variant on the combination of RMSProp and momentum, with a few important distinctions.</a:t>
            </a:r>
            <a:endParaRPr b="0" i="0" sz="1300" u="none" cap="none" strike="noStrike">
              <a:solidFill>
                <a:schemeClr val="dk1"/>
              </a:solidFill>
              <a:latin typeface="Calibri"/>
              <a:ea typeface="Calibri"/>
              <a:cs typeface="Calibri"/>
              <a:sym typeface="Calibri"/>
            </a:endParaRPr>
          </a:p>
          <a:p>
            <a:pPr indent="-203200" lvl="0" marL="203200" marR="0" rtl="0" algn="l">
              <a:spcBef>
                <a:spcPts val="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First: momentum is incorporated directly as an estimate of the first-order moment of the gradient — not bolted on afterwards.</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D1B4E"/>
              </a:buClr>
              <a:buSzPts val="1300"/>
              <a:buFont typeface="Calibri"/>
              <a:buChar char="•"/>
            </a:pPr>
            <a:r>
              <a:rPr b="1" i="0" lang="en-US" sz="1300" u="none" cap="none" strike="noStrike">
                <a:solidFill>
                  <a:srgbClr val="2D1B4E"/>
                </a:solidFill>
                <a:latin typeface="Calibri"/>
                <a:ea typeface="Calibri"/>
                <a:cs typeface="Calibri"/>
                <a:sym typeface="Calibri"/>
              </a:rPr>
              <a:t>Second: Adam includes bias corrections to the estimates of both the first-order moment (the momentum term) and the uncentered second-order moment, to account for their initialization at the origin.</a:t>
            </a:r>
            <a:endParaRPr b="0" i="0" sz="1300" u="none" cap="none" strike="noStrike">
              <a:solidFill>
                <a:schemeClr val="dk1"/>
              </a:solidFill>
              <a:latin typeface="Calibri"/>
              <a:ea typeface="Calibri"/>
              <a:cs typeface="Calibri"/>
              <a:sym typeface="Calibri"/>
            </a:endParaRPr>
          </a:p>
          <a:p>
            <a:pPr indent="-203200" lvl="0" marL="203200" marR="0" rtl="0" algn="l">
              <a:spcBef>
                <a:spcPts val="700"/>
              </a:spcBef>
              <a:spcAft>
                <a:spcPts val="0"/>
              </a:spcAft>
              <a:buClr>
                <a:srgbClr val="241C2E"/>
              </a:buClr>
              <a:buSzPts val="1300"/>
              <a:buFont typeface="Calibri"/>
              <a:buChar char="•"/>
            </a:pPr>
            <a:r>
              <a:rPr b="0" i="0" lang="en-US" sz="1300" u="none" cap="none" strike="noStrike">
                <a:solidFill>
                  <a:srgbClr val="241C2E"/>
                </a:solidFill>
                <a:latin typeface="Calibri"/>
                <a:ea typeface="Calibri"/>
                <a:cs typeface="Calibri"/>
                <a:sym typeface="Calibri"/>
              </a:rPr>
              <a:t>Those corrections matter most in the first few steps, when s and r are still close to their zero initialization and would otherwise badly underestimate the true moments.</a:t>
            </a:r>
            <a:endParaRPr b="0" i="0" sz="1300" u="none" cap="none" strike="noStrike">
              <a:solidFill>
                <a:schemeClr val="dk1"/>
              </a:solidFill>
              <a:latin typeface="Calibri"/>
              <a:ea typeface="Calibri"/>
              <a:cs typeface="Calibri"/>
              <a:sym typeface="Calibri"/>
            </a:endParaRPr>
          </a:p>
        </p:txBody>
      </p:sp>
      <p:sp>
        <p:nvSpPr>
          <p:cNvPr id="2491" name="Google Shape;2491;p76"/>
          <p:cNvSpPr/>
          <p:nvPr/>
        </p:nvSpPr>
        <p:spPr>
          <a:xfrm>
            <a:off x="566928" y="4709160"/>
            <a:ext cx="5669280" cy="1051560"/>
          </a:xfrm>
          <a:prstGeom prst="roundRect">
            <a:avLst>
              <a:gd fmla="val 7826" name="adj"/>
            </a:avLst>
          </a:prstGeom>
          <a:solidFill>
            <a:srgbClr val="F9E3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76"/>
          <p:cNvSpPr/>
          <p:nvPr/>
        </p:nvSpPr>
        <p:spPr>
          <a:xfrm>
            <a:off x="841248" y="4709160"/>
            <a:ext cx="512064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D1B4E"/>
              </a:buClr>
              <a:buSzPts val="1400"/>
              <a:buFont typeface="Calibri"/>
              <a:buNone/>
            </a:pPr>
            <a:r>
              <a:rPr b="1" i="0" lang="en-US" sz="1400" u="none" cap="none" strike="noStrike">
                <a:solidFill>
                  <a:srgbClr val="2D1B4E"/>
                </a:solidFill>
                <a:latin typeface="Calibri"/>
                <a:ea typeface="Calibri"/>
                <a:cs typeface="Calibri"/>
                <a:sym typeface="Calibri"/>
              </a:rPr>
              <a:t>Suggested defaults:   ε = 0.001    ρ₁ = 0.9    ρ₂ = 0.999    δ = 10⁻⁸</a:t>
            </a:r>
            <a:endParaRPr b="0" i="0" sz="1400" u="none" cap="none" strike="noStrike">
              <a:solidFill>
                <a:schemeClr val="dk1"/>
              </a:solidFill>
              <a:latin typeface="Calibri"/>
              <a:ea typeface="Calibri"/>
              <a:cs typeface="Calibri"/>
              <a:sym typeface="Calibri"/>
            </a:endParaRPr>
          </a:p>
        </p:txBody>
      </p:sp>
      <p:sp>
        <p:nvSpPr>
          <p:cNvPr id="2493" name="Google Shape;2493;p76"/>
          <p:cNvSpPr/>
          <p:nvPr/>
        </p:nvSpPr>
        <p:spPr>
          <a:xfrm>
            <a:off x="6492240" y="1371600"/>
            <a:ext cx="5138928" cy="4389120"/>
          </a:xfrm>
          <a:prstGeom prst="roundRect">
            <a:avLst>
              <a:gd fmla="val 1875" name="adj"/>
            </a:avLst>
          </a:prstGeom>
          <a:solidFill>
            <a:srgbClr val="2D1B4E"/>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76"/>
          <p:cNvSpPr/>
          <p:nvPr/>
        </p:nvSpPr>
        <p:spPr>
          <a:xfrm>
            <a:off x="6766560" y="1517904"/>
            <a:ext cx="459028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Algorithm 8.7 — Adam</a:t>
            </a:r>
            <a:endParaRPr b="0" i="0" sz="1400" u="none" cap="none" strike="noStrike">
              <a:solidFill>
                <a:schemeClr val="dk1"/>
              </a:solidFill>
              <a:latin typeface="Calibri"/>
              <a:ea typeface="Calibri"/>
              <a:cs typeface="Calibri"/>
              <a:sym typeface="Calibri"/>
            </a:endParaRPr>
          </a:p>
        </p:txBody>
      </p:sp>
      <p:sp>
        <p:nvSpPr>
          <p:cNvPr id="2495" name="Google Shape;2495;p76"/>
          <p:cNvSpPr/>
          <p:nvPr/>
        </p:nvSpPr>
        <p:spPr>
          <a:xfrm>
            <a:off x="6766560" y="1883664"/>
            <a:ext cx="4590288" cy="3730752"/>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step size ε</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decay rates ρ₁, ρ₂ in [0, 1)</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Require: small constant δ, initial parameters θ</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Initialize moments s = 0, r = 0</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Initialize time step t = 0</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while stopping criterion not met:</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sample a minibatch of m examples</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g ← (1/m) ∇θ Σᵢ L(f(x⁽ⁱ⁾;θ), y⁽ⁱ⁾)</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t ← t + 1</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s ← ρ₁ s + (1 − ρ₁) g          1st moment</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r ← ρ₂ r + (1 − ρ₂) g ⊙ g      2nd moment</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ŝ ← s / (1 − ρ₁ᵗ)              bias correction</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r̂ ← r / (1 − ρ₂ᵗ)              bias correction</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Δθ ← − ε ŝ / (√r̂ + δ)</a:t>
            </a:r>
            <a:endParaRPr b="0" i="0" sz="950" u="none" cap="none" strike="noStrike">
              <a:solidFill>
                <a:schemeClr val="dk1"/>
              </a:solidFill>
              <a:latin typeface="Calibri"/>
              <a:ea typeface="Calibri"/>
              <a:cs typeface="Calibri"/>
              <a:sym typeface="Calibri"/>
            </a:endParaRPr>
          </a:p>
          <a:p>
            <a:pPr indent="0" lvl="0" marL="0" marR="0" rtl="0" algn="l">
              <a:lnSpc>
                <a:spcPct val="142105"/>
              </a:lnSpc>
              <a:spcBef>
                <a:spcPts val="0"/>
              </a:spcBef>
              <a:spcAft>
                <a:spcPts val="0"/>
              </a:spcAft>
              <a:buClr>
                <a:srgbClr val="E9E3F3"/>
              </a:buClr>
              <a:buSzPts val="950"/>
              <a:buFont typeface="Courier New"/>
              <a:buNone/>
            </a:pPr>
            <a:r>
              <a:rPr b="0" i="0" lang="en-US" sz="950" u="none" cap="none" strike="noStrike">
                <a:solidFill>
                  <a:srgbClr val="E9E3F3"/>
                </a:solidFill>
                <a:latin typeface="Courier New"/>
                <a:ea typeface="Courier New"/>
                <a:cs typeface="Courier New"/>
                <a:sym typeface="Courier New"/>
              </a:rPr>
              <a:t>   θ ← θ + Δθ</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0" name="Shape 2500"/>
        <p:cNvGrpSpPr/>
        <p:nvPr/>
      </p:nvGrpSpPr>
      <p:grpSpPr>
        <a:xfrm>
          <a:off x="0" y="0"/>
          <a:ext cx="0" cy="0"/>
          <a:chOff x="0" y="0"/>
          <a:chExt cx="0" cy="0"/>
        </a:xfrm>
      </p:grpSpPr>
      <p:sp>
        <p:nvSpPr>
          <p:cNvPr id="2501" name="Google Shape;2501;p77"/>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ADAPTIVE LEARNING RATES</a:t>
            </a:r>
            <a:endParaRPr b="0" i="0" sz="1050" u="none" cap="none" strike="noStrike">
              <a:solidFill>
                <a:schemeClr val="dk1"/>
              </a:solidFill>
              <a:latin typeface="Calibri"/>
              <a:ea typeface="Calibri"/>
              <a:cs typeface="Calibri"/>
              <a:sym typeface="Calibri"/>
            </a:endParaRPr>
          </a:p>
        </p:txBody>
      </p:sp>
      <p:sp>
        <p:nvSpPr>
          <p:cNvPr id="2502" name="Google Shape;2502;p77"/>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Choosing an optimizer</a:t>
            </a:r>
            <a:endParaRPr b="0" i="0" sz="2800" u="none" cap="none" strike="noStrike">
              <a:solidFill>
                <a:schemeClr val="dk1"/>
              </a:solidFill>
              <a:latin typeface="Calibri"/>
              <a:ea typeface="Calibri"/>
              <a:cs typeface="Calibri"/>
              <a:sym typeface="Calibri"/>
            </a:endParaRPr>
          </a:p>
        </p:txBody>
      </p:sp>
      <p:sp>
        <p:nvSpPr>
          <p:cNvPr id="2503" name="Google Shape;2503;p77"/>
          <p:cNvSpPr/>
          <p:nvPr/>
        </p:nvSpPr>
        <p:spPr>
          <a:xfrm>
            <a:off x="566928" y="1298448"/>
            <a:ext cx="11057839" cy="457200"/>
          </a:xfrm>
          <a:prstGeom prst="roundRect">
            <a:avLst>
              <a:gd fmla="val 14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77"/>
          <p:cNvSpPr/>
          <p:nvPr/>
        </p:nvSpPr>
        <p:spPr>
          <a:xfrm>
            <a:off x="822960" y="1298448"/>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250"/>
              <a:buFont typeface="Calibri"/>
              <a:buNone/>
            </a:pPr>
            <a:r>
              <a:rPr b="1" i="0" lang="en-US" sz="1250" u="none" cap="none" strike="noStrike">
                <a:solidFill>
                  <a:srgbClr val="E8833A"/>
                </a:solidFill>
                <a:latin typeface="Calibri"/>
                <a:ea typeface="Calibri"/>
                <a:cs typeface="Calibri"/>
                <a:sym typeface="Calibri"/>
              </a:rPr>
              <a:t>Method</a:t>
            </a:r>
            <a:endParaRPr b="0" i="0" sz="1250" u="none" cap="none" strike="noStrike">
              <a:solidFill>
                <a:schemeClr val="dk1"/>
              </a:solidFill>
              <a:latin typeface="Calibri"/>
              <a:ea typeface="Calibri"/>
              <a:cs typeface="Calibri"/>
              <a:sym typeface="Calibri"/>
            </a:endParaRPr>
          </a:p>
        </p:txBody>
      </p:sp>
      <p:sp>
        <p:nvSpPr>
          <p:cNvPr id="2505" name="Google Shape;2505;p77"/>
          <p:cNvSpPr/>
          <p:nvPr/>
        </p:nvSpPr>
        <p:spPr>
          <a:xfrm>
            <a:off x="3108960" y="1298448"/>
            <a:ext cx="30175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250"/>
              <a:buFont typeface="Calibri"/>
              <a:buNone/>
            </a:pPr>
            <a:r>
              <a:rPr b="1" i="0" lang="en-US" sz="1250" u="none" cap="none" strike="noStrike">
                <a:solidFill>
                  <a:srgbClr val="E8833A"/>
                </a:solidFill>
                <a:latin typeface="Calibri"/>
                <a:ea typeface="Calibri"/>
                <a:cs typeface="Calibri"/>
                <a:sym typeface="Calibri"/>
              </a:rPr>
              <a:t>Core update</a:t>
            </a:r>
            <a:endParaRPr b="0" i="0" sz="1250" u="none" cap="none" strike="noStrike">
              <a:solidFill>
                <a:schemeClr val="dk1"/>
              </a:solidFill>
              <a:latin typeface="Calibri"/>
              <a:ea typeface="Calibri"/>
              <a:cs typeface="Calibri"/>
              <a:sym typeface="Calibri"/>
            </a:endParaRPr>
          </a:p>
        </p:txBody>
      </p:sp>
      <p:sp>
        <p:nvSpPr>
          <p:cNvPr id="2506" name="Google Shape;2506;p77"/>
          <p:cNvSpPr/>
          <p:nvPr/>
        </p:nvSpPr>
        <p:spPr>
          <a:xfrm>
            <a:off x="6217920" y="1298448"/>
            <a:ext cx="1737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250"/>
              <a:buFont typeface="Calibri"/>
              <a:buNone/>
            </a:pPr>
            <a:r>
              <a:rPr b="1" i="0" lang="en-US" sz="1250" u="none" cap="none" strike="noStrike">
                <a:solidFill>
                  <a:srgbClr val="E8833A"/>
                </a:solidFill>
                <a:latin typeface="Calibri"/>
                <a:ea typeface="Calibri"/>
                <a:cs typeface="Calibri"/>
                <a:sym typeface="Calibri"/>
              </a:rPr>
              <a:t>Hyperparameters</a:t>
            </a:r>
            <a:endParaRPr b="0" i="0" sz="1250" u="none" cap="none" strike="noStrike">
              <a:solidFill>
                <a:schemeClr val="dk1"/>
              </a:solidFill>
              <a:latin typeface="Calibri"/>
              <a:ea typeface="Calibri"/>
              <a:cs typeface="Calibri"/>
              <a:sym typeface="Calibri"/>
            </a:endParaRPr>
          </a:p>
        </p:txBody>
      </p:sp>
      <p:sp>
        <p:nvSpPr>
          <p:cNvPr id="2507" name="Google Shape;2507;p77"/>
          <p:cNvSpPr/>
          <p:nvPr/>
        </p:nvSpPr>
        <p:spPr>
          <a:xfrm>
            <a:off x="8046720" y="1298448"/>
            <a:ext cx="3657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250"/>
              <a:buFont typeface="Calibri"/>
              <a:buNone/>
            </a:pPr>
            <a:r>
              <a:rPr b="1" i="0" lang="en-US" sz="1250" u="none" cap="none" strike="noStrike">
                <a:solidFill>
                  <a:srgbClr val="E8833A"/>
                </a:solidFill>
                <a:latin typeface="Calibri"/>
                <a:ea typeface="Calibri"/>
                <a:cs typeface="Calibri"/>
                <a:sym typeface="Calibri"/>
              </a:rPr>
              <a:t>In practice</a:t>
            </a:r>
            <a:endParaRPr b="0" i="0" sz="1250" u="none" cap="none" strike="noStrike">
              <a:solidFill>
                <a:schemeClr val="dk1"/>
              </a:solidFill>
              <a:latin typeface="Calibri"/>
              <a:ea typeface="Calibri"/>
              <a:cs typeface="Calibri"/>
              <a:sym typeface="Calibri"/>
            </a:endParaRPr>
          </a:p>
        </p:txBody>
      </p:sp>
      <p:sp>
        <p:nvSpPr>
          <p:cNvPr id="2508" name="Google Shape;2508;p77"/>
          <p:cNvSpPr/>
          <p:nvPr/>
        </p:nvSpPr>
        <p:spPr>
          <a:xfrm>
            <a:off x="566928" y="1828800"/>
            <a:ext cx="11057839"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77"/>
          <p:cNvSpPr/>
          <p:nvPr/>
        </p:nvSpPr>
        <p:spPr>
          <a:xfrm>
            <a:off x="713232" y="1938528"/>
            <a:ext cx="82296" cy="347472"/>
          </a:xfrm>
          <a:prstGeom prst="roundRect">
            <a:avLst>
              <a:gd fmla="val 44444" name="adj"/>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77"/>
          <p:cNvSpPr/>
          <p:nvPr/>
        </p:nvSpPr>
        <p:spPr>
          <a:xfrm>
            <a:off x="950976" y="1828800"/>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SGD</a:t>
            </a:r>
            <a:endParaRPr b="0" i="0" sz="1200" u="none" cap="none" strike="noStrike">
              <a:solidFill>
                <a:schemeClr val="dk1"/>
              </a:solidFill>
              <a:latin typeface="Calibri"/>
              <a:ea typeface="Calibri"/>
              <a:cs typeface="Calibri"/>
              <a:sym typeface="Calibri"/>
            </a:endParaRPr>
          </a:p>
        </p:txBody>
      </p:sp>
      <p:sp>
        <p:nvSpPr>
          <p:cNvPr id="2511" name="Google Shape;2511;p77"/>
          <p:cNvSpPr/>
          <p:nvPr/>
        </p:nvSpPr>
        <p:spPr>
          <a:xfrm>
            <a:off x="2852928" y="1828800"/>
            <a:ext cx="3017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θ ← θ − ε g</a:t>
            </a:r>
            <a:endParaRPr b="0" i="0" sz="1050" u="none" cap="none" strike="noStrike">
              <a:solidFill>
                <a:schemeClr val="dk1"/>
              </a:solidFill>
              <a:latin typeface="Calibri"/>
              <a:ea typeface="Calibri"/>
              <a:cs typeface="Calibri"/>
              <a:sym typeface="Calibri"/>
            </a:endParaRPr>
          </a:p>
        </p:txBody>
      </p:sp>
      <p:sp>
        <p:nvSpPr>
          <p:cNvPr id="2512" name="Google Shape;2512;p77"/>
          <p:cNvSpPr/>
          <p:nvPr/>
        </p:nvSpPr>
        <p:spPr>
          <a:xfrm>
            <a:off x="5961888" y="1828800"/>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ε</a:t>
            </a:r>
            <a:endParaRPr b="0" i="0" sz="1100" u="none" cap="none" strike="noStrike">
              <a:solidFill>
                <a:schemeClr val="dk1"/>
              </a:solidFill>
              <a:latin typeface="Calibri"/>
              <a:ea typeface="Calibri"/>
              <a:cs typeface="Calibri"/>
              <a:sym typeface="Calibri"/>
            </a:endParaRPr>
          </a:p>
        </p:txBody>
      </p:sp>
      <p:sp>
        <p:nvSpPr>
          <p:cNvPr id="2513" name="Google Shape;2513;p77"/>
          <p:cNvSpPr/>
          <p:nvPr/>
        </p:nvSpPr>
        <p:spPr>
          <a:xfrm>
            <a:off x="7790688" y="1828800"/>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Simple and well understood. Slow through ill-conditioned regions and sensitive to the learning rate.</a:t>
            </a:r>
            <a:endParaRPr b="0" i="0" sz="1050" u="none" cap="none" strike="noStrike">
              <a:solidFill>
                <a:schemeClr val="dk1"/>
              </a:solidFill>
              <a:latin typeface="Calibri"/>
              <a:ea typeface="Calibri"/>
              <a:cs typeface="Calibri"/>
              <a:sym typeface="Calibri"/>
            </a:endParaRPr>
          </a:p>
        </p:txBody>
      </p:sp>
      <p:sp>
        <p:nvSpPr>
          <p:cNvPr id="2514" name="Google Shape;2514;p77"/>
          <p:cNvSpPr/>
          <p:nvPr/>
        </p:nvSpPr>
        <p:spPr>
          <a:xfrm>
            <a:off x="566928" y="2487168"/>
            <a:ext cx="11057839" cy="566928"/>
          </a:xfrm>
          <a:prstGeom prst="roundRect">
            <a:avLst>
              <a:gd fmla="val 1451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77"/>
          <p:cNvSpPr/>
          <p:nvPr/>
        </p:nvSpPr>
        <p:spPr>
          <a:xfrm>
            <a:off x="713232" y="2596896"/>
            <a:ext cx="82296" cy="347472"/>
          </a:xfrm>
          <a:prstGeom prst="roundRect">
            <a:avLst>
              <a:gd fmla="val 44444" name="adj"/>
            </a:avLst>
          </a:prstGeom>
          <a:solidFill>
            <a:srgbClr val="6B5B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77"/>
          <p:cNvSpPr/>
          <p:nvPr/>
        </p:nvSpPr>
        <p:spPr>
          <a:xfrm>
            <a:off x="950976" y="2487168"/>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SGD + momentum</a:t>
            </a:r>
            <a:endParaRPr b="0" i="0" sz="1200" u="none" cap="none" strike="noStrike">
              <a:solidFill>
                <a:schemeClr val="dk1"/>
              </a:solidFill>
              <a:latin typeface="Calibri"/>
              <a:ea typeface="Calibri"/>
              <a:cs typeface="Calibri"/>
              <a:sym typeface="Calibri"/>
            </a:endParaRPr>
          </a:p>
        </p:txBody>
      </p:sp>
      <p:sp>
        <p:nvSpPr>
          <p:cNvPr id="2517" name="Google Shape;2517;p77"/>
          <p:cNvSpPr/>
          <p:nvPr/>
        </p:nvSpPr>
        <p:spPr>
          <a:xfrm>
            <a:off x="2852928" y="2487168"/>
            <a:ext cx="3017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v ← αv − εg ;  θ ← θ + v</a:t>
            </a:r>
            <a:endParaRPr b="0" i="0" sz="1050" u="none" cap="none" strike="noStrike">
              <a:solidFill>
                <a:schemeClr val="dk1"/>
              </a:solidFill>
              <a:latin typeface="Calibri"/>
              <a:ea typeface="Calibri"/>
              <a:cs typeface="Calibri"/>
              <a:sym typeface="Calibri"/>
            </a:endParaRPr>
          </a:p>
        </p:txBody>
      </p:sp>
      <p:sp>
        <p:nvSpPr>
          <p:cNvPr id="2518" name="Google Shape;2518;p77"/>
          <p:cNvSpPr/>
          <p:nvPr/>
        </p:nvSpPr>
        <p:spPr>
          <a:xfrm>
            <a:off x="5961888" y="2487168"/>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ε, α</a:t>
            </a:r>
            <a:endParaRPr b="0" i="0" sz="1100" u="none" cap="none" strike="noStrike">
              <a:solidFill>
                <a:schemeClr val="dk1"/>
              </a:solidFill>
              <a:latin typeface="Calibri"/>
              <a:ea typeface="Calibri"/>
              <a:cs typeface="Calibri"/>
              <a:sym typeface="Calibri"/>
            </a:endParaRPr>
          </a:p>
        </p:txBody>
      </p:sp>
      <p:sp>
        <p:nvSpPr>
          <p:cNvPr id="2519" name="Google Shape;2519;p77"/>
          <p:cNvSpPr/>
          <p:nvPr/>
        </p:nvSpPr>
        <p:spPr>
          <a:xfrm>
            <a:off x="7790688" y="2487168"/>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Damps oscillation across narrow valleys and accelerates along consistent directions.</a:t>
            </a:r>
            <a:endParaRPr b="0" i="0" sz="1050" u="none" cap="none" strike="noStrike">
              <a:solidFill>
                <a:schemeClr val="dk1"/>
              </a:solidFill>
              <a:latin typeface="Calibri"/>
              <a:ea typeface="Calibri"/>
              <a:cs typeface="Calibri"/>
              <a:sym typeface="Calibri"/>
            </a:endParaRPr>
          </a:p>
        </p:txBody>
      </p:sp>
      <p:sp>
        <p:nvSpPr>
          <p:cNvPr id="2520" name="Google Shape;2520;p77"/>
          <p:cNvSpPr/>
          <p:nvPr/>
        </p:nvSpPr>
        <p:spPr>
          <a:xfrm>
            <a:off x="566928" y="3145536"/>
            <a:ext cx="11057839"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77"/>
          <p:cNvSpPr/>
          <p:nvPr/>
        </p:nvSpPr>
        <p:spPr>
          <a:xfrm>
            <a:off x="713232" y="3255264"/>
            <a:ext cx="82296" cy="347472"/>
          </a:xfrm>
          <a:prstGeom prst="roundRect">
            <a:avLst>
              <a:gd fmla="val 44444" name="adj"/>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77"/>
          <p:cNvSpPr/>
          <p:nvPr/>
        </p:nvSpPr>
        <p:spPr>
          <a:xfrm>
            <a:off x="950976" y="3145536"/>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Nesterov momentum</a:t>
            </a:r>
            <a:endParaRPr b="0" i="0" sz="1200" u="none" cap="none" strike="noStrike">
              <a:solidFill>
                <a:schemeClr val="dk1"/>
              </a:solidFill>
              <a:latin typeface="Calibri"/>
              <a:ea typeface="Calibri"/>
              <a:cs typeface="Calibri"/>
              <a:sym typeface="Calibri"/>
            </a:endParaRPr>
          </a:p>
        </p:txBody>
      </p:sp>
      <p:sp>
        <p:nvSpPr>
          <p:cNvPr id="2523" name="Google Shape;2523;p77"/>
          <p:cNvSpPr/>
          <p:nvPr/>
        </p:nvSpPr>
        <p:spPr>
          <a:xfrm>
            <a:off x="2852928" y="3145536"/>
            <a:ext cx="3017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θ̃ ← θ + αv, then correct</a:t>
            </a:r>
            <a:endParaRPr b="0" i="0" sz="1050" u="none" cap="none" strike="noStrike">
              <a:solidFill>
                <a:schemeClr val="dk1"/>
              </a:solidFill>
              <a:latin typeface="Calibri"/>
              <a:ea typeface="Calibri"/>
              <a:cs typeface="Calibri"/>
              <a:sym typeface="Calibri"/>
            </a:endParaRPr>
          </a:p>
        </p:txBody>
      </p:sp>
      <p:sp>
        <p:nvSpPr>
          <p:cNvPr id="2524" name="Google Shape;2524;p77"/>
          <p:cNvSpPr/>
          <p:nvPr/>
        </p:nvSpPr>
        <p:spPr>
          <a:xfrm>
            <a:off x="5961888" y="3145536"/>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ε, α</a:t>
            </a:r>
            <a:endParaRPr b="0" i="0" sz="1100" u="none" cap="none" strike="noStrike">
              <a:solidFill>
                <a:schemeClr val="dk1"/>
              </a:solidFill>
              <a:latin typeface="Calibri"/>
              <a:ea typeface="Calibri"/>
              <a:cs typeface="Calibri"/>
              <a:sym typeface="Calibri"/>
            </a:endParaRPr>
          </a:p>
        </p:txBody>
      </p:sp>
      <p:sp>
        <p:nvSpPr>
          <p:cNvPr id="2525" name="Google Shape;2525;p77"/>
          <p:cNvSpPr/>
          <p:nvPr/>
        </p:nvSpPr>
        <p:spPr>
          <a:xfrm>
            <a:off x="7790688" y="3145536"/>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Looks ahead before committing, so overshoot is corrected within the same step.</a:t>
            </a:r>
            <a:endParaRPr b="0" i="0" sz="1050" u="none" cap="none" strike="noStrike">
              <a:solidFill>
                <a:schemeClr val="dk1"/>
              </a:solidFill>
              <a:latin typeface="Calibri"/>
              <a:ea typeface="Calibri"/>
              <a:cs typeface="Calibri"/>
              <a:sym typeface="Calibri"/>
            </a:endParaRPr>
          </a:p>
        </p:txBody>
      </p:sp>
      <p:sp>
        <p:nvSpPr>
          <p:cNvPr id="2526" name="Google Shape;2526;p77"/>
          <p:cNvSpPr/>
          <p:nvPr/>
        </p:nvSpPr>
        <p:spPr>
          <a:xfrm>
            <a:off x="566928" y="3803904"/>
            <a:ext cx="11057839" cy="566928"/>
          </a:xfrm>
          <a:prstGeom prst="roundRect">
            <a:avLst>
              <a:gd fmla="val 1451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77"/>
          <p:cNvSpPr/>
          <p:nvPr/>
        </p:nvSpPr>
        <p:spPr>
          <a:xfrm>
            <a:off x="713232" y="3913632"/>
            <a:ext cx="82296" cy="347472"/>
          </a:xfrm>
          <a:prstGeom prst="roundRect">
            <a:avLst>
              <a:gd fmla="val 44444" name="adj"/>
            </a:avLst>
          </a:prstGeom>
          <a:solidFill>
            <a:srgbClr val="B84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77"/>
          <p:cNvSpPr/>
          <p:nvPr/>
        </p:nvSpPr>
        <p:spPr>
          <a:xfrm>
            <a:off x="950976" y="3803904"/>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AdaGrad</a:t>
            </a:r>
            <a:endParaRPr b="0" i="0" sz="1200" u="none" cap="none" strike="noStrike">
              <a:solidFill>
                <a:schemeClr val="dk1"/>
              </a:solidFill>
              <a:latin typeface="Calibri"/>
              <a:ea typeface="Calibri"/>
              <a:cs typeface="Calibri"/>
              <a:sym typeface="Calibri"/>
            </a:endParaRPr>
          </a:p>
        </p:txBody>
      </p:sp>
      <p:sp>
        <p:nvSpPr>
          <p:cNvPr id="2529" name="Google Shape;2529;p77"/>
          <p:cNvSpPr/>
          <p:nvPr/>
        </p:nvSpPr>
        <p:spPr>
          <a:xfrm>
            <a:off x="2852928" y="3803904"/>
            <a:ext cx="3017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r ← r + g⊙g</a:t>
            </a:r>
            <a:endParaRPr b="0" i="0" sz="1050" u="none" cap="none" strike="noStrike">
              <a:solidFill>
                <a:schemeClr val="dk1"/>
              </a:solidFill>
              <a:latin typeface="Calibri"/>
              <a:ea typeface="Calibri"/>
              <a:cs typeface="Calibri"/>
              <a:sym typeface="Calibri"/>
            </a:endParaRPr>
          </a:p>
        </p:txBody>
      </p:sp>
      <p:sp>
        <p:nvSpPr>
          <p:cNvPr id="2530" name="Google Shape;2530;p77"/>
          <p:cNvSpPr/>
          <p:nvPr/>
        </p:nvSpPr>
        <p:spPr>
          <a:xfrm>
            <a:off x="5961888" y="3803904"/>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ε</a:t>
            </a:r>
            <a:endParaRPr b="0" i="0" sz="1100" u="none" cap="none" strike="noStrike">
              <a:solidFill>
                <a:schemeClr val="dk1"/>
              </a:solidFill>
              <a:latin typeface="Calibri"/>
              <a:ea typeface="Calibri"/>
              <a:cs typeface="Calibri"/>
              <a:sym typeface="Calibri"/>
            </a:endParaRPr>
          </a:p>
        </p:txBody>
      </p:sp>
      <p:sp>
        <p:nvSpPr>
          <p:cNvPr id="2531" name="Google Shape;2531;p77"/>
          <p:cNvSpPr/>
          <p:nvPr/>
        </p:nvSpPr>
        <p:spPr>
          <a:xfrm>
            <a:off x="7790688" y="3803904"/>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Per-parameter rates. Strong on convex problems; the rate can shrink too far, too early on deep ones.</a:t>
            </a:r>
            <a:endParaRPr b="0" i="0" sz="1050" u="none" cap="none" strike="noStrike">
              <a:solidFill>
                <a:schemeClr val="dk1"/>
              </a:solidFill>
              <a:latin typeface="Calibri"/>
              <a:ea typeface="Calibri"/>
              <a:cs typeface="Calibri"/>
              <a:sym typeface="Calibri"/>
            </a:endParaRPr>
          </a:p>
        </p:txBody>
      </p:sp>
      <p:sp>
        <p:nvSpPr>
          <p:cNvPr id="2532" name="Google Shape;2532;p77"/>
          <p:cNvSpPr/>
          <p:nvPr/>
        </p:nvSpPr>
        <p:spPr>
          <a:xfrm>
            <a:off x="566928" y="4462272"/>
            <a:ext cx="11057839" cy="566928"/>
          </a:xfrm>
          <a:prstGeom prst="roundRect">
            <a:avLst>
              <a:gd fmla="val 14516" name="adj"/>
            </a:avLst>
          </a:prstGeom>
          <a:solidFill>
            <a:srgbClr val="F4F1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77"/>
          <p:cNvSpPr/>
          <p:nvPr/>
        </p:nvSpPr>
        <p:spPr>
          <a:xfrm>
            <a:off x="713232" y="4572000"/>
            <a:ext cx="82296" cy="347472"/>
          </a:xfrm>
          <a:prstGeom prst="roundRect">
            <a:avLst>
              <a:gd fmla="val 44444" name="adj"/>
            </a:avLst>
          </a:prstGeom>
          <a:solidFill>
            <a:srgbClr val="C466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77"/>
          <p:cNvSpPr/>
          <p:nvPr/>
        </p:nvSpPr>
        <p:spPr>
          <a:xfrm>
            <a:off x="950976" y="4462272"/>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RMSProp</a:t>
            </a:r>
            <a:endParaRPr b="0" i="0" sz="1200" u="none" cap="none" strike="noStrike">
              <a:solidFill>
                <a:schemeClr val="dk1"/>
              </a:solidFill>
              <a:latin typeface="Calibri"/>
              <a:ea typeface="Calibri"/>
              <a:cs typeface="Calibri"/>
              <a:sym typeface="Calibri"/>
            </a:endParaRPr>
          </a:p>
        </p:txBody>
      </p:sp>
      <p:sp>
        <p:nvSpPr>
          <p:cNvPr id="2535" name="Google Shape;2535;p77"/>
          <p:cNvSpPr/>
          <p:nvPr/>
        </p:nvSpPr>
        <p:spPr>
          <a:xfrm>
            <a:off x="2852928" y="4462272"/>
            <a:ext cx="3017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r ← ρr + (1−ρ)g⊙g</a:t>
            </a:r>
            <a:endParaRPr b="0" i="0" sz="1050" u="none" cap="none" strike="noStrike">
              <a:solidFill>
                <a:schemeClr val="dk1"/>
              </a:solidFill>
              <a:latin typeface="Calibri"/>
              <a:ea typeface="Calibri"/>
              <a:cs typeface="Calibri"/>
              <a:sym typeface="Calibri"/>
            </a:endParaRPr>
          </a:p>
        </p:txBody>
      </p:sp>
      <p:sp>
        <p:nvSpPr>
          <p:cNvPr id="2536" name="Google Shape;2536;p77"/>
          <p:cNvSpPr/>
          <p:nvPr/>
        </p:nvSpPr>
        <p:spPr>
          <a:xfrm>
            <a:off x="5961888" y="4462272"/>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ε, ρ</a:t>
            </a:r>
            <a:endParaRPr b="0" i="0" sz="1100" u="none" cap="none" strike="noStrike">
              <a:solidFill>
                <a:schemeClr val="dk1"/>
              </a:solidFill>
              <a:latin typeface="Calibri"/>
              <a:ea typeface="Calibri"/>
              <a:cs typeface="Calibri"/>
              <a:sym typeface="Calibri"/>
            </a:endParaRPr>
          </a:p>
        </p:txBody>
      </p:sp>
      <p:sp>
        <p:nvSpPr>
          <p:cNvPr id="2537" name="Google Shape;2537;p77"/>
          <p:cNvSpPr/>
          <p:nvPr/>
        </p:nvSpPr>
        <p:spPr>
          <a:xfrm>
            <a:off x="7790688" y="4462272"/>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Forgets the distant past. A practical default and a routine go-to for deep networks.</a:t>
            </a:r>
            <a:endParaRPr b="0" i="0" sz="1050" u="none" cap="none" strike="noStrike">
              <a:solidFill>
                <a:schemeClr val="dk1"/>
              </a:solidFill>
              <a:latin typeface="Calibri"/>
              <a:ea typeface="Calibri"/>
              <a:cs typeface="Calibri"/>
              <a:sym typeface="Calibri"/>
            </a:endParaRPr>
          </a:p>
        </p:txBody>
      </p:sp>
      <p:sp>
        <p:nvSpPr>
          <p:cNvPr id="2538" name="Google Shape;2538;p77"/>
          <p:cNvSpPr/>
          <p:nvPr/>
        </p:nvSpPr>
        <p:spPr>
          <a:xfrm>
            <a:off x="566928" y="5120640"/>
            <a:ext cx="11057839" cy="566928"/>
          </a:xfrm>
          <a:prstGeom prst="roundRect">
            <a:avLst>
              <a:gd fmla="val 14516"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77"/>
          <p:cNvSpPr/>
          <p:nvPr/>
        </p:nvSpPr>
        <p:spPr>
          <a:xfrm>
            <a:off x="713232" y="5230368"/>
            <a:ext cx="82296" cy="347472"/>
          </a:xfrm>
          <a:prstGeom prst="roundRect">
            <a:avLst>
              <a:gd fmla="val 44444" name="adj"/>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77"/>
          <p:cNvSpPr/>
          <p:nvPr/>
        </p:nvSpPr>
        <p:spPr>
          <a:xfrm>
            <a:off x="950976" y="5120640"/>
            <a:ext cx="21031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200"/>
              <a:buFont typeface="Calibri"/>
              <a:buNone/>
            </a:pPr>
            <a:r>
              <a:rPr b="1" i="0" lang="en-US" sz="1200" u="none" cap="none" strike="noStrike">
                <a:solidFill>
                  <a:srgbClr val="2D1B4E"/>
                </a:solidFill>
                <a:latin typeface="Calibri"/>
                <a:ea typeface="Calibri"/>
                <a:cs typeface="Calibri"/>
                <a:sym typeface="Calibri"/>
              </a:rPr>
              <a:t>Adam</a:t>
            </a:r>
            <a:endParaRPr b="0" i="0" sz="1200" u="none" cap="none" strike="noStrike">
              <a:solidFill>
                <a:schemeClr val="dk1"/>
              </a:solidFill>
              <a:latin typeface="Calibri"/>
              <a:ea typeface="Calibri"/>
              <a:cs typeface="Calibri"/>
              <a:sym typeface="Calibri"/>
            </a:endParaRPr>
          </a:p>
        </p:txBody>
      </p:sp>
      <p:sp>
        <p:nvSpPr>
          <p:cNvPr id="2541" name="Google Shape;2541;p77"/>
          <p:cNvSpPr/>
          <p:nvPr/>
        </p:nvSpPr>
        <p:spPr>
          <a:xfrm>
            <a:off x="2852928" y="5120640"/>
            <a:ext cx="3017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C2E"/>
              </a:buClr>
              <a:buSzPts val="1050"/>
              <a:buFont typeface="Calibri"/>
              <a:buNone/>
            </a:pPr>
            <a:r>
              <a:rPr b="0" i="0" lang="en-US" sz="1050" u="none" cap="none" strike="noStrike">
                <a:solidFill>
                  <a:srgbClr val="241C2E"/>
                </a:solidFill>
                <a:latin typeface="Calibri"/>
                <a:ea typeface="Calibri"/>
                <a:cs typeface="Calibri"/>
                <a:sym typeface="Calibri"/>
              </a:rPr>
              <a:t>momentum + RMSProp + bias correction</a:t>
            </a:r>
            <a:endParaRPr b="0" i="0" sz="1050" u="none" cap="none" strike="noStrike">
              <a:solidFill>
                <a:schemeClr val="dk1"/>
              </a:solidFill>
              <a:latin typeface="Calibri"/>
              <a:ea typeface="Calibri"/>
              <a:cs typeface="Calibri"/>
              <a:sym typeface="Calibri"/>
            </a:endParaRPr>
          </a:p>
        </p:txBody>
      </p:sp>
      <p:sp>
        <p:nvSpPr>
          <p:cNvPr id="2542" name="Google Shape;2542;p77"/>
          <p:cNvSpPr/>
          <p:nvPr/>
        </p:nvSpPr>
        <p:spPr>
          <a:xfrm>
            <a:off x="5961888" y="5120640"/>
            <a:ext cx="1737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61F"/>
              </a:buClr>
              <a:buSzPts val="1100"/>
              <a:buFont typeface="Calibri"/>
              <a:buNone/>
            </a:pPr>
            <a:r>
              <a:rPr b="1" i="0" lang="en-US" sz="1100" u="none" cap="none" strike="noStrike">
                <a:solidFill>
                  <a:srgbClr val="C4661F"/>
                </a:solidFill>
                <a:latin typeface="Calibri"/>
                <a:ea typeface="Calibri"/>
                <a:cs typeface="Calibri"/>
                <a:sym typeface="Calibri"/>
              </a:rPr>
              <a:t>ε, ρ₁, ρ₂</a:t>
            </a:r>
            <a:endParaRPr b="0" i="0" sz="1100" u="none" cap="none" strike="noStrike">
              <a:solidFill>
                <a:schemeClr val="dk1"/>
              </a:solidFill>
              <a:latin typeface="Calibri"/>
              <a:ea typeface="Calibri"/>
              <a:cs typeface="Calibri"/>
              <a:sym typeface="Calibri"/>
            </a:endParaRPr>
          </a:p>
        </p:txBody>
      </p:sp>
      <p:sp>
        <p:nvSpPr>
          <p:cNvPr id="2543" name="Google Shape;2543;p77"/>
          <p:cNvSpPr/>
          <p:nvPr/>
        </p:nvSpPr>
        <p:spPr>
          <a:xfrm>
            <a:off x="7790688" y="5120640"/>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6880"/>
              </a:buClr>
              <a:buSzPts val="1050"/>
              <a:buFont typeface="Calibri"/>
              <a:buNone/>
            </a:pPr>
            <a:r>
              <a:rPr b="0" i="0" lang="en-US" sz="1050" u="none" cap="none" strike="noStrike">
                <a:solidFill>
                  <a:srgbClr val="6E6880"/>
                </a:solidFill>
                <a:latin typeface="Calibri"/>
                <a:ea typeface="Calibri"/>
                <a:cs typeface="Calibri"/>
                <a:sym typeface="Calibri"/>
              </a:rPr>
              <a:t>Usually the first thing to try. Works well out of the box with the suggested defaults.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8" name="Shape 2548"/>
        <p:cNvGrpSpPr/>
        <p:nvPr/>
      </p:nvGrpSpPr>
      <p:grpSpPr>
        <a:xfrm>
          <a:off x="0" y="0"/>
          <a:ext cx="0" cy="0"/>
          <a:chOff x="0" y="0"/>
          <a:chExt cx="0" cy="0"/>
        </a:xfrm>
      </p:grpSpPr>
      <p:sp>
        <p:nvSpPr>
          <p:cNvPr id="2549" name="Google Shape;2549;p78"/>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BEYOND FIRST ORDER</a:t>
            </a:r>
            <a:endParaRPr b="0" i="0" sz="1050" u="none" cap="none" strike="noStrike">
              <a:solidFill>
                <a:schemeClr val="dk1"/>
              </a:solidFill>
              <a:latin typeface="Calibri"/>
              <a:ea typeface="Calibri"/>
              <a:cs typeface="Calibri"/>
              <a:sym typeface="Calibri"/>
            </a:endParaRPr>
          </a:p>
        </p:txBody>
      </p:sp>
      <p:sp>
        <p:nvSpPr>
          <p:cNvPr id="2550" name="Google Shape;2550;p78"/>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Approximate second-order methods</a:t>
            </a:r>
            <a:endParaRPr b="0" i="0" sz="2800" u="none" cap="none" strike="noStrike">
              <a:solidFill>
                <a:schemeClr val="dk1"/>
              </a:solidFill>
              <a:latin typeface="Calibri"/>
              <a:ea typeface="Calibri"/>
              <a:cs typeface="Calibri"/>
              <a:sym typeface="Calibri"/>
            </a:endParaRPr>
          </a:p>
        </p:txBody>
      </p:sp>
      <p:sp>
        <p:nvSpPr>
          <p:cNvPr id="2551" name="Google Shape;2551;p78"/>
          <p:cNvSpPr/>
          <p:nvPr/>
        </p:nvSpPr>
        <p:spPr>
          <a:xfrm>
            <a:off x="566928" y="1325880"/>
            <a:ext cx="11057839" cy="4572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241C2E"/>
              </a:buClr>
              <a:buSzPts val="1350"/>
              <a:buFont typeface="Calibri"/>
              <a:buChar char="•"/>
            </a:pPr>
            <a:r>
              <a:rPr b="1" i="0" lang="en-US" sz="1350" u="none" cap="none" strike="noStrike">
                <a:solidFill>
                  <a:srgbClr val="241C2E"/>
                </a:solidFill>
                <a:latin typeface="Calibri"/>
                <a:ea typeface="Calibri"/>
                <a:cs typeface="Calibri"/>
                <a:sym typeface="Calibri"/>
              </a:rPr>
              <a:t>Second-order methods make use of second derivatives to improve optimization. The most widely used is Newton's method.</a:t>
            </a:r>
            <a:endParaRPr b="0" i="0" sz="1350" u="none" cap="none" strike="noStrike">
              <a:solidFill>
                <a:schemeClr val="dk1"/>
              </a:solidFill>
              <a:latin typeface="Calibri"/>
              <a:ea typeface="Calibri"/>
              <a:cs typeface="Calibri"/>
              <a:sym typeface="Calibri"/>
            </a:endParaRPr>
          </a:p>
        </p:txBody>
      </p:sp>
      <p:sp>
        <p:nvSpPr>
          <p:cNvPr id="2552" name="Google Shape;2552;p78"/>
          <p:cNvSpPr/>
          <p:nvPr/>
        </p:nvSpPr>
        <p:spPr>
          <a:xfrm>
            <a:off x="566928" y="1828800"/>
            <a:ext cx="11057839" cy="822960"/>
          </a:xfrm>
          <a:prstGeom prst="roundRect">
            <a:avLst>
              <a:gd fmla="val 10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78"/>
          <p:cNvSpPr/>
          <p:nvPr/>
        </p:nvSpPr>
        <p:spPr>
          <a:xfrm>
            <a:off x="704088" y="1828800"/>
            <a:ext cx="10783519"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2100"/>
              <a:buFont typeface="Calibri"/>
              <a:buNone/>
            </a:pPr>
            <a:r>
              <a:rPr b="1" i="0" lang="en-US" sz="2100" u="none" cap="none" strike="noStrike">
                <a:solidFill>
                  <a:srgbClr val="E8833A"/>
                </a:solidFill>
                <a:latin typeface="Calibri"/>
                <a:ea typeface="Calibri"/>
                <a:cs typeface="Calibri"/>
                <a:sym typeface="Calibri"/>
              </a:rPr>
              <a:t>θ*  =  θ₀  −  H⁻¹ ∇θ J(θ₀)</a:t>
            </a:r>
            <a:endParaRPr b="0" i="0" sz="2100" u="none" cap="none" strike="noStrike">
              <a:solidFill>
                <a:schemeClr val="dk1"/>
              </a:solidFill>
              <a:latin typeface="Calibri"/>
              <a:ea typeface="Calibri"/>
              <a:cs typeface="Calibri"/>
              <a:sym typeface="Calibri"/>
            </a:endParaRPr>
          </a:p>
        </p:txBody>
      </p:sp>
      <p:sp>
        <p:nvSpPr>
          <p:cNvPr id="2554" name="Google Shape;2554;p78"/>
          <p:cNvSpPr/>
          <p:nvPr/>
        </p:nvSpPr>
        <p:spPr>
          <a:xfrm>
            <a:off x="566928" y="2743200"/>
            <a:ext cx="11057839"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6880"/>
              </a:buClr>
              <a:buSzPts val="1200"/>
              <a:buFont typeface="Calibri"/>
              <a:buNone/>
            </a:pPr>
            <a:r>
              <a:rPr b="0" i="1" lang="en-US" sz="1200" u="none" cap="none" strike="noStrike">
                <a:solidFill>
                  <a:srgbClr val="6E6880"/>
                </a:solidFill>
                <a:latin typeface="Calibri"/>
                <a:ea typeface="Calibri"/>
                <a:cs typeface="Calibri"/>
                <a:sym typeface="Calibri"/>
              </a:rPr>
              <a:t>H is the Hessian of J — the square matrix of second-order partial derivatives of the function with respect to θ, evaluated at θ₀.</a:t>
            </a:r>
            <a:endParaRPr b="0" i="0" sz="1200" u="none" cap="none" strike="noStrike">
              <a:solidFill>
                <a:schemeClr val="dk1"/>
              </a:solidFill>
              <a:latin typeface="Calibri"/>
              <a:ea typeface="Calibri"/>
              <a:cs typeface="Calibri"/>
              <a:sym typeface="Calibri"/>
            </a:endParaRPr>
          </a:p>
        </p:txBody>
      </p:sp>
      <p:sp>
        <p:nvSpPr>
          <p:cNvPr id="2555" name="Google Shape;2555;p78"/>
          <p:cNvSpPr/>
          <p:nvPr/>
        </p:nvSpPr>
        <p:spPr>
          <a:xfrm>
            <a:off x="566928" y="3200400"/>
            <a:ext cx="356616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78"/>
          <p:cNvSpPr/>
          <p:nvPr/>
        </p:nvSpPr>
        <p:spPr>
          <a:xfrm>
            <a:off x="822960" y="3438144"/>
            <a:ext cx="420624" cy="420624"/>
          </a:xfrm>
          <a:prstGeom prst="ellipse">
            <a:avLst/>
          </a:prstGeom>
          <a:solidFill>
            <a:srgbClr val="1F8A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78"/>
          <p:cNvSpPr/>
          <p:nvPr/>
        </p:nvSpPr>
        <p:spPr>
          <a:xfrm>
            <a:off x="822960" y="34381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558" name="Google Shape;2558;p78"/>
          <p:cNvSpPr/>
          <p:nvPr/>
        </p:nvSpPr>
        <p:spPr>
          <a:xfrm>
            <a:off x="1408176" y="34198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appeal</a:t>
            </a:r>
            <a:endParaRPr b="0" i="0" sz="1500" u="none" cap="none" strike="noStrike">
              <a:solidFill>
                <a:schemeClr val="dk1"/>
              </a:solidFill>
              <a:latin typeface="Calibri"/>
              <a:ea typeface="Calibri"/>
              <a:cs typeface="Calibri"/>
              <a:sym typeface="Calibri"/>
            </a:endParaRPr>
          </a:p>
        </p:txBody>
      </p:sp>
      <p:sp>
        <p:nvSpPr>
          <p:cNvPr id="2559" name="Google Shape;2559;p78"/>
          <p:cNvSpPr/>
          <p:nvPr/>
        </p:nvSpPr>
        <p:spPr>
          <a:xfrm>
            <a:off x="841248" y="3986784"/>
            <a:ext cx="3017520" cy="1362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Second derivatives describe the local curvature of the loss, which allows a more efficient update: take wider steps where the curvature is shallow and smaller steps where it is steep.</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The absence of a learning-rate hyperparameter is a large advantage over first-order methods.</a:t>
            </a:r>
            <a:endParaRPr b="0" i="0" sz="1150" u="none" cap="none" strike="noStrike">
              <a:solidFill>
                <a:schemeClr val="dk1"/>
              </a:solidFill>
              <a:latin typeface="Calibri"/>
              <a:ea typeface="Calibri"/>
              <a:cs typeface="Calibri"/>
              <a:sym typeface="Calibri"/>
            </a:endParaRPr>
          </a:p>
        </p:txBody>
      </p:sp>
      <p:sp>
        <p:nvSpPr>
          <p:cNvPr id="2560" name="Google Shape;2560;p78"/>
          <p:cNvSpPr/>
          <p:nvPr/>
        </p:nvSpPr>
        <p:spPr>
          <a:xfrm>
            <a:off x="4370832" y="3200400"/>
            <a:ext cx="356616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78"/>
          <p:cNvSpPr/>
          <p:nvPr/>
        </p:nvSpPr>
        <p:spPr>
          <a:xfrm>
            <a:off x="4626864" y="3438144"/>
            <a:ext cx="420624" cy="420624"/>
          </a:xfrm>
          <a:prstGeom prst="ellipse">
            <a:avLst/>
          </a:prstGeom>
          <a:solidFill>
            <a:srgbClr val="B845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78"/>
          <p:cNvSpPr/>
          <p:nvPr/>
        </p:nvSpPr>
        <p:spPr>
          <a:xfrm>
            <a:off x="4626864" y="34381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563" name="Google Shape;2563;p78"/>
          <p:cNvSpPr/>
          <p:nvPr/>
        </p:nvSpPr>
        <p:spPr>
          <a:xfrm>
            <a:off x="5212080" y="34198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The cost</a:t>
            </a:r>
            <a:endParaRPr b="0" i="0" sz="1500" u="none" cap="none" strike="noStrike">
              <a:solidFill>
                <a:schemeClr val="dk1"/>
              </a:solidFill>
              <a:latin typeface="Calibri"/>
              <a:ea typeface="Calibri"/>
              <a:cs typeface="Calibri"/>
              <a:sym typeface="Calibri"/>
            </a:endParaRPr>
          </a:p>
        </p:txBody>
      </p:sp>
      <p:sp>
        <p:nvSpPr>
          <p:cNvPr id="2564" name="Google Shape;2564;p78"/>
          <p:cNvSpPr/>
          <p:nvPr/>
        </p:nvSpPr>
        <p:spPr>
          <a:xfrm>
            <a:off x="4645152" y="3986784"/>
            <a:ext cx="3017520" cy="1362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Computing — and then inverting — the Hessian in its explicit form is a very costly process in both space and time.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For a network with millions of parameters the Hessian has millions squared entries, which rules the method out directly.</a:t>
            </a:r>
            <a:endParaRPr b="0" i="0" sz="1150" u="none" cap="none" strike="noStrike">
              <a:solidFill>
                <a:schemeClr val="dk1"/>
              </a:solidFill>
              <a:latin typeface="Calibri"/>
              <a:ea typeface="Calibri"/>
              <a:cs typeface="Calibri"/>
              <a:sym typeface="Calibri"/>
            </a:endParaRPr>
          </a:p>
        </p:txBody>
      </p:sp>
      <p:sp>
        <p:nvSpPr>
          <p:cNvPr id="2565" name="Google Shape;2565;p78"/>
          <p:cNvSpPr/>
          <p:nvPr/>
        </p:nvSpPr>
        <p:spPr>
          <a:xfrm>
            <a:off x="8174736" y="3200400"/>
            <a:ext cx="3566160" cy="2331720"/>
          </a:xfrm>
          <a:prstGeom prst="roundRect">
            <a:avLst>
              <a:gd fmla="val 3529"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78"/>
          <p:cNvSpPr/>
          <p:nvPr/>
        </p:nvSpPr>
        <p:spPr>
          <a:xfrm>
            <a:off x="8430768" y="3438144"/>
            <a:ext cx="420624" cy="420624"/>
          </a:xfrm>
          <a:prstGeom prst="ellipse">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78"/>
          <p:cNvSpPr/>
          <p:nvPr/>
        </p:nvSpPr>
        <p:spPr>
          <a:xfrm>
            <a:off x="8430768" y="343814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2568" name="Google Shape;2568;p78"/>
          <p:cNvSpPr/>
          <p:nvPr/>
        </p:nvSpPr>
        <p:spPr>
          <a:xfrm>
            <a:off x="9015984" y="3419856"/>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500"/>
              <a:buFont typeface="Cambria"/>
              <a:buNone/>
            </a:pPr>
            <a:r>
              <a:rPr b="1" i="0" lang="en-US" sz="1500" u="none" cap="none" strike="noStrike">
                <a:solidFill>
                  <a:srgbClr val="2D1B4E"/>
                </a:solidFill>
                <a:latin typeface="Cambria"/>
                <a:ea typeface="Cambria"/>
                <a:cs typeface="Cambria"/>
                <a:sym typeface="Cambria"/>
              </a:rPr>
              <a:t>Quasi-Newton methods</a:t>
            </a:r>
            <a:endParaRPr b="0" i="0" sz="1500" u="none" cap="none" strike="noStrike">
              <a:solidFill>
                <a:schemeClr val="dk1"/>
              </a:solidFill>
              <a:latin typeface="Calibri"/>
              <a:ea typeface="Calibri"/>
              <a:cs typeface="Calibri"/>
              <a:sym typeface="Calibri"/>
            </a:endParaRPr>
          </a:p>
        </p:txBody>
      </p:sp>
      <p:sp>
        <p:nvSpPr>
          <p:cNvPr id="2569" name="Google Shape;2569;p78"/>
          <p:cNvSpPr/>
          <p:nvPr/>
        </p:nvSpPr>
        <p:spPr>
          <a:xfrm>
            <a:off x="8449056" y="3986784"/>
            <a:ext cx="3017520" cy="136245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A large variety of methods seek the advantages of Newton's method without the computational burden, by approximating the Hessian. The most popular is L-BFGS.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Applying L-BFGS to mini-batches is tricky, and remains an active area of research.</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4" name="Shape 2574"/>
        <p:cNvGrpSpPr/>
        <p:nvPr/>
      </p:nvGrpSpPr>
      <p:grpSpPr>
        <a:xfrm>
          <a:off x="0" y="0"/>
          <a:ext cx="0" cy="0"/>
          <a:chOff x="0" y="0"/>
          <a:chExt cx="0" cy="0"/>
        </a:xfrm>
      </p:grpSpPr>
      <p:sp>
        <p:nvSpPr>
          <p:cNvPr id="2575" name="Google Shape;2575;p79"/>
          <p:cNvSpPr/>
          <p:nvPr/>
        </p:nvSpPr>
        <p:spPr>
          <a:xfrm>
            <a:off x="566928" y="256032"/>
            <a:ext cx="11057839"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050"/>
              <a:buFont typeface="Calibri"/>
              <a:buNone/>
            </a:pPr>
            <a:r>
              <a:rPr b="1" i="0" lang="en-US" sz="1050" u="none" cap="none" strike="noStrike">
                <a:solidFill>
                  <a:srgbClr val="E8833A"/>
                </a:solidFill>
                <a:latin typeface="Calibri"/>
                <a:ea typeface="Calibri"/>
                <a:cs typeface="Calibri"/>
                <a:sym typeface="Calibri"/>
              </a:rPr>
              <a:t>RECAP</a:t>
            </a:r>
            <a:endParaRPr b="0" i="0" sz="1050" u="none" cap="none" strike="noStrike">
              <a:solidFill>
                <a:schemeClr val="dk1"/>
              </a:solidFill>
              <a:latin typeface="Calibri"/>
              <a:ea typeface="Calibri"/>
              <a:cs typeface="Calibri"/>
              <a:sym typeface="Calibri"/>
            </a:endParaRPr>
          </a:p>
        </p:txBody>
      </p:sp>
      <p:sp>
        <p:nvSpPr>
          <p:cNvPr id="2576" name="Google Shape;2576;p79"/>
          <p:cNvSpPr/>
          <p:nvPr/>
        </p:nvSpPr>
        <p:spPr>
          <a:xfrm>
            <a:off x="566928" y="493776"/>
            <a:ext cx="11057839"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1B4E"/>
              </a:buClr>
              <a:buSzPts val="2800"/>
              <a:buFont typeface="Cambria"/>
              <a:buNone/>
            </a:pPr>
            <a:r>
              <a:rPr b="1" i="0" lang="en-US" sz="2800" u="none" cap="none" strike="noStrike">
                <a:solidFill>
                  <a:srgbClr val="2D1B4E"/>
                </a:solidFill>
                <a:latin typeface="Cambria"/>
                <a:ea typeface="Cambria"/>
                <a:cs typeface="Cambria"/>
                <a:sym typeface="Cambria"/>
              </a:rPr>
              <a:t>Optimization — what to take away</a:t>
            </a:r>
            <a:endParaRPr b="0" i="0" sz="2800" u="none" cap="none" strike="noStrike">
              <a:solidFill>
                <a:schemeClr val="dk1"/>
              </a:solidFill>
              <a:latin typeface="Calibri"/>
              <a:ea typeface="Calibri"/>
              <a:cs typeface="Calibri"/>
              <a:sym typeface="Calibri"/>
            </a:endParaRPr>
          </a:p>
        </p:txBody>
      </p:sp>
      <p:sp>
        <p:nvSpPr>
          <p:cNvPr id="2577" name="Google Shape;2577;p79"/>
          <p:cNvSpPr/>
          <p:nvPr/>
        </p:nvSpPr>
        <p:spPr>
          <a:xfrm>
            <a:off x="566928" y="1325880"/>
            <a:ext cx="3566160" cy="2057400"/>
          </a:xfrm>
          <a:prstGeom prst="roundRect">
            <a:avLst>
              <a:gd fmla="val 4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79"/>
          <p:cNvSpPr/>
          <p:nvPr/>
        </p:nvSpPr>
        <p:spPr>
          <a:xfrm>
            <a:off x="822960" y="1545336"/>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79"/>
          <p:cNvSpPr/>
          <p:nvPr/>
        </p:nvSpPr>
        <p:spPr>
          <a:xfrm>
            <a:off x="822960" y="1545336"/>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01</a:t>
            </a:r>
            <a:endParaRPr b="0" i="0" sz="1400" u="none" cap="none" strike="noStrike">
              <a:solidFill>
                <a:schemeClr val="dk1"/>
              </a:solidFill>
              <a:latin typeface="Calibri"/>
              <a:ea typeface="Calibri"/>
              <a:cs typeface="Calibri"/>
              <a:sym typeface="Calibri"/>
            </a:endParaRPr>
          </a:p>
        </p:txBody>
      </p:sp>
      <p:sp>
        <p:nvSpPr>
          <p:cNvPr id="2580" name="Google Shape;2580;p79"/>
          <p:cNvSpPr/>
          <p:nvPr/>
        </p:nvSpPr>
        <p:spPr>
          <a:xfrm>
            <a:off x="1536192" y="1563624"/>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We optimise a proxy</a:t>
            </a:r>
            <a:endParaRPr b="0" i="0" sz="1400" u="none" cap="none" strike="noStrike">
              <a:solidFill>
                <a:schemeClr val="dk1"/>
              </a:solidFill>
              <a:latin typeface="Calibri"/>
              <a:ea typeface="Calibri"/>
              <a:cs typeface="Calibri"/>
              <a:sym typeface="Calibri"/>
            </a:endParaRPr>
          </a:p>
        </p:txBody>
      </p:sp>
      <p:sp>
        <p:nvSpPr>
          <p:cNvPr id="2581" name="Google Shape;2581;p79"/>
          <p:cNvSpPr/>
          <p:nvPr/>
        </p:nvSpPr>
        <p:spPr>
          <a:xfrm>
            <a:off x="822960" y="2130552"/>
            <a:ext cx="3063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We descend J because P is what we want but cannot reach directly. Accuracy and speed are both part of the goal.</a:t>
            </a:r>
            <a:endParaRPr b="0" i="0" sz="1150" u="none" cap="none" strike="noStrike">
              <a:solidFill>
                <a:schemeClr val="dk1"/>
              </a:solidFill>
              <a:latin typeface="Calibri"/>
              <a:ea typeface="Calibri"/>
              <a:cs typeface="Calibri"/>
              <a:sym typeface="Calibri"/>
            </a:endParaRPr>
          </a:p>
        </p:txBody>
      </p:sp>
      <p:sp>
        <p:nvSpPr>
          <p:cNvPr id="2582" name="Google Shape;2582;p79"/>
          <p:cNvSpPr/>
          <p:nvPr/>
        </p:nvSpPr>
        <p:spPr>
          <a:xfrm>
            <a:off x="4370832" y="1325880"/>
            <a:ext cx="3566160" cy="2057400"/>
          </a:xfrm>
          <a:prstGeom prst="roundRect">
            <a:avLst>
              <a:gd fmla="val 4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79"/>
          <p:cNvSpPr/>
          <p:nvPr/>
        </p:nvSpPr>
        <p:spPr>
          <a:xfrm>
            <a:off x="4626864" y="1545336"/>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79"/>
          <p:cNvSpPr/>
          <p:nvPr/>
        </p:nvSpPr>
        <p:spPr>
          <a:xfrm>
            <a:off x="4626864" y="1545336"/>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02</a:t>
            </a:r>
            <a:endParaRPr b="0" i="0" sz="1400" u="none" cap="none" strike="noStrike">
              <a:solidFill>
                <a:schemeClr val="dk1"/>
              </a:solidFill>
              <a:latin typeface="Calibri"/>
              <a:ea typeface="Calibri"/>
              <a:cs typeface="Calibri"/>
              <a:sym typeface="Calibri"/>
            </a:endParaRPr>
          </a:p>
        </p:txBody>
      </p:sp>
      <p:sp>
        <p:nvSpPr>
          <p:cNvPr id="2585" name="Google Shape;2585;p79"/>
          <p:cNvSpPr/>
          <p:nvPr/>
        </p:nvSpPr>
        <p:spPr>
          <a:xfrm>
            <a:off x="5340096" y="1563624"/>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The landscape fights back</a:t>
            </a:r>
            <a:endParaRPr b="0" i="0" sz="1400" u="none" cap="none" strike="noStrike">
              <a:solidFill>
                <a:schemeClr val="dk1"/>
              </a:solidFill>
              <a:latin typeface="Calibri"/>
              <a:ea typeface="Calibri"/>
              <a:cs typeface="Calibri"/>
              <a:sym typeface="Calibri"/>
            </a:endParaRPr>
          </a:p>
        </p:txBody>
      </p:sp>
      <p:sp>
        <p:nvSpPr>
          <p:cNvPr id="2586" name="Google Shape;2586;p79"/>
          <p:cNvSpPr/>
          <p:nvPr/>
        </p:nvSpPr>
        <p:spPr>
          <a:xfrm>
            <a:off x="4626864" y="2130552"/>
            <a:ext cx="3063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Vanishing and exploding gradients, cliffs, ill-conditioning and flat regions are the four recurring obstacles.</a:t>
            </a:r>
            <a:endParaRPr b="0" i="0" sz="1150" u="none" cap="none" strike="noStrike">
              <a:solidFill>
                <a:schemeClr val="dk1"/>
              </a:solidFill>
              <a:latin typeface="Calibri"/>
              <a:ea typeface="Calibri"/>
              <a:cs typeface="Calibri"/>
              <a:sym typeface="Calibri"/>
            </a:endParaRPr>
          </a:p>
        </p:txBody>
      </p:sp>
      <p:sp>
        <p:nvSpPr>
          <p:cNvPr id="2587" name="Google Shape;2587;p79"/>
          <p:cNvSpPr/>
          <p:nvPr/>
        </p:nvSpPr>
        <p:spPr>
          <a:xfrm>
            <a:off x="8174736" y="1325880"/>
            <a:ext cx="3566160" cy="2057400"/>
          </a:xfrm>
          <a:prstGeom prst="roundRect">
            <a:avLst>
              <a:gd fmla="val 4000" name="adj"/>
            </a:avLst>
          </a:prstGeom>
          <a:solidFill>
            <a:srgbClr val="F4F1F9"/>
          </a:solidFill>
          <a:ln>
            <a:noFill/>
          </a:ln>
          <a:effectLst>
            <a:outerShdw blurRad="114300" rotWithShape="0" algn="bl" dir="5400000" dist="12700">
              <a:srgbClr val="B7ADCB">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79"/>
          <p:cNvSpPr/>
          <p:nvPr/>
        </p:nvSpPr>
        <p:spPr>
          <a:xfrm>
            <a:off x="8430768" y="1545336"/>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79"/>
          <p:cNvSpPr/>
          <p:nvPr/>
        </p:nvSpPr>
        <p:spPr>
          <a:xfrm>
            <a:off x="8430768" y="1545336"/>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03</a:t>
            </a:r>
            <a:endParaRPr b="0" i="0" sz="1400" u="none" cap="none" strike="noStrike">
              <a:solidFill>
                <a:schemeClr val="dk1"/>
              </a:solidFill>
              <a:latin typeface="Calibri"/>
              <a:ea typeface="Calibri"/>
              <a:cs typeface="Calibri"/>
              <a:sym typeface="Calibri"/>
            </a:endParaRPr>
          </a:p>
        </p:txBody>
      </p:sp>
      <p:sp>
        <p:nvSpPr>
          <p:cNvPr id="2590" name="Google Shape;2590;p79"/>
          <p:cNvSpPr/>
          <p:nvPr/>
        </p:nvSpPr>
        <p:spPr>
          <a:xfrm>
            <a:off x="9144000" y="1563624"/>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Mini-batches, decayed rates</a:t>
            </a:r>
            <a:endParaRPr b="0" i="0" sz="1400" u="none" cap="none" strike="noStrike">
              <a:solidFill>
                <a:schemeClr val="dk1"/>
              </a:solidFill>
              <a:latin typeface="Calibri"/>
              <a:ea typeface="Calibri"/>
              <a:cs typeface="Calibri"/>
              <a:sym typeface="Calibri"/>
            </a:endParaRPr>
          </a:p>
        </p:txBody>
      </p:sp>
      <p:sp>
        <p:nvSpPr>
          <p:cNvPr id="2591" name="Google Shape;2591;p79"/>
          <p:cNvSpPr/>
          <p:nvPr/>
        </p:nvSpPr>
        <p:spPr>
          <a:xfrm>
            <a:off x="8430768" y="2130552"/>
            <a:ext cx="3063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Sample randomly, decay ε linearly to about 1% of ε₀ by iteration τ, and read the learning curves.</a:t>
            </a:r>
            <a:endParaRPr b="0" i="0" sz="1150" u="none" cap="none" strike="noStrike">
              <a:solidFill>
                <a:schemeClr val="dk1"/>
              </a:solidFill>
              <a:latin typeface="Calibri"/>
              <a:ea typeface="Calibri"/>
              <a:cs typeface="Calibri"/>
              <a:sym typeface="Calibri"/>
            </a:endParaRPr>
          </a:p>
        </p:txBody>
      </p:sp>
      <p:sp>
        <p:nvSpPr>
          <p:cNvPr id="2592" name="Google Shape;2592;p79"/>
          <p:cNvSpPr/>
          <p:nvPr/>
        </p:nvSpPr>
        <p:spPr>
          <a:xfrm>
            <a:off x="566928" y="3566160"/>
            <a:ext cx="3566160" cy="2057400"/>
          </a:xfrm>
          <a:prstGeom prst="roundRect">
            <a:avLst>
              <a:gd fmla="val 4000"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79"/>
          <p:cNvSpPr/>
          <p:nvPr/>
        </p:nvSpPr>
        <p:spPr>
          <a:xfrm>
            <a:off x="822960" y="3785616"/>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79"/>
          <p:cNvSpPr/>
          <p:nvPr/>
        </p:nvSpPr>
        <p:spPr>
          <a:xfrm>
            <a:off x="822960" y="3785616"/>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04</a:t>
            </a:r>
            <a:endParaRPr b="0" i="0" sz="1400" u="none" cap="none" strike="noStrike">
              <a:solidFill>
                <a:schemeClr val="dk1"/>
              </a:solidFill>
              <a:latin typeface="Calibri"/>
              <a:ea typeface="Calibri"/>
              <a:cs typeface="Calibri"/>
              <a:sym typeface="Calibri"/>
            </a:endParaRPr>
          </a:p>
        </p:txBody>
      </p:sp>
      <p:sp>
        <p:nvSpPr>
          <p:cNvPr id="2595" name="Google Shape;2595;p79"/>
          <p:cNvSpPr/>
          <p:nvPr/>
        </p:nvSpPr>
        <p:spPr>
          <a:xfrm>
            <a:off x="1536192" y="3803904"/>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Momentum accumulates</a:t>
            </a:r>
            <a:endParaRPr b="0" i="0" sz="1400" u="none" cap="none" strike="noStrike">
              <a:solidFill>
                <a:schemeClr val="dk1"/>
              </a:solidFill>
              <a:latin typeface="Calibri"/>
              <a:ea typeface="Calibri"/>
              <a:cs typeface="Calibri"/>
              <a:sym typeface="Calibri"/>
            </a:endParaRPr>
          </a:p>
        </p:txBody>
      </p:sp>
      <p:sp>
        <p:nvSpPr>
          <p:cNvPr id="2596" name="Google Shape;2596;p79"/>
          <p:cNvSpPr/>
          <p:nvPr/>
        </p:nvSpPr>
        <p:spPr>
          <a:xfrm>
            <a:off x="822960" y="4370832"/>
            <a:ext cx="3063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An exponentially decaying average of past gradients damps oscillation; Nesterov looks ahead before committing.</a:t>
            </a:r>
            <a:endParaRPr b="0" i="0" sz="1150" u="none" cap="none" strike="noStrike">
              <a:solidFill>
                <a:schemeClr val="dk1"/>
              </a:solidFill>
              <a:latin typeface="Calibri"/>
              <a:ea typeface="Calibri"/>
              <a:cs typeface="Calibri"/>
              <a:sym typeface="Calibri"/>
            </a:endParaRPr>
          </a:p>
        </p:txBody>
      </p:sp>
      <p:sp>
        <p:nvSpPr>
          <p:cNvPr id="2597" name="Google Shape;2597;p79"/>
          <p:cNvSpPr/>
          <p:nvPr/>
        </p:nvSpPr>
        <p:spPr>
          <a:xfrm>
            <a:off x="4370832" y="3566160"/>
            <a:ext cx="3566160" cy="2057400"/>
          </a:xfrm>
          <a:prstGeom prst="roundRect">
            <a:avLst>
              <a:gd fmla="val 4000"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79"/>
          <p:cNvSpPr/>
          <p:nvPr/>
        </p:nvSpPr>
        <p:spPr>
          <a:xfrm>
            <a:off x="4626864" y="3785616"/>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79"/>
          <p:cNvSpPr/>
          <p:nvPr/>
        </p:nvSpPr>
        <p:spPr>
          <a:xfrm>
            <a:off x="4626864" y="3785616"/>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05</a:t>
            </a:r>
            <a:endParaRPr b="0" i="0" sz="1400" u="none" cap="none" strike="noStrike">
              <a:solidFill>
                <a:schemeClr val="dk1"/>
              </a:solidFill>
              <a:latin typeface="Calibri"/>
              <a:ea typeface="Calibri"/>
              <a:cs typeface="Calibri"/>
              <a:sym typeface="Calibri"/>
            </a:endParaRPr>
          </a:p>
        </p:txBody>
      </p:sp>
      <p:sp>
        <p:nvSpPr>
          <p:cNvPr id="2600" name="Google Shape;2600;p79"/>
          <p:cNvSpPr/>
          <p:nvPr/>
        </p:nvSpPr>
        <p:spPr>
          <a:xfrm>
            <a:off x="5340096" y="3803904"/>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Initialize to break symmetry</a:t>
            </a:r>
            <a:endParaRPr b="0" i="0" sz="1400" u="none" cap="none" strike="noStrike">
              <a:solidFill>
                <a:schemeClr val="dk1"/>
              </a:solidFill>
              <a:latin typeface="Calibri"/>
              <a:ea typeface="Calibri"/>
              <a:cs typeface="Calibri"/>
              <a:sym typeface="Calibri"/>
            </a:endParaRPr>
          </a:p>
        </p:txBody>
      </p:sp>
      <p:sp>
        <p:nvSpPr>
          <p:cNvPr id="2601" name="Google Shape;2601;p79"/>
          <p:cNvSpPr/>
          <p:nvPr/>
        </p:nvSpPr>
        <p:spPr>
          <a:xfrm>
            <a:off x="4626864" y="4370832"/>
            <a:ext cx="3063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Random weights, scaled by 1/√m. He for ReLU, Xavier for tanh and sigmoid.</a:t>
            </a:r>
            <a:endParaRPr b="0" i="0" sz="1150" u="none" cap="none" strike="noStrike">
              <a:solidFill>
                <a:schemeClr val="dk1"/>
              </a:solidFill>
              <a:latin typeface="Calibri"/>
              <a:ea typeface="Calibri"/>
              <a:cs typeface="Calibri"/>
              <a:sym typeface="Calibri"/>
            </a:endParaRPr>
          </a:p>
        </p:txBody>
      </p:sp>
      <p:sp>
        <p:nvSpPr>
          <p:cNvPr id="2602" name="Google Shape;2602;p79"/>
          <p:cNvSpPr/>
          <p:nvPr/>
        </p:nvSpPr>
        <p:spPr>
          <a:xfrm>
            <a:off x="8174736" y="3566160"/>
            <a:ext cx="3566160" cy="2057400"/>
          </a:xfrm>
          <a:prstGeom prst="roundRect">
            <a:avLst>
              <a:gd fmla="val 4000" name="adj"/>
            </a:avLst>
          </a:prstGeom>
          <a:solidFill>
            <a:srgbClr val="FFFFFF"/>
          </a:solidFill>
          <a:ln cap="flat" cmpd="sng" w="12700">
            <a:solidFill>
              <a:srgbClr val="D8D1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79"/>
          <p:cNvSpPr/>
          <p:nvPr/>
        </p:nvSpPr>
        <p:spPr>
          <a:xfrm>
            <a:off x="8430768" y="3785616"/>
            <a:ext cx="621792" cy="457200"/>
          </a:xfrm>
          <a:prstGeom prst="roundRect">
            <a:avLst>
              <a:gd fmla="val 18000" name="adj"/>
            </a:avLst>
          </a:prstGeom>
          <a:solidFill>
            <a:srgbClr val="2D1B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79"/>
          <p:cNvSpPr/>
          <p:nvPr/>
        </p:nvSpPr>
        <p:spPr>
          <a:xfrm>
            <a:off x="8430768" y="3785616"/>
            <a:ext cx="621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833A"/>
              </a:buClr>
              <a:buSzPts val="1400"/>
              <a:buFont typeface="Cambria"/>
              <a:buNone/>
            </a:pPr>
            <a:r>
              <a:rPr b="1" i="0" lang="en-US" sz="1400" u="none" cap="none" strike="noStrike">
                <a:solidFill>
                  <a:srgbClr val="E8833A"/>
                </a:solidFill>
                <a:latin typeface="Cambria"/>
                <a:ea typeface="Cambria"/>
                <a:cs typeface="Cambria"/>
                <a:sym typeface="Cambria"/>
              </a:rPr>
              <a:t>06</a:t>
            </a:r>
            <a:endParaRPr b="0" i="0" sz="1400" u="none" cap="none" strike="noStrike">
              <a:solidFill>
                <a:schemeClr val="dk1"/>
              </a:solidFill>
              <a:latin typeface="Calibri"/>
              <a:ea typeface="Calibri"/>
              <a:cs typeface="Calibri"/>
              <a:sym typeface="Calibri"/>
            </a:endParaRPr>
          </a:p>
        </p:txBody>
      </p:sp>
      <p:sp>
        <p:nvSpPr>
          <p:cNvPr id="2605" name="Google Shape;2605;p79"/>
          <p:cNvSpPr/>
          <p:nvPr/>
        </p:nvSpPr>
        <p:spPr>
          <a:xfrm>
            <a:off x="9144000" y="3803904"/>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1B4E"/>
              </a:buClr>
              <a:buSzPts val="1400"/>
              <a:buFont typeface="Cambria"/>
              <a:buNone/>
            </a:pPr>
            <a:r>
              <a:rPr b="1" i="0" lang="en-US" sz="1400" u="none" cap="none" strike="noStrike">
                <a:solidFill>
                  <a:srgbClr val="2D1B4E"/>
                </a:solidFill>
                <a:latin typeface="Cambria"/>
                <a:ea typeface="Cambria"/>
                <a:cs typeface="Cambria"/>
                <a:sym typeface="Cambria"/>
              </a:rPr>
              <a:t>Adapt per parameter</a:t>
            </a:r>
            <a:endParaRPr b="0" i="0" sz="1400" u="none" cap="none" strike="noStrike">
              <a:solidFill>
                <a:schemeClr val="dk1"/>
              </a:solidFill>
              <a:latin typeface="Calibri"/>
              <a:ea typeface="Calibri"/>
              <a:cs typeface="Calibri"/>
              <a:sym typeface="Calibri"/>
            </a:endParaRPr>
          </a:p>
        </p:txBody>
      </p:sp>
      <p:sp>
        <p:nvSpPr>
          <p:cNvPr id="2606" name="Google Shape;2606;p79"/>
          <p:cNvSpPr/>
          <p:nvPr/>
        </p:nvSpPr>
        <p:spPr>
          <a:xfrm>
            <a:off x="8430768" y="4370832"/>
            <a:ext cx="30632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41C2E"/>
              </a:buClr>
              <a:buSzPts val="1150"/>
              <a:buFont typeface="Calibri"/>
              <a:buNone/>
            </a:pPr>
            <a:r>
              <a:rPr b="0" i="0" lang="en-US" sz="1150" u="none" cap="none" strike="noStrike">
                <a:solidFill>
                  <a:srgbClr val="241C2E"/>
                </a:solidFill>
                <a:latin typeface="Calibri"/>
                <a:ea typeface="Calibri"/>
                <a:cs typeface="Calibri"/>
                <a:sym typeface="Calibri"/>
              </a:rPr>
              <a:t>AdaGrad → RMSProp → Adam: give every parameter its own step size, and forget the distant past.</a:t>
            </a:r>
            <a:endParaRPr b="0" i="0" sz="1150" u="none" cap="none" strike="noStrike">
              <a:solidFill>
                <a:schemeClr val="dk1"/>
              </a:solidFill>
              <a:latin typeface="Calibri"/>
              <a:ea typeface="Calibri"/>
              <a:cs typeface="Calibri"/>
              <a:sym typeface="Calibri"/>
            </a:endParaRPr>
          </a:p>
        </p:txBody>
      </p:sp>
      <p:sp>
        <p:nvSpPr>
          <p:cNvPr id="2607" name="Google Shape;2607;p79"/>
          <p:cNvSpPr/>
          <p:nvPr/>
        </p:nvSpPr>
        <p:spPr>
          <a:xfrm>
            <a:off x="566928" y="6327648"/>
            <a:ext cx="11057839"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1B4E"/>
        </a:solidFill>
      </p:bgPr>
    </p:bg>
    <p:spTree>
      <p:nvGrpSpPr>
        <p:cNvPr id="2612" name="Shape 2612"/>
        <p:cNvGrpSpPr/>
        <p:nvPr/>
      </p:nvGrpSpPr>
      <p:grpSpPr>
        <a:xfrm>
          <a:off x="0" y="0"/>
          <a:ext cx="0" cy="0"/>
          <a:chOff x="0" y="0"/>
          <a:chExt cx="0" cy="0"/>
        </a:xfrm>
      </p:grpSpPr>
      <p:cxnSp>
        <p:nvCxnSpPr>
          <p:cNvPr id="2613" name="Google Shape;2613;p80"/>
          <p:cNvCxnSpPr/>
          <p:nvPr/>
        </p:nvCxnSpPr>
        <p:spPr>
          <a:xfrm flipH="1" rot="10800000">
            <a:off x="8092440" y="1784909"/>
            <a:ext cx="1188720" cy="402336"/>
          </a:xfrm>
          <a:prstGeom prst="straightConnector1">
            <a:avLst/>
          </a:prstGeom>
          <a:noFill/>
          <a:ln cap="flat" cmpd="sng" w="9525">
            <a:solidFill>
              <a:srgbClr val="9C8CC4"/>
            </a:solidFill>
            <a:prstDash val="solid"/>
            <a:round/>
            <a:headEnd len="sm" w="sm" type="none"/>
            <a:tailEnd len="sm" w="sm" type="none"/>
          </a:ln>
        </p:spPr>
      </p:cxnSp>
      <p:cxnSp>
        <p:nvCxnSpPr>
          <p:cNvPr id="2614" name="Google Shape;2614;p80"/>
          <p:cNvCxnSpPr/>
          <p:nvPr/>
        </p:nvCxnSpPr>
        <p:spPr>
          <a:xfrm>
            <a:off x="8092440" y="2187245"/>
            <a:ext cx="1188720" cy="643738"/>
          </a:xfrm>
          <a:prstGeom prst="straightConnector1">
            <a:avLst/>
          </a:prstGeom>
          <a:noFill/>
          <a:ln cap="flat" cmpd="sng" w="9525">
            <a:solidFill>
              <a:srgbClr val="9C8CC4"/>
            </a:solidFill>
            <a:prstDash val="solid"/>
            <a:round/>
            <a:headEnd len="sm" w="sm" type="none"/>
            <a:tailEnd len="sm" w="sm" type="none"/>
          </a:ln>
        </p:spPr>
      </p:cxnSp>
      <p:cxnSp>
        <p:nvCxnSpPr>
          <p:cNvPr id="2615" name="Google Shape;2615;p80"/>
          <p:cNvCxnSpPr/>
          <p:nvPr/>
        </p:nvCxnSpPr>
        <p:spPr>
          <a:xfrm>
            <a:off x="8092440" y="2187245"/>
            <a:ext cx="1188720" cy="1770278"/>
          </a:xfrm>
          <a:prstGeom prst="straightConnector1">
            <a:avLst/>
          </a:prstGeom>
          <a:noFill/>
          <a:ln cap="flat" cmpd="sng" w="9525">
            <a:solidFill>
              <a:srgbClr val="9C8CC4"/>
            </a:solidFill>
            <a:prstDash val="solid"/>
            <a:round/>
            <a:headEnd len="sm" w="sm" type="none"/>
            <a:tailEnd len="sm" w="sm" type="none"/>
          </a:ln>
        </p:spPr>
      </p:cxnSp>
      <p:cxnSp>
        <p:nvCxnSpPr>
          <p:cNvPr id="2616" name="Google Shape;2616;p80"/>
          <p:cNvCxnSpPr/>
          <p:nvPr/>
        </p:nvCxnSpPr>
        <p:spPr>
          <a:xfrm>
            <a:off x="8092440" y="2187245"/>
            <a:ext cx="1188720" cy="2896819"/>
          </a:xfrm>
          <a:prstGeom prst="straightConnector1">
            <a:avLst/>
          </a:prstGeom>
          <a:noFill/>
          <a:ln cap="flat" cmpd="sng" w="9525">
            <a:solidFill>
              <a:srgbClr val="9C8CC4"/>
            </a:solidFill>
            <a:prstDash val="solid"/>
            <a:round/>
            <a:headEnd len="sm" w="sm" type="none"/>
            <a:tailEnd len="sm" w="sm" type="none"/>
          </a:ln>
        </p:spPr>
      </p:cxnSp>
      <p:cxnSp>
        <p:nvCxnSpPr>
          <p:cNvPr id="2617" name="Google Shape;2617;p80"/>
          <p:cNvCxnSpPr/>
          <p:nvPr/>
        </p:nvCxnSpPr>
        <p:spPr>
          <a:xfrm flipH="1" rot="10800000">
            <a:off x="8092440" y="1784909"/>
            <a:ext cx="1188720" cy="1689811"/>
          </a:xfrm>
          <a:prstGeom prst="straightConnector1">
            <a:avLst/>
          </a:prstGeom>
          <a:noFill/>
          <a:ln cap="flat" cmpd="sng" w="9525">
            <a:solidFill>
              <a:srgbClr val="9C8CC4"/>
            </a:solidFill>
            <a:prstDash val="solid"/>
            <a:round/>
            <a:headEnd len="sm" w="sm" type="none"/>
            <a:tailEnd len="sm" w="sm" type="none"/>
          </a:ln>
        </p:spPr>
      </p:cxnSp>
      <p:cxnSp>
        <p:nvCxnSpPr>
          <p:cNvPr id="2618" name="Google Shape;2618;p80"/>
          <p:cNvCxnSpPr/>
          <p:nvPr/>
        </p:nvCxnSpPr>
        <p:spPr>
          <a:xfrm flipH="1" rot="10800000">
            <a:off x="8092440" y="2830982"/>
            <a:ext cx="1188720" cy="643738"/>
          </a:xfrm>
          <a:prstGeom prst="straightConnector1">
            <a:avLst/>
          </a:prstGeom>
          <a:noFill/>
          <a:ln cap="flat" cmpd="sng" w="9525">
            <a:solidFill>
              <a:srgbClr val="9C8CC4"/>
            </a:solidFill>
            <a:prstDash val="solid"/>
            <a:round/>
            <a:headEnd len="sm" w="sm" type="none"/>
            <a:tailEnd len="sm" w="sm" type="none"/>
          </a:ln>
        </p:spPr>
      </p:cxnSp>
      <p:cxnSp>
        <p:nvCxnSpPr>
          <p:cNvPr id="2619" name="Google Shape;2619;p80"/>
          <p:cNvCxnSpPr/>
          <p:nvPr/>
        </p:nvCxnSpPr>
        <p:spPr>
          <a:xfrm>
            <a:off x="8092440" y="3474720"/>
            <a:ext cx="1188720" cy="482803"/>
          </a:xfrm>
          <a:prstGeom prst="straightConnector1">
            <a:avLst/>
          </a:prstGeom>
          <a:noFill/>
          <a:ln cap="flat" cmpd="sng" w="9525">
            <a:solidFill>
              <a:srgbClr val="9C8CC4"/>
            </a:solidFill>
            <a:prstDash val="solid"/>
            <a:round/>
            <a:headEnd len="sm" w="sm" type="none"/>
            <a:tailEnd len="sm" w="sm" type="none"/>
          </a:ln>
        </p:spPr>
      </p:cxnSp>
      <p:cxnSp>
        <p:nvCxnSpPr>
          <p:cNvPr id="2620" name="Google Shape;2620;p80"/>
          <p:cNvCxnSpPr/>
          <p:nvPr/>
        </p:nvCxnSpPr>
        <p:spPr>
          <a:xfrm>
            <a:off x="8092440" y="3474720"/>
            <a:ext cx="1188720" cy="1609344"/>
          </a:xfrm>
          <a:prstGeom prst="straightConnector1">
            <a:avLst/>
          </a:prstGeom>
          <a:noFill/>
          <a:ln cap="flat" cmpd="sng" w="9525">
            <a:solidFill>
              <a:srgbClr val="9C8CC4"/>
            </a:solidFill>
            <a:prstDash val="solid"/>
            <a:round/>
            <a:headEnd len="sm" w="sm" type="none"/>
            <a:tailEnd len="sm" w="sm" type="none"/>
          </a:ln>
        </p:spPr>
      </p:cxnSp>
      <p:cxnSp>
        <p:nvCxnSpPr>
          <p:cNvPr id="2621" name="Google Shape;2621;p80"/>
          <p:cNvCxnSpPr/>
          <p:nvPr/>
        </p:nvCxnSpPr>
        <p:spPr>
          <a:xfrm flipH="1" rot="10800000">
            <a:off x="8092440" y="1784909"/>
            <a:ext cx="1188720" cy="2977286"/>
          </a:xfrm>
          <a:prstGeom prst="straightConnector1">
            <a:avLst/>
          </a:prstGeom>
          <a:noFill/>
          <a:ln cap="flat" cmpd="sng" w="9525">
            <a:solidFill>
              <a:srgbClr val="9C8CC4"/>
            </a:solidFill>
            <a:prstDash val="solid"/>
            <a:round/>
            <a:headEnd len="sm" w="sm" type="none"/>
            <a:tailEnd len="sm" w="sm" type="none"/>
          </a:ln>
        </p:spPr>
      </p:cxnSp>
      <p:cxnSp>
        <p:nvCxnSpPr>
          <p:cNvPr id="2622" name="Google Shape;2622;p80"/>
          <p:cNvCxnSpPr/>
          <p:nvPr/>
        </p:nvCxnSpPr>
        <p:spPr>
          <a:xfrm flipH="1" rot="10800000">
            <a:off x="8092440" y="2830982"/>
            <a:ext cx="1188720" cy="1931213"/>
          </a:xfrm>
          <a:prstGeom prst="straightConnector1">
            <a:avLst/>
          </a:prstGeom>
          <a:noFill/>
          <a:ln cap="flat" cmpd="sng" w="9525">
            <a:solidFill>
              <a:srgbClr val="9C8CC4"/>
            </a:solidFill>
            <a:prstDash val="solid"/>
            <a:round/>
            <a:headEnd len="sm" w="sm" type="none"/>
            <a:tailEnd len="sm" w="sm" type="none"/>
          </a:ln>
        </p:spPr>
      </p:cxnSp>
      <p:cxnSp>
        <p:nvCxnSpPr>
          <p:cNvPr id="2623" name="Google Shape;2623;p80"/>
          <p:cNvCxnSpPr/>
          <p:nvPr/>
        </p:nvCxnSpPr>
        <p:spPr>
          <a:xfrm flipH="1" rot="10800000">
            <a:off x="8092440" y="3957523"/>
            <a:ext cx="1188720" cy="804672"/>
          </a:xfrm>
          <a:prstGeom prst="straightConnector1">
            <a:avLst/>
          </a:prstGeom>
          <a:noFill/>
          <a:ln cap="flat" cmpd="sng" w="9525">
            <a:solidFill>
              <a:srgbClr val="9C8CC4"/>
            </a:solidFill>
            <a:prstDash val="solid"/>
            <a:round/>
            <a:headEnd len="sm" w="sm" type="none"/>
            <a:tailEnd len="sm" w="sm" type="none"/>
          </a:ln>
        </p:spPr>
      </p:cxnSp>
      <p:cxnSp>
        <p:nvCxnSpPr>
          <p:cNvPr id="2624" name="Google Shape;2624;p80"/>
          <p:cNvCxnSpPr/>
          <p:nvPr/>
        </p:nvCxnSpPr>
        <p:spPr>
          <a:xfrm>
            <a:off x="8092440" y="4762195"/>
            <a:ext cx="1188720" cy="321869"/>
          </a:xfrm>
          <a:prstGeom prst="straightConnector1">
            <a:avLst/>
          </a:prstGeom>
          <a:noFill/>
          <a:ln cap="flat" cmpd="sng" w="9525">
            <a:solidFill>
              <a:srgbClr val="9C8CC4"/>
            </a:solidFill>
            <a:prstDash val="solid"/>
            <a:round/>
            <a:headEnd len="sm" w="sm" type="none"/>
            <a:tailEnd len="sm" w="sm" type="none"/>
          </a:ln>
        </p:spPr>
      </p:cxnSp>
      <p:cxnSp>
        <p:nvCxnSpPr>
          <p:cNvPr id="2625" name="Google Shape;2625;p80"/>
          <p:cNvCxnSpPr/>
          <p:nvPr/>
        </p:nvCxnSpPr>
        <p:spPr>
          <a:xfrm>
            <a:off x="9281160" y="1784909"/>
            <a:ext cx="1188720" cy="643738"/>
          </a:xfrm>
          <a:prstGeom prst="straightConnector1">
            <a:avLst/>
          </a:prstGeom>
          <a:noFill/>
          <a:ln cap="flat" cmpd="sng" w="9525">
            <a:solidFill>
              <a:srgbClr val="9C8CC4"/>
            </a:solidFill>
            <a:prstDash val="solid"/>
            <a:round/>
            <a:headEnd len="sm" w="sm" type="none"/>
            <a:tailEnd len="sm" w="sm" type="none"/>
          </a:ln>
        </p:spPr>
      </p:cxnSp>
      <p:cxnSp>
        <p:nvCxnSpPr>
          <p:cNvPr id="2626" name="Google Shape;2626;p80"/>
          <p:cNvCxnSpPr/>
          <p:nvPr/>
        </p:nvCxnSpPr>
        <p:spPr>
          <a:xfrm>
            <a:off x="9281160" y="1784909"/>
            <a:ext cx="1188720" cy="1890979"/>
          </a:xfrm>
          <a:prstGeom prst="straightConnector1">
            <a:avLst/>
          </a:prstGeom>
          <a:noFill/>
          <a:ln cap="flat" cmpd="sng" w="9525">
            <a:solidFill>
              <a:srgbClr val="9C8CC4"/>
            </a:solidFill>
            <a:prstDash val="solid"/>
            <a:round/>
            <a:headEnd len="sm" w="sm" type="none"/>
            <a:tailEnd len="sm" w="sm" type="none"/>
          </a:ln>
        </p:spPr>
      </p:cxnSp>
      <p:cxnSp>
        <p:nvCxnSpPr>
          <p:cNvPr id="2627" name="Google Shape;2627;p80"/>
          <p:cNvCxnSpPr/>
          <p:nvPr/>
        </p:nvCxnSpPr>
        <p:spPr>
          <a:xfrm>
            <a:off x="9281160" y="1784909"/>
            <a:ext cx="1188720" cy="3057754"/>
          </a:xfrm>
          <a:prstGeom prst="straightConnector1">
            <a:avLst/>
          </a:prstGeom>
          <a:noFill/>
          <a:ln cap="flat" cmpd="sng" w="9525">
            <a:solidFill>
              <a:srgbClr val="9C8CC4"/>
            </a:solidFill>
            <a:prstDash val="solid"/>
            <a:round/>
            <a:headEnd len="sm" w="sm" type="none"/>
            <a:tailEnd len="sm" w="sm" type="none"/>
          </a:ln>
        </p:spPr>
      </p:cxnSp>
      <p:cxnSp>
        <p:nvCxnSpPr>
          <p:cNvPr id="2628" name="Google Shape;2628;p80"/>
          <p:cNvCxnSpPr/>
          <p:nvPr/>
        </p:nvCxnSpPr>
        <p:spPr>
          <a:xfrm flipH="1" rot="10800000">
            <a:off x="9281160" y="2428646"/>
            <a:ext cx="1188720" cy="402336"/>
          </a:xfrm>
          <a:prstGeom prst="straightConnector1">
            <a:avLst/>
          </a:prstGeom>
          <a:noFill/>
          <a:ln cap="flat" cmpd="sng" w="9525">
            <a:solidFill>
              <a:srgbClr val="9C8CC4"/>
            </a:solidFill>
            <a:prstDash val="solid"/>
            <a:round/>
            <a:headEnd len="sm" w="sm" type="none"/>
            <a:tailEnd len="sm" w="sm" type="none"/>
          </a:ln>
        </p:spPr>
      </p:cxnSp>
      <p:cxnSp>
        <p:nvCxnSpPr>
          <p:cNvPr id="2629" name="Google Shape;2629;p80"/>
          <p:cNvCxnSpPr/>
          <p:nvPr/>
        </p:nvCxnSpPr>
        <p:spPr>
          <a:xfrm>
            <a:off x="9281160" y="2830982"/>
            <a:ext cx="1188720" cy="844906"/>
          </a:xfrm>
          <a:prstGeom prst="straightConnector1">
            <a:avLst/>
          </a:prstGeom>
          <a:noFill/>
          <a:ln cap="flat" cmpd="sng" w="9525">
            <a:solidFill>
              <a:srgbClr val="9C8CC4"/>
            </a:solidFill>
            <a:prstDash val="solid"/>
            <a:round/>
            <a:headEnd len="sm" w="sm" type="none"/>
            <a:tailEnd len="sm" w="sm" type="none"/>
          </a:ln>
        </p:spPr>
      </p:cxnSp>
      <p:cxnSp>
        <p:nvCxnSpPr>
          <p:cNvPr id="2630" name="Google Shape;2630;p80"/>
          <p:cNvCxnSpPr/>
          <p:nvPr/>
        </p:nvCxnSpPr>
        <p:spPr>
          <a:xfrm>
            <a:off x="9281160" y="2830982"/>
            <a:ext cx="1188720" cy="2011680"/>
          </a:xfrm>
          <a:prstGeom prst="straightConnector1">
            <a:avLst/>
          </a:prstGeom>
          <a:noFill/>
          <a:ln cap="flat" cmpd="sng" w="9525">
            <a:solidFill>
              <a:srgbClr val="9C8CC4"/>
            </a:solidFill>
            <a:prstDash val="solid"/>
            <a:round/>
            <a:headEnd len="sm" w="sm" type="none"/>
            <a:tailEnd len="sm" w="sm" type="none"/>
          </a:ln>
        </p:spPr>
      </p:cxnSp>
      <p:cxnSp>
        <p:nvCxnSpPr>
          <p:cNvPr id="2631" name="Google Shape;2631;p80"/>
          <p:cNvCxnSpPr/>
          <p:nvPr/>
        </p:nvCxnSpPr>
        <p:spPr>
          <a:xfrm flipH="1" rot="10800000">
            <a:off x="9281160" y="2428646"/>
            <a:ext cx="1188720" cy="1528877"/>
          </a:xfrm>
          <a:prstGeom prst="straightConnector1">
            <a:avLst/>
          </a:prstGeom>
          <a:noFill/>
          <a:ln cap="flat" cmpd="sng" w="9525">
            <a:solidFill>
              <a:srgbClr val="9C8CC4"/>
            </a:solidFill>
            <a:prstDash val="solid"/>
            <a:round/>
            <a:headEnd len="sm" w="sm" type="none"/>
            <a:tailEnd len="sm" w="sm" type="none"/>
          </a:ln>
        </p:spPr>
      </p:cxnSp>
      <p:cxnSp>
        <p:nvCxnSpPr>
          <p:cNvPr id="2632" name="Google Shape;2632;p80"/>
          <p:cNvCxnSpPr/>
          <p:nvPr/>
        </p:nvCxnSpPr>
        <p:spPr>
          <a:xfrm flipH="1" rot="10800000">
            <a:off x="9281160" y="3675888"/>
            <a:ext cx="1188720" cy="281635"/>
          </a:xfrm>
          <a:prstGeom prst="straightConnector1">
            <a:avLst/>
          </a:prstGeom>
          <a:noFill/>
          <a:ln cap="flat" cmpd="sng" w="9525">
            <a:solidFill>
              <a:srgbClr val="9C8CC4"/>
            </a:solidFill>
            <a:prstDash val="solid"/>
            <a:round/>
            <a:headEnd len="sm" w="sm" type="none"/>
            <a:tailEnd len="sm" w="sm" type="none"/>
          </a:ln>
        </p:spPr>
      </p:cxnSp>
      <p:cxnSp>
        <p:nvCxnSpPr>
          <p:cNvPr id="2633" name="Google Shape;2633;p80"/>
          <p:cNvCxnSpPr/>
          <p:nvPr/>
        </p:nvCxnSpPr>
        <p:spPr>
          <a:xfrm>
            <a:off x="9281160" y="3957523"/>
            <a:ext cx="1188720" cy="885139"/>
          </a:xfrm>
          <a:prstGeom prst="straightConnector1">
            <a:avLst/>
          </a:prstGeom>
          <a:noFill/>
          <a:ln cap="flat" cmpd="sng" w="9525">
            <a:solidFill>
              <a:srgbClr val="9C8CC4"/>
            </a:solidFill>
            <a:prstDash val="solid"/>
            <a:round/>
            <a:headEnd len="sm" w="sm" type="none"/>
            <a:tailEnd len="sm" w="sm" type="none"/>
          </a:ln>
        </p:spPr>
      </p:cxnSp>
      <p:cxnSp>
        <p:nvCxnSpPr>
          <p:cNvPr id="2634" name="Google Shape;2634;p80"/>
          <p:cNvCxnSpPr/>
          <p:nvPr/>
        </p:nvCxnSpPr>
        <p:spPr>
          <a:xfrm flipH="1" rot="10800000">
            <a:off x="9281160" y="2428646"/>
            <a:ext cx="1188720" cy="2655418"/>
          </a:xfrm>
          <a:prstGeom prst="straightConnector1">
            <a:avLst/>
          </a:prstGeom>
          <a:noFill/>
          <a:ln cap="flat" cmpd="sng" w="9525">
            <a:solidFill>
              <a:srgbClr val="9C8CC4"/>
            </a:solidFill>
            <a:prstDash val="solid"/>
            <a:round/>
            <a:headEnd len="sm" w="sm" type="none"/>
            <a:tailEnd len="sm" w="sm" type="none"/>
          </a:ln>
        </p:spPr>
      </p:cxnSp>
      <p:cxnSp>
        <p:nvCxnSpPr>
          <p:cNvPr id="2635" name="Google Shape;2635;p80"/>
          <p:cNvCxnSpPr/>
          <p:nvPr/>
        </p:nvCxnSpPr>
        <p:spPr>
          <a:xfrm flipH="1" rot="10800000">
            <a:off x="9281160" y="3675888"/>
            <a:ext cx="1188720" cy="1408176"/>
          </a:xfrm>
          <a:prstGeom prst="straightConnector1">
            <a:avLst/>
          </a:prstGeom>
          <a:noFill/>
          <a:ln cap="flat" cmpd="sng" w="9525">
            <a:solidFill>
              <a:srgbClr val="9C8CC4"/>
            </a:solidFill>
            <a:prstDash val="solid"/>
            <a:round/>
            <a:headEnd len="sm" w="sm" type="none"/>
            <a:tailEnd len="sm" w="sm" type="none"/>
          </a:ln>
        </p:spPr>
      </p:cxnSp>
      <p:cxnSp>
        <p:nvCxnSpPr>
          <p:cNvPr id="2636" name="Google Shape;2636;p80"/>
          <p:cNvCxnSpPr/>
          <p:nvPr/>
        </p:nvCxnSpPr>
        <p:spPr>
          <a:xfrm flipH="1" rot="10800000">
            <a:off x="9281160" y="4842662"/>
            <a:ext cx="1188720" cy="241402"/>
          </a:xfrm>
          <a:prstGeom prst="straightConnector1">
            <a:avLst/>
          </a:prstGeom>
          <a:noFill/>
          <a:ln cap="flat" cmpd="sng" w="9525">
            <a:solidFill>
              <a:srgbClr val="9C8CC4"/>
            </a:solidFill>
            <a:prstDash val="solid"/>
            <a:round/>
            <a:headEnd len="sm" w="sm" type="none"/>
            <a:tailEnd len="sm" w="sm" type="none"/>
          </a:ln>
        </p:spPr>
      </p:cxnSp>
      <p:cxnSp>
        <p:nvCxnSpPr>
          <p:cNvPr id="2637" name="Google Shape;2637;p80"/>
          <p:cNvCxnSpPr/>
          <p:nvPr/>
        </p:nvCxnSpPr>
        <p:spPr>
          <a:xfrm>
            <a:off x="10469880" y="2428646"/>
            <a:ext cx="1188720" cy="724205"/>
          </a:xfrm>
          <a:prstGeom prst="straightConnector1">
            <a:avLst/>
          </a:prstGeom>
          <a:noFill/>
          <a:ln cap="flat" cmpd="sng" w="9525">
            <a:solidFill>
              <a:srgbClr val="9C8CC4"/>
            </a:solidFill>
            <a:prstDash val="solid"/>
            <a:round/>
            <a:headEnd len="sm" w="sm" type="none"/>
            <a:tailEnd len="sm" w="sm" type="none"/>
          </a:ln>
        </p:spPr>
      </p:cxnSp>
      <p:cxnSp>
        <p:nvCxnSpPr>
          <p:cNvPr id="2638" name="Google Shape;2638;p80"/>
          <p:cNvCxnSpPr/>
          <p:nvPr/>
        </p:nvCxnSpPr>
        <p:spPr>
          <a:xfrm>
            <a:off x="10469880" y="2428646"/>
            <a:ext cx="1188720" cy="1931213"/>
          </a:xfrm>
          <a:prstGeom prst="straightConnector1">
            <a:avLst/>
          </a:prstGeom>
          <a:noFill/>
          <a:ln cap="flat" cmpd="sng" w="9525">
            <a:solidFill>
              <a:srgbClr val="9C8CC4"/>
            </a:solidFill>
            <a:prstDash val="solid"/>
            <a:round/>
            <a:headEnd len="sm" w="sm" type="none"/>
            <a:tailEnd len="sm" w="sm" type="none"/>
          </a:ln>
        </p:spPr>
      </p:cxnSp>
      <p:cxnSp>
        <p:nvCxnSpPr>
          <p:cNvPr id="2639" name="Google Shape;2639;p80"/>
          <p:cNvCxnSpPr/>
          <p:nvPr/>
        </p:nvCxnSpPr>
        <p:spPr>
          <a:xfrm flipH="1" rot="10800000">
            <a:off x="10469880" y="3152851"/>
            <a:ext cx="1188720" cy="523037"/>
          </a:xfrm>
          <a:prstGeom prst="straightConnector1">
            <a:avLst/>
          </a:prstGeom>
          <a:noFill/>
          <a:ln cap="flat" cmpd="sng" w="9525">
            <a:solidFill>
              <a:srgbClr val="9C8CC4"/>
            </a:solidFill>
            <a:prstDash val="solid"/>
            <a:round/>
            <a:headEnd len="sm" w="sm" type="none"/>
            <a:tailEnd len="sm" w="sm" type="none"/>
          </a:ln>
        </p:spPr>
      </p:cxnSp>
      <p:cxnSp>
        <p:nvCxnSpPr>
          <p:cNvPr id="2640" name="Google Shape;2640;p80"/>
          <p:cNvCxnSpPr/>
          <p:nvPr/>
        </p:nvCxnSpPr>
        <p:spPr>
          <a:xfrm>
            <a:off x="10469880" y="3675888"/>
            <a:ext cx="1188720" cy="683971"/>
          </a:xfrm>
          <a:prstGeom prst="straightConnector1">
            <a:avLst/>
          </a:prstGeom>
          <a:noFill/>
          <a:ln cap="flat" cmpd="sng" w="9525">
            <a:solidFill>
              <a:srgbClr val="9C8CC4"/>
            </a:solidFill>
            <a:prstDash val="solid"/>
            <a:round/>
            <a:headEnd len="sm" w="sm" type="none"/>
            <a:tailEnd len="sm" w="sm" type="none"/>
          </a:ln>
        </p:spPr>
      </p:cxnSp>
      <p:cxnSp>
        <p:nvCxnSpPr>
          <p:cNvPr id="2641" name="Google Shape;2641;p80"/>
          <p:cNvCxnSpPr/>
          <p:nvPr/>
        </p:nvCxnSpPr>
        <p:spPr>
          <a:xfrm flipH="1" rot="10800000">
            <a:off x="10469880" y="3152851"/>
            <a:ext cx="1188720" cy="1689811"/>
          </a:xfrm>
          <a:prstGeom prst="straightConnector1">
            <a:avLst/>
          </a:prstGeom>
          <a:noFill/>
          <a:ln cap="flat" cmpd="sng" w="9525">
            <a:solidFill>
              <a:srgbClr val="9C8CC4"/>
            </a:solidFill>
            <a:prstDash val="solid"/>
            <a:round/>
            <a:headEnd len="sm" w="sm" type="none"/>
            <a:tailEnd len="sm" w="sm" type="none"/>
          </a:ln>
        </p:spPr>
      </p:cxnSp>
      <p:cxnSp>
        <p:nvCxnSpPr>
          <p:cNvPr id="2642" name="Google Shape;2642;p80"/>
          <p:cNvCxnSpPr/>
          <p:nvPr/>
        </p:nvCxnSpPr>
        <p:spPr>
          <a:xfrm flipH="1" rot="10800000">
            <a:off x="10469880" y="4359859"/>
            <a:ext cx="1188720" cy="482803"/>
          </a:xfrm>
          <a:prstGeom prst="straightConnector1">
            <a:avLst/>
          </a:prstGeom>
          <a:noFill/>
          <a:ln cap="flat" cmpd="sng" w="9525">
            <a:solidFill>
              <a:srgbClr val="9C8CC4"/>
            </a:solidFill>
            <a:prstDash val="solid"/>
            <a:round/>
            <a:headEnd len="sm" w="sm" type="none"/>
            <a:tailEnd len="sm" w="sm" type="none"/>
          </a:ln>
        </p:spPr>
      </p:cxnSp>
      <p:sp>
        <p:nvSpPr>
          <p:cNvPr id="2643" name="Google Shape;2643;p80"/>
          <p:cNvSpPr/>
          <p:nvPr/>
        </p:nvSpPr>
        <p:spPr>
          <a:xfrm>
            <a:off x="8023860" y="2118665"/>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80"/>
          <p:cNvSpPr/>
          <p:nvPr/>
        </p:nvSpPr>
        <p:spPr>
          <a:xfrm>
            <a:off x="8023860" y="3406140"/>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80"/>
          <p:cNvSpPr/>
          <p:nvPr/>
        </p:nvSpPr>
        <p:spPr>
          <a:xfrm>
            <a:off x="8023860" y="4693615"/>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80"/>
          <p:cNvSpPr/>
          <p:nvPr/>
        </p:nvSpPr>
        <p:spPr>
          <a:xfrm>
            <a:off x="9212580" y="1716329"/>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80"/>
          <p:cNvSpPr/>
          <p:nvPr/>
        </p:nvSpPr>
        <p:spPr>
          <a:xfrm>
            <a:off x="9212580" y="276240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80"/>
          <p:cNvSpPr/>
          <p:nvPr/>
        </p:nvSpPr>
        <p:spPr>
          <a:xfrm>
            <a:off x="9212580" y="3888943"/>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80"/>
          <p:cNvSpPr/>
          <p:nvPr/>
        </p:nvSpPr>
        <p:spPr>
          <a:xfrm>
            <a:off x="9212580" y="5015484"/>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80"/>
          <p:cNvSpPr/>
          <p:nvPr/>
        </p:nvSpPr>
        <p:spPr>
          <a:xfrm>
            <a:off x="10401300" y="2360066"/>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80"/>
          <p:cNvSpPr/>
          <p:nvPr/>
        </p:nvSpPr>
        <p:spPr>
          <a:xfrm>
            <a:off x="10401300" y="3607308"/>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80"/>
          <p:cNvSpPr/>
          <p:nvPr/>
        </p:nvSpPr>
        <p:spPr>
          <a:xfrm>
            <a:off x="10401300" y="4774082"/>
            <a:ext cx="137160" cy="137160"/>
          </a:xfrm>
          <a:prstGeom prst="ellipse">
            <a:avLst/>
          </a:prstGeom>
          <a:solidFill>
            <a:srgbClr val="9C8C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80"/>
          <p:cNvSpPr/>
          <p:nvPr/>
        </p:nvSpPr>
        <p:spPr>
          <a:xfrm>
            <a:off x="11590020" y="3084271"/>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80"/>
          <p:cNvSpPr/>
          <p:nvPr/>
        </p:nvSpPr>
        <p:spPr>
          <a:xfrm>
            <a:off x="11590020" y="4291279"/>
            <a:ext cx="137160" cy="137160"/>
          </a:xfrm>
          <a:prstGeom prst="ellipse">
            <a:avLst/>
          </a:prstGeom>
          <a:solidFill>
            <a:srgbClr val="E88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80"/>
          <p:cNvSpPr/>
          <p:nvPr/>
        </p:nvSpPr>
        <p:spPr>
          <a:xfrm>
            <a:off x="566928" y="1737360"/>
            <a:ext cx="6766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1200"/>
              <a:buFont typeface="Calibri"/>
              <a:buNone/>
            </a:pPr>
            <a:r>
              <a:rPr b="1" i="0" lang="en-US" sz="1200" u="none" cap="none" strike="noStrike">
                <a:solidFill>
                  <a:srgbClr val="E8833A"/>
                </a:solidFill>
                <a:latin typeface="Calibri"/>
                <a:ea typeface="Calibri"/>
                <a:cs typeface="Calibri"/>
                <a:sym typeface="Calibri"/>
              </a:rPr>
              <a:t>THAT'S THE SESSION</a:t>
            </a:r>
            <a:endParaRPr b="0" i="0" sz="1200" u="none" cap="none" strike="noStrike">
              <a:solidFill>
                <a:schemeClr val="dk1"/>
              </a:solidFill>
              <a:latin typeface="Calibri"/>
              <a:ea typeface="Calibri"/>
              <a:cs typeface="Calibri"/>
              <a:sym typeface="Calibri"/>
            </a:endParaRPr>
          </a:p>
        </p:txBody>
      </p:sp>
      <p:sp>
        <p:nvSpPr>
          <p:cNvPr id="2656" name="Google Shape;2656;p80"/>
          <p:cNvSpPr/>
          <p:nvPr/>
        </p:nvSpPr>
        <p:spPr>
          <a:xfrm>
            <a:off x="566928" y="2148840"/>
            <a:ext cx="6949440" cy="146304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From a single neuron</a:t>
            </a:r>
            <a:endParaRPr b="0" i="0" sz="3400" u="none" cap="none" strike="noStrike">
              <a:solidFill>
                <a:schemeClr val="dk1"/>
              </a:solidFill>
              <a:latin typeface="Calibri"/>
              <a:ea typeface="Calibri"/>
              <a:cs typeface="Calibri"/>
              <a:sym typeface="Calibri"/>
            </a:endParaRPr>
          </a:p>
          <a:p>
            <a:pPr indent="0" lvl="0" marL="0" marR="0" rtl="0" algn="l">
              <a:lnSpc>
                <a:spcPct val="123529"/>
              </a:lnSpc>
              <a:spcBef>
                <a:spcPts val="0"/>
              </a:spcBef>
              <a:spcAft>
                <a:spcPts val="0"/>
              </a:spcAft>
              <a:buClr>
                <a:srgbClr val="FFFFFF"/>
              </a:buClr>
              <a:buSzPts val="3400"/>
              <a:buFont typeface="Cambria"/>
              <a:buNone/>
            </a:pPr>
            <a:r>
              <a:rPr b="1" i="0" lang="en-US" sz="3400" u="none" cap="none" strike="noStrike">
                <a:solidFill>
                  <a:srgbClr val="FFFFFF"/>
                </a:solidFill>
                <a:latin typeface="Cambria"/>
                <a:ea typeface="Cambria"/>
                <a:cs typeface="Cambria"/>
                <a:sym typeface="Cambria"/>
              </a:rPr>
              <a:t>to a network that trains</a:t>
            </a:r>
            <a:endParaRPr b="0" i="0" sz="3400" u="none" cap="none" strike="noStrike">
              <a:solidFill>
                <a:schemeClr val="dk1"/>
              </a:solidFill>
              <a:latin typeface="Calibri"/>
              <a:ea typeface="Calibri"/>
              <a:cs typeface="Calibri"/>
              <a:sym typeface="Calibri"/>
            </a:endParaRPr>
          </a:p>
        </p:txBody>
      </p:sp>
      <p:sp>
        <p:nvSpPr>
          <p:cNvPr id="2657" name="Google Shape;2657;p80"/>
          <p:cNvSpPr/>
          <p:nvPr/>
        </p:nvSpPr>
        <p:spPr>
          <a:xfrm>
            <a:off x="566928" y="3703320"/>
            <a:ext cx="6675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8CC4"/>
              </a:buClr>
              <a:buSzPts val="1500"/>
              <a:buFont typeface="Calibri"/>
              <a:buNone/>
            </a:pPr>
            <a:r>
              <a:rPr b="0" i="1" lang="en-US" sz="1500" u="none" cap="none" strike="noStrike">
                <a:solidFill>
                  <a:srgbClr val="9C8CC4"/>
                </a:solidFill>
                <a:latin typeface="Calibri"/>
                <a:ea typeface="Calibri"/>
                <a:cs typeface="Calibri"/>
                <a:sym typeface="Calibri"/>
              </a:rPr>
              <a:t>Six parts: representation, capacity, architecture, cost functions, regularization, optimization.</a:t>
            </a:r>
            <a:endParaRPr b="0" i="0" sz="1500" u="none" cap="none" strike="noStrike">
              <a:solidFill>
                <a:schemeClr val="dk1"/>
              </a:solidFill>
              <a:latin typeface="Calibri"/>
              <a:ea typeface="Calibri"/>
              <a:cs typeface="Calibri"/>
              <a:sym typeface="Calibri"/>
            </a:endParaRPr>
          </a:p>
        </p:txBody>
      </p:sp>
      <p:sp>
        <p:nvSpPr>
          <p:cNvPr id="2658" name="Google Shape;2658;p80"/>
          <p:cNvSpPr/>
          <p:nvPr/>
        </p:nvSpPr>
        <p:spPr>
          <a:xfrm>
            <a:off x="566928" y="4343400"/>
            <a:ext cx="6675120" cy="777240"/>
          </a:xfrm>
          <a:prstGeom prst="roundRect">
            <a:avLst>
              <a:gd fmla="val 10588" name="adj"/>
            </a:avLst>
          </a:prstGeom>
          <a:solidFill>
            <a:srgbClr val="3F2A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80"/>
          <p:cNvSpPr/>
          <p:nvPr/>
        </p:nvSpPr>
        <p:spPr>
          <a:xfrm>
            <a:off x="841248" y="4343400"/>
            <a:ext cx="6126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9E3F3"/>
              </a:buClr>
              <a:buSzPts val="1350"/>
              <a:buFont typeface="Calibri"/>
              <a:buNone/>
            </a:pPr>
            <a:r>
              <a:rPr b="1" i="0" lang="en-US" sz="1350" u="none" cap="none" strike="noStrike">
                <a:solidFill>
                  <a:srgbClr val="E9E3F3"/>
                </a:solidFill>
                <a:latin typeface="Calibri"/>
                <a:ea typeface="Calibri"/>
                <a:cs typeface="Calibri"/>
                <a:sym typeface="Calibri"/>
              </a:rPr>
              <a:t>Coming in the next session:  hyperparameter tuning  ·  batch normalization</a:t>
            </a:r>
            <a:endParaRPr b="0" i="0" sz="1350" u="none" cap="none" strike="noStrike">
              <a:solidFill>
                <a:schemeClr val="dk1"/>
              </a:solidFill>
              <a:latin typeface="Calibri"/>
              <a:ea typeface="Calibri"/>
              <a:cs typeface="Calibri"/>
              <a:sym typeface="Calibri"/>
            </a:endParaRPr>
          </a:p>
        </p:txBody>
      </p:sp>
      <p:sp>
        <p:nvSpPr>
          <p:cNvPr id="2660" name="Google Shape;2660;p80"/>
          <p:cNvSpPr/>
          <p:nvPr/>
        </p:nvSpPr>
        <p:spPr>
          <a:xfrm>
            <a:off x="566928" y="5349240"/>
            <a:ext cx="66751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833A"/>
              </a:buClr>
              <a:buSzPts val="2000"/>
              <a:buFont typeface="Cambria"/>
              <a:buNone/>
            </a:pPr>
            <a:r>
              <a:rPr b="1" i="0" lang="en-US" sz="2000" u="none" cap="none" strike="noStrike">
                <a:solidFill>
                  <a:srgbClr val="E8833A"/>
                </a:solidFill>
                <a:latin typeface="Cambria"/>
                <a:ea typeface="Cambria"/>
                <a:cs typeface="Cambria"/>
                <a:sym typeface="Cambria"/>
              </a:rPr>
              <a:t>Questions?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2026-08-06T12:07:44Z</dcterms:created>
  <dc:creator>PptxGenJS</dc:creator>
</cp:coreProperties>
</file>