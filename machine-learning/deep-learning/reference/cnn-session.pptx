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4" roundtripDataSignature="AMtx7mhkq9mv0f8Za7hWv8jDu1SKvTEs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74" Type="http://customschemas.google.com/relationships/presentationmetadata" Target="metadata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883da9c2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f883da9c2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883da9c2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f883da9c22_0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f883da9c22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f883da9c22_0_1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6" name="Google Shape;78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7" name="Google Shape;92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3" name="Google Shape;96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5" name="Google Shape;10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f883da9c22_0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0" name="Google Shape;1050;g3f883da9c22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g3f883da9c22_0_2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f883da9c22_0_3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3" name="Google Shape;1173;g3f883da9c22_0_3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g3f883da9c22_0_3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f883da9c22_0_4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3" name="Google Shape;1243;g3f883da9c22_0_4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g3f883da9c22_0_4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0" name="Google Shape;131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0" name="Google Shape;134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1" name="Google Shape;139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f883da9c22_0_5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4" name="Google Shape;1414;g3f883da9c22_0_5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g3f883da9c22_0_5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3f883da9c22_0_5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2" name="Google Shape;1492;g3f883da9c22_0_5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g3f883da9c22_0_5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3f883da9c22_0_6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5" name="Google Shape;1585;g3f883da9c22_0_6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g3f883da9c22_0_6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3f883da9c22_0_6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3" name="Google Shape;1593;g3f883da9c22_0_6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g3f883da9c22_0_6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g3f883da9c22_0_7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8" name="Google Shape;1668;g3f883da9c22_0_7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g3f883da9c22_0_7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3f883da9c22_0_8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0" name="Google Shape;1780;g3f883da9c22_0_8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g3f883da9c22_0_8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g3f883da9c22_0_9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0" name="Google Shape;1820;g3f883da9c22_0_9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g3f883da9c22_0_9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3f883da9c22_0_9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3" name="Google Shape;1913;g3f883da9c22_0_9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g3f883da9c22_0_9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g3f883da9c22_0_10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6" name="Google Shape;2006;g3f883da9c22_0_10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g3f883da9c22_0_10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3f883da9c22_0_12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2" name="Google Shape;2152;g3f883da9c22_0_12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g3f883da9c22_0_12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4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Google Shape;2435;g3f883da9c22_0_15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6" name="Google Shape;2436;g3f883da9c22_0_15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g3f883da9c22_0_15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7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g3f883da9c22_0_18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9" name="Google Shape;2729;g3f883da9c22_0_18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0" name="Google Shape;2730;g3f883da9c22_0_18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g3f883da9c22_0_20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3" name="Google Shape;3023;g3f883da9c22_0_20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4" name="Google Shape;3024;g3f883da9c22_0_20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4" name="Shape 3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5" name="Google Shape;3325;g3f883da9c22_0_24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6" name="Google Shape;3326;g3f883da9c22_0_24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7" name="Google Shape;3327;g3f883da9c22_0_24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8" name="Shape 3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9" name="Google Shape;3629;g3f883da9c22_0_27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0" name="Google Shape;3630;g3f883da9c22_0_27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1" name="Google Shape;3631;g3f883da9c22_0_27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1" name="Shape 3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2" name="Google Shape;3772;g3f883da9c22_0_28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3" name="Google Shape;3773;g3f883da9c22_0_28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4" name="Google Shape;3774;g3f883da9c22_0_28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3" name="Shape 3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4" name="Google Shape;3804;g3f883da9c22_0_28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5" name="Google Shape;3805;g3f883da9c22_0_28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6" name="Google Shape;3806;g3f883da9c22_0_28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7" name="Shape 3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8" name="Google Shape;3848;g3f883da9c22_0_29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9" name="Google Shape;3849;g3f883da9c22_0_29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0" name="Google Shape;3850;g3f883da9c22_0_29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7" name="Shape 3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8" name="Google Shape;3888;g3f883da9c22_0_29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9" name="Google Shape;3889;g3f883da9c22_0_29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0" name="Google Shape;3890;g3f883da9c22_0_29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8" name="Shape 3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g3f883da9c22_0_29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0" name="Google Shape;3930;g3f883da9c22_0_29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1" name="Google Shape;3931;g3f883da9c22_0_29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5" name="Shape 3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6" name="Google Shape;3976;g3f883da9c22_0_30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7" name="Google Shape;3977;g3f883da9c22_0_30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8" name="Google Shape;3978;g3f883da9c22_0_30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9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3f883da9c22_0_30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1" name="Google Shape;4011;g3f883da9c22_0_30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2" name="Google Shape;4012;g3f883da9c22_0_30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7" name="Shape 4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8" name="Google Shape;4028;g3f883da9c22_0_30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9" name="Google Shape;4029;g3f883da9c22_0_30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0" name="Google Shape;4030;g3f883da9c22_0_30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2" name="Shape 4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Google Shape;4103;g3f883da9c22_0_3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4" name="Google Shape;4104;g3f883da9c22_0_3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5" name="Google Shape;4105;g3f883da9c22_0_3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7" name="Shape 4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8" name="Google Shape;4158;g3f883da9c22_0_3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9" name="Google Shape;4159;g3f883da9c22_0_3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0" name="Google Shape;4160;g3f883da9c22_0_32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9" name="Shape 4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" name="Google Shape;4200;g3f883da9c22_0_32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1" name="Google Shape;4201;g3f883da9c22_0_32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2" name="Google Shape;4202;g3f883da9c22_0_32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7" name="Shape 4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" name="Google Shape;4218;g3f883da9c22_0_32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9" name="Google Shape;4219;g3f883da9c22_0_3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0" name="Google Shape;4220;g3f883da9c22_0_32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8" name="Shape 4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" name="Google Shape;4239;g3f883da9c22_0_33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0" name="Google Shape;4240;g3f883da9c22_0_33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1" name="Google Shape;4241;g3f883da9c22_0_33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0" name="Shape 4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" name="Google Shape;4301;g3f883da9c22_0_3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2" name="Google Shape;4302;g3f883da9c22_0_3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3" name="Google Shape;4303;g3f883da9c22_0_33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5" name="Shape 4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6" name="Google Shape;4426;g3f883da9c22_0_34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7" name="Google Shape;4427;g3f883da9c22_0_34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8" name="Google Shape;4428;g3f883da9c22_0_34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6" name="Shape 4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7" name="Google Shape;4467;g3f883da9c22_0_35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8" name="Google Shape;4468;g3f883da9c22_0_35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9" name="Google Shape;4469;g3f883da9c22_0_35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1" name="Shape 4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2" name="Google Shape;4532;g3f883da9c22_0_35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3" name="Google Shape;4533;g3f883da9c22_0_35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4" name="Google Shape;4534;g3f883da9c22_0_35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0" name="Shape 4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1" name="Google Shape;4571;g3f883da9c22_0_36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2" name="Google Shape;4572;g3f883da9c22_0_36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3" name="Google Shape;4573;g3f883da9c22_0_36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3" name="Shape 4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4" name="Google Shape;4594;g3f883da9c22_0_36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5" name="Google Shape;4595;g3f883da9c22_0_36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6" name="Google Shape;4596;g3f883da9c22_0_36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1" name="Shape 4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2" name="Google Shape;4652;g3f883da9c22_0_37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3" name="Google Shape;4653;g3f883da9c22_0_37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4" name="Google Shape;4654;g3f883da9c22_0_37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1" name="Shape 4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2" name="Google Shape;4682;g3f883da9c22_0_37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3" name="Google Shape;4683;g3f883da9c22_0_37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4" name="Google Shape;4684;g3f883da9c22_0_37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0" name="Shape 4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1" name="Google Shape;4721;g3f883da9c22_0_37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2" name="Google Shape;4722;g3f883da9c22_0_37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3" name="Google Shape;4723;g3f883da9c22_0_37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0" name="Shape 4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" name="Google Shape;4761;g3f883da9c22_0_38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2" name="Google Shape;4762;g3f883da9c22_0_38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3" name="Google Shape;4763;g3f883da9c22_0_38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8" name="Shape 4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9" name="Google Shape;4799;g3f883da9c22_0_38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0" name="Google Shape;4800;g3f883da9c22_0_38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1" name="Google Shape;4801;g3f883da9c22_0_38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9" name="Shape 4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0" name="Google Shape;4830;g3f883da9c22_0_38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1" name="Google Shape;4831;g3f883da9c22_0_38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2" name="Google Shape;4832;g3f883da9c22_0_38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6" name="Shape 4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7" name="Google Shape;4877;g3f883da9c22_0_39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8" name="Google Shape;4878;g3f883da9c22_0_39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9" name="Google Shape;4879;g3f883da9c22_0_39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9" name="Shape 4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0" name="Google Shape;4910;g3f883da9c22_0_39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1" name="Google Shape;4911;g3f883da9c22_0_39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2" name="Google Shape;4912;g3f883da9c22_0_39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1" name="Shape 4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2" name="Google Shape;4942;g3f883da9c22_0_39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3" name="Google Shape;4943;g3f883da9c22_0_39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4" name="Google Shape;4944;g3f883da9c22_0_39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8" name="Shape 4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9" name="Google Shape;4999;g3f883da9c22_0_40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0" name="Google Shape;5000;g3f883da9c22_0_40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1" name="Google Shape;5001;g3f883da9c22_0_40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03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822960" y="1691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DEEP LEARNING  ·  SESSION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822960" y="2103120"/>
            <a:ext cx="7498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Convolutional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Neural Networks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841248" y="4069080"/>
            <a:ext cx="6949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ED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B7AEDC"/>
                </a:solidFill>
                <a:latin typeface="Calibri"/>
                <a:ea typeface="Calibri"/>
                <a:cs typeface="Calibri"/>
                <a:sym typeface="Calibri"/>
              </a:rPr>
              <a:t>From the convolution operation to the architectures that power modern computer vision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41248" y="5029200"/>
            <a:ext cx="822960" cy="27432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>
            <a:off x="841248" y="525780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Based on Goodfellow, Bengio &amp; Courville (2016) and Stanford CS231n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085832" y="1709928"/>
            <a:ext cx="2011680" cy="2011680"/>
          </a:xfrm>
          <a:prstGeom prst="rect">
            <a:avLst/>
          </a:prstGeom>
          <a:solidFill>
            <a:srgbClr val="FF5E5B">
              <a:alpha val="74902"/>
            </a:srgbClr>
          </a:solidFill>
          <a:ln cap="flat" cmpd="sng" w="12700">
            <a:solidFill>
              <a:srgbClr val="5B4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9701784" y="2093976"/>
            <a:ext cx="2011680" cy="2011680"/>
          </a:xfrm>
          <a:prstGeom prst="rect">
            <a:avLst/>
          </a:prstGeom>
          <a:solidFill>
            <a:srgbClr val="E8930C">
              <a:alpha val="74902"/>
            </a:srgbClr>
          </a:solidFill>
          <a:ln cap="flat" cmpd="sng" w="12700">
            <a:solidFill>
              <a:srgbClr val="5B4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9317736" y="2478024"/>
            <a:ext cx="2011680" cy="2011680"/>
          </a:xfrm>
          <a:prstGeom prst="rect">
            <a:avLst/>
          </a:prstGeom>
          <a:solidFill>
            <a:srgbClr val="12A594">
              <a:alpha val="74902"/>
            </a:srgbClr>
          </a:solidFill>
          <a:ln cap="flat" cmpd="sng" w="12700">
            <a:solidFill>
              <a:srgbClr val="5B4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933688" y="2862072"/>
            <a:ext cx="2011680" cy="2011680"/>
          </a:xfrm>
          <a:prstGeom prst="rect">
            <a:avLst/>
          </a:prstGeom>
          <a:solidFill>
            <a:srgbClr val="3D2A78">
              <a:alpha val="74902"/>
            </a:srgbClr>
          </a:solidFill>
          <a:ln cap="flat" cmpd="sng" w="12700">
            <a:solidFill>
              <a:srgbClr val="5B4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8549640" y="3246120"/>
            <a:ext cx="2011680" cy="201168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5B4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8714232" y="3410712"/>
            <a:ext cx="256032" cy="256032"/>
          </a:xfrm>
          <a:prstGeom prst="rect">
            <a:avLst/>
          </a:prstGeom>
          <a:solidFill>
            <a:srgbClr val="2E1F5E"/>
          </a:solidFill>
          <a:ln cap="flat" cmpd="sng" w="9525">
            <a:solidFill>
              <a:srgbClr val="6E5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8970264" y="3410712"/>
            <a:ext cx="256032" cy="256032"/>
          </a:xfrm>
          <a:prstGeom prst="rect">
            <a:avLst/>
          </a:prstGeom>
          <a:solidFill>
            <a:srgbClr val="241748"/>
          </a:solidFill>
          <a:ln cap="flat" cmpd="sng" w="9525">
            <a:solidFill>
              <a:srgbClr val="6E5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9226296" y="3410712"/>
            <a:ext cx="256032" cy="256032"/>
          </a:xfrm>
          <a:prstGeom prst="rect">
            <a:avLst/>
          </a:prstGeom>
          <a:solidFill>
            <a:srgbClr val="2E1F5E"/>
          </a:solidFill>
          <a:ln cap="flat" cmpd="sng" w="9525">
            <a:solidFill>
              <a:srgbClr val="6E5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8714232" y="3666744"/>
            <a:ext cx="256032" cy="256032"/>
          </a:xfrm>
          <a:prstGeom prst="rect">
            <a:avLst/>
          </a:prstGeom>
          <a:solidFill>
            <a:srgbClr val="241748"/>
          </a:solidFill>
          <a:ln cap="flat" cmpd="sng" w="9525">
            <a:solidFill>
              <a:srgbClr val="6E5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8970264" y="3666744"/>
            <a:ext cx="256032" cy="256032"/>
          </a:xfrm>
          <a:prstGeom prst="rect">
            <a:avLst/>
          </a:prstGeom>
          <a:solidFill>
            <a:srgbClr val="2E1F5E"/>
          </a:solidFill>
          <a:ln cap="flat" cmpd="sng" w="9525">
            <a:solidFill>
              <a:srgbClr val="6E5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9226296" y="3666744"/>
            <a:ext cx="256032" cy="256032"/>
          </a:xfrm>
          <a:prstGeom prst="rect">
            <a:avLst/>
          </a:prstGeom>
          <a:solidFill>
            <a:srgbClr val="241748"/>
          </a:solidFill>
          <a:ln cap="flat" cmpd="sng" w="9525">
            <a:solidFill>
              <a:srgbClr val="6E5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8714232" y="3922776"/>
            <a:ext cx="256032" cy="256032"/>
          </a:xfrm>
          <a:prstGeom prst="rect">
            <a:avLst/>
          </a:prstGeom>
          <a:solidFill>
            <a:srgbClr val="2E1F5E"/>
          </a:solidFill>
          <a:ln cap="flat" cmpd="sng" w="9525">
            <a:solidFill>
              <a:srgbClr val="6E5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8970264" y="3922776"/>
            <a:ext cx="256032" cy="256032"/>
          </a:xfrm>
          <a:prstGeom prst="rect">
            <a:avLst/>
          </a:prstGeom>
          <a:solidFill>
            <a:srgbClr val="241748"/>
          </a:solidFill>
          <a:ln cap="flat" cmpd="sng" w="9525">
            <a:solidFill>
              <a:srgbClr val="6E5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9226296" y="3922776"/>
            <a:ext cx="256032" cy="256032"/>
          </a:xfrm>
          <a:prstGeom prst="rect">
            <a:avLst/>
          </a:prstGeom>
          <a:solidFill>
            <a:srgbClr val="2E1F5E"/>
          </a:solidFill>
          <a:ln cap="flat" cmpd="sng" w="9525">
            <a:solidFill>
              <a:srgbClr val="6E5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548640" y="59436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What we will cover today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48640" y="1481328"/>
            <a:ext cx="11064240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77240" y="1655064"/>
            <a:ext cx="475488" cy="457200"/>
          </a:xfrm>
          <a:prstGeom prst="roundRect">
            <a:avLst>
              <a:gd fmla="val 16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 txBox="1"/>
          <p:nvPr/>
        </p:nvSpPr>
        <p:spPr>
          <a:xfrm>
            <a:off x="777240" y="1655064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1463040" y="163677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The convolution operation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5486400" y="166420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Kernels, feature maps, non-linearity and multi-channel filters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48640" y="2414016"/>
            <a:ext cx="11064240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777240" y="2587752"/>
            <a:ext cx="475488" cy="457200"/>
          </a:xfrm>
          <a:prstGeom prst="roundRect">
            <a:avLst>
              <a:gd fmla="val 16000" name="adj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777240" y="2587752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1463040" y="256946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Why convolution works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5486400" y="2596896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Sparse interactions, parameter sharing, equivariance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48640" y="3346704"/>
            <a:ext cx="11064240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777240" y="3520440"/>
            <a:ext cx="475488" cy="457200"/>
          </a:xfrm>
          <a:prstGeom prst="roundRect">
            <a:avLst>
              <a:gd fmla="val 16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777240" y="3520440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1463040" y="350215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Anatomy of a conv layer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5486400" y="3529584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Stride, padding, pooling and counting parameters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48640" y="4279392"/>
            <a:ext cx="11064240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777240" y="4453128"/>
            <a:ext cx="475488" cy="457200"/>
          </a:xfrm>
          <a:prstGeom prst="roundRect">
            <a:avLst>
              <a:gd fmla="val 16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 txBox="1"/>
          <p:nvPr/>
        </p:nvSpPr>
        <p:spPr>
          <a:xfrm>
            <a:off x="777240" y="4453128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1463040" y="443484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Landmark architectures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5486400" y="4462272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LeNet, AlexNet, VGG, GoogLeNet, ResNet, transfer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48640" y="5212080"/>
            <a:ext cx="11064240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777240" y="5385816"/>
            <a:ext cx="475488" cy="457200"/>
          </a:xfrm>
          <a:prstGeom prst="roundRect">
            <a:avLst>
              <a:gd fmla="val 16000" name="adj"/>
            </a:avLst>
          </a:prstGeom>
          <a:solidFill>
            <a:srgbClr val="6E4BB8"/>
          </a:solidFill>
          <a:ln cap="flat" cmpd="sng" w="12700">
            <a:solidFill>
              <a:srgbClr val="6E4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 txBox="1"/>
          <p:nvPr/>
        </p:nvSpPr>
        <p:spPr>
          <a:xfrm>
            <a:off x="777240" y="5385816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1463040" y="536752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Beyond classification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5486400" y="539496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Detection, semantic and instance segmentation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035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777240" y="1417320"/>
            <a:ext cx="29260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13000"/>
              <a:buFont typeface="Cambria"/>
              <a:buNone/>
            </a:pPr>
            <a:r>
              <a:rPr b="1" i="0" lang="en-US" sz="13000" u="none" cap="none" strike="noStrike">
                <a:solidFill>
                  <a:srgbClr val="2E1F5E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822960" y="3246120"/>
            <a:ext cx="6035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convolution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operation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360920" y="1883664"/>
            <a:ext cx="237744" cy="237744"/>
          </a:xfrm>
          <a:prstGeom prst="ellipse">
            <a:avLst/>
          </a:prstGeom>
          <a:solidFill>
            <a:srgbClr val="FF5E5B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 txBox="1"/>
          <p:nvPr/>
        </p:nvSpPr>
        <p:spPr>
          <a:xfrm>
            <a:off x="7818120" y="181051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How a kernel slides over a grid to build a feature map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360920" y="2843784"/>
            <a:ext cx="237744" cy="237744"/>
          </a:xfrm>
          <a:prstGeom prst="ellipse">
            <a:avLst/>
          </a:prstGeom>
          <a:solidFill>
            <a:srgbClr val="12A594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 txBox="1"/>
          <p:nvPr/>
        </p:nvSpPr>
        <p:spPr>
          <a:xfrm>
            <a:off x="7818120" y="277063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Why we apply an element-wise non-linearity afterwards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360920" y="3803904"/>
            <a:ext cx="237744" cy="237744"/>
          </a:xfrm>
          <a:prstGeom prst="ellipse">
            <a:avLst/>
          </a:prstGeom>
          <a:solidFill>
            <a:srgbClr val="E8930C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7818120" y="373075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From a single filter to a full 3D output volume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548640" y="59436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What is a convolutional neural network?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548640" y="1463040"/>
            <a:ext cx="5669280" cy="1325880"/>
          </a:xfrm>
          <a:prstGeom prst="roundRect">
            <a:avLst>
              <a:gd fmla="val 4138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822960" y="169164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specialised kind of neural network for processing data with a known, grid-like topology.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548640" y="3063240"/>
            <a:ext cx="56692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Grid data: images (2D grid of pixels), time series (1D grid of samples), video, audio spectrograms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Convolutional networks use convolution in place of general matrix multiplication in at least one of their layers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kernel is a small set of repeated weights that is reused everywhere in the input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675120" y="1463040"/>
            <a:ext cx="4937760" cy="4297680"/>
          </a:xfrm>
          <a:prstGeom prst="roundRect">
            <a:avLst>
              <a:gd fmla="val 127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6949440" y="16916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 typical CNN pipeline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995160" y="2121408"/>
            <a:ext cx="4297680" cy="420624"/>
          </a:xfrm>
          <a:prstGeom prst="roundRect">
            <a:avLst>
              <a:gd fmla="val 10870" name="adj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 image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125712" y="2560320"/>
            <a:ext cx="36576" cy="155448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995160" y="2715768"/>
            <a:ext cx="4297680" cy="420624"/>
          </a:xfrm>
          <a:prstGeom prst="roundRect">
            <a:avLst>
              <a:gd fmla="val 1087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Convolution  ·  learn filters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9125712" y="3154680"/>
            <a:ext cx="36576" cy="155448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995160" y="3310128"/>
            <a:ext cx="4297680" cy="420624"/>
          </a:xfrm>
          <a:prstGeom prst="roundRect">
            <a:avLst>
              <a:gd fmla="val 10870" name="adj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Non-linearity  ·  ReLU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9125712" y="3749040"/>
            <a:ext cx="36576" cy="155448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995160" y="3904488"/>
            <a:ext cx="4297680" cy="420624"/>
          </a:xfrm>
          <a:prstGeom prst="roundRect">
            <a:avLst>
              <a:gd fmla="val 1087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Pooling  ·  downsample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9125712" y="4343400"/>
            <a:ext cx="36576" cy="155448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6995160" y="4498848"/>
            <a:ext cx="4297680" cy="420624"/>
          </a:xfrm>
          <a:prstGeom prst="roundRect">
            <a:avLst>
              <a:gd fmla="val 10870" name="adj"/>
            </a:avLst>
          </a:prstGeom>
          <a:solidFill>
            <a:srgbClr val="EDEAF6"/>
          </a:solidFill>
          <a:ln cap="flat" cmpd="sng" w="12700">
            <a:solidFill>
              <a:srgbClr val="ED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…repeat the block…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9125712" y="4937760"/>
            <a:ext cx="36576" cy="155448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995160" y="5093208"/>
            <a:ext cx="4297680" cy="420624"/>
          </a:xfrm>
          <a:prstGeom prst="roundRect">
            <a:avLst>
              <a:gd fmla="val 1087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Fully connected  →  softmax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THE CORE OPERATION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548640" y="59436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2D convolution: how it works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548640" y="1508760"/>
            <a:ext cx="41148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Slide the kernel over the input, one step at a time — the step size is the stride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At every position, multiply element-wise and sum the products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Each sum becomes one cell of the output, called the feature map or convolved feature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kernel weights are shared: the same 9 numbers are used at every position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48646" y="4617725"/>
            <a:ext cx="10424100" cy="1143000"/>
          </a:xfrm>
          <a:prstGeom prst="roundRect">
            <a:avLst>
              <a:gd fmla="val 4800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1127771" y="4846325"/>
            <a:ext cx="9265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1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cell = Σ (input patch × kernel), element by element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5029200" y="1481328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Input image  (5 × 5)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29200" y="1783080"/>
            <a:ext cx="438912" cy="438912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468112" y="1783080"/>
            <a:ext cx="438912" cy="438912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907024" y="1783080"/>
            <a:ext cx="438912" cy="438912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345936" y="1783080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784848" y="1783080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029200" y="2221992"/>
            <a:ext cx="438912" cy="438912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468112" y="2221992"/>
            <a:ext cx="438912" cy="438912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907024" y="2221992"/>
            <a:ext cx="438912" cy="438912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345936" y="2221992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784848" y="2221992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029200" y="2660904"/>
            <a:ext cx="438912" cy="438912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468112" y="2660904"/>
            <a:ext cx="438912" cy="438912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907024" y="2660904"/>
            <a:ext cx="438912" cy="438912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345936" y="2660904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784848" y="2660904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029200" y="3099816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468112" y="3099816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907024" y="3099816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345936" y="3099816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784848" y="3099816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029200" y="3538728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468112" y="3538728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907024" y="3538728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345936" y="3538728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784848" y="3538728"/>
            <a:ext cx="43891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029200" y="1783080"/>
            <a:ext cx="1316736" cy="1316736"/>
          </a:xfrm>
          <a:prstGeom prst="rect">
            <a:avLst/>
          </a:prstGeom>
          <a:noFill/>
          <a:ln cap="flat" cmpd="sng" w="2857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7635240" y="148132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Kernel  (3 × 3)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7635240" y="1783080"/>
            <a:ext cx="438912" cy="438912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8074152" y="1783080"/>
            <a:ext cx="438912" cy="438912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8513064" y="1783080"/>
            <a:ext cx="438912" cy="438912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7635240" y="2221992"/>
            <a:ext cx="438912" cy="438912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8074152" y="2221992"/>
            <a:ext cx="438912" cy="438912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8513064" y="2221992"/>
            <a:ext cx="438912" cy="438912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7635240" y="2660904"/>
            <a:ext cx="438912" cy="438912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8074152" y="2660904"/>
            <a:ext cx="438912" cy="438912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8513064" y="2660904"/>
            <a:ext cx="438912" cy="438912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9281160" y="2286000"/>
            <a:ext cx="457200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9921240" y="148132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Feature map  (3 × 3)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9921240" y="1783080"/>
            <a:ext cx="438912" cy="438912"/>
          </a:xfrm>
          <a:prstGeom prst="rect">
            <a:avLst/>
          </a:prstGeom>
          <a:solidFill>
            <a:srgbClr val="1B1035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10360152" y="1783080"/>
            <a:ext cx="438912" cy="438912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10799064" y="1783080"/>
            <a:ext cx="438912" cy="438912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9921240" y="2221992"/>
            <a:ext cx="438912" cy="438912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10360152" y="2221992"/>
            <a:ext cx="438912" cy="438912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10799064" y="2221992"/>
            <a:ext cx="438912" cy="438912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9921240" y="2660904"/>
            <a:ext cx="438912" cy="438912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10360152" y="2660904"/>
            <a:ext cx="438912" cy="438912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0799064" y="2660904"/>
            <a:ext cx="438912" cy="438912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5029200" y="4251960"/>
            <a:ext cx="6583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1·1 + 1·0 + 1·1 + 0·0 + 1·1 + 1·0 + 0·1 + 0·0 + 1·1  = 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"/>
          <p:cNvSpPr txBox="1"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AFTER THE CONVOLUTION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548640" y="59436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Non-linearity, and what filters actually detect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548640" y="1463040"/>
            <a:ext cx="4846320" cy="2011680"/>
          </a:xfrm>
          <a:prstGeom prst="roundRect">
            <a:avLst>
              <a:gd fmla="val 2727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822960" y="1691640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Element-wise non-linearity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822960" y="2057400"/>
            <a:ext cx="4297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BEE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6BEE6"/>
                </a:solidFill>
                <a:latin typeface="Calibri"/>
                <a:ea typeface="Calibri"/>
                <a:cs typeface="Calibri"/>
                <a:sym typeface="Calibri"/>
              </a:rPr>
              <a:t>After obtaining a feature map we apply an element-wise non-linear transformation — usually ReLU — to obtain the transformed feature map. Without it, stacking convolutions would collapse into a single linear operation.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822960" y="3657600"/>
            <a:ext cx="2011680" cy="457200"/>
          </a:xfrm>
          <a:prstGeom prst="roundRect">
            <a:avLst>
              <a:gd fmla="val 10000" name="adj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Feature 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2971800" y="3776472"/>
            <a:ext cx="45720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3566160" y="3657600"/>
            <a:ext cx="1828800" cy="457200"/>
          </a:xfrm>
          <a:prstGeom prst="roundRect">
            <a:avLst>
              <a:gd fmla="val 10000" name="adj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ReLU: max(0, 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548640" y="434340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Negative activations are clipped to zero, so each filter reports only where its pattern is present — never how strongly it is absent.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806440" y="1463040"/>
            <a:ext cx="580644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 txBox="1"/>
          <p:nvPr/>
        </p:nvSpPr>
        <p:spPr>
          <a:xfrm>
            <a:off x="6080760" y="169164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The same operation, different weights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126480" y="2148840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400800" y="2148840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675120" y="2148840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126480" y="2423160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400800" y="2423160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675120" y="2423160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6126480" y="2697480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400800" y="2697480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6675120" y="2697480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7132320" y="2450592"/>
            <a:ext cx="146304" cy="146304"/>
          </a:xfrm>
          <a:prstGeom prst="ellipse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7406640" y="23865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Identity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6126480" y="3081528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400800" y="3081528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6675120" y="3081528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126480" y="3355848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6400800" y="3355848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6675120" y="3355848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6126480" y="3630168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6400800" y="3630168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6675120" y="3630168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7132320" y="3383280"/>
            <a:ext cx="146304" cy="146304"/>
          </a:xfrm>
          <a:prstGeom prst="ellipse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7406640" y="331927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Edge detection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6126480" y="4014216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6400800" y="4014216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6675120" y="4014216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6126480" y="4288536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6400800" y="4288536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6675120" y="4288536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6126480" y="4562856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6400800" y="4562856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6675120" y="4562856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7132320" y="4315968"/>
            <a:ext cx="146304" cy="146304"/>
          </a:xfrm>
          <a:prstGeom prst="ellipse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"/>
          <p:cNvSpPr txBox="1"/>
          <p:nvPr/>
        </p:nvSpPr>
        <p:spPr>
          <a:xfrm>
            <a:off x="7406640" y="425196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Sharpen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6126480" y="4946904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6400800" y="4946904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6675120" y="4946904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6126480" y="5221224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6400800" y="5221224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6675120" y="5221224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6126480" y="5495544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6400800" y="5495544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6675120" y="5495544"/>
            <a:ext cx="274320" cy="27432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7132320" y="5248656"/>
            <a:ext cx="146304" cy="146304"/>
          </a:xfrm>
          <a:prstGeom prst="ellipse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"/>
          <p:cNvSpPr txBox="1"/>
          <p:nvPr/>
        </p:nvSpPr>
        <p:spPr>
          <a:xfrm>
            <a:off x="7406640" y="51846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Box blur  (× 1/9)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548640" y="635508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Kernel examples: en.wikipedia.org/wiki/Kernel_(image_processing)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"/>
          <p:cNvSpPr txBox="1"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DEPTH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548640" y="59436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One filter, one feature map — so we use many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 txBox="1"/>
          <p:nvPr/>
        </p:nvSpPr>
        <p:spPr>
          <a:xfrm>
            <a:off x="548640" y="1554480"/>
            <a:ext cx="51206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 single kernel detects a single pattern. Using K filters produces K feature maps, stacked into an output volume.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Filters always span the full depth of their input: for an RGB image a 5 × 5 filter is really 5 × 5 × 3.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filter slides only in width and height — never in depth — so the output of one filter is always 2-D.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Output volume = W' × H' × K, where K is the number of filters, also called the kernel depth.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548640" y="4800600"/>
            <a:ext cx="5120640" cy="960120"/>
          </a:xfrm>
          <a:prstGeom prst="roundRect">
            <a:avLst>
              <a:gd fmla="val 5714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822960" y="5010912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Early layers learn edges and colour blobs; deeper layers combine them into textures, parts and objects.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6126480" y="1463040"/>
            <a:ext cx="548640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6656832" y="2670048"/>
            <a:ext cx="1371600" cy="173736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6574536" y="2752344"/>
            <a:ext cx="1371600" cy="173736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6492240" y="2834640"/>
            <a:ext cx="1371600" cy="1737360"/>
          </a:xfrm>
          <a:prstGeom prst="rect">
            <a:avLst/>
          </a:prstGeom>
          <a:solidFill>
            <a:srgbClr val="E0DB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 txBox="1"/>
          <p:nvPr/>
        </p:nvSpPr>
        <p:spPr>
          <a:xfrm>
            <a:off x="6309360" y="480060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Input  32 × 32 ×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8275320" y="356616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 txBox="1"/>
          <p:nvPr/>
        </p:nvSpPr>
        <p:spPr>
          <a:xfrm>
            <a:off x="8092440" y="228600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3 filters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5 × 5 ×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9875520" y="2468880"/>
            <a:ext cx="1234440" cy="1554480"/>
          </a:xfrm>
          <a:prstGeom prst="rect">
            <a:avLst/>
          </a:prstGeom>
          <a:solidFill>
            <a:srgbClr val="12A594">
              <a:alpha val="65098"/>
            </a:srgbClr>
          </a:solidFill>
          <a:ln cap="flat" cmpd="sng" w="15875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9555480" y="2743200"/>
            <a:ext cx="1234440" cy="1554480"/>
          </a:xfrm>
          <a:prstGeom prst="rect">
            <a:avLst/>
          </a:prstGeom>
          <a:solidFill>
            <a:srgbClr val="E8930C">
              <a:alpha val="65098"/>
            </a:srgbClr>
          </a:solidFill>
          <a:ln cap="flat" cmpd="sng" w="15875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9235440" y="3017520"/>
            <a:ext cx="1234440" cy="1554480"/>
          </a:xfrm>
          <a:prstGeom prst="rect">
            <a:avLst/>
          </a:prstGeom>
          <a:solidFill>
            <a:srgbClr val="FF5E5B">
              <a:alpha val="65098"/>
            </a:srgbClr>
          </a:solidFill>
          <a:ln cap="flat" cmpd="sng" w="1587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 txBox="1"/>
          <p:nvPr/>
        </p:nvSpPr>
        <p:spPr>
          <a:xfrm>
            <a:off x="8778240" y="480060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3 feature maps  →  one output volume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6309360" y="1828800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Using 3 filters produces 3 feature maps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035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 txBox="1"/>
          <p:nvPr/>
        </p:nvSpPr>
        <p:spPr>
          <a:xfrm>
            <a:off x="777240" y="1417320"/>
            <a:ext cx="29260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13000"/>
              <a:buFont typeface="Cambria"/>
              <a:buNone/>
            </a:pPr>
            <a:r>
              <a:rPr b="1" i="0" lang="en-US" sz="13000" u="none" cap="none" strike="noStrike">
                <a:solidFill>
                  <a:srgbClr val="2E1F5E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822960" y="3246120"/>
            <a:ext cx="6035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convolution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works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7360920" y="1883664"/>
            <a:ext cx="237744" cy="237744"/>
          </a:xfrm>
          <a:prstGeom prst="ellipse">
            <a:avLst/>
          </a:prstGeom>
          <a:solidFill>
            <a:srgbClr val="FF5E5B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 txBox="1"/>
          <p:nvPr/>
        </p:nvSpPr>
        <p:spPr>
          <a:xfrm>
            <a:off x="7818120" y="181051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Sparse interactions — small kernels, few connections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7360920" y="2843784"/>
            <a:ext cx="237744" cy="237744"/>
          </a:xfrm>
          <a:prstGeom prst="ellipse">
            <a:avLst/>
          </a:prstGeom>
          <a:solidFill>
            <a:srgbClr val="12A594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 txBox="1"/>
          <p:nvPr/>
        </p:nvSpPr>
        <p:spPr>
          <a:xfrm>
            <a:off x="7818120" y="277063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Parameter sharing — one kernel reused everywhere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7360920" y="3803904"/>
            <a:ext cx="237744" cy="237744"/>
          </a:xfrm>
          <a:prstGeom prst="ellipse">
            <a:avLst/>
          </a:prstGeom>
          <a:solidFill>
            <a:srgbClr val="E8930C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 txBox="1"/>
          <p:nvPr/>
        </p:nvSpPr>
        <p:spPr>
          <a:xfrm>
            <a:off x="7818120" y="373075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Equivariant representations — shift in, shift out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883da9c22_0_0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WHY CONVOLUTION 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883da9c22_0_0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Key idea 1 — Sparse interactions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f883da9c22_0_0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f883da9c22_0_0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f883da9c22_0_0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f883da9c22_0_0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f883da9c22_0_0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f883da9c22_0_0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f883da9c22_0_0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f883da9c22_0_0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f883da9c22_0_0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f883da9c22_0_0"/>
          <p:cNvSpPr txBox="1"/>
          <p:nvPr/>
        </p:nvSpPr>
        <p:spPr>
          <a:xfrm>
            <a:off x="548640" y="1371600"/>
            <a:ext cx="1106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Traditional fully connected layers use a separate parameter for every input–output pair, so every output unit interacts with every input unit. Convolutional layers make the kernel smaller than the input, so each output sees only a local patch.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883da9c22_0_0"/>
          <p:cNvSpPr/>
          <p:nvPr/>
        </p:nvSpPr>
        <p:spPr>
          <a:xfrm>
            <a:off x="548640" y="1874520"/>
            <a:ext cx="5486400" cy="2697600"/>
          </a:xfrm>
          <a:prstGeom prst="roundRect">
            <a:avLst>
              <a:gd fmla="val 2034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f883da9c22_0_0"/>
          <p:cNvSpPr txBox="1"/>
          <p:nvPr/>
        </p:nvSpPr>
        <p:spPr>
          <a:xfrm>
            <a:off x="822960" y="2057400"/>
            <a:ext cx="493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Sparse connections — kernel of width 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883da9c22_0_0"/>
          <p:cNvSpPr/>
          <p:nvPr/>
        </p:nvSpPr>
        <p:spPr>
          <a:xfrm rot="-5400000">
            <a:off x="1111114" y="3592668"/>
            <a:ext cx="521100" cy="11100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f883da9c22_0_0"/>
          <p:cNvSpPr/>
          <p:nvPr/>
        </p:nvSpPr>
        <p:spPr>
          <a:xfrm>
            <a:off x="1325880" y="3227832"/>
            <a:ext cx="91500" cy="109800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f883da9c22_0_0"/>
          <p:cNvSpPr/>
          <p:nvPr/>
        </p:nvSpPr>
        <p:spPr>
          <a:xfrm rot="-7943253">
            <a:off x="1441920" y="3578198"/>
            <a:ext cx="893580" cy="11039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f883da9c22_0_0"/>
          <p:cNvSpPr/>
          <p:nvPr/>
        </p:nvSpPr>
        <p:spPr>
          <a:xfrm rot="-2548550">
            <a:off x="1504684" y="3158370"/>
            <a:ext cx="91518" cy="109781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f883da9c22_0_0"/>
          <p:cNvSpPr/>
          <p:nvPr/>
        </p:nvSpPr>
        <p:spPr>
          <a:xfrm rot="-2856747">
            <a:off x="1367815" y="3578299"/>
            <a:ext cx="893580" cy="11039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f883da9c22_0_0"/>
          <p:cNvSpPr/>
          <p:nvPr/>
        </p:nvSpPr>
        <p:spPr>
          <a:xfrm rot="2548550">
            <a:off x="2107091" y="3158515"/>
            <a:ext cx="91518" cy="109781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f883da9c22_0_0"/>
          <p:cNvSpPr/>
          <p:nvPr/>
        </p:nvSpPr>
        <p:spPr>
          <a:xfrm rot="-5400000">
            <a:off x="2071234" y="3592668"/>
            <a:ext cx="521100" cy="11100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f883da9c22_0_0"/>
          <p:cNvSpPr/>
          <p:nvPr/>
        </p:nvSpPr>
        <p:spPr>
          <a:xfrm>
            <a:off x="2286000" y="3227832"/>
            <a:ext cx="91500" cy="109800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f883da9c22_0_0"/>
          <p:cNvSpPr/>
          <p:nvPr/>
        </p:nvSpPr>
        <p:spPr>
          <a:xfrm rot="-7943253">
            <a:off x="2402040" y="3578198"/>
            <a:ext cx="893580" cy="11039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f883da9c22_0_0"/>
          <p:cNvSpPr/>
          <p:nvPr/>
        </p:nvSpPr>
        <p:spPr>
          <a:xfrm rot="-2548550">
            <a:off x="2464804" y="3158370"/>
            <a:ext cx="91518" cy="109781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f883da9c22_0_0"/>
          <p:cNvSpPr/>
          <p:nvPr/>
        </p:nvSpPr>
        <p:spPr>
          <a:xfrm rot="-2856683">
            <a:off x="2330953" y="3581802"/>
            <a:ext cx="875317" cy="17416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f883da9c22_0_0"/>
          <p:cNvSpPr/>
          <p:nvPr/>
        </p:nvSpPr>
        <p:spPr>
          <a:xfrm rot="2547164">
            <a:off x="3051926" y="3156117"/>
            <a:ext cx="109781" cy="128044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f883da9c22_0_0"/>
          <p:cNvSpPr/>
          <p:nvPr/>
        </p:nvSpPr>
        <p:spPr>
          <a:xfrm rot="-5400000">
            <a:off x="3040453" y="3598668"/>
            <a:ext cx="502800" cy="17400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f883da9c22_0_0"/>
          <p:cNvSpPr/>
          <p:nvPr/>
        </p:nvSpPr>
        <p:spPr>
          <a:xfrm>
            <a:off x="3236976" y="3227832"/>
            <a:ext cx="109800" cy="128100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f883da9c22_0_0"/>
          <p:cNvSpPr/>
          <p:nvPr/>
        </p:nvSpPr>
        <p:spPr>
          <a:xfrm rot="-7943317">
            <a:off x="3377479" y="3581817"/>
            <a:ext cx="875317" cy="17416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f883da9c22_0_0"/>
          <p:cNvSpPr/>
          <p:nvPr/>
        </p:nvSpPr>
        <p:spPr>
          <a:xfrm rot="-2547164">
            <a:off x="3421941" y="3156003"/>
            <a:ext cx="109781" cy="128044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f883da9c22_0_0"/>
          <p:cNvSpPr/>
          <p:nvPr/>
        </p:nvSpPr>
        <p:spPr>
          <a:xfrm rot="-2856747">
            <a:off x="3288055" y="3578299"/>
            <a:ext cx="893580" cy="11039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f883da9c22_0_0"/>
          <p:cNvSpPr/>
          <p:nvPr/>
        </p:nvSpPr>
        <p:spPr>
          <a:xfrm rot="2548550">
            <a:off x="4027331" y="3158515"/>
            <a:ext cx="91518" cy="109781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883da9c22_0_0"/>
          <p:cNvSpPr/>
          <p:nvPr/>
        </p:nvSpPr>
        <p:spPr>
          <a:xfrm rot="-5400000">
            <a:off x="3991474" y="3592668"/>
            <a:ext cx="521100" cy="11100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f883da9c22_0_0"/>
          <p:cNvSpPr/>
          <p:nvPr/>
        </p:nvSpPr>
        <p:spPr>
          <a:xfrm>
            <a:off x="4206240" y="3227832"/>
            <a:ext cx="91500" cy="109800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f883da9c22_0_0"/>
          <p:cNvSpPr/>
          <p:nvPr/>
        </p:nvSpPr>
        <p:spPr>
          <a:xfrm rot="-7943253">
            <a:off x="4322280" y="3578198"/>
            <a:ext cx="893580" cy="11039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f883da9c22_0_0"/>
          <p:cNvSpPr/>
          <p:nvPr/>
        </p:nvSpPr>
        <p:spPr>
          <a:xfrm rot="-2548550">
            <a:off x="4385044" y="3158370"/>
            <a:ext cx="91518" cy="109781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f883da9c22_0_0"/>
          <p:cNvSpPr/>
          <p:nvPr/>
        </p:nvSpPr>
        <p:spPr>
          <a:xfrm rot="-2856747">
            <a:off x="4248175" y="3578299"/>
            <a:ext cx="893580" cy="11039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f883da9c22_0_0"/>
          <p:cNvSpPr/>
          <p:nvPr/>
        </p:nvSpPr>
        <p:spPr>
          <a:xfrm rot="2548550">
            <a:off x="4987451" y="3158515"/>
            <a:ext cx="91518" cy="109781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f883da9c22_0_0"/>
          <p:cNvSpPr/>
          <p:nvPr/>
        </p:nvSpPr>
        <p:spPr>
          <a:xfrm rot="-5400000">
            <a:off x="4951594" y="3592668"/>
            <a:ext cx="521100" cy="11100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f883da9c22_0_0"/>
          <p:cNvSpPr/>
          <p:nvPr/>
        </p:nvSpPr>
        <p:spPr>
          <a:xfrm>
            <a:off x="5166360" y="3227832"/>
            <a:ext cx="91500" cy="109800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f883da9c22_0_0"/>
          <p:cNvSpPr/>
          <p:nvPr/>
        </p:nvSpPr>
        <p:spPr>
          <a:xfrm>
            <a:off x="1179576" y="3877056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f883da9c22_0_0"/>
          <p:cNvSpPr txBox="1"/>
          <p:nvPr/>
        </p:nvSpPr>
        <p:spPr>
          <a:xfrm>
            <a:off x="1179576" y="387705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x₁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f883da9c22_0_0"/>
          <p:cNvSpPr/>
          <p:nvPr/>
        </p:nvSpPr>
        <p:spPr>
          <a:xfrm>
            <a:off x="2139696" y="3877056"/>
            <a:ext cx="384000" cy="3840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f883da9c22_0_0"/>
          <p:cNvSpPr txBox="1"/>
          <p:nvPr/>
        </p:nvSpPr>
        <p:spPr>
          <a:xfrm>
            <a:off x="2139696" y="387705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x₂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f883da9c22_0_0"/>
          <p:cNvSpPr/>
          <p:nvPr/>
        </p:nvSpPr>
        <p:spPr>
          <a:xfrm>
            <a:off x="3099816" y="3877056"/>
            <a:ext cx="384000" cy="3840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f883da9c22_0_0"/>
          <p:cNvSpPr txBox="1"/>
          <p:nvPr/>
        </p:nvSpPr>
        <p:spPr>
          <a:xfrm>
            <a:off x="3099816" y="387705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x₃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883da9c22_0_0"/>
          <p:cNvSpPr/>
          <p:nvPr/>
        </p:nvSpPr>
        <p:spPr>
          <a:xfrm>
            <a:off x="4059936" y="3877056"/>
            <a:ext cx="384000" cy="3840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f883da9c22_0_0"/>
          <p:cNvSpPr txBox="1"/>
          <p:nvPr/>
        </p:nvSpPr>
        <p:spPr>
          <a:xfrm>
            <a:off x="4059936" y="387705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x₄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f883da9c22_0_0"/>
          <p:cNvSpPr/>
          <p:nvPr/>
        </p:nvSpPr>
        <p:spPr>
          <a:xfrm>
            <a:off x="5020056" y="3877056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f883da9c22_0_0"/>
          <p:cNvSpPr txBox="1"/>
          <p:nvPr/>
        </p:nvSpPr>
        <p:spPr>
          <a:xfrm>
            <a:off x="5020056" y="387705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x₅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f883da9c22_0_0"/>
          <p:cNvSpPr/>
          <p:nvPr/>
        </p:nvSpPr>
        <p:spPr>
          <a:xfrm>
            <a:off x="1179576" y="2825496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f883da9c22_0_0"/>
          <p:cNvSpPr txBox="1"/>
          <p:nvPr/>
        </p:nvSpPr>
        <p:spPr>
          <a:xfrm>
            <a:off x="1179576" y="282549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f883da9c22_0_0"/>
          <p:cNvSpPr/>
          <p:nvPr/>
        </p:nvSpPr>
        <p:spPr>
          <a:xfrm>
            <a:off x="2139696" y="2825496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f883da9c22_0_0"/>
          <p:cNvSpPr txBox="1"/>
          <p:nvPr/>
        </p:nvSpPr>
        <p:spPr>
          <a:xfrm>
            <a:off x="2139696" y="282549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f883da9c22_0_0"/>
          <p:cNvSpPr/>
          <p:nvPr/>
        </p:nvSpPr>
        <p:spPr>
          <a:xfrm>
            <a:off x="3099816" y="2825496"/>
            <a:ext cx="384000" cy="384000"/>
          </a:xfrm>
          <a:prstGeom prst="ellipse">
            <a:avLst/>
          </a:prstGeom>
          <a:solidFill>
            <a:srgbClr val="1B1035"/>
          </a:solidFill>
          <a:ln cap="flat" cmpd="sng" w="15875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f883da9c22_0_0"/>
          <p:cNvSpPr txBox="1"/>
          <p:nvPr/>
        </p:nvSpPr>
        <p:spPr>
          <a:xfrm>
            <a:off x="3099816" y="282549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f883da9c22_0_0"/>
          <p:cNvSpPr/>
          <p:nvPr/>
        </p:nvSpPr>
        <p:spPr>
          <a:xfrm>
            <a:off x="4059936" y="2825496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883da9c22_0_0"/>
          <p:cNvSpPr txBox="1"/>
          <p:nvPr/>
        </p:nvSpPr>
        <p:spPr>
          <a:xfrm>
            <a:off x="4059936" y="282549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f883da9c22_0_0"/>
          <p:cNvSpPr/>
          <p:nvPr/>
        </p:nvSpPr>
        <p:spPr>
          <a:xfrm>
            <a:off x="5020056" y="2825496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f883da9c22_0_0"/>
          <p:cNvSpPr txBox="1"/>
          <p:nvPr/>
        </p:nvSpPr>
        <p:spPr>
          <a:xfrm>
            <a:off x="5020056" y="282549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f883da9c22_0_0"/>
          <p:cNvSpPr txBox="1"/>
          <p:nvPr/>
        </p:nvSpPr>
        <p:spPr>
          <a:xfrm>
            <a:off x="822960" y="4315968"/>
            <a:ext cx="4937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Only three inputs — x₂, x₃, x₄ — affect s₃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f883da9c22_0_0"/>
          <p:cNvSpPr/>
          <p:nvPr/>
        </p:nvSpPr>
        <p:spPr>
          <a:xfrm>
            <a:off x="6126480" y="1874520"/>
            <a:ext cx="5486400" cy="2697600"/>
          </a:xfrm>
          <a:prstGeom prst="roundRect">
            <a:avLst>
              <a:gd fmla="val 2034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f883da9c22_0_0"/>
          <p:cNvSpPr txBox="1"/>
          <p:nvPr/>
        </p:nvSpPr>
        <p:spPr>
          <a:xfrm>
            <a:off x="6400800" y="2057400"/>
            <a:ext cx="493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Dense connections — fully connected layer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f883da9c22_0_0"/>
          <p:cNvSpPr/>
          <p:nvPr/>
        </p:nvSpPr>
        <p:spPr>
          <a:xfrm rot="-5400000">
            <a:off x="6633925" y="3539268"/>
            <a:ext cx="630900" cy="8100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f883da9c22_0_0"/>
          <p:cNvSpPr/>
          <p:nvPr/>
        </p:nvSpPr>
        <p:spPr>
          <a:xfrm rot="-7943681">
            <a:off x="6927783" y="3539306"/>
            <a:ext cx="1003361" cy="8072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f883da9c22_0_0"/>
          <p:cNvSpPr/>
          <p:nvPr/>
        </p:nvSpPr>
        <p:spPr>
          <a:xfrm rot="-9077509">
            <a:off x="7025183" y="3539179"/>
            <a:ext cx="1768715" cy="8188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f883da9c22_0_0"/>
          <p:cNvSpPr/>
          <p:nvPr/>
        </p:nvSpPr>
        <p:spPr>
          <a:xfrm rot="-9596751">
            <a:off x="7066777" y="3539194"/>
            <a:ext cx="2645606" cy="8254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f883da9c22_0_0"/>
          <p:cNvSpPr/>
          <p:nvPr/>
        </p:nvSpPr>
        <p:spPr>
          <a:xfrm rot="-9881188">
            <a:off x="7089119" y="3539319"/>
            <a:ext cx="3561138" cy="8078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f883da9c22_0_0"/>
          <p:cNvSpPr/>
          <p:nvPr/>
        </p:nvSpPr>
        <p:spPr>
          <a:xfrm rot="-2856319">
            <a:off x="6927777" y="3539157"/>
            <a:ext cx="1003361" cy="8072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883da9c22_0_0"/>
          <p:cNvSpPr/>
          <p:nvPr/>
        </p:nvSpPr>
        <p:spPr>
          <a:xfrm rot="-5400000">
            <a:off x="7594045" y="3539268"/>
            <a:ext cx="630900" cy="8100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f883da9c22_0_0"/>
          <p:cNvSpPr/>
          <p:nvPr/>
        </p:nvSpPr>
        <p:spPr>
          <a:xfrm rot="-7943681">
            <a:off x="7887903" y="3539306"/>
            <a:ext cx="1003361" cy="8072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f883da9c22_0_0"/>
          <p:cNvSpPr/>
          <p:nvPr/>
        </p:nvSpPr>
        <p:spPr>
          <a:xfrm rot="-9077509">
            <a:off x="7985303" y="3539179"/>
            <a:ext cx="1768715" cy="8188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f883da9c22_0_0"/>
          <p:cNvSpPr/>
          <p:nvPr/>
        </p:nvSpPr>
        <p:spPr>
          <a:xfrm rot="-9596751">
            <a:off x="8026897" y="3539194"/>
            <a:ext cx="2645606" cy="8254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f883da9c22_0_0"/>
          <p:cNvSpPr/>
          <p:nvPr/>
        </p:nvSpPr>
        <p:spPr>
          <a:xfrm rot="-1721966">
            <a:off x="7032577" y="3564126"/>
            <a:ext cx="1649887" cy="15443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f883da9c22_0_0"/>
          <p:cNvSpPr/>
          <p:nvPr/>
        </p:nvSpPr>
        <p:spPr>
          <a:xfrm rot="3677643">
            <a:off x="8582731" y="3087552"/>
            <a:ext cx="100559" cy="118947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f883da9c22_0_0"/>
          <p:cNvSpPr/>
          <p:nvPr/>
        </p:nvSpPr>
        <p:spPr>
          <a:xfrm rot="-2855892">
            <a:off x="7907307" y="3579477"/>
            <a:ext cx="884439" cy="15499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f883da9c22_0_0"/>
          <p:cNvSpPr/>
          <p:nvPr/>
        </p:nvSpPr>
        <p:spPr>
          <a:xfrm rot="2540557">
            <a:off x="8637554" y="3157311"/>
            <a:ext cx="100659" cy="118922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f883da9c22_0_0"/>
          <p:cNvSpPr/>
          <p:nvPr/>
        </p:nvSpPr>
        <p:spPr>
          <a:xfrm rot="-5400000">
            <a:off x="8613658" y="3594918"/>
            <a:ext cx="512100" cy="15600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f883da9c22_0_0"/>
          <p:cNvSpPr/>
          <p:nvPr/>
        </p:nvSpPr>
        <p:spPr>
          <a:xfrm>
            <a:off x="8819388" y="3227832"/>
            <a:ext cx="100500" cy="118800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f883da9c22_0_0"/>
          <p:cNvSpPr/>
          <p:nvPr/>
        </p:nvSpPr>
        <p:spPr>
          <a:xfrm rot="-7944108">
            <a:off x="8947533" y="3579459"/>
            <a:ext cx="884439" cy="15499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f883da9c22_0_0"/>
          <p:cNvSpPr/>
          <p:nvPr/>
        </p:nvSpPr>
        <p:spPr>
          <a:xfrm rot="-2540557">
            <a:off x="9001268" y="3157332"/>
            <a:ext cx="100659" cy="118922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f883da9c22_0_0"/>
          <p:cNvSpPr/>
          <p:nvPr/>
        </p:nvSpPr>
        <p:spPr>
          <a:xfrm rot="-9078034">
            <a:off x="9056930" y="3564260"/>
            <a:ext cx="1649887" cy="15443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f883da9c22_0_0"/>
          <p:cNvSpPr/>
          <p:nvPr/>
        </p:nvSpPr>
        <p:spPr>
          <a:xfrm rot="-3677643">
            <a:off x="9056058" y="3087574"/>
            <a:ext cx="100559" cy="118947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f883da9c22_0_0"/>
          <p:cNvSpPr/>
          <p:nvPr/>
        </p:nvSpPr>
        <p:spPr>
          <a:xfrm rot="-1203249">
            <a:off x="7066734" y="3539263"/>
            <a:ext cx="2645606" cy="8254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f883da9c22_0_0"/>
          <p:cNvSpPr/>
          <p:nvPr/>
        </p:nvSpPr>
        <p:spPr>
          <a:xfrm rot="-1722491">
            <a:off x="7985290" y="3539161"/>
            <a:ext cx="1768715" cy="8188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f883da9c22_0_0"/>
          <p:cNvSpPr/>
          <p:nvPr/>
        </p:nvSpPr>
        <p:spPr>
          <a:xfrm rot="-2856319">
            <a:off x="8848017" y="3539157"/>
            <a:ext cx="1003361" cy="8072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f883da9c22_0_0"/>
          <p:cNvSpPr/>
          <p:nvPr/>
        </p:nvSpPr>
        <p:spPr>
          <a:xfrm rot="-5400000">
            <a:off x="9514285" y="3539268"/>
            <a:ext cx="630900" cy="8100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883da9c22_0_0"/>
          <p:cNvSpPr/>
          <p:nvPr/>
        </p:nvSpPr>
        <p:spPr>
          <a:xfrm rot="-7943681">
            <a:off x="9808143" y="3539306"/>
            <a:ext cx="1003361" cy="8072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f883da9c22_0_0"/>
          <p:cNvSpPr/>
          <p:nvPr/>
        </p:nvSpPr>
        <p:spPr>
          <a:xfrm rot="-918812">
            <a:off x="7089030" y="3539181"/>
            <a:ext cx="3561138" cy="8078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f883da9c22_0_0"/>
          <p:cNvSpPr/>
          <p:nvPr/>
        </p:nvSpPr>
        <p:spPr>
          <a:xfrm rot="-1203249">
            <a:off x="8026854" y="3539263"/>
            <a:ext cx="2645606" cy="8254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883da9c22_0_0"/>
          <p:cNvSpPr/>
          <p:nvPr/>
        </p:nvSpPr>
        <p:spPr>
          <a:xfrm rot="-1722491">
            <a:off x="8945410" y="3539161"/>
            <a:ext cx="1768715" cy="8188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f883da9c22_0_0"/>
          <p:cNvSpPr/>
          <p:nvPr/>
        </p:nvSpPr>
        <p:spPr>
          <a:xfrm rot="-2856319">
            <a:off x="9808137" y="3539157"/>
            <a:ext cx="1003361" cy="8072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f883da9c22_0_0"/>
          <p:cNvSpPr/>
          <p:nvPr/>
        </p:nvSpPr>
        <p:spPr>
          <a:xfrm rot="-5400000">
            <a:off x="10474405" y="3539268"/>
            <a:ext cx="630900" cy="8100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f883da9c22_0_0"/>
          <p:cNvSpPr/>
          <p:nvPr/>
        </p:nvSpPr>
        <p:spPr>
          <a:xfrm>
            <a:off x="6757416" y="3877056"/>
            <a:ext cx="384000" cy="3840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f883da9c22_0_0"/>
          <p:cNvSpPr txBox="1"/>
          <p:nvPr/>
        </p:nvSpPr>
        <p:spPr>
          <a:xfrm>
            <a:off x="6757416" y="387705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x₁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f883da9c22_0_0"/>
          <p:cNvSpPr/>
          <p:nvPr/>
        </p:nvSpPr>
        <p:spPr>
          <a:xfrm>
            <a:off x="7717536" y="3877056"/>
            <a:ext cx="384000" cy="3840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f883da9c22_0_0"/>
          <p:cNvSpPr txBox="1"/>
          <p:nvPr/>
        </p:nvSpPr>
        <p:spPr>
          <a:xfrm>
            <a:off x="7717536" y="387705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x₂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f883da9c22_0_0"/>
          <p:cNvSpPr/>
          <p:nvPr/>
        </p:nvSpPr>
        <p:spPr>
          <a:xfrm>
            <a:off x="8677656" y="3877056"/>
            <a:ext cx="384000" cy="3840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f883da9c22_0_0"/>
          <p:cNvSpPr txBox="1"/>
          <p:nvPr/>
        </p:nvSpPr>
        <p:spPr>
          <a:xfrm>
            <a:off x="8677656" y="387705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x₃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f883da9c22_0_0"/>
          <p:cNvSpPr/>
          <p:nvPr/>
        </p:nvSpPr>
        <p:spPr>
          <a:xfrm>
            <a:off x="9637776" y="3877056"/>
            <a:ext cx="384000" cy="3840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f883da9c22_0_0"/>
          <p:cNvSpPr txBox="1"/>
          <p:nvPr/>
        </p:nvSpPr>
        <p:spPr>
          <a:xfrm>
            <a:off x="9637776" y="387705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x₄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f883da9c22_0_0"/>
          <p:cNvSpPr/>
          <p:nvPr/>
        </p:nvSpPr>
        <p:spPr>
          <a:xfrm>
            <a:off x="10597896" y="3877056"/>
            <a:ext cx="384000" cy="3840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f883da9c22_0_0"/>
          <p:cNvSpPr txBox="1"/>
          <p:nvPr/>
        </p:nvSpPr>
        <p:spPr>
          <a:xfrm>
            <a:off x="10597896" y="387705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x₅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f883da9c22_0_0"/>
          <p:cNvSpPr/>
          <p:nvPr/>
        </p:nvSpPr>
        <p:spPr>
          <a:xfrm>
            <a:off x="6757416" y="2825496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f883da9c22_0_0"/>
          <p:cNvSpPr txBox="1"/>
          <p:nvPr/>
        </p:nvSpPr>
        <p:spPr>
          <a:xfrm>
            <a:off x="6757416" y="282549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f883da9c22_0_0"/>
          <p:cNvSpPr/>
          <p:nvPr/>
        </p:nvSpPr>
        <p:spPr>
          <a:xfrm>
            <a:off x="7717536" y="2825496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f883da9c22_0_0"/>
          <p:cNvSpPr txBox="1"/>
          <p:nvPr/>
        </p:nvSpPr>
        <p:spPr>
          <a:xfrm>
            <a:off x="7717536" y="282549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f883da9c22_0_0"/>
          <p:cNvSpPr/>
          <p:nvPr/>
        </p:nvSpPr>
        <p:spPr>
          <a:xfrm>
            <a:off x="8677656" y="2825496"/>
            <a:ext cx="384000" cy="384000"/>
          </a:xfrm>
          <a:prstGeom prst="ellipse">
            <a:avLst/>
          </a:prstGeom>
          <a:solidFill>
            <a:srgbClr val="1B1035"/>
          </a:solidFill>
          <a:ln cap="flat" cmpd="sng" w="15875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f883da9c22_0_0"/>
          <p:cNvSpPr txBox="1"/>
          <p:nvPr/>
        </p:nvSpPr>
        <p:spPr>
          <a:xfrm>
            <a:off x="8677656" y="282549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f883da9c22_0_0"/>
          <p:cNvSpPr/>
          <p:nvPr/>
        </p:nvSpPr>
        <p:spPr>
          <a:xfrm>
            <a:off x="9637776" y="2825496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f883da9c22_0_0"/>
          <p:cNvSpPr txBox="1"/>
          <p:nvPr/>
        </p:nvSpPr>
        <p:spPr>
          <a:xfrm>
            <a:off x="9637776" y="282549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f883da9c22_0_0"/>
          <p:cNvSpPr/>
          <p:nvPr/>
        </p:nvSpPr>
        <p:spPr>
          <a:xfrm>
            <a:off x="10597896" y="2825496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f883da9c22_0_0"/>
          <p:cNvSpPr txBox="1"/>
          <p:nvPr/>
        </p:nvSpPr>
        <p:spPr>
          <a:xfrm>
            <a:off x="10597896" y="282549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f883da9c22_0_0"/>
          <p:cNvSpPr txBox="1"/>
          <p:nvPr/>
        </p:nvSpPr>
        <p:spPr>
          <a:xfrm>
            <a:off x="6400800" y="4315968"/>
            <a:ext cx="4937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Every one of the five inputs affects s₃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f883da9c22_0_0"/>
          <p:cNvSpPr/>
          <p:nvPr/>
        </p:nvSpPr>
        <p:spPr>
          <a:xfrm>
            <a:off x="548640" y="4754880"/>
            <a:ext cx="2651700" cy="1051500"/>
          </a:xfrm>
          <a:prstGeom prst="roundRect">
            <a:avLst>
              <a:gd fmla="val 5217" name="adj"/>
            </a:avLst>
          </a:prstGeom>
          <a:solidFill>
            <a:srgbClr val="EDEAF6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f883da9c22_0_0"/>
          <p:cNvSpPr txBox="1"/>
          <p:nvPr/>
        </p:nvSpPr>
        <p:spPr>
          <a:xfrm>
            <a:off x="777240" y="4882896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Dense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f883da9c22_0_0"/>
          <p:cNvSpPr txBox="1"/>
          <p:nvPr/>
        </p:nvSpPr>
        <p:spPr>
          <a:xfrm>
            <a:off x="777240" y="5074920"/>
            <a:ext cx="2194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m × 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f883da9c22_0_0"/>
          <p:cNvSpPr txBox="1"/>
          <p:nvPr/>
        </p:nvSpPr>
        <p:spPr>
          <a:xfrm>
            <a:off x="777240" y="548640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parameters, O(m × n) runtime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f883da9c22_0_0"/>
          <p:cNvSpPr/>
          <p:nvPr/>
        </p:nvSpPr>
        <p:spPr>
          <a:xfrm>
            <a:off x="3383280" y="4754880"/>
            <a:ext cx="2651700" cy="1051500"/>
          </a:xfrm>
          <a:prstGeom prst="roundRect">
            <a:avLst>
              <a:gd fmla="val 5217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f883da9c22_0_0"/>
          <p:cNvSpPr txBox="1"/>
          <p:nvPr/>
        </p:nvSpPr>
        <p:spPr>
          <a:xfrm>
            <a:off x="3611880" y="4882896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Convolutional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f883da9c22_0_0"/>
          <p:cNvSpPr txBox="1"/>
          <p:nvPr/>
        </p:nvSpPr>
        <p:spPr>
          <a:xfrm>
            <a:off x="3611880" y="5074920"/>
            <a:ext cx="2194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5E5B"/>
                </a:solidFill>
                <a:latin typeface="Cambria"/>
                <a:ea typeface="Cambria"/>
                <a:cs typeface="Cambria"/>
                <a:sym typeface="Cambria"/>
              </a:rPr>
              <a:t>k × 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f883da9c22_0_0"/>
          <p:cNvSpPr txBox="1"/>
          <p:nvPr/>
        </p:nvSpPr>
        <p:spPr>
          <a:xfrm>
            <a:off x="3611880" y="548640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parameters, with k ≪ 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f883da9c22_0_0"/>
          <p:cNvSpPr txBox="1"/>
          <p:nvPr/>
        </p:nvSpPr>
        <p:spPr>
          <a:xfrm>
            <a:off x="6309360" y="4791456"/>
            <a:ext cx="5303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Fewer parameters → lower memory cost and better statistical efficiency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Fewer operations → the forward pass gets dramatically cheaper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An image may have millions of pixels, yet edges are detectable with kernels covering only tens of pixels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f883da9c22_0_0"/>
          <p:cNvSpPr txBox="1"/>
          <p:nvPr/>
        </p:nvSpPr>
        <p:spPr>
          <a:xfrm>
            <a:off x="548640" y="6355080"/>
            <a:ext cx="10515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Figure after Goodfellow, Bengio &amp; Courville, 2016 — Section 9.2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883da9c22_0_128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DEPTH COMPOUNDS LOCALITY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883da9c22_0_128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Sparse now, global later: growing receptive fields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f883da9c22_0_128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f883da9c22_0_128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f883da9c22_0_128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f883da9c22_0_128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883da9c22_0_128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f883da9c22_0_128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f883da9c22_0_128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f883da9c22_0_128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f883da9c22_0_128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3f883da9c22_0_128"/>
          <p:cNvSpPr txBox="1"/>
          <p:nvPr/>
        </p:nvSpPr>
        <p:spPr>
          <a:xfrm>
            <a:off x="548640" y="1554480"/>
            <a:ext cx="49377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Units in deeper layers connect only to a small patch of the layer below — but that patch was itself built from a patch of the layer below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So deeper layers indirectly interact with a much larger portion of the input.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network describes complicated interactions among many variables using simple building blocks that each describe only sparse interactions.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This is the same argument VGG later turns into a design rule: stack small filters instead of using one large one.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f883da9c22_0_128"/>
          <p:cNvSpPr/>
          <p:nvPr/>
        </p:nvSpPr>
        <p:spPr>
          <a:xfrm>
            <a:off x="548640" y="4846320"/>
            <a:ext cx="4937700" cy="914400"/>
          </a:xfrm>
          <a:prstGeom prst="roundRect">
            <a:avLst>
              <a:gd fmla="val 6000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f883da9c22_0_128"/>
          <p:cNvSpPr txBox="1"/>
          <p:nvPr/>
        </p:nvSpPr>
        <p:spPr>
          <a:xfrm>
            <a:off x="822960" y="5029200"/>
            <a:ext cx="438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layers of width-3 kernels already give the top unit a receptive field of five inputs — and it keeps growing with depth.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f883da9c22_0_128"/>
          <p:cNvSpPr/>
          <p:nvPr/>
        </p:nvSpPr>
        <p:spPr>
          <a:xfrm>
            <a:off x="5852160" y="1463040"/>
            <a:ext cx="5760600" cy="4297800"/>
          </a:xfrm>
          <a:prstGeom prst="roundRect">
            <a:avLst>
              <a:gd fmla="val 127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f883da9c22_0_128"/>
          <p:cNvSpPr txBox="1"/>
          <p:nvPr/>
        </p:nvSpPr>
        <p:spPr>
          <a:xfrm>
            <a:off x="6126480" y="1664208"/>
            <a:ext cx="521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Two stacked convolutional layers, kernel width 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883da9c22_0_128"/>
          <p:cNvSpPr/>
          <p:nvPr/>
        </p:nvSpPr>
        <p:spPr>
          <a:xfrm rot="-5400000">
            <a:off x="6496931" y="4169184"/>
            <a:ext cx="539400" cy="10200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f883da9c22_0_128"/>
          <p:cNvSpPr/>
          <p:nvPr/>
        </p:nvSpPr>
        <p:spPr>
          <a:xfrm>
            <a:off x="6723126" y="3785616"/>
            <a:ext cx="87000" cy="118800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f883da9c22_0_128"/>
          <p:cNvSpPr/>
          <p:nvPr/>
        </p:nvSpPr>
        <p:spPr>
          <a:xfrm rot="-7950286">
            <a:off x="6844423" y="4153469"/>
            <a:ext cx="930657" cy="10191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f883da9c22_0_128"/>
          <p:cNvSpPr/>
          <p:nvPr/>
        </p:nvSpPr>
        <p:spPr>
          <a:xfrm rot="-2557193">
            <a:off x="6911566" y="3712230"/>
            <a:ext cx="86837" cy="118903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f883da9c22_0_128"/>
          <p:cNvSpPr/>
          <p:nvPr/>
        </p:nvSpPr>
        <p:spPr>
          <a:xfrm rot="-2849714">
            <a:off x="6763857" y="4150433"/>
            <a:ext cx="930657" cy="16347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f883da9c22_0_128"/>
          <p:cNvSpPr/>
          <p:nvPr/>
        </p:nvSpPr>
        <p:spPr>
          <a:xfrm rot="2555033">
            <a:off x="7533565" y="3712347"/>
            <a:ext cx="100640" cy="118903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f883da9c22_0_128"/>
          <p:cNvSpPr/>
          <p:nvPr/>
        </p:nvSpPr>
        <p:spPr>
          <a:xfrm rot="-5400000">
            <a:off x="7502721" y="4166034"/>
            <a:ext cx="539400" cy="16500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f883da9c22_0_128"/>
          <p:cNvSpPr/>
          <p:nvPr/>
        </p:nvSpPr>
        <p:spPr>
          <a:xfrm>
            <a:off x="7722108" y="3785616"/>
            <a:ext cx="100500" cy="118800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f883da9c22_0_128"/>
          <p:cNvSpPr/>
          <p:nvPr/>
        </p:nvSpPr>
        <p:spPr>
          <a:xfrm rot="-7950286">
            <a:off x="7850153" y="4150455"/>
            <a:ext cx="930657" cy="16347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f883da9c22_0_128"/>
          <p:cNvSpPr/>
          <p:nvPr/>
        </p:nvSpPr>
        <p:spPr>
          <a:xfrm rot="-2555033">
            <a:off x="7910549" y="3712215"/>
            <a:ext cx="100640" cy="118903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f883da9c22_0_128"/>
          <p:cNvSpPr/>
          <p:nvPr/>
        </p:nvSpPr>
        <p:spPr>
          <a:xfrm rot="-2849714">
            <a:off x="7769697" y="4150433"/>
            <a:ext cx="930657" cy="16347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f883da9c22_0_128"/>
          <p:cNvSpPr/>
          <p:nvPr/>
        </p:nvSpPr>
        <p:spPr>
          <a:xfrm rot="2555033">
            <a:off x="8539405" y="3712347"/>
            <a:ext cx="100640" cy="118903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f883da9c22_0_128"/>
          <p:cNvSpPr/>
          <p:nvPr/>
        </p:nvSpPr>
        <p:spPr>
          <a:xfrm rot="-5400000">
            <a:off x="8508561" y="4166034"/>
            <a:ext cx="539400" cy="16500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f883da9c22_0_128"/>
          <p:cNvSpPr/>
          <p:nvPr/>
        </p:nvSpPr>
        <p:spPr>
          <a:xfrm>
            <a:off x="8727948" y="3785616"/>
            <a:ext cx="100500" cy="118800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f883da9c22_0_128"/>
          <p:cNvSpPr/>
          <p:nvPr/>
        </p:nvSpPr>
        <p:spPr>
          <a:xfrm rot="-7950286">
            <a:off x="8855993" y="4150455"/>
            <a:ext cx="930657" cy="16347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f883da9c22_0_128"/>
          <p:cNvSpPr/>
          <p:nvPr/>
        </p:nvSpPr>
        <p:spPr>
          <a:xfrm rot="-2555033">
            <a:off x="8916389" y="3712215"/>
            <a:ext cx="100640" cy="118903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f883da9c22_0_128"/>
          <p:cNvSpPr/>
          <p:nvPr/>
        </p:nvSpPr>
        <p:spPr>
          <a:xfrm rot="-2849714">
            <a:off x="8775537" y="4150433"/>
            <a:ext cx="930657" cy="16347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f883da9c22_0_128"/>
          <p:cNvSpPr/>
          <p:nvPr/>
        </p:nvSpPr>
        <p:spPr>
          <a:xfrm rot="2555033">
            <a:off x="9545245" y="3712347"/>
            <a:ext cx="100640" cy="118903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f883da9c22_0_128"/>
          <p:cNvSpPr/>
          <p:nvPr/>
        </p:nvSpPr>
        <p:spPr>
          <a:xfrm rot="-5400000">
            <a:off x="9514401" y="4166034"/>
            <a:ext cx="539400" cy="16500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f883da9c22_0_128"/>
          <p:cNvSpPr/>
          <p:nvPr/>
        </p:nvSpPr>
        <p:spPr>
          <a:xfrm>
            <a:off x="9733788" y="3785616"/>
            <a:ext cx="100500" cy="118800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f883da9c22_0_128"/>
          <p:cNvSpPr/>
          <p:nvPr/>
        </p:nvSpPr>
        <p:spPr>
          <a:xfrm rot="-7950286">
            <a:off x="9861833" y="4150455"/>
            <a:ext cx="930657" cy="16347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f883da9c22_0_128"/>
          <p:cNvSpPr/>
          <p:nvPr/>
        </p:nvSpPr>
        <p:spPr>
          <a:xfrm rot="-2555033">
            <a:off x="9922229" y="3712215"/>
            <a:ext cx="100640" cy="118903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f883da9c22_0_128"/>
          <p:cNvSpPr/>
          <p:nvPr/>
        </p:nvSpPr>
        <p:spPr>
          <a:xfrm rot="-2849714">
            <a:off x="9781486" y="4153573"/>
            <a:ext cx="930657" cy="10191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f883da9c22_0_128"/>
          <p:cNvSpPr/>
          <p:nvPr/>
        </p:nvSpPr>
        <p:spPr>
          <a:xfrm rot="2557193">
            <a:off x="10557942" y="3712332"/>
            <a:ext cx="86837" cy="118903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f883da9c22_0_128"/>
          <p:cNvSpPr/>
          <p:nvPr/>
        </p:nvSpPr>
        <p:spPr>
          <a:xfrm rot="-5400000">
            <a:off x="10520291" y="4169184"/>
            <a:ext cx="539400" cy="10200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f883da9c22_0_128"/>
          <p:cNvSpPr/>
          <p:nvPr/>
        </p:nvSpPr>
        <p:spPr>
          <a:xfrm>
            <a:off x="10746486" y="3785616"/>
            <a:ext cx="87000" cy="118800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f883da9c22_0_128"/>
          <p:cNvSpPr/>
          <p:nvPr/>
        </p:nvSpPr>
        <p:spPr>
          <a:xfrm rot="-5400000">
            <a:off x="6496931" y="3071904"/>
            <a:ext cx="539400" cy="10200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f883da9c22_0_128"/>
          <p:cNvSpPr/>
          <p:nvPr/>
        </p:nvSpPr>
        <p:spPr>
          <a:xfrm>
            <a:off x="6723126" y="2688336"/>
            <a:ext cx="87000" cy="118800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f883da9c22_0_128"/>
          <p:cNvSpPr/>
          <p:nvPr/>
        </p:nvSpPr>
        <p:spPr>
          <a:xfrm rot="-7950286">
            <a:off x="6844423" y="3056189"/>
            <a:ext cx="930657" cy="10191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f883da9c22_0_128"/>
          <p:cNvSpPr/>
          <p:nvPr/>
        </p:nvSpPr>
        <p:spPr>
          <a:xfrm rot="-2557193">
            <a:off x="6911566" y="2614950"/>
            <a:ext cx="86837" cy="118903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f883da9c22_0_128"/>
          <p:cNvSpPr/>
          <p:nvPr/>
        </p:nvSpPr>
        <p:spPr>
          <a:xfrm rot="-2849714">
            <a:off x="6763966" y="3056293"/>
            <a:ext cx="930657" cy="10191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f883da9c22_0_128"/>
          <p:cNvSpPr/>
          <p:nvPr/>
        </p:nvSpPr>
        <p:spPr>
          <a:xfrm rot="2557193">
            <a:off x="7540422" y="2615052"/>
            <a:ext cx="86837" cy="118903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f883da9c22_0_128"/>
          <p:cNvSpPr/>
          <p:nvPr/>
        </p:nvSpPr>
        <p:spPr>
          <a:xfrm rot="-5400000">
            <a:off x="7502771" y="3071904"/>
            <a:ext cx="539400" cy="10200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f883da9c22_0_128"/>
          <p:cNvSpPr/>
          <p:nvPr/>
        </p:nvSpPr>
        <p:spPr>
          <a:xfrm>
            <a:off x="7728966" y="2688336"/>
            <a:ext cx="87000" cy="118800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f883da9c22_0_128"/>
          <p:cNvSpPr/>
          <p:nvPr/>
        </p:nvSpPr>
        <p:spPr>
          <a:xfrm rot="-7950286">
            <a:off x="7850263" y="3056189"/>
            <a:ext cx="930657" cy="10191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f883da9c22_0_128"/>
          <p:cNvSpPr/>
          <p:nvPr/>
        </p:nvSpPr>
        <p:spPr>
          <a:xfrm rot="-2557193">
            <a:off x="7917406" y="2614950"/>
            <a:ext cx="86837" cy="118903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f883da9c22_0_128"/>
          <p:cNvSpPr/>
          <p:nvPr/>
        </p:nvSpPr>
        <p:spPr>
          <a:xfrm rot="-2849714">
            <a:off x="7769697" y="3053153"/>
            <a:ext cx="930657" cy="16347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3f883da9c22_0_128"/>
          <p:cNvSpPr/>
          <p:nvPr/>
        </p:nvSpPr>
        <p:spPr>
          <a:xfrm rot="2555033">
            <a:off x="8539405" y="2615067"/>
            <a:ext cx="100640" cy="118903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f883da9c22_0_128"/>
          <p:cNvSpPr/>
          <p:nvPr/>
        </p:nvSpPr>
        <p:spPr>
          <a:xfrm rot="-5400000">
            <a:off x="8508561" y="3068754"/>
            <a:ext cx="539400" cy="16500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f883da9c22_0_128"/>
          <p:cNvSpPr/>
          <p:nvPr/>
        </p:nvSpPr>
        <p:spPr>
          <a:xfrm>
            <a:off x="8727948" y="2688336"/>
            <a:ext cx="100500" cy="118800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f883da9c22_0_128"/>
          <p:cNvSpPr/>
          <p:nvPr/>
        </p:nvSpPr>
        <p:spPr>
          <a:xfrm rot="-7950286">
            <a:off x="8855993" y="3053175"/>
            <a:ext cx="930657" cy="16347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f883da9c22_0_128"/>
          <p:cNvSpPr/>
          <p:nvPr/>
        </p:nvSpPr>
        <p:spPr>
          <a:xfrm rot="-2555033">
            <a:off x="8916389" y="2614935"/>
            <a:ext cx="100640" cy="118903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f883da9c22_0_128"/>
          <p:cNvSpPr/>
          <p:nvPr/>
        </p:nvSpPr>
        <p:spPr>
          <a:xfrm rot="-2849714">
            <a:off x="8775646" y="3056293"/>
            <a:ext cx="930657" cy="10191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f883da9c22_0_128"/>
          <p:cNvSpPr/>
          <p:nvPr/>
        </p:nvSpPr>
        <p:spPr>
          <a:xfrm rot="2557193">
            <a:off x="9552102" y="2615052"/>
            <a:ext cx="86837" cy="118903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3f883da9c22_0_128"/>
          <p:cNvSpPr/>
          <p:nvPr/>
        </p:nvSpPr>
        <p:spPr>
          <a:xfrm rot="-5400000">
            <a:off x="9514451" y="3071904"/>
            <a:ext cx="539400" cy="10200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f883da9c22_0_128"/>
          <p:cNvSpPr/>
          <p:nvPr/>
        </p:nvSpPr>
        <p:spPr>
          <a:xfrm>
            <a:off x="9740646" y="2688336"/>
            <a:ext cx="87000" cy="118800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f883da9c22_0_128"/>
          <p:cNvSpPr/>
          <p:nvPr/>
        </p:nvSpPr>
        <p:spPr>
          <a:xfrm rot="-7950286">
            <a:off x="9861943" y="3056189"/>
            <a:ext cx="930657" cy="10191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f883da9c22_0_128"/>
          <p:cNvSpPr/>
          <p:nvPr/>
        </p:nvSpPr>
        <p:spPr>
          <a:xfrm rot="-2557193">
            <a:off x="9929086" y="2614950"/>
            <a:ext cx="86837" cy="118903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f883da9c22_0_128"/>
          <p:cNvSpPr/>
          <p:nvPr/>
        </p:nvSpPr>
        <p:spPr>
          <a:xfrm rot="-2849714">
            <a:off x="9781486" y="3056293"/>
            <a:ext cx="930657" cy="10191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f883da9c22_0_128"/>
          <p:cNvSpPr/>
          <p:nvPr/>
        </p:nvSpPr>
        <p:spPr>
          <a:xfrm rot="2557193">
            <a:off x="10557942" y="2615052"/>
            <a:ext cx="86837" cy="118903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f883da9c22_0_128"/>
          <p:cNvSpPr/>
          <p:nvPr/>
        </p:nvSpPr>
        <p:spPr>
          <a:xfrm rot="-5400000">
            <a:off x="10520291" y="3071904"/>
            <a:ext cx="539400" cy="10200"/>
          </a:xfrm>
          <a:prstGeom prst="rect">
            <a:avLst/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f883da9c22_0_128"/>
          <p:cNvSpPr/>
          <p:nvPr/>
        </p:nvSpPr>
        <p:spPr>
          <a:xfrm>
            <a:off x="10746486" y="2688336"/>
            <a:ext cx="87000" cy="118800"/>
          </a:xfrm>
          <a:prstGeom prst="triangle">
            <a:avLst>
              <a:gd fmla="val 50000" name="adj"/>
            </a:avLst>
          </a:prstGeom>
          <a:solidFill>
            <a:srgbClr val="D5CFEA"/>
          </a:solidFill>
          <a:ln cap="flat" cmpd="sng" w="12700">
            <a:solidFill>
              <a:srgbClr val="D5C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f883da9c22_0_128"/>
          <p:cNvSpPr/>
          <p:nvPr/>
        </p:nvSpPr>
        <p:spPr>
          <a:xfrm>
            <a:off x="6565392" y="4462272"/>
            <a:ext cx="402300" cy="4023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f883da9c22_0_128"/>
          <p:cNvSpPr txBox="1"/>
          <p:nvPr/>
        </p:nvSpPr>
        <p:spPr>
          <a:xfrm>
            <a:off x="6565392" y="446227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x₁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883da9c22_0_128"/>
          <p:cNvSpPr/>
          <p:nvPr/>
        </p:nvSpPr>
        <p:spPr>
          <a:xfrm>
            <a:off x="7571232" y="4462272"/>
            <a:ext cx="402300" cy="4023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f883da9c22_0_128"/>
          <p:cNvSpPr txBox="1"/>
          <p:nvPr/>
        </p:nvSpPr>
        <p:spPr>
          <a:xfrm>
            <a:off x="7571232" y="446227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x₂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f883da9c22_0_128"/>
          <p:cNvSpPr/>
          <p:nvPr/>
        </p:nvSpPr>
        <p:spPr>
          <a:xfrm>
            <a:off x="8577072" y="4462272"/>
            <a:ext cx="402300" cy="4023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f883da9c22_0_128"/>
          <p:cNvSpPr txBox="1"/>
          <p:nvPr/>
        </p:nvSpPr>
        <p:spPr>
          <a:xfrm>
            <a:off x="8577072" y="446227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x₃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f883da9c22_0_128"/>
          <p:cNvSpPr/>
          <p:nvPr/>
        </p:nvSpPr>
        <p:spPr>
          <a:xfrm>
            <a:off x="9582912" y="4462272"/>
            <a:ext cx="402300" cy="4023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f883da9c22_0_128"/>
          <p:cNvSpPr txBox="1"/>
          <p:nvPr/>
        </p:nvSpPr>
        <p:spPr>
          <a:xfrm>
            <a:off x="9582912" y="446227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x₄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f883da9c22_0_128"/>
          <p:cNvSpPr/>
          <p:nvPr/>
        </p:nvSpPr>
        <p:spPr>
          <a:xfrm>
            <a:off x="10588752" y="4462272"/>
            <a:ext cx="402300" cy="4023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f883da9c22_0_128"/>
          <p:cNvSpPr txBox="1"/>
          <p:nvPr/>
        </p:nvSpPr>
        <p:spPr>
          <a:xfrm>
            <a:off x="10588752" y="446227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x₅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f883da9c22_0_128"/>
          <p:cNvSpPr/>
          <p:nvPr/>
        </p:nvSpPr>
        <p:spPr>
          <a:xfrm>
            <a:off x="6565392" y="3364992"/>
            <a:ext cx="402300" cy="4023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3f883da9c22_0_128"/>
          <p:cNvSpPr txBox="1"/>
          <p:nvPr/>
        </p:nvSpPr>
        <p:spPr>
          <a:xfrm>
            <a:off x="6565392" y="336499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h₁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g3f883da9c22_0_128"/>
          <p:cNvSpPr/>
          <p:nvPr/>
        </p:nvSpPr>
        <p:spPr>
          <a:xfrm>
            <a:off x="7571232" y="3364992"/>
            <a:ext cx="402300" cy="402300"/>
          </a:xfrm>
          <a:prstGeom prst="ellipse">
            <a:avLst/>
          </a:prstGeom>
          <a:solidFill>
            <a:srgbClr val="FFC9C7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f883da9c22_0_128"/>
          <p:cNvSpPr txBox="1"/>
          <p:nvPr/>
        </p:nvSpPr>
        <p:spPr>
          <a:xfrm>
            <a:off x="7571232" y="336499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h₂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f883da9c22_0_128"/>
          <p:cNvSpPr/>
          <p:nvPr/>
        </p:nvSpPr>
        <p:spPr>
          <a:xfrm>
            <a:off x="8577072" y="3364992"/>
            <a:ext cx="402300" cy="402300"/>
          </a:xfrm>
          <a:prstGeom prst="ellipse">
            <a:avLst/>
          </a:prstGeom>
          <a:solidFill>
            <a:srgbClr val="FFC9C7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f883da9c22_0_128"/>
          <p:cNvSpPr txBox="1"/>
          <p:nvPr/>
        </p:nvSpPr>
        <p:spPr>
          <a:xfrm>
            <a:off x="8577072" y="336499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h₃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f883da9c22_0_128"/>
          <p:cNvSpPr/>
          <p:nvPr/>
        </p:nvSpPr>
        <p:spPr>
          <a:xfrm>
            <a:off x="9582912" y="3364992"/>
            <a:ext cx="402300" cy="402300"/>
          </a:xfrm>
          <a:prstGeom prst="ellipse">
            <a:avLst/>
          </a:prstGeom>
          <a:solidFill>
            <a:srgbClr val="FFC9C7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f883da9c22_0_128"/>
          <p:cNvSpPr txBox="1"/>
          <p:nvPr/>
        </p:nvSpPr>
        <p:spPr>
          <a:xfrm>
            <a:off x="9582912" y="336499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h₄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f883da9c22_0_128"/>
          <p:cNvSpPr/>
          <p:nvPr/>
        </p:nvSpPr>
        <p:spPr>
          <a:xfrm>
            <a:off x="10588752" y="3364992"/>
            <a:ext cx="402300" cy="4023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f883da9c22_0_128"/>
          <p:cNvSpPr txBox="1"/>
          <p:nvPr/>
        </p:nvSpPr>
        <p:spPr>
          <a:xfrm>
            <a:off x="10588752" y="336499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h₅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f883da9c22_0_128"/>
          <p:cNvSpPr/>
          <p:nvPr/>
        </p:nvSpPr>
        <p:spPr>
          <a:xfrm>
            <a:off x="6565392" y="2267712"/>
            <a:ext cx="402300" cy="4023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f883da9c22_0_128"/>
          <p:cNvSpPr txBox="1"/>
          <p:nvPr/>
        </p:nvSpPr>
        <p:spPr>
          <a:xfrm>
            <a:off x="6565392" y="226771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g₁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f883da9c22_0_128"/>
          <p:cNvSpPr/>
          <p:nvPr/>
        </p:nvSpPr>
        <p:spPr>
          <a:xfrm>
            <a:off x="7571232" y="2267712"/>
            <a:ext cx="402300" cy="4023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g3f883da9c22_0_128"/>
          <p:cNvSpPr txBox="1"/>
          <p:nvPr/>
        </p:nvSpPr>
        <p:spPr>
          <a:xfrm>
            <a:off x="7571232" y="226771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g₂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3f883da9c22_0_128"/>
          <p:cNvSpPr/>
          <p:nvPr/>
        </p:nvSpPr>
        <p:spPr>
          <a:xfrm>
            <a:off x="8577072" y="2267712"/>
            <a:ext cx="402300" cy="402300"/>
          </a:xfrm>
          <a:prstGeom prst="ellipse">
            <a:avLst/>
          </a:prstGeom>
          <a:solidFill>
            <a:srgbClr val="1B1035"/>
          </a:solidFill>
          <a:ln cap="flat" cmpd="sng" w="15875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f883da9c22_0_128"/>
          <p:cNvSpPr txBox="1"/>
          <p:nvPr/>
        </p:nvSpPr>
        <p:spPr>
          <a:xfrm>
            <a:off x="8577072" y="226771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f883da9c22_0_128"/>
          <p:cNvSpPr/>
          <p:nvPr/>
        </p:nvSpPr>
        <p:spPr>
          <a:xfrm>
            <a:off x="9582912" y="2267712"/>
            <a:ext cx="402300" cy="4023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f883da9c22_0_128"/>
          <p:cNvSpPr txBox="1"/>
          <p:nvPr/>
        </p:nvSpPr>
        <p:spPr>
          <a:xfrm>
            <a:off x="9582912" y="226771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g₄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f883da9c22_0_128"/>
          <p:cNvSpPr/>
          <p:nvPr/>
        </p:nvSpPr>
        <p:spPr>
          <a:xfrm>
            <a:off x="10588752" y="2267712"/>
            <a:ext cx="402300" cy="4023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f883da9c22_0_128"/>
          <p:cNvSpPr txBox="1"/>
          <p:nvPr/>
        </p:nvSpPr>
        <p:spPr>
          <a:xfrm>
            <a:off x="10588752" y="226771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g₅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3f883da9c22_0_128"/>
          <p:cNvSpPr txBox="1"/>
          <p:nvPr/>
        </p:nvSpPr>
        <p:spPr>
          <a:xfrm>
            <a:off x="6035040" y="2359152"/>
            <a:ext cx="68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output  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f883da9c22_0_128"/>
          <p:cNvSpPr txBox="1"/>
          <p:nvPr/>
        </p:nvSpPr>
        <p:spPr>
          <a:xfrm>
            <a:off x="6035040" y="3456432"/>
            <a:ext cx="68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hidden  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f883da9c22_0_128"/>
          <p:cNvSpPr txBox="1"/>
          <p:nvPr/>
        </p:nvSpPr>
        <p:spPr>
          <a:xfrm>
            <a:off x="6035040" y="4553712"/>
            <a:ext cx="68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input  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f883da9c22_0_128"/>
          <p:cNvSpPr txBox="1"/>
          <p:nvPr/>
        </p:nvSpPr>
        <p:spPr>
          <a:xfrm>
            <a:off x="6126480" y="5212080"/>
            <a:ext cx="5212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g₃ sees only three units of h — but through them it is influenced by all five inputs.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1"/>
          <p:cNvSpPr txBox="1"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WHY CONVOLUTION 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1"/>
          <p:cNvSpPr txBox="1"/>
          <p:nvPr/>
        </p:nvSpPr>
        <p:spPr>
          <a:xfrm>
            <a:off x="548640" y="59436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Key idea 2 — Parameter sharing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1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1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1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1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1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1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1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1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1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1"/>
          <p:cNvSpPr txBox="1"/>
          <p:nvPr/>
        </p:nvSpPr>
        <p:spPr>
          <a:xfrm>
            <a:off x="548640" y="1463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Parameter sharing means using the same parameter for more than one function in a model. In a traditional network each weight is used exactly once; in a CNN each member of the kernel is used at every position of the input.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1"/>
          <p:cNvSpPr/>
          <p:nvPr/>
        </p:nvSpPr>
        <p:spPr>
          <a:xfrm>
            <a:off x="548640" y="2377440"/>
            <a:ext cx="5486400" cy="3383280"/>
          </a:xfrm>
          <a:prstGeom prst="roundRect">
            <a:avLst>
              <a:gd fmla="val 1622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1"/>
          <p:cNvSpPr txBox="1"/>
          <p:nvPr/>
        </p:nvSpPr>
        <p:spPr>
          <a:xfrm>
            <a:off x="822960" y="260604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One kernel, every location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1"/>
          <p:cNvSpPr/>
          <p:nvPr/>
        </p:nvSpPr>
        <p:spPr>
          <a:xfrm>
            <a:off x="868680" y="3063240"/>
            <a:ext cx="384048" cy="384048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1"/>
          <p:cNvSpPr/>
          <p:nvPr/>
        </p:nvSpPr>
        <p:spPr>
          <a:xfrm>
            <a:off x="1252728" y="3063240"/>
            <a:ext cx="384048" cy="384048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1"/>
          <p:cNvSpPr/>
          <p:nvPr/>
        </p:nvSpPr>
        <p:spPr>
          <a:xfrm>
            <a:off x="1636776" y="3063240"/>
            <a:ext cx="384048" cy="384048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1"/>
          <p:cNvSpPr/>
          <p:nvPr/>
        </p:nvSpPr>
        <p:spPr>
          <a:xfrm>
            <a:off x="868680" y="3447288"/>
            <a:ext cx="384048" cy="384048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1"/>
          <p:cNvSpPr/>
          <p:nvPr/>
        </p:nvSpPr>
        <p:spPr>
          <a:xfrm>
            <a:off x="1252728" y="3447288"/>
            <a:ext cx="384048" cy="384048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1"/>
          <p:cNvSpPr/>
          <p:nvPr/>
        </p:nvSpPr>
        <p:spPr>
          <a:xfrm>
            <a:off x="1636776" y="3447288"/>
            <a:ext cx="384048" cy="384048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w₆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1"/>
          <p:cNvSpPr/>
          <p:nvPr/>
        </p:nvSpPr>
        <p:spPr>
          <a:xfrm>
            <a:off x="868680" y="3831336"/>
            <a:ext cx="384048" cy="384048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w₇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1"/>
          <p:cNvSpPr/>
          <p:nvPr/>
        </p:nvSpPr>
        <p:spPr>
          <a:xfrm>
            <a:off x="1252728" y="3831336"/>
            <a:ext cx="384048" cy="384048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1"/>
          <p:cNvSpPr/>
          <p:nvPr/>
        </p:nvSpPr>
        <p:spPr>
          <a:xfrm>
            <a:off x="1636776" y="3831336"/>
            <a:ext cx="384048" cy="384048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1"/>
          <p:cNvSpPr txBox="1"/>
          <p:nvPr/>
        </p:nvSpPr>
        <p:spPr>
          <a:xfrm>
            <a:off x="822960" y="427939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9 learned weights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1"/>
          <p:cNvSpPr/>
          <p:nvPr/>
        </p:nvSpPr>
        <p:spPr>
          <a:xfrm>
            <a:off x="2286000" y="3291840"/>
            <a:ext cx="411480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1"/>
          <p:cNvSpPr/>
          <p:nvPr/>
        </p:nvSpPr>
        <p:spPr>
          <a:xfrm>
            <a:off x="2286000" y="3749040"/>
            <a:ext cx="411480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1"/>
          <p:cNvSpPr/>
          <p:nvPr/>
        </p:nvSpPr>
        <p:spPr>
          <a:xfrm>
            <a:off x="2286000" y="4206240"/>
            <a:ext cx="411480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1"/>
          <p:cNvSpPr/>
          <p:nvPr/>
        </p:nvSpPr>
        <p:spPr>
          <a:xfrm>
            <a:off x="2971800" y="288036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1"/>
          <p:cNvSpPr/>
          <p:nvPr/>
        </p:nvSpPr>
        <p:spPr>
          <a:xfrm>
            <a:off x="3291840" y="288036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1"/>
          <p:cNvSpPr/>
          <p:nvPr/>
        </p:nvSpPr>
        <p:spPr>
          <a:xfrm>
            <a:off x="3611880" y="288036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1"/>
          <p:cNvSpPr/>
          <p:nvPr/>
        </p:nvSpPr>
        <p:spPr>
          <a:xfrm>
            <a:off x="3931920" y="288036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1"/>
          <p:cNvSpPr/>
          <p:nvPr/>
        </p:nvSpPr>
        <p:spPr>
          <a:xfrm>
            <a:off x="4251960" y="288036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1"/>
          <p:cNvSpPr/>
          <p:nvPr/>
        </p:nvSpPr>
        <p:spPr>
          <a:xfrm>
            <a:off x="4572000" y="288036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1"/>
          <p:cNvSpPr/>
          <p:nvPr/>
        </p:nvSpPr>
        <p:spPr>
          <a:xfrm>
            <a:off x="4892040" y="288036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1"/>
          <p:cNvSpPr/>
          <p:nvPr/>
        </p:nvSpPr>
        <p:spPr>
          <a:xfrm>
            <a:off x="2971800" y="320040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1"/>
          <p:cNvSpPr/>
          <p:nvPr/>
        </p:nvSpPr>
        <p:spPr>
          <a:xfrm>
            <a:off x="3291840" y="3200400"/>
            <a:ext cx="320040" cy="320040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1"/>
          <p:cNvSpPr/>
          <p:nvPr/>
        </p:nvSpPr>
        <p:spPr>
          <a:xfrm>
            <a:off x="3611880" y="3200400"/>
            <a:ext cx="320040" cy="320040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1"/>
          <p:cNvSpPr/>
          <p:nvPr/>
        </p:nvSpPr>
        <p:spPr>
          <a:xfrm>
            <a:off x="3931920" y="3200400"/>
            <a:ext cx="320040" cy="320040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1"/>
          <p:cNvSpPr/>
          <p:nvPr/>
        </p:nvSpPr>
        <p:spPr>
          <a:xfrm>
            <a:off x="4251960" y="320040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1"/>
          <p:cNvSpPr/>
          <p:nvPr/>
        </p:nvSpPr>
        <p:spPr>
          <a:xfrm>
            <a:off x="4572000" y="320040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>
            <a:off x="4892040" y="320040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>
            <a:off x="2971800" y="352044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>
            <a:off x="3291840" y="3520440"/>
            <a:ext cx="320040" cy="320040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>
            <a:off x="3611880" y="3520440"/>
            <a:ext cx="320040" cy="320040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>
            <a:off x="3931920" y="3520440"/>
            <a:ext cx="320040" cy="320040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1"/>
          <p:cNvSpPr/>
          <p:nvPr/>
        </p:nvSpPr>
        <p:spPr>
          <a:xfrm>
            <a:off x="4251960" y="352044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1"/>
          <p:cNvSpPr/>
          <p:nvPr/>
        </p:nvSpPr>
        <p:spPr>
          <a:xfrm>
            <a:off x="4572000" y="352044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1"/>
          <p:cNvSpPr/>
          <p:nvPr/>
        </p:nvSpPr>
        <p:spPr>
          <a:xfrm>
            <a:off x="4892040" y="352044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1"/>
          <p:cNvSpPr/>
          <p:nvPr/>
        </p:nvSpPr>
        <p:spPr>
          <a:xfrm>
            <a:off x="2971800" y="384048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1"/>
          <p:cNvSpPr/>
          <p:nvPr/>
        </p:nvSpPr>
        <p:spPr>
          <a:xfrm>
            <a:off x="3291840" y="3840480"/>
            <a:ext cx="320040" cy="320040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1"/>
          <p:cNvSpPr/>
          <p:nvPr/>
        </p:nvSpPr>
        <p:spPr>
          <a:xfrm>
            <a:off x="3611880" y="3840480"/>
            <a:ext cx="320040" cy="320040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1"/>
          <p:cNvSpPr/>
          <p:nvPr/>
        </p:nvSpPr>
        <p:spPr>
          <a:xfrm>
            <a:off x="3931920" y="3840480"/>
            <a:ext cx="320040" cy="320040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1"/>
          <p:cNvSpPr/>
          <p:nvPr/>
        </p:nvSpPr>
        <p:spPr>
          <a:xfrm>
            <a:off x="4251960" y="3840480"/>
            <a:ext cx="320040" cy="320040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1"/>
          <p:cNvSpPr/>
          <p:nvPr/>
        </p:nvSpPr>
        <p:spPr>
          <a:xfrm>
            <a:off x="4572000" y="3840480"/>
            <a:ext cx="320040" cy="320040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1"/>
          <p:cNvSpPr/>
          <p:nvPr/>
        </p:nvSpPr>
        <p:spPr>
          <a:xfrm>
            <a:off x="4892040" y="384048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1"/>
          <p:cNvSpPr/>
          <p:nvPr/>
        </p:nvSpPr>
        <p:spPr>
          <a:xfrm>
            <a:off x="2971800" y="416052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1"/>
          <p:cNvSpPr/>
          <p:nvPr/>
        </p:nvSpPr>
        <p:spPr>
          <a:xfrm>
            <a:off x="3291840" y="416052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1"/>
          <p:cNvSpPr/>
          <p:nvPr/>
        </p:nvSpPr>
        <p:spPr>
          <a:xfrm>
            <a:off x="3611880" y="416052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1"/>
          <p:cNvSpPr/>
          <p:nvPr/>
        </p:nvSpPr>
        <p:spPr>
          <a:xfrm>
            <a:off x="3931920" y="4160520"/>
            <a:ext cx="320040" cy="320040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1"/>
          <p:cNvSpPr/>
          <p:nvPr/>
        </p:nvSpPr>
        <p:spPr>
          <a:xfrm>
            <a:off x="4251960" y="4160520"/>
            <a:ext cx="320040" cy="320040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1"/>
          <p:cNvSpPr/>
          <p:nvPr/>
        </p:nvSpPr>
        <p:spPr>
          <a:xfrm>
            <a:off x="4572000" y="4160520"/>
            <a:ext cx="320040" cy="320040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1"/>
          <p:cNvSpPr/>
          <p:nvPr/>
        </p:nvSpPr>
        <p:spPr>
          <a:xfrm>
            <a:off x="4892040" y="416052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1"/>
          <p:cNvSpPr/>
          <p:nvPr/>
        </p:nvSpPr>
        <p:spPr>
          <a:xfrm>
            <a:off x="2971800" y="448056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1"/>
          <p:cNvSpPr/>
          <p:nvPr/>
        </p:nvSpPr>
        <p:spPr>
          <a:xfrm>
            <a:off x="3291840" y="448056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1"/>
          <p:cNvSpPr/>
          <p:nvPr/>
        </p:nvSpPr>
        <p:spPr>
          <a:xfrm>
            <a:off x="3611880" y="448056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1"/>
          <p:cNvSpPr/>
          <p:nvPr/>
        </p:nvSpPr>
        <p:spPr>
          <a:xfrm>
            <a:off x="3931920" y="4480560"/>
            <a:ext cx="320040" cy="320040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1"/>
          <p:cNvSpPr/>
          <p:nvPr/>
        </p:nvSpPr>
        <p:spPr>
          <a:xfrm>
            <a:off x="4251960" y="4480560"/>
            <a:ext cx="320040" cy="320040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1"/>
          <p:cNvSpPr/>
          <p:nvPr/>
        </p:nvSpPr>
        <p:spPr>
          <a:xfrm>
            <a:off x="4572000" y="4480560"/>
            <a:ext cx="320040" cy="320040"/>
          </a:xfrm>
          <a:prstGeom prst="rect">
            <a:avLst/>
          </a:prstGeom>
          <a:solidFill>
            <a:srgbClr val="FFF1F0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1"/>
          <p:cNvSpPr/>
          <p:nvPr/>
        </p:nvSpPr>
        <p:spPr>
          <a:xfrm>
            <a:off x="4892040" y="448056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1"/>
          <p:cNvSpPr/>
          <p:nvPr/>
        </p:nvSpPr>
        <p:spPr>
          <a:xfrm>
            <a:off x="2971800" y="480060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1"/>
          <p:cNvSpPr/>
          <p:nvPr/>
        </p:nvSpPr>
        <p:spPr>
          <a:xfrm>
            <a:off x="3291840" y="480060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1"/>
          <p:cNvSpPr/>
          <p:nvPr/>
        </p:nvSpPr>
        <p:spPr>
          <a:xfrm>
            <a:off x="3611880" y="480060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1"/>
          <p:cNvSpPr/>
          <p:nvPr/>
        </p:nvSpPr>
        <p:spPr>
          <a:xfrm>
            <a:off x="3931920" y="480060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1"/>
          <p:cNvSpPr/>
          <p:nvPr/>
        </p:nvSpPr>
        <p:spPr>
          <a:xfrm>
            <a:off x="4251960" y="480060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1"/>
          <p:cNvSpPr/>
          <p:nvPr/>
        </p:nvSpPr>
        <p:spPr>
          <a:xfrm>
            <a:off x="4572000" y="480060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1"/>
          <p:cNvSpPr/>
          <p:nvPr/>
        </p:nvSpPr>
        <p:spPr>
          <a:xfrm>
            <a:off x="4892040" y="4800600"/>
            <a:ext cx="320040" cy="320040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1"/>
          <p:cNvSpPr txBox="1"/>
          <p:nvPr/>
        </p:nvSpPr>
        <p:spPr>
          <a:xfrm>
            <a:off x="2743200" y="525780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applied at every position of the input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1"/>
          <p:cNvSpPr/>
          <p:nvPr/>
        </p:nvSpPr>
        <p:spPr>
          <a:xfrm>
            <a:off x="6309360" y="2377440"/>
            <a:ext cx="5303520" cy="1554480"/>
          </a:xfrm>
          <a:prstGeom prst="roundRect">
            <a:avLst>
              <a:gd fmla="val 3529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1"/>
          <p:cNvSpPr txBox="1"/>
          <p:nvPr/>
        </p:nvSpPr>
        <p:spPr>
          <a:xfrm>
            <a:off x="6583680" y="260604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Tied weights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1"/>
          <p:cNvSpPr txBox="1"/>
          <p:nvPr/>
        </p:nvSpPr>
        <p:spPr>
          <a:xfrm>
            <a:off x="6583680" y="297180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BEE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6BEE6"/>
                </a:solidFill>
                <a:latin typeface="Calibri"/>
                <a:ea typeface="Calibri"/>
                <a:cs typeface="Calibri"/>
                <a:sym typeface="Calibri"/>
              </a:rPr>
              <a:t>When the weight applied to one input is tied to a weight applied to another input, the network is said to have tied weights. Rather than learning a separate set of parameters for every location, we learn only one set.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1"/>
          <p:cNvSpPr txBox="1"/>
          <p:nvPr/>
        </p:nvSpPr>
        <p:spPr>
          <a:xfrm>
            <a:off x="6309360" y="4206240"/>
            <a:ext cx="5303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Runtime is unchanged — still O(k × n) for the forward pass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Storage drops to just k parameters instead of m × 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Since m and n are usually similar, k is practically insignificant next to m × 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2"/>
          <p:cNvSpPr txBox="1"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WHY CONVOLUTION 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2"/>
          <p:cNvSpPr txBox="1"/>
          <p:nvPr/>
        </p:nvSpPr>
        <p:spPr>
          <a:xfrm>
            <a:off x="548640" y="59436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Key idea 3 — Equivariance to translation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2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2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2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2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2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2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2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2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2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2"/>
          <p:cNvSpPr/>
          <p:nvPr/>
        </p:nvSpPr>
        <p:spPr>
          <a:xfrm>
            <a:off x="548640" y="1463040"/>
            <a:ext cx="11064240" cy="822960"/>
          </a:xfrm>
          <a:prstGeom prst="roundRect">
            <a:avLst>
              <a:gd fmla="val 6667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2"/>
          <p:cNvSpPr txBox="1"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function f is equivariant to a function g if   f( g(x) )  =  g( f(x) 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2"/>
          <p:cNvSpPr txBox="1"/>
          <p:nvPr/>
        </p:nvSpPr>
        <p:spPr>
          <a:xfrm>
            <a:off x="548640" y="2514600"/>
            <a:ext cx="60350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Shifting the input and then convolving gives the same result as convolving and then shifting the output.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If we move an object in the image, its representation moves by the same amount in the feature map.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This is useful whenever a function of a few neighbouring pixels is worth applying everywhere — edge detection is the classic example, since the same edges appear all over an image.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2"/>
          <p:cNvSpPr/>
          <p:nvPr/>
        </p:nvSpPr>
        <p:spPr>
          <a:xfrm>
            <a:off x="548640" y="4892040"/>
            <a:ext cx="6035040" cy="868680"/>
          </a:xfrm>
          <a:prstGeom prst="roundRect">
            <a:avLst>
              <a:gd fmla="val 6316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2"/>
          <p:cNvSpPr txBox="1"/>
          <p:nvPr/>
        </p:nvSpPr>
        <p:spPr>
          <a:xfrm>
            <a:off x="804672" y="5074920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Careful: convolution is NOT naturally equivariant to scaling or rotation. Those need other mechanisms — data augmentation, multi-scale features, or specialised architectures.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2"/>
          <p:cNvSpPr/>
          <p:nvPr/>
        </p:nvSpPr>
        <p:spPr>
          <a:xfrm>
            <a:off x="6949440" y="2514600"/>
            <a:ext cx="4663440" cy="3246120"/>
          </a:xfrm>
          <a:prstGeom prst="roundRect">
            <a:avLst>
              <a:gd fmla="val 169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2"/>
          <p:cNvSpPr/>
          <p:nvPr/>
        </p:nvSpPr>
        <p:spPr>
          <a:xfrm>
            <a:off x="7269480" y="288036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2"/>
          <p:cNvSpPr/>
          <p:nvPr/>
        </p:nvSpPr>
        <p:spPr>
          <a:xfrm>
            <a:off x="7571232" y="288036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2"/>
          <p:cNvSpPr/>
          <p:nvPr/>
        </p:nvSpPr>
        <p:spPr>
          <a:xfrm>
            <a:off x="7872984" y="288036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2"/>
          <p:cNvSpPr/>
          <p:nvPr/>
        </p:nvSpPr>
        <p:spPr>
          <a:xfrm>
            <a:off x="8174736" y="288036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2"/>
          <p:cNvSpPr/>
          <p:nvPr/>
        </p:nvSpPr>
        <p:spPr>
          <a:xfrm>
            <a:off x="8476488" y="288036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2"/>
          <p:cNvSpPr/>
          <p:nvPr/>
        </p:nvSpPr>
        <p:spPr>
          <a:xfrm>
            <a:off x="7269480" y="318211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2"/>
          <p:cNvSpPr/>
          <p:nvPr/>
        </p:nvSpPr>
        <p:spPr>
          <a:xfrm>
            <a:off x="7571232" y="3182112"/>
            <a:ext cx="301752" cy="301752"/>
          </a:xfrm>
          <a:prstGeom prst="rect">
            <a:avLst/>
          </a:prstGeom>
          <a:solidFill>
            <a:srgbClr val="1B1035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2"/>
          <p:cNvSpPr/>
          <p:nvPr/>
        </p:nvSpPr>
        <p:spPr>
          <a:xfrm>
            <a:off x="7872984" y="318211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2"/>
          <p:cNvSpPr/>
          <p:nvPr/>
        </p:nvSpPr>
        <p:spPr>
          <a:xfrm>
            <a:off x="8174736" y="318211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2"/>
          <p:cNvSpPr/>
          <p:nvPr/>
        </p:nvSpPr>
        <p:spPr>
          <a:xfrm>
            <a:off x="8476488" y="318211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2"/>
          <p:cNvSpPr/>
          <p:nvPr/>
        </p:nvSpPr>
        <p:spPr>
          <a:xfrm>
            <a:off x="7269480" y="348386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2"/>
          <p:cNvSpPr/>
          <p:nvPr/>
        </p:nvSpPr>
        <p:spPr>
          <a:xfrm>
            <a:off x="7571232" y="348386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2"/>
          <p:cNvSpPr/>
          <p:nvPr/>
        </p:nvSpPr>
        <p:spPr>
          <a:xfrm>
            <a:off x="7872984" y="348386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2"/>
          <p:cNvSpPr/>
          <p:nvPr/>
        </p:nvSpPr>
        <p:spPr>
          <a:xfrm>
            <a:off x="8174736" y="348386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2"/>
          <p:cNvSpPr/>
          <p:nvPr/>
        </p:nvSpPr>
        <p:spPr>
          <a:xfrm>
            <a:off x="8476488" y="348386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2"/>
          <p:cNvSpPr/>
          <p:nvPr/>
        </p:nvSpPr>
        <p:spPr>
          <a:xfrm>
            <a:off x="9006840" y="3246120"/>
            <a:ext cx="384048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2"/>
          <p:cNvSpPr/>
          <p:nvPr/>
        </p:nvSpPr>
        <p:spPr>
          <a:xfrm>
            <a:off x="9601200" y="288036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2"/>
          <p:cNvSpPr/>
          <p:nvPr/>
        </p:nvSpPr>
        <p:spPr>
          <a:xfrm>
            <a:off x="9902952" y="288036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2"/>
          <p:cNvSpPr/>
          <p:nvPr/>
        </p:nvSpPr>
        <p:spPr>
          <a:xfrm>
            <a:off x="10204704" y="288036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2"/>
          <p:cNvSpPr/>
          <p:nvPr/>
        </p:nvSpPr>
        <p:spPr>
          <a:xfrm>
            <a:off x="10506456" y="288036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2"/>
          <p:cNvSpPr/>
          <p:nvPr/>
        </p:nvSpPr>
        <p:spPr>
          <a:xfrm>
            <a:off x="10808208" y="288036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2"/>
          <p:cNvSpPr/>
          <p:nvPr/>
        </p:nvSpPr>
        <p:spPr>
          <a:xfrm>
            <a:off x="9601200" y="318211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2"/>
          <p:cNvSpPr/>
          <p:nvPr/>
        </p:nvSpPr>
        <p:spPr>
          <a:xfrm>
            <a:off x="9902952" y="3182112"/>
            <a:ext cx="301752" cy="301752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2"/>
          <p:cNvSpPr/>
          <p:nvPr/>
        </p:nvSpPr>
        <p:spPr>
          <a:xfrm>
            <a:off x="10204704" y="318211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2"/>
          <p:cNvSpPr/>
          <p:nvPr/>
        </p:nvSpPr>
        <p:spPr>
          <a:xfrm>
            <a:off x="10506456" y="318211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2"/>
          <p:cNvSpPr/>
          <p:nvPr/>
        </p:nvSpPr>
        <p:spPr>
          <a:xfrm>
            <a:off x="10808208" y="318211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2"/>
          <p:cNvSpPr/>
          <p:nvPr/>
        </p:nvSpPr>
        <p:spPr>
          <a:xfrm>
            <a:off x="9601200" y="348386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2"/>
          <p:cNvSpPr/>
          <p:nvPr/>
        </p:nvSpPr>
        <p:spPr>
          <a:xfrm>
            <a:off x="9902952" y="348386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2"/>
          <p:cNvSpPr/>
          <p:nvPr/>
        </p:nvSpPr>
        <p:spPr>
          <a:xfrm>
            <a:off x="10204704" y="348386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2"/>
          <p:cNvSpPr/>
          <p:nvPr/>
        </p:nvSpPr>
        <p:spPr>
          <a:xfrm>
            <a:off x="10506456" y="348386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2"/>
          <p:cNvSpPr/>
          <p:nvPr/>
        </p:nvSpPr>
        <p:spPr>
          <a:xfrm>
            <a:off x="10808208" y="348386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2"/>
          <p:cNvSpPr txBox="1"/>
          <p:nvPr/>
        </p:nvSpPr>
        <p:spPr>
          <a:xfrm>
            <a:off x="7269480" y="382219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2"/>
          <p:cNvSpPr txBox="1"/>
          <p:nvPr/>
        </p:nvSpPr>
        <p:spPr>
          <a:xfrm>
            <a:off x="9601200" y="382219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feature 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2"/>
          <p:cNvSpPr/>
          <p:nvPr/>
        </p:nvSpPr>
        <p:spPr>
          <a:xfrm>
            <a:off x="7269480" y="438912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2"/>
          <p:cNvSpPr/>
          <p:nvPr/>
        </p:nvSpPr>
        <p:spPr>
          <a:xfrm>
            <a:off x="7571232" y="438912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2"/>
          <p:cNvSpPr/>
          <p:nvPr/>
        </p:nvSpPr>
        <p:spPr>
          <a:xfrm>
            <a:off x="7872984" y="438912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2"/>
          <p:cNvSpPr/>
          <p:nvPr/>
        </p:nvSpPr>
        <p:spPr>
          <a:xfrm>
            <a:off x="8174736" y="438912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2"/>
          <p:cNvSpPr/>
          <p:nvPr/>
        </p:nvSpPr>
        <p:spPr>
          <a:xfrm>
            <a:off x="8476488" y="438912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2"/>
          <p:cNvSpPr/>
          <p:nvPr/>
        </p:nvSpPr>
        <p:spPr>
          <a:xfrm>
            <a:off x="7269480" y="469087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2"/>
          <p:cNvSpPr/>
          <p:nvPr/>
        </p:nvSpPr>
        <p:spPr>
          <a:xfrm>
            <a:off x="7571232" y="469087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2"/>
          <p:cNvSpPr/>
          <p:nvPr/>
        </p:nvSpPr>
        <p:spPr>
          <a:xfrm>
            <a:off x="7872984" y="469087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2"/>
          <p:cNvSpPr/>
          <p:nvPr/>
        </p:nvSpPr>
        <p:spPr>
          <a:xfrm>
            <a:off x="8174736" y="4690872"/>
            <a:ext cx="301752" cy="301752"/>
          </a:xfrm>
          <a:prstGeom prst="rect">
            <a:avLst/>
          </a:prstGeom>
          <a:solidFill>
            <a:srgbClr val="1B1035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2"/>
          <p:cNvSpPr/>
          <p:nvPr/>
        </p:nvSpPr>
        <p:spPr>
          <a:xfrm>
            <a:off x="8476488" y="469087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2"/>
          <p:cNvSpPr/>
          <p:nvPr/>
        </p:nvSpPr>
        <p:spPr>
          <a:xfrm>
            <a:off x="7269480" y="499262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2"/>
          <p:cNvSpPr/>
          <p:nvPr/>
        </p:nvSpPr>
        <p:spPr>
          <a:xfrm>
            <a:off x="7571232" y="499262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2"/>
          <p:cNvSpPr/>
          <p:nvPr/>
        </p:nvSpPr>
        <p:spPr>
          <a:xfrm>
            <a:off x="7872984" y="499262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2"/>
          <p:cNvSpPr/>
          <p:nvPr/>
        </p:nvSpPr>
        <p:spPr>
          <a:xfrm>
            <a:off x="8174736" y="499262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2"/>
          <p:cNvSpPr/>
          <p:nvPr/>
        </p:nvSpPr>
        <p:spPr>
          <a:xfrm>
            <a:off x="8476488" y="499262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2"/>
          <p:cNvSpPr/>
          <p:nvPr/>
        </p:nvSpPr>
        <p:spPr>
          <a:xfrm>
            <a:off x="9006840" y="4754880"/>
            <a:ext cx="384048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2"/>
          <p:cNvSpPr/>
          <p:nvPr/>
        </p:nvSpPr>
        <p:spPr>
          <a:xfrm>
            <a:off x="9601200" y="438912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2"/>
          <p:cNvSpPr/>
          <p:nvPr/>
        </p:nvSpPr>
        <p:spPr>
          <a:xfrm>
            <a:off x="9902952" y="438912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2"/>
          <p:cNvSpPr/>
          <p:nvPr/>
        </p:nvSpPr>
        <p:spPr>
          <a:xfrm>
            <a:off x="10204704" y="438912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2"/>
          <p:cNvSpPr/>
          <p:nvPr/>
        </p:nvSpPr>
        <p:spPr>
          <a:xfrm>
            <a:off x="10506456" y="438912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2"/>
          <p:cNvSpPr/>
          <p:nvPr/>
        </p:nvSpPr>
        <p:spPr>
          <a:xfrm>
            <a:off x="10808208" y="4389120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2"/>
          <p:cNvSpPr/>
          <p:nvPr/>
        </p:nvSpPr>
        <p:spPr>
          <a:xfrm>
            <a:off x="9601200" y="469087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2"/>
          <p:cNvSpPr/>
          <p:nvPr/>
        </p:nvSpPr>
        <p:spPr>
          <a:xfrm>
            <a:off x="9902952" y="469087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2"/>
          <p:cNvSpPr/>
          <p:nvPr/>
        </p:nvSpPr>
        <p:spPr>
          <a:xfrm>
            <a:off x="10204704" y="469087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2"/>
          <p:cNvSpPr/>
          <p:nvPr/>
        </p:nvSpPr>
        <p:spPr>
          <a:xfrm>
            <a:off x="10506456" y="4690872"/>
            <a:ext cx="301752" cy="301752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2"/>
          <p:cNvSpPr/>
          <p:nvPr/>
        </p:nvSpPr>
        <p:spPr>
          <a:xfrm>
            <a:off x="10808208" y="4690872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2"/>
          <p:cNvSpPr/>
          <p:nvPr/>
        </p:nvSpPr>
        <p:spPr>
          <a:xfrm>
            <a:off x="9601200" y="499262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2"/>
          <p:cNvSpPr/>
          <p:nvPr/>
        </p:nvSpPr>
        <p:spPr>
          <a:xfrm>
            <a:off x="9902952" y="499262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2"/>
          <p:cNvSpPr/>
          <p:nvPr/>
        </p:nvSpPr>
        <p:spPr>
          <a:xfrm>
            <a:off x="10204704" y="499262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2"/>
          <p:cNvSpPr/>
          <p:nvPr/>
        </p:nvSpPr>
        <p:spPr>
          <a:xfrm>
            <a:off x="10506456" y="499262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2"/>
          <p:cNvSpPr/>
          <p:nvPr/>
        </p:nvSpPr>
        <p:spPr>
          <a:xfrm>
            <a:off x="10808208" y="4992624"/>
            <a:ext cx="301752" cy="301752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2"/>
          <p:cNvSpPr txBox="1"/>
          <p:nvPr/>
        </p:nvSpPr>
        <p:spPr>
          <a:xfrm>
            <a:off x="7269480" y="533095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input shifted right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2"/>
          <p:cNvSpPr txBox="1"/>
          <p:nvPr/>
        </p:nvSpPr>
        <p:spPr>
          <a:xfrm>
            <a:off x="9601200" y="533095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feature map shifts too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035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3"/>
          <p:cNvSpPr txBox="1"/>
          <p:nvPr/>
        </p:nvSpPr>
        <p:spPr>
          <a:xfrm>
            <a:off x="777240" y="1417320"/>
            <a:ext cx="29260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13000"/>
              <a:buFont typeface="Cambria"/>
              <a:buNone/>
            </a:pPr>
            <a:r>
              <a:rPr b="1" i="0" lang="en-US" sz="13000" u="none" cap="none" strike="noStrike">
                <a:solidFill>
                  <a:srgbClr val="2E1F5E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3"/>
          <p:cNvSpPr txBox="1"/>
          <p:nvPr/>
        </p:nvSpPr>
        <p:spPr>
          <a:xfrm>
            <a:off x="822960" y="3246120"/>
            <a:ext cx="6035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Anatomy of 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convolutional layer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3"/>
          <p:cNvSpPr/>
          <p:nvPr/>
        </p:nvSpPr>
        <p:spPr>
          <a:xfrm>
            <a:off x="7360920" y="1883664"/>
            <a:ext cx="237744" cy="237744"/>
          </a:xfrm>
          <a:prstGeom prst="ellipse">
            <a:avLst/>
          </a:prstGeom>
          <a:solidFill>
            <a:srgbClr val="FF5E5B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3"/>
          <p:cNvSpPr txBox="1"/>
          <p:nvPr/>
        </p:nvSpPr>
        <p:spPr>
          <a:xfrm>
            <a:off x="7818120" y="181051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Output size, stride and zero padding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3"/>
          <p:cNvSpPr/>
          <p:nvPr/>
        </p:nvSpPr>
        <p:spPr>
          <a:xfrm>
            <a:off x="7360920" y="2843784"/>
            <a:ext cx="237744" cy="237744"/>
          </a:xfrm>
          <a:prstGeom prst="ellipse">
            <a:avLst/>
          </a:prstGeom>
          <a:solidFill>
            <a:srgbClr val="12A594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3"/>
          <p:cNvSpPr txBox="1"/>
          <p:nvPr/>
        </p:nvSpPr>
        <p:spPr>
          <a:xfrm>
            <a:off x="7818120" y="277063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Pooling: what it summarises and why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3"/>
          <p:cNvSpPr/>
          <p:nvPr/>
        </p:nvSpPr>
        <p:spPr>
          <a:xfrm>
            <a:off x="7360920" y="3803904"/>
            <a:ext cx="237744" cy="237744"/>
          </a:xfrm>
          <a:prstGeom prst="ellipse">
            <a:avLst/>
          </a:prstGeom>
          <a:solidFill>
            <a:srgbClr val="E8930C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3"/>
          <p:cNvSpPr txBox="1"/>
          <p:nvPr/>
        </p:nvSpPr>
        <p:spPr>
          <a:xfrm>
            <a:off x="7818120" y="373075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A fully worked parameter-counting problem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3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3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3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3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3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3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3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3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3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4"/>
          <p:cNvSpPr txBox="1"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COUNTING WEIGHTS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4"/>
          <p:cNvSpPr txBox="1"/>
          <p:nvPr/>
        </p:nvSpPr>
        <p:spPr>
          <a:xfrm>
            <a:off x="548640" y="59436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The parameters of a convolutional layer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4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4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4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4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4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4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4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4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4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4"/>
          <p:cNvSpPr txBox="1"/>
          <p:nvPr/>
        </p:nvSpPr>
        <p:spPr>
          <a:xfrm>
            <a:off x="548640" y="1508760"/>
            <a:ext cx="5394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layer's parameters are a set of learnable filters.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3A355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Each neuron connects only to a local region of the input volume — its receptive field, which is exactly the filter size.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3A355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 filter always spans the full depth of the input volume, plus one bias term.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4"/>
          <p:cNvSpPr/>
          <p:nvPr/>
        </p:nvSpPr>
        <p:spPr>
          <a:xfrm>
            <a:off x="548640" y="3703320"/>
            <a:ext cx="5394960" cy="2057400"/>
          </a:xfrm>
          <a:prstGeom prst="roundRect">
            <a:avLst>
              <a:gd fmla="val 2667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4"/>
          <p:cNvSpPr txBox="1"/>
          <p:nvPr/>
        </p:nvSpPr>
        <p:spPr>
          <a:xfrm>
            <a:off x="822960" y="393192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Worked example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4"/>
          <p:cNvSpPr txBox="1"/>
          <p:nvPr/>
        </p:nvSpPr>
        <p:spPr>
          <a:xfrm>
            <a:off x="822960" y="4279392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32 × 32 × 3 (an RGB CIFAR-10 image), three 5 × 5 filters with stride 1.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many parameters does one filter have?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4"/>
          <p:cNvSpPr/>
          <p:nvPr/>
        </p:nvSpPr>
        <p:spPr>
          <a:xfrm>
            <a:off x="6400800" y="1508760"/>
            <a:ext cx="5212080" cy="2286000"/>
          </a:xfrm>
          <a:prstGeom prst="roundRect">
            <a:avLst>
              <a:gd fmla="val 2400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4"/>
          <p:cNvSpPr txBox="1"/>
          <p:nvPr/>
        </p:nvSpPr>
        <p:spPr>
          <a:xfrm>
            <a:off x="6675120" y="1783080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5 × 5 × 3 + 1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4"/>
          <p:cNvSpPr txBox="1"/>
          <p:nvPr/>
        </p:nvSpPr>
        <p:spPr>
          <a:xfrm>
            <a:off x="6675120" y="2395728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width × height × input depth + bias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4"/>
          <p:cNvSpPr txBox="1"/>
          <p:nvPr/>
        </p:nvSpPr>
        <p:spPr>
          <a:xfrm>
            <a:off x="6675120" y="274320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5E5B"/>
                </a:solidFill>
                <a:latin typeface="Cambria"/>
                <a:ea typeface="Cambria"/>
                <a:cs typeface="Cambria"/>
                <a:sym typeface="Cambria"/>
              </a:rPr>
              <a:t>=  76 parameters per filter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4"/>
          <p:cNvSpPr txBox="1"/>
          <p:nvPr/>
        </p:nvSpPr>
        <p:spPr>
          <a:xfrm>
            <a:off x="6675120" y="3337560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three filters  →  76 × 3  =  228 parameters in the whole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4"/>
          <p:cNvSpPr/>
          <p:nvPr/>
        </p:nvSpPr>
        <p:spPr>
          <a:xfrm>
            <a:off x="6400800" y="3977640"/>
            <a:ext cx="5212080" cy="178308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4"/>
          <p:cNvSpPr txBox="1"/>
          <p:nvPr/>
        </p:nvSpPr>
        <p:spPr>
          <a:xfrm>
            <a:off x="6675120" y="4187952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The rule to memorise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4"/>
          <p:cNvSpPr txBox="1"/>
          <p:nvPr/>
        </p:nvSpPr>
        <p:spPr>
          <a:xfrm>
            <a:off x="6675120" y="4526280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params  =  ( K × K × D_in + 1 ) × K_out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Notice what is absent: the spatial size of the input. A conv layer costs the same whether it sees a 32 × 32 or a 512 × 512 image.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5"/>
          <p:cNvSpPr txBox="1"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SIZING A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5"/>
          <p:cNvSpPr txBox="1"/>
          <p:nvPr/>
        </p:nvSpPr>
        <p:spPr>
          <a:xfrm>
            <a:off x="548640" y="59436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Output size and stride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5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5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5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5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5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5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5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5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5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5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fmla="val 5000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5"/>
          <p:cNvSpPr txBox="1"/>
          <p:nvPr/>
        </p:nvSpPr>
        <p:spPr>
          <a:xfrm>
            <a:off x="822960" y="1627632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Output size  =  ( N − K ) / S  +  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5"/>
          <p:cNvSpPr txBox="1"/>
          <p:nvPr/>
        </p:nvSpPr>
        <p:spPr>
          <a:xfrm>
            <a:off x="6949440" y="1691640"/>
            <a:ext cx="4389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BEE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6BEE6"/>
                </a:solidFill>
                <a:latin typeface="Calibri"/>
                <a:ea typeface="Calibri"/>
                <a:cs typeface="Calibri"/>
                <a:sym typeface="Calibri"/>
              </a:rPr>
              <a:t>N = input size    K = kernel size    S = stride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BEE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6BEE6"/>
                </a:solidFill>
                <a:latin typeface="Calibri"/>
                <a:ea typeface="Calibri"/>
                <a:cs typeface="Calibri"/>
                <a:sym typeface="Calibri"/>
              </a:rPr>
              <a:t>The result must be an integer, otherwise the filter does not fit the input cleanly.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5"/>
          <p:cNvSpPr txBox="1"/>
          <p:nvPr/>
        </p:nvSpPr>
        <p:spPr>
          <a:xfrm>
            <a:off x="548640" y="27889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Try 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5"/>
          <p:cNvSpPr/>
          <p:nvPr/>
        </p:nvSpPr>
        <p:spPr>
          <a:xfrm>
            <a:off x="548640" y="3200400"/>
            <a:ext cx="603504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5"/>
          <p:cNvSpPr txBox="1"/>
          <p:nvPr/>
        </p:nvSpPr>
        <p:spPr>
          <a:xfrm>
            <a:off x="777240" y="334670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N =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5"/>
          <p:cNvSpPr txBox="1"/>
          <p:nvPr/>
        </p:nvSpPr>
        <p:spPr>
          <a:xfrm>
            <a:off x="1600200" y="334670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K =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5"/>
          <p:cNvSpPr txBox="1"/>
          <p:nvPr/>
        </p:nvSpPr>
        <p:spPr>
          <a:xfrm>
            <a:off x="2423160" y="334670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 =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5"/>
          <p:cNvSpPr txBox="1"/>
          <p:nvPr/>
        </p:nvSpPr>
        <p:spPr>
          <a:xfrm>
            <a:off x="3383280" y="334670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(5 − 3)/1 + 1 =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5"/>
          <p:cNvSpPr/>
          <p:nvPr/>
        </p:nvSpPr>
        <p:spPr>
          <a:xfrm>
            <a:off x="548640" y="3858768"/>
            <a:ext cx="603504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5"/>
          <p:cNvSpPr txBox="1"/>
          <p:nvPr/>
        </p:nvSpPr>
        <p:spPr>
          <a:xfrm>
            <a:off x="777240" y="40050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N = 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5"/>
          <p:cNvSpPr txBox="1"/>
          <p:nvPr/>
        </p:nvSpPr>
        <p:spPr>
          <a:xfrm>
            <a:off x="1600200" y="40050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K =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5"/>
          <p:cNvSpPr txBox="1"/>
          <p:nvPr/>
        </p:nvSpPr>
        <p:spPr>
          <a:xfrm>
            <a:off x="2423160" y="40050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 =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5"/>
          <p:cNvSpPr txBox="1"/>
          <p:nvPr/>
        </p:nvSpPr>
        <p:spPr>
          <a:xfrm>
            <a:off x="3383280" y="40050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(7 − 3)/2 + 1 =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5"/>
          <p:cNvSpPr/>
          <p:nvPr/>
        </p:nvSpPr>
        <p:spPr>
          <a:xfrm>
            <a:off x="548640" y="4517136"/>
            <a:ext cx="603504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5"/>
          <p:cNvSpPr txBox="1"/>
          <p:nvPr/>
        </p:nvSpPr>
        <p:spPr>
          <a:xfrm>
            <a:off x="777240" y="46634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N = 32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5"/>
          <p:cNvSpPr txBox="1"/>
          <p:nvPr/>
        </p:nvSpPr>
        <p:spPr>
          <a:xfrm>
            <a:off x="1600200" y="46634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K =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5"/>
          <p:cNvSpPr txBox="1"/>
          <p:nvPr/>
        </p:nvSpPr>
        <p:spPr>
          <a:xfrm>
            <a:off x="2423160" y="46634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 =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5"/>
          <p:cNvSpPr txBox="1"/>
          <p:nvPr/>
        </p:nvSpPr>
        <p:spPr>
          <a:xfrm>
            <a:off x="3383280" y="46634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(32 − 5)/1 + 1 = 28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5"/>
          <p:cNvSpPr/>
          <p:nvPr/>
        </p:nvSpPr>
        <p:spPr>
          <a:xfrm>
            <a:off x="6949440" y="2788920"/>
            <a:ext cx="4663440" cy="2971800"/>
          </a:xfrm>
          <a:prstGeom prst="roundRect">
            <a:avLst>
              <a:gd fmla="val 1846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5"/>
          <p:cNvSpPr txBox="1"/>
          <p:nvPr/>
        </p:nvSpPr>
        <p:spPr>
          <a:xfrm>
            <a:off x="777240" y="5321808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N = 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5"/>
          <p:cNvSpPr txBox="1"/>
          <p:nvPr/>
        </p:nvSpPr>
        <p:spPr>
          <a:xfrm>
            <a:off x="1600200" y="5321808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K =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5"/>
          <p:cNvSpPr txBox="1"/>
          <p:nvPr/>
        </p:nvSpPr>
        <p:spPr>
          <a:xfrm>
            <a:off x="2423160" y="5321808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 =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5"/>
          <p:cNvSpPr txBox="1"/>
          <p:nvPr/>
        </p:nvSpPr>
        <p:spPr>
          <a:xfrm>
            <a:off x="3383280" y="5321808"/>
            <a:ext cx="301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(6 − 3)/2 + 1 = 2.5  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5"/>
          <p:cNvSpPr txBox="1"/>
          <p:nvPr/>
        </p:nvSpPr>
        <p:spPr>
          <a:xfrm>
            <a:off x="7223760" y="30175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Stride is a downsampling knob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5"/>
          <p:cNvSpPr txBox="1"/>
          <p:nvPr/>
        </p:nvSpPr>
        <p:spPr>
          <a:xfrm>
            <a:off x="7223760" y="342900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stride 1 — dense, overlapping windows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5"/>
          <p:cNvSpPr/>
          <p:nvPr/>
        </p:nvSpPr>
        <p:spPr>
          <a:xfrm>
            <a:off x="7223760" y="3675888"/>
            <a:ext cx="329184" cy="329184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5"/>
          <p:cNvSpPr/>
          <p:nvPr/>
        </p:nvSpPr>
        <p:spPr>
          <a:xfrm>
            <a:off x="548640" y="5175504"/>
            <a:ext cx="6035100" cy="548700"/>
          </a:xfrm>
          <a:prstGeom prst="roundRect">
            <a:avLst>
              <a:gd fmla="val 10000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5"/>
          <p:cNvSpPr/>
          <p:nvPr/>
        </p:nvSpPr>
        <p:spPr>
          <a:xfrm>
            <a:off x="7552944" y="3675888"/>
            <a:ext cx="329184" cy="329184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5"/>
          <p:cNvSpPr/>
          <p:nvPr/>
        </p:nvSpPr>
        <p:spPr>
          <a:xfrm>
            <a:off x="7882128" y="3675888"/>
            <a:ext cx="329184" cy="329184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5"/>
          <p:cNvSpPr/>
          <p:nvPr/>
        </p:nvSpPr>
        <p:spPr>
          <a:xfrm>
            <a:off x="8211312" y="3675888"/>
            <a:ext cx="329184" cy="329184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5"/>
          <p:cNvSpPr/>
          <p:nvPr/>
        </p:nvSpPr>
        <p:spPr>
          <a:xfrm>
            <a:off x="8540496" y="3675888"/>
            <a:ext cx="329184" cy="329184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5"/>
          <p:cNvSpPr/>
          <p:nvPr/>
        </p:nvSpPr>
        <p:spPr>
          <a:xfrm>
            <a:off x="8869680" y="3675888"/>
            <a:ext cx="329184" cy="329184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5"/>
          <p:cNvSpPr/>
          <p:nvPr/>
        </p:nvSpPr>
        <p:spPr>
          <a:xfrm>
            <a:off x="9198864" y="3675888"/>
            <a:ext cx="329184" cy="329184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5"/>
          <p:cNvSpPr/>
          <p:nvPr/>
        </p:nvSpPr>
        <p:spPr>
          <a:xfrm>
            <a:off x="9528048" y="3675888"/>
            <a:ext cx="329184" cy="329184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5"/>
          <p:cNvSpPr/>
          <p:nvPr/>
        </p:nvSpPr>
        <p:spPr>
          <a:xfrm>
            <a:off x="9857232" y="3675888"/>
            <a:ext cx="329184" cy="329184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5"/>
          <p:cNvSpPr/>
          <p:nvPr/>
        </p:nvSpPr>
        <p:spPr>
          <a:xfrm>
            <a:off x="7552944" y="3675888"/>
            <a:ext cx="987552" cy="329184"/>
          </a:xfrm>
          <a:prstGeom prst="rect">
            <a:avLst/>
          </a:prstGeom>
          <a:noFill/>
          <a:ln cap="flat" cmpd="sng" w="19050">
            <a:solidFill>
              <a:srgbClr val="FF5E5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5"/>
          <p:cNvSpPr txBox="1"/>
          <p:nvPr/>
        </p:nvSpPr>
        <p:spPr>
          <a:xfrm>
            <a:off x="7223760" y="434340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stride 2 — the window jumps, output halves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5"/>
          <p:cNvSpPr/>
          <p:nvPr/>
        </p:nvSpPr>
        <p:spPr>
          <a:xfrm>
            <a:off x="7223760" y="4590288"/>
            <a:ext cx="329184" cy="329184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5"/>
          <p:cNvSpPr/>
          <p:nvPr/>
        </p:nvSpPr>
        <p:spPr>
          <a:xfrm>
            <a:off x="7552944" y="4590288"/>
            <a:ext cx="329184" cy="329184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5"/>
          <p:cNvSpPr/>
          <p:nvPr/>
        </p:nvSpPr>
        <p:spPr>
          <a:xfrm>
            <a:off x="7882128" y="4590288"/>
            <a:ext cx="329184" cy="329184"/>
          </a:xfrm>
          <a:prstGeom prst="rect">
            <a:avLst/>
          </a:prstGeom>
          <a:solidFill>
            <a:srgbClr val="FFE3E2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5"/>
          <p:cNvSpPr/>
          <p:nvPr/>
        </p:nvSpPr>
        <p:spPr>
          <a:xfrm>
            <a:off x="8211312" y="4590288"/>
            <a:ext cx="329184" cy="329184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5"/>
          <p:cNvSpPr/>
          <p:nvPr/>
        </p:nvSpPr>
        <p:spPr>
          <a:xfrm>
            <a:off x="8540496" y="4590288"/>
            <a:ext cx="329184" cy="329184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5"/>
          <p:cNvSpPr/>
          <p:nvPr/>
        </p:nvSpPr>
        <p:spPr>
          <a:xfrm>
            <a:off x="8869680" y="4590288"/>
            <a:ext cx="329184" cy="329184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5"/>
          <p:cNvSpPr/>
          <p:nvPr/>
        </p:nvSpPr>
        <p:spPr>
          <a:xfrm>
            <a:off x="9198864" y="4590288"/>
            <a:ext cx="329184" cy="329184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5"/>
          <p:cNvSpPr/>
          <p:nvPr/>
        </p:nvSpPr>
        <p:spPr>
          <a:xfrm>
            <a:off x="9528048" y="4590288"/>
            <a:ext cx="329184" cy="329184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5"/>
          <p:cNvSpPr/>
          <p:nvPr/>
        </p:nvSpPr>
        <p:spPr>
          <a:xfrm>
            <a:off x="9857232" y="4590288"/>
            <a:ext cx="329184" cy="329184"/>
          </a:xfrm>
          <a:prstGeom prst="rect">
            <a:avLst/>
          </a:prstGeom>
          <a:solidFill>
            <a:srgbClr val="F7F6FB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5"/>
          <p:cNvSpPr/>
          <p:nvPr/>
        </p:nvSpPr>
        <p:spPr>
          <a:xfrm>
            <a:off x="7882128" y="4590288"/>
            <a:ext cx="987552" cy="329184"/>
          </a:xfrm>
          <a:prstGeom prst="rect">
            <a:avLst/>
          </a:prstGeom>
          <a:noFill/>
          <a:ln cap="flat" cmpd="sng" w="19050">
            <a:solidFill>
              <a:srgbClr val="FF5E5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5"/>
          <p:cNvSpPr txBox="1"/>
          <p:nvPr/>
        </p:nvSpPr>
        <p:spPr>
          <a:xfrm>
            <a:off x="7223760" y="512064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Larger strides mean fewer computations and a smaller output — an alternative to pooling for downsampling.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5"/>
          <p:cNvSpPr txBox="1"/>
          <p:nvPr/>
        </p:nvSpPr>
        <p:spPr>
          <a:xfrm>
            <a:off x="777240" y="5321808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N = 6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5"/>
          <p:cNvSpPr txBox="1"/>
          <p:nvPr/>
        </p:nvSpPr>
        <p:spPr>
          <a:xfrm>
            <a:off x="1600200" y="5321808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K = 3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5"/>
          <p:cNvSpPr txBox="1"/>
          <p:nvPr/>
        </p:nvSpPr>
        <p:spPr>
          <a:xfrm>
            <a:off x="2423160" y="5321808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 = 2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15"/>
          <p:cNvSpPr txBox="1"/>
          <p:nvPr/>
        </p:nvSpPr>
        <p:spPr>
          <a:xfrm>
            <a:off x="3383280" y="5321808"/>
            <a:ext cx="301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(6 − 3)/2 + 1 = 2.5  ✗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6"/>
          <p:cNvSpPr txBox="1"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BORDERS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6"/>
          <p:cNvSpPr txBox="1"/>
          <p:nvPr/>
        </p:nvSpPr>
        <p:spPr>
          <a:xfrm>
            <a:off x="548640" y="59436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Zero padding: keeping the output the same size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16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6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6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6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6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6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6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6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6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6"/>
          <p:cNvSpPr txBox="1"/>
          <p:nvPr/>
        </p:nvSpPr>
        <p:spPr>
          <a:xfrm>
            <a:off x="548640" y="1554480"/>
            <a:ext cx="5577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Without padding, the edges of the image are only partially processed and the output is smaller than the input.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Padding surrounds the input with zeros so the kernel can be centred on border pixels too.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With stride 1, a padding of P = (K − 1) / 2 gives an output exactly the same size as the input — often called 'same' padding.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With padding, the size formula becomes  ( N − K </a:t>
            </a:r>
            <a:r>
              <a:rPr lang="en-US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+ 2P</a:t>
            </a: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 ) / S + 1.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16"/>
          <p:cNvSpPr/>
          <p:nvPr/>
        </p:nvSpPr>
        <p:spPr>
          <a:xfrm>
            <a:off x="548640" y="4892040"/>
            <a:ext cx="5577840" cy="868680"/>
          </a:xfrm>
          <a:prstGeom prst="roundRect">
            <a:avLst>
              <a:gd fmla="val 6316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6"/>
          <p:cNvSpPr txBox="1"/>
          <p:nvPr/>
        </p:nvSpPr>
        <p:spPr>
          <a:xfrm>
            <a:off x="822960" y="51206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 = 3 → P = 1     K = 5 → P = 2     K = 7 → P =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6"/>
          <p:cNvSpPr/>
          <p:nvPr/>
        </p:nvSpPr>
        <p:spPr>
          <a:xfrm>
            <a:off x="6492240" y="1463040"/>
            <a:ext cx="5120640" cy="4297680"/>
          </a:xfrm>
          <a:prstGeom prst="roundRect">
            <a:avLst>
              <a:gd fmla="val 127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6"/>
          <p:cNvSpPr txBox="1"/>
          <p:nvPr/>
        </p:nvSpPr>
        <p:spPr>
          <a:xfrm>
            <a:off x="6720840" y="1691640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5 × 5 input padded with one ring of zeros  →  7 ×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6"/>
          <p:cNvSpPr/>
          <p:nvPr/>
        </p:nvSpPr>
        <p:spPr>
          <a:xfrm>
            <a:off x="7452360" y="21031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6"/>
          <p:cNvSpPr/>
          <p:nvPr/>
        </p:nvSpPr>
        <p:spPr>
          <a:xfrm>
            <a:off x="7909560" y="21031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6"/>
          <p:cNvSpPr/>
          <p:nvPr/>
        </p:nvSpPr>
        <p:spPr>
          <a:xfrm>
            <a:off x="8366760" y="21031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6"/>
          <p:cNvSpPr/>
          <p:nvPr/>
        </p:nvSpPr>
        <p:spPr>
          <a:xfrm>
            <a:off x="8823960" y="21031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6"/>
          <p:cNvSpPr/>
          <p:nvPr/>
        </p:nvSpPr>
        <p:spPr>
          <a:xfrm>
            <a:off x="9281160" y="21031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6"/>
          <p:cNvSpPr/>
          <p:nvPr/>
        </p:nvSpPr>
        <p:spPr>
          <a:xfrm>
            <a:off x="9738360" y="21031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6"/>
          <p:cNvSpPr/>
          <p:nvPr/>
        </p:nvSpPr>
        <p:spPr>
          <a:xfrm>
            <a:off x="10195560" y="21031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6"/>
          <p:cNvSpPr/>
          <p:nvPr/>
        </p:nvSpPr>
        <p:spPr>
          <a:xfrm>
            <a:off x="7452360" y="25603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6"/>
          <p:cNvSpPr/>
          <p:nvPr/>
        </p:nvSpPr>
        <p:spPr>
          <a:xfrm>
            <a:off x="7909560" y="25603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6"/>
          <p:cNvSpPr/>
          <p:nvPr/>
        </p:nvSpPr>
        <p:spPr>
          <a:xfrm>
            <a:off x="8366760" y="25603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6"/>
          <p:cNvSpPr/>
          <p:nvPr/>
        </p:nvSpPr>
        <p:spPr>
          <a:xfrm>
            <a:off x="8823960" y="25603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6"/>
          <p:cNvSpPr/>
          <p:nvPr/>
        </p:nvSpPr>
        <p:spPr>
          <a:xfrm>
            <a:off x="9281160" y="25603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6"/>
          <p:cNvSpPr/>
          <p:nvPr/>
        </p:nvSpPr>
        <p:spPr>
          <a:xfrm>
            <a:off x="9738360" y="25603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6"/>
          <p:cNvSpPr/>
          <p:nvPr/>
        </p:nvSpPr>
        <p:spPr>
          <a:xfrm>
            <a:off x="10195560" y="25603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16"/>
          <p:cNvSpPr/>
          <p:nvPr/>
        </p:nvSpPr>
        <p:spPr>
          <a:xfrm>
            <a:off x="7452360" y="30175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6"/>
          <p:cNvSpPr/>
          <p:nvPr/>
        </p:nvSpPr>
        <p:spPr>
          <a:xfrm>
            <a:off x="7909560" y="30175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16"/>
          <p:cNvSpPr/>
          <p:nvPr/>
        </p:nvSpPr>
        <p:spPr>
          <a:xfrm>
            <a:off x="8366760" y="30175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6"/>
          <p:cNvSpPr/>
          <p:nvPr/>
        </p:nvSpPr>
        <p:spPr>
          <a:xfrm>
            <a:off x="8823960" y="30175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16"/>
          <p:cNvSpPr/>
          <p:nvPr/>
        </p:nvSpPr>
        <p:spPr>
          <a:xfrm>
            <a:off x="9281160" y="30175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16"/>
          <p:cNvSpPr/>
          <p:nvPr/>
        </p:nvSpPr>
        <p:spPr>
          <a:xfrm>
            <a:off x="9738360" y="30175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16"/>
          <p:cNvSpPr/>
          <p:nvPr/>
        </p:nvSpPr>
        <p:spPr>
          <a:xfrm>
            <a:off x="10195560" y="30175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16"/>
          <p:cNvSpPr/>
          <p:nvPr/>
        </p:nvSpPr>
        <p:spPr>
          <a:xfrm>
            <a:off x="7452360" y="34747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16"/>
          <p:cNvSpPr/>
          <p:nvPr/>
        </p:nvSpPr>
        <p:spPr>
          <a:xfrm>
            <a:off x="7909560" y="34747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6"/>
          <p:cNvSpPr/>
          <p:nvPr/>
        </p:nvSpPr>
        <p:spPr>
          <a:xfrm>
            <a:off x="8366760" y="34747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16"/>
          <p:cNvSpPr/>
          <p:nvPr/>
        </p:nvSpPr>
        <p:spPr>
          <a:xfrm>
            <a:off x="8823960" y="34747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6"/>
          <p:cNvSpPr/>
          <p:nvPr/>
        </p:nvSpPr>
        <p:spPr>
          <a:xfrm>
            <a:off x="9281160" y="34747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6"/>
          <p:cNvSpPr/>
          <p:nvPr/>
        </p:nvSpPr>
        <p:spPr>
          <a:xfrm>
            <a:off x="9738360" y="34747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16"/>
          <p:cNvSpPr/>
          <p:nvPr/>
        </p:nvSpPr>
        <p:spPr>
          <a:xfrm>
            <a:off x="10195560" y="34747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16"/>
          <p:cNvSpPr/>
          <p:nvPr/>
        </p:nvSpPr>
        <p:spPr>
          <a:xfrm>
            <a:off x="7452360" y="39319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6"/>
          <p:cNvSpPr/>
          <p:nvPr/>
        </p:nvSpPr>
        <p:spPr>
          <a:xfrm>
            <a:off x="7909560" y="39319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16"/>
          <p:cNvSpPr/>
          <p:nvPr/>
        </p:nvSpPr>
        <p:spPr>
          <a:xfrm>
            <a:off x="8366760" y="39319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6"/>
          <p:cNvSpPr/>
          <p:nvPr/>
        </p:nvSpPr>
        <p:spPr>
          <a:xfrm>
            <a:off x="8823960" y="39319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16"/>
          <p:cNvSpPr/>
          <p:nvPr/>
        </p:nvSpPr>
        <p:spPr>
          <a:xfrm>
            <a:off x="9281160" y="39319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16"/>
          <p:cNvSpPr/>
          <p:nvPr/>
        </p:nvSpPr>
        <p:spPr>
          <a:xfrm>
            <a:off x="9738360" y="39319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16"/>
          <p:cNvSpPr/>
          <p:nvPr/>
        </p:nvSpPr>
        <p:spPr>
          <a:xfrm>
            <a:off x="10195560" y="39319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16"/>
          <p:cNvSpPr/>
          <p:nvPr/>
        </p:nvSpPr>
        <p:spPr>
          <a:xfrm>
            <a:off x="7452360" y="43891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16"/>
          <p:cNvSpPr/>
          <p:nvPr/>
        </p:nvSpPr>
        <p:spPr>
          <a:xfrm>
            <a:off x="7909560" y="43891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16"/>
          <p:cNvSpPr/>
          <p:nvPr/>
        </p:nvSpPr>
        <p:spPr>
          <a:xfrm>
            <a:off x="8366760" y="43891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16"/>
          <p:cNvSpPr/>
          <p:nvPr/>
        </p:nvSpPr>
        <p:spPr>
          <a:xfrm>
            <a:off x="8823960" y="43891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16"/>
          <p:cNvSpPr/>
          <p:nvPr/>
        </p:nvSpPr>
        <p:spPr>
          <a:xfrm>
            <a:off x="9281160" y="43891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16"/>
          <p:cNvSpPr/>
          <p:nvPr/>
        </p:nvSpPr>
        <p:spPr>
          <a:xfrm>
            <a:off x="9738360" y="438912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16"/>
          <p:cNvSpPr/>
          <p:nvPr/>
        </p:nvSpPr>
        <p:spPr>
          <a:xfrm>
            <a:off x="10195560" y="43891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16"/>
          <p:cNvSpPr/>
          <p:nvPr/>
        </p:nvSpPr>
        <p:spPr>
          <a:xfrm>
            <a:off x="7452360" y="48463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16"/>
          <p:cNvSpPr/>
          <p:nvPr/>
        </p:nvSpPr>
        <p:spPr>
          <a:xfrm>
            <a:off x="7909560" y="48463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16"/>
          <p:cNvSpPr/>
          <p:nvPr/>
        </p:nvSpPr>
        <p:spPr>
          <a:xfrm>
            <a:off x="8366760" y="48463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6"/>
          <p:cNvSpPr/>
          <p:nvPr/>
        </p:nvSpPr>
        <p:spPr>
          <a:xfrm>
            <a:off x="8823960" y="48463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6"/>
          <p:cNvSpPr/>
          <p:nvPr/>
        </p:nvSpPr>
        <p:spPr>
          <a:xfrm>
            <a:off x="9281160" y="48463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6"/>
          <p:cNvSpPr/>
          <p:nvPr/>
        </p:nvSpPr>
        <p:spPr>
          <a:xfrm>
            <a:off x="9738360" y="48463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16"/>
          <p:cNvSpPr/>
          <p:nvPr/>
        </p:nvSpPr>
        <p:spPr>
          <a:xfrm>
            <a:off x="10195560" y="4846320"/>
            <a:ext cx="457200" cy="457200"/>
          </a:xfrm>
          <a:prstGeom prst="rect">
            <a:avLst/>
          </a:prstGeom>
          <a:solidFill>
            <a:srgbClr val="EDEAF6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16"/>
          <p:cNvSpPr/>
          <p:nvPr/>
        </p:nvSpPr>
        <p:spPr>
          <a:xfrm>
            <a:off x="7452360" y="2103120"/>
            <a:ext cx="1371600" cy="1371600"/>
          </a:xfrm>
          <a:prstGeom prst="rect">
            <a:avLst/>
          </a:prstGeom>
          <a:noFill/>
          <a:ln cap="flat" cmpd="sng" w="254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16"/>
          <p:cNvSpPr txBox="1"/>
          <p:nvPr/>
        </p:nvSpPr>
        <p:spPr>
          <a:xfrm>
            <a:off x="6720840" y="5303530"/>
            <a:ext cx="466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The 3 × 3 kernel can now start centred on the true corner pixel, so the output stays 5 × 5.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7"/>
          <p:cNvSpPr txBox="1"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DESIGN CHOICES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7"/>
          <p:cNvSpPr txBox="1"/>
          <p:nvPr/>
        </p:nvSpPr>
        <p:spPr>
          <a:xfrm>
            <a:off x="548640" y="59436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The four hyper-parameters of a conv layer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17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17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17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17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17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17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7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17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7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17"/>
          <p:cNvSpPr/>
          <p:nvPr/>
        </p:nvSpPr>
        <p:spPr>
          <a:xfrm>
            <a:off x="548640" y="1554480"/>
            <a:ext cx="5349240" cy="187452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17"/>
          <p:cNvSpPr/>
          <p:nvPr/>
        </p:nvSpPr>
        <p:spPr>
          <a:xfrm>
            <a:off x="822960" y="1828800"/>
            <a:ext cx="822960" cy="566928"/>
          </a:xfrm>
          <a:prstGeom prst="roundRect">
            <a:avLst>
              <a:gd fmla="val 12903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17"/>
          <p:cNvSpPr txBox="1"/>
          <p:nvPr/>
        </p:nvSpPr>
        <p:spPr>
          <a:xfrm>
            <a:off x="822960" y="1828800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17"/>
          <p:cNvSpPr txBox="1"/>
          <p:nvPr/>
        </p:nvSpPr>
        <p:spPr>
          <a:xfrm>
            <a:off x="1828800" y="193852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Kernel width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17"/>
          <p:cNvSpPr txBox="1"/>
          <p:nvPr/>
        </p:nvSpPr>
        <p:spPr>
          <a:xfrm>
            <a:off x="822960" y="2578608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How big a patch each neuron sees. Wider kernels add parameters and shrink the output, but capture more context.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17"/>
          <p:cNvSpPr/>
          <p:nvPr/>
        </p:nvSpPr>
        <p:spPr>
          <a:xfrm>
            <a:off x="6172200" y="1554480"/>
            <a:ext cx="5349240" cy="187452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17"/>
          <p:cNvSpPr/>
          <p:nvPr/>
        </p:nvSpPr>
        <p:spPr>
          <a:xfrm>
            <a:off x="6446520" y="1828800"/>
            <a:ext cx="822960" cy="566928"/>
          </a:xfrm>
          <a:prstGeom prst="roundRect">
            <a:avLst>
              <a:gd fmla="val 12903" name="adj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7"/>
          <p:cNvSpPr txBox="1"/>
          <p:nvPr/>
        </p:nvSpPr>
        <p:spPr>
          <a:xfrm>
            <a:off x="6446520" y="1828800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K_out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17"/>
          <p:cNvSpPr txBox="1"/>
          <p:nvPr/>
        </p:nvSpPr>
        <p:spPr>
          <a:xfrm>
            <a:off x="7452360" y="193852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Kernel depth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17"/>
          <p:cNvSpPr txBox="1"/>
          <p:nvPr/>
        </p:nvSpPr>
        <p:spPr>
          <a:xfrm>
            <a:off x="6446520" y="2578608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How many filters we use — this becomes the depth of the output volume and controls representational capacity.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17"/>
          <p:cNvSpPr/>
          <p:nvPr/>
        </p:nvSpPr>
        <p:spPr>
          <a:xfrm>
            <a:off x="548640" y="3749040"/>
            <a:ext cx="5349240" cy="187452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17"/>
          <p:cNvSpPr/>
          <p:nvPr/>
        </p:nvSpPr>
        <p:spPr>
          <a:xfrm>
            <a:off x="822960" y="4023360"/>
            <a:ext cx="822960" cy="566928"/>
          </a:xfrm>
          <a:prstGeom prst="roundRect">
            <a:avLst>
              <a:gd fmla="val 12903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17"/>
          <p:cNvSpPr txBox="1"/>
          <p:nvPr/>
        </p:nvSpPr>
        <p:spPr>
          <a:xfrm>
            <a:off x="822960" y="4023360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17"/>
          <p:cNvSpPr txBox="1"/>
          <p:nvPr/>
        </p:nvSpPr>
        <p:spPr>
          <a:xfrm>
            <a:off x="1828800" y="413308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Stride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7"/>
          <p:cNvSpPr txBox="1"/>
          <p:nvPr/>
        </p:nvSpPr>
        <p:spPr>
          <a:xfrm>
            <a:off x="822960" y="4773168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How far the filter moves between positions, typically 1 or 2. Larger strides downsample the representation.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17"/>
          <p:cNvSpPr/>
          <p:nvPr/>
        </p:nvSpPr>
        <p:spPr>
          <a:xfrm>
            <a:off x="6172200" y="3749040"/>
            <a:ext cx="5349240" cy="187452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17"/>
          <p:cNvSpPr/>
          <p:nvPr/>
        </p:nvSpPr>
        <p:spPr>
          <a:xfrm>
            <a:off x="6446520" y="4023360"/>
            <a:ext cx="822960" cy="566928"/>
          </a:xfrm>
          <a:prstGeom prst="roundRect">
            <a:avLst>
              <a:gd fmla="val 12903" name="adj"/>
            </a:avLst>
          </a:prstGeom>
          <a:solidFill>
            <a:srgbClr val="6E4BB8"/>
          </a:solidFill>
          <a:ln cap="flat" cmpd="sng" w="12700">
            <a:solidFill>
              <a:srgbClr val="6E4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7"/>
          <p:cNvSpPr txBox="1"/>
          <p:nvPr/>
        </p:nvSpPr>
        <p:spPr>
          <a:xfrm>
            <a:off x="6446520" y="4023360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7"/>
          <p:cNvSpPr txBox="1"/>
          <p:nvPr/>
        </p:nvSpPr>
        <p:spPr>
          <a:xfrm>
            <a:off x="7452360" y="413308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Zero padding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7"/>
          <p:cNvSpPr txBox="1"/>
          <p:nvPr/>
        </p:nvSpPr>
        <p:spPr>
          <a:xfrm>
            <a:off x="6446520" y="4773168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How many rings of zeros surround the input. Keeps the representation large, at extra time and memory cost.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8"/>
          <p:cNvSpPr txBox="1"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POOLING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8"/>
          <p:cNvSpPr txBox="1"/>
          <p:nvPr/>
        </p:nvSpPr>
        <p:spPr>
          <a:xfrm>
            <a:off x="548640" y="59436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Pooling: the third stage of a conv layer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18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8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8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8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8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8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8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8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18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18"/>
          <p:cNvSpPr txBox="1"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 typical layer of a convolutional network runs in three stages: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18"/>
          <p:cNvSpPr/>
          <p:nvPr/>
        </p:nvSpPr>
        <p:spPr>
          <a:xfrm>
            <a:off x="548640" y="1965960"/>
            <a:ext cx="3520440" cy="196596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18"/>
          <p:cNvSpPr/>
          <p:nvPr/>
        </p:nvSpPr>
        <p:spPr>
          <a:xfrm>
            <a:off x="822960" y="2212848"/>
            <a:ext cx="457200" cy="457200"/>
          </a:xfrm>
          <a:prstGeom prst="ellipse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18"/>
          <p:cNvSpPr txBox="1"/>
          <p:nvPr/>
        </p:nvSpPr>
        <p:spPr>
          <a:xfrm>
            <a:off x="822960" y="2212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8"/>
          <p:cNvSpPr txBox="1"/>
          <p:nvPr/>
        </p:nvSpPr>
        <p:spPr>
          <a:xfrm>
            <a:off x="1417320" y="233172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Convolution stage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8"/>
          <p:cNvSpPr txBox="1"/>
          <p:nvPr/>
        </p:nvSpPr>
        <p:spPr>
          <a:xfrm>
            <a:off x="822960" y="288036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Several convolutions run in parallel to produce a set of linear activations (an affine transform).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18"/>
          <p:cNvSpPr/>
          <p:nvPr/>
        </p:nvSpPr>
        <p:spPr>
          <a:xfrm>
            <a:off x="4114800" y="2834640"/>
            <a:ext cx="201168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18"/>
          <p:cNvSpPr/>
          <p:nvPr/>
        </p:nvSpPr>
        <p:spPr>
          <a:xfrm>
            <a:off x="4343400" y="1965960"/>
            <a:ext cx="3520440" cy="196596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18"/>
          <p:cNvSpPr/>
          <p:nvPr/>
        </p:nvSpPr>
        <p:spPr>
          <a:xfrm>
            <a:off x="4617720" y="2212848"/>
            <a:ext cx="457200" cy="457200"/>
          </a:xfrm>
          <a:prstGeom prst="ellipse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18"/>
          <p:cNvSpPr txBox="1"/>
          <p:nvPr/>
        </p:nvSpPr>
        <p:spPr>
          <a:xfrm>
            <a:off x="4617720" y="2212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18"/>
          <p:cNvSpPr txBox="1"/>
          <p:nvPr/>
        </p:nvSpPr>
        <p:spPr>
          <a:xfrm>
            <a:off x="5212080" y="233172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Detector stage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18"/>
          <p:cNvSpPr txBox="1"/>
          <p:nvPr/>
        </p:nvSpPr>
        <p:spPr>
          <a:xfrm>
            <a:off x="4617720" y="288036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Each linear activation is passed through a non-linear activation function, such as ReLU.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8"/>
          <p:cNvSpPr/>
          <p:nvPr/>
        </p:nvSpPr>
        <p:spPr>
          <a:xfrm>
            <a:off x="7909560" y="2834640"/>
            <a:ext cx="201168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18"/>
          <p:cNvSpPr/>
          <p:nvPr/>
        </p:nvSpPr>
        <p:spPr>
          <a:xfrm>
            <a:off x="8138160" y="1965960"/>
            <a:ext cx="3520440" cy="1965960"/>
          </a:xfrm>
          <a:prstGeom prst="roundRect">
            <a:avLst>
              <a:gd fmla="val 2791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18"/>
          <p:cNvSpPr/>
          <p:nvPr/>
        </p:nvSpPr>
        <p:spPr>
          <a:xfrm>
            <a:off x="8412480" y="2212848"/>
            <a:ext cx="457200" cy="457200"/>
          </a:xfrm>
          <a:prstGeom prst="ellipse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18"/>
          <p:cNvSpPr txBox="1"/>
          <p:nvPr/>
        </p:nvSpPr>
        <p:spPr>
          <a:xfrm>
            <a:off x="8412480" y="2212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8"/>
          <p:cNvSpPr txBox="1"/>
          <p:nvPr/>
        </p:nvSpPr>
        <p:spPr>
          <a:xfrm>
            <a:off x="9006840" y="233172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Pooling stage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18"/>
          <p:cNvSpPr txBox="1"/>
          <p:nvPr/>
        </p:nvSpPr>
        <p:spPr>
          <a:xfrm>
            <a:off x="8412480" y="288036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 pooling function modifies the output further, replacing it with a summary of nearby values.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18"/>
          <p:cNvSpPr/>
          <p:nvPr/>
        </p:nvSpPr>
        <p:spPr>
          <a:xfrm>
            <a:off x="548640" y="4206240"/>
            <a:ext cx="5486400" cy="1554480"/>
          </a:xfrm>
          <a:prstGeom prst="roundRect">
            <a:avLst>
              <a:gd fmla="val 3529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18"/>
          <p:cNvSpPr txBox="1"/>
          <p:nvPr/>
        </p:nvSpPr>
        <p:spPr>
          <a:xfrm>
            <a:off x="822960" y="443484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What pooling does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8"/>
          <p:cNvSpPr txBox="1"/>
          <p:nvPr/>
        </p:nvSpPr>
        <p:spPr>
          <a:xfrm>
            <a:off x="822960" y="48006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pooling function replaces the output of the net at a certain location with a summary statistic of the nearby outputs.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18"/>
          <p:cNvSpPr txBox="1"/>
          <p:nvPr/>
        </p:nvSpPr>
        <p:spPr>
          <a:xfrm>
            <a:off x="6400800" y="4206240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Common pooling functions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18"/>
          <p:cNvSpPr txBox="1"/>
          <p:nvPr/>
        </p:nvSpPr>
        <p:spPr>
          <a:xfrm>
            <a:off x="6400800" y="461772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Max pooling — </a:t>
            </a:r>
            <a:r>
              <a:rPr b="0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maximum output within a rectangular neighbourhood  (Zhou &amp; Chellappa, 1988)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18"/>
          <p:cNvSpPr txBox="1"/>
          <p:nvPr/>
        </p:nvSpPr>
        <p:spPr>
          <a:xfrm>
            <a:off x="6400800" y="492861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Average pooling — </a:t>
            </a:r>
            <a:r>
              <a:rPr b="0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mean of a rectangular neighbourhood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18"/>
          <p:cNvSpPr txBox="1"/>
          <p:nvPr/>
        </p:nvSpPr>
        <p:spPr>
          <a:xfrm>
            <a:off x="6400800" y="523951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L2-norm pooling — </a:t>
            </a:r>
            <a:r>
              <a:rPr b="0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L2 norm of a rectangular neighbourhood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18"/>
          <p:cNvSpPr txBox="1"/>
          <p:nvPr/>
        </p:nvSpPr>
        <p:spPr>
          <a:xfrm>
            <a:off x="6400800" y="5550408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Weighted average — </a:t>
            </a:r>
            <a:r>
              <a:rPr b="0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weighted by distance from the central pixel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9"/>
          <p:cNvSpPr txBox="1"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POOLING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19"/>
          <p:cNvSpPr txBox="1"/>
          <p:nvPr/>
        </p:nvSpPr>
        <p:spPr>
          <a:xfrm>
            <a:off x="548640" y="59436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Max pooling in action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19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19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19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19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19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19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19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19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19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19"/>
          <p:cNvSpPr txBox="1"/>
          <p:nvPr/>
        </p:nvSpPr>
        <p:spPr>
          <a:xfrm>
            <a:off x="914400" y="173736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Single depth slice  (4 × 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19"/>
          <p:cNvSpPr/>
          <p:nvPr/>
        </p:nvSpPr>
        <p:spPr>
          <a:xfrm>
            <a:off x="914400" y="2057400"/>
            <a:ext cx="566928" cy="566928"/>
          </a:xfrm>
          <a:prstGeom prst="rect">
            <a:avLst/>
          </a:prstGeom>
          <a:solidFill>
            <a:srgbClr val="FFE3E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19"/>
          <p:cNvSpPr/>
          <p:nvPr/>
        </p:nvSpPr>
        <p:spPr>
          <a:xfrm>
            <a:off x="1481328" y="2057400"/>
            <a:ext cx="566928" cy="566928"/>
          </a:xfrm>
          <a:prstGeom prst="rect">
            <a:avLst/>
          </a:prstGeom>
          <a:solidFill>
            <a:srgbClr val="FFE3E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19"/>
          <p:cNvSpPr/>
          <p:nvPr/>
        </p:nvSpPr>
        <p:spPr>
          <a:xfrm>
            <a:off x="2048256" y="2057400"/>
            <a:ext cx="566928" cy="566928"/>
          </a:xfrm>
          <a:prstGeom prst="rect">
            <a:avLst/>
          </a:prstGeom>
          <a:solidFill>
            <a:srgbClr val="E3F5F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19"/>
          <p:cNvSpPr/>
          <p:nvPr/>
        </p:nvSpPr>
        <p:spPr>
          <a:xfrm>
            <a:off x="2615184" y="2057400"/>
            <a:ext cx="566928" cy="566928"/>
          </a:xfrm>
          <a:prstGeom prst="rect">
            <a:avLst/>
          </a:prstGeom>
          <a:solidFill>
            <a:srgbClr val="E3F5F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19"/>
          <p:cNvSpPr/>
          <p:nvPr/>
        </p:nvSpPr>
        <p:spPr>
          <a:xfrm>
            <a:off x="914400" y="2624328"/>
            <a:ext cx="566928" cy="566928"/>
          </a:xfrm>
          <a:prstGeom prst="rect">
            <a:avLst/>
          </a:prstGeom>
          <a:solidFill>
            <a:srgbClr val="FFE3E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19"/>
          <p:cNvSpPr/>
          <p:nvPr/>
        </p:nvSpPr>
        <p:spPr>
          <a:xfrm>
            <a:off x="1481328" y="2624328"/>
            <a:ext cx="566928" cy="566928"/>
          </a:xfrm>
          <a:prstGeom prst="rect">
            <a:avLst/>
          </a:prstGeom>
          <a:solidFill>
            <a:srgbClr val="FFE3E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19"/>
          <p:cNvSpPr/>
          <p:nvPr/>
        </p:nvSpPr>
        <p:spPr>
          <a:xfrm>
            <a:off x="2048256" y="2624328"/>
            <a:ext cx="566928" cy="566928"/>
          </a:xfrm>
          <a:prstGeom prst="rect">
            <a:avLst/>
          </a:prstGeom>
          <a:solidFill>
            <a:srgbClr val="E3F5F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9"/>
          <p:cNvSpPr/>
          <p:nvPr/>
        </p:nvSpPr>
        <p:spPr>
          <a:xfrm>
            <a:off x="2615184" y="2624328"/>
            <a:ext cx="566928" cy="566928"/>
          </a:xfrm>
          <a:prstGeom prst="rect">
            <a:avLst/>
          </a:prstGeom>
          <a:solidFill>
            <a:srgbClr val="E3F5F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19"/>
          <p:cNvSpPr/>
          <p:nvPr/>
        </p:nvSpPr>
        <p:spPr>
          <a:xfrm>
            <a:off x="914400" y="3191256"/>
            <a:ext cx="566928" cy="566928"/>
          </a:xfrm>
          <a:prstGeom prst="rect">
            <a:avLst/>
          </a:prstGeom>
          <a:solidFill>
            <a:srgbClr val="FFF3D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19"/>
          <p:cNvSpPr/>
          <p:nvPr/>
        </p:nvSpPr>
        <p:spPr>
          <a:xfrm>
            <a:off x="1481328" y="3191256"/>
            <a:ext cx="566928" cy="566928"/>
          </a:xfrm>
          <a:prstGeom prst="rect">
            <a:avLst/>
          </a:prstGeom>
          <a:solidFill>
            <a:srgbClr val="FFF3D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19"/>
          <p:cNvSpPr/>
          <p:nvPr/>
        </p:nvSpPr>
        <p:spPr>
          <a:xfrm>
            <a:off x="2048256" y="3191256"/>
            <a:ext cx="566928" cy="566928"/>
          </a:xfrm>
          <a:prstGeom prst="rect">
            <a:avLst/>
          </a:prstGeom>
          <a:solidFill>
            <a:srgbClr val="EDEAF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19"/>
          <p:cNvSpPr/>
          <p:nvPr/>
        </p:nvSpPr>
        <p:spPr>
          <a:xfrm>
            <a:off x="2615184" y="3191256"/>
            <a:ext cx="566928" cy="566928"/>
          </a:xfrm>
          <a:prstGeom prst="rect">
            <a:avLst/>
          </a:prstGeom>
          <a:solidFill>
            <a:srgbClr val="EDEAF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19"/>
          <p:cNvSpPr/>
          <p:nvPr/>
        </p:nvSpPr>
        <p:spPr>
          <a:xfrm>
            <a:off x="914400" y="3758184"/>
            <a:ext cx="566928" cy="566928"/>
          </a:xfrm>
          <a:prstGeom prst="rect">
            <a:avLst/>
          </a:prstGeom>
          <a:solidFill>
            <a:srgbClr val="FFF3D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19"/>
          <p:cNvSpPr/>
          <p:nvPr/>
        </p:nvSpPr>
        <p:spPr>
          <a:xfrm>
            <a:off x="1481328" y="3758184"/>
            <a:ext cx="566928" cy="566928"/>
          </a:xfrm>
          <a:prstGeom prst="rect">
            <a:avLst/>
          </a:prstGeom>
          <a:solidFill>
            <a:srgbClr val="FFF3D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19"/>
          <p:cNvSpPr/>
          <p:nvPr/>
        </p:nvSpPr>
        <p:spPr>
          <a:xfrm>
            <a:off x="2048256" y="3758184"/>
            <a:ext cx="566928" cy="566928"/>
          </a:xfrm>
          <a:prstGeom prst="rect">
            <a:avLst/>
          </a:prstGeom>
          <a:solidFill>
            <a:srgbClr val="EDEAF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19"/>
          <p:cNvSpPr/>
          <p:nvPr/>
        </p:nvSpPr>
        <p:spPr>
          <a:xfrm>
            <a:off x="2615184" y="3758184"/>
            <a:ext cx="566928" cy="566928"/>
          </a:xfrm>
          <a:prstGeom prst="rect">
            <a:avLst/>
          </a:prstGeom>
          <a:solidFill>
            <a:srgbClr val="EDEAF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19"/>
          <p:cNvSpPr/>
          <p:nvPr/>
        </p:nvSpPr>
        <p:spPr>
          <a:xfrm>
            <a:off x="3520440" y="3063240"/>
            <a:ext cx="548640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9"/>
          <p:cNvSpPr txBox="1"/>
          <p:nvPr/>
        </p:nvSpPr>
        <p:spPr>
          <a:xfrm>
            <a:off x="3291840" y="345643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max pool, 2 × 2 filter,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stride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19"/>
          <p:cNvSpPr txBox="1"/>
          <p:nvPr/>
        </p:nvSpPr>
        <p:spPr>
          <a:xfrm>
            <a:off x="4846320" y="173736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Output  (2 × 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19"/>
          <p:cNvSpPr/>
          <p:nvPr/>
        </p:nvSpPr>
        <p:spPr>
          <a:xfrm>
            <a:off x="4846320" y="2057400"/>
            <a:ext cx="566928" cy="566928"/>
          </a:xfrm>
          <a:prstGeom prst="rect">
            <a:avLst/>
          </a:prstGeom>
          <a:solidFill>
            <a:srgbClr val="FFE3E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19"/>
          <p:cNvSpPr/>
          <p:nvPr/>
        </p:nvSpPr>
        <p:spPr>
          <a:xfrm>
            <a:off x="5413248" y="2057400"/>
            <a:ext cx="566928" cy="566928"/>
          </a:xfrm>
          <a:prstGeom prst="rect">
            <a:avLst/>
          </a:prstGeom>
          <a:solidFill>
            <a:srgbClr val="E3F5F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19"/>
          <p:cNvSpPr/>
          <p:nvPr/>
        </p:nvSpPr>
        <p:spPr>
          <a:xfrm>
            <a:off x="4846320" y="2624328"/>
            <a:ext cx="566928" cy="566928"/>
          </a:xfrm>
          <a:prstGeom prst="rect">
            <a:avLst/>
          </a:prstGeom>
          <a:solidFill>
            <a:srgbClr val="FFF3D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19"/>
          <p:cNvSpPr/>
          <p:nvPr/>
        </p:nvSpPr>
        <p:spPr>
          <a:xfrm>
            <a:off x="5413248" y="2624328"/>
            <a:ext cx="566928" cy="566928"/>
          </a:xfrm>
          <a:prstGeom prst="rect">
            <a:avLst/>
          </a:prstGeom>
          <a:solidFill>
            <a:srgbClr val="EDEAF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9"/>
          <p:cNvSpPr/>
          <p:nvPr/>
        </p:nvSpPr>
        <p:spPr>
          <a:xfrm>
            <a:off x="6766560" y="1554480"/>
            <a:ext cx="4846320" cy="2148840"/>
          </a:xfrm>
          <a:prstGeom prst="roundRect">
            <a:avLst>
              <a:gd fmla="val 2553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19"/>
          <p:cNvSpPr txBox="1"/>
          <p:nvPr/>
        </p:nvSpPr>
        <p:spPr>
          <a:xfrm>
            <a:off x="7040880" y="1783080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Pooling uses the same size formula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19"/>
          <p:cNvSpPr txBox="1"/>
          <p:nvPr/>
        </p:nvSpPr>
        <p:spPr>
          <a:xfrm>
            <a:off x="7040880" y="219456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5E5B"/>
                </a:solidFill>
                <a:latin typeface="Cambria"/>
                <a:ea typeface="Cambria"/>
                <a:cs typeface="Cambria"/>
                <a:sym typeface="Cambria"/>
              </a:rPr>
              <a:t>( 4 − 2 ) / 2 + 1  =  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19"/>
          <p:cNvSpPr txBox="1"/>
          <p:nvPr/>
        </p:nvSpPr>
        <p:spPr>
          <a:xfrm>
            <a:off x="7040880" y="2834640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BEE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6BEE6"/>
                </a:solidFill>
                <a:latin typeface="Calibri"/>
                <a:ea typeface="Calibri"/>
                <a:cs typeface="Calibri"/>
                <a:sym typeface="Calibri"/>
              </a:rPr>
              <a:t>Pooling has no learnable parameters at all — it is a fixed function, so it adds zero weights to the model.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9"/>
          <p:cNvSpPr txBox="1"/>
          <p:nvPr/>
        </p:nvSpPr>
        <p:spPr>
          <a:xfrm>
            <a:off x="548640" y="4553712"/>
            <a:ext cx="11064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 2 × 2 max pool with stride 2 discards 75 % of the activations and keeps only the strongest response in each window.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Pooling is applied independently to every depth slice, so the number of channels never changes.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Modern architectures increasingly replace pooling with strided convolutions — ResNet uses stride-2 convs, and GoogLeNet ends with global average pooling.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f883da9c22_0_240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POOLING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g3f883da9c22_0_240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Why pooling? Invariance to translation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g3f883da9c22_0_240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g3f883da9c22_0_240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g3f883da9c22_0_240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g3f883da9c22_0_240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g3f883da9c22_0_240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g3f883da9c22_0_240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g3f883da9c22_0_240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g3f883da9c22_0_240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g3f883da9c22_0_240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g3f883da9c22_0_240"/>
          <p:cNvSpPr txBox="1"/>
          <p:nvPr/>
        </p:nvSpPr>
        <p:spPr>
          <a:xfrm>
            <a:off x="548640" y="1554480"/>
            <a:ext cx="40233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Pooling helps the representation become approximately invariant to small translations of the input: if we translate the input by a small amount, the values of most of the pooled outputs do not change.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Invariance to local translation is a very useful property if we care more about whether some feature is present than exactly where it is.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When determining whether an image contains a face, we need not know the location of the eyes with pixel-perfect accuracy — only that there is an eye on the left side and an eye on the right side.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g3f883da9c22_0_240"/>
          <p:cNvSpPr/>
          <p:nvPr/>
        </p:nvSpPr>
        <p:spPr>
          <a:xfrm>
            <a:off x="548640" y="4846320"/>
            <a:ext cx="4023300" cy="1051500"/>
          </a:xfrm>
          <a:prstGeom prst="roundRect">
            <a:avLst>
              <a:gd fmla="val 5217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g3f883da9c22_0_240"/>
          <p:cNvSpPr txBox="1"/>
          <p:nvPr/>
        </p:nvSpPr>
        <p:spPr>
          <a:xfrm>
            <a:off x="804672" y="5047488"/>
            <a:ext cx="3566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value in the detector row has changed, but only half of the values in the pooling row have changed.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g3f883da9c22_0_240"/>
          <p:cNvSpPr/>
          <p:nvPr/>
        </p:nvSpPr>
        <p:spPr>
          <a:xfrm>
            <a:off x="4846320" y="1298448"/>
            <a:ext cx="6766500" cy="4755000"/>
          </a:xfrm>
          <a:prstGeom prst="roundRect">
            <a:avLst>
              <a:gd fmla="val 1154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g3f883da9c22_0_240"/>
          <p:cNvSpPr txBox="1"/>
          <p:nvPr/>
        </p:nvSpPr>
        <p:spPr>
          <a:xfrm>
            <a:off x="5029200" y="1371600"/>
            <a:ext cx="6400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Max pooling with a stride of one and a pooling width of three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g3f883da9c22_0_240"/>
          <p:cNvSpPr txBox="1"/>
          <p:nvPr/>
        </p:nvSpPr>
        <p:spPr>
          <a:xfrm>
            <a:off x="4937760" y="1700784"/>
            <a:ext cx="6583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POOLING STAGE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g3f883da9c22_0_240"/>
          <p:cNvSpPr txBox="1"/>
          <p:nvPr/>
        </p:nvSpPr>
        <p:spPr>
          <a:xfrm>
            <a:off x="4937760" y="3438144"/>
            <a:ext cx="6583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DETECTOR STAGE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g3f883da9c22_0_240"/>
          <p:cNvSpPr txBox="1"/>
          <p:nvPr/>
        </p:nvSpPr>
        <p:spPr>
          <a:xfrm>
            <a:off x="5349240" y="2999232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g3f883da9c22_0_240"/>
          <p:cNvSpPr txBox="1"/>
          <p:nvPr/>
        </p:nvSpPr>
        <p:spPr>
          <a:xfrm>
            <a:off x="11018520" y="2999232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g3f883da9c22_0_240"/>
          <p:cNvSpPr txBox="1"/>
          <p:nvPr/>
        </p:nvSpPr>
        <p:spPr>
          <a:xfrm>
            <a:off x="5349240" y="2084832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g3f883da9c22_0_240"/>
          <p:cNvSpPr txBox="1"/>
          <p:nvPr/>
        </p:nvSpPr>
        <p:spPr>
          <a:xfrm>
            <a:off x="11018520" y="2084832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g3f883da9c22_0_240"/>
          <p:cNvSpPr/>
          <p:nvPr/>
        </p:nvSpPr>
        <p:spPr>
          <a:xfrm rot="-3347269">
            <a:off x="5798811" y="2728662"/>
            <a:ext cx="483941" cy="10151"/>
          </a:xfrm>
          <a:prstGeom prst="rect">
            <a:avLst/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g3f883da9c22_0_240"/>
          <p:cNvSpPr/>
          <p:nvPr/>
        </p:nvSpPr>
        <p:spPr>
          <a:xfrm rot="2049582">
            <a:off x="6161954" y="2433261"/>
            <a:ext cx="91362" cy="109670"/>
          </a:xfrm>
          <a:prstGeom prst="triangle">
            <a:avLst>
              <a:gd fmla="val 50000" name="adj"/>
            </a:avLst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g3f883da9c22_0_240"/>
          <p:cNvSpPr/>
          <p:nvPr/>
        </p:nvSpPr>
        <p:spPr>
          <a:xfrm rot="-5400000">
            <a:off x="6236311" y="2736804"/>
            <a:ext cx="292500" cy="129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g3f883da9c22_0_240"/>
          <p:cNvSpPr/>
          <p:nvPr/>
        </p:nvSpPr>
        <p:spPr>
          <a:xfrm>
            <a:off x="6336792" y="2487168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g3f883da9c22_0_240"/>
          <p:cNvSpPr/>
          <p:nvPr/>
        </p:nvSpPr>
        <p:spPr>
          <a:xfrm rot="-8608336">
            <a:off x="6586658" y="2714752"/>
            <a:ext cx="914296" cy="1266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g3f883da9c22_0_240"/>
          <p:cNvSpPr/>
          <p:nvPr/>
        </p:nvSpPr>
        <p:spPr>
          <a:xfrm rot="-3212635">
            <a:off x="6586594" y="2361321"/>
            <a:ext cx="91382" cy="109802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g3f883da9c22_0_240"/>
          <p:cNvSpPr/>
          <p:nvPr/>
        </p:nvSpPr>
        <p:spPr>
          <a:xfrm rot="-2191664">
            <a:off x="6498390" y="2714665"/>
            <a:ext cx="914296" cy="1266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g3f883da9c22_0_240"/>
          <p:cNvSpPr/>
          <p:nvPr/>
        </p:nvSpPr>
        <p:spPr>
          <a:xfrm rot="3212635">
            <a:off x="7321360" y="2361344"/>
            <a:ext cx="91382" cy="109802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g3f883da9c22_0_240"/>
          <p:cNvSpPr/>
          <p:nvPr/>
        </p:nvSpPr>
        <p:spPr>
          <a:xfrm rot="-5400000">
            <a:off x="7470751" y="2736804"/>
            <a:ext cx="292500" cy="129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g3f883da9c22_0_240"/>
          <p:cNvSpPr/>
          <p:nvPr/>
        </p:nvSpPr>
        <p:spPr>
          <a:xfrm>
            <a:off x="7571232" y="2487168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g3f883da9c22_0_240"/>
          <p:cNvSpPr/>
          <p:nvPr/>
        </p:nvSpPr>
        <p:spPr>
          <a:xfrm rot="-8608336">
            <a:off x="7821098" y="2714752"/>
            <a:ext cx="914296" cy="1266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g3f883da9c22_0_240"/>
          <p:cNvSpPr/>
          <p:nvPr/>
        </p:nvSpPr>
        <p:spPr>
          <a:xfrm rot="-3212635">
            <a:off x="7821034" y="2361321"/>
            <a:ext cx="91382" cy="109802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g3f883da9c22_0_240"/>
          <p:cNvSpPr/>
          <p:nvPr/>
        </p:nvSpPr>
        <p:spPr>
          <a:xfrm rot="-2191664">
            <a:off x="7732830" y="2714665"/>
            <a:ext cx="914296" cy="1266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g3f883da9c22_0_240"/>
          <p:cNvSpPr/>
          <p:nvPr/>
        </p:nvSpPr>
        <p:spPr>
          <a:xfrm rot="3212635">
            <a:off x="8555800" y="2361344"/>
            <a:ext cx="91382" cy="109802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g3f883da9c22_0_240"/>
          <p:cNvSpPr/>
          <p:nvPr/>
        </p:nvSpPr>
        <p:spPr>
          <a:xfrm rot="-5400000">
            <a:off x="8705191" y="2736804"/>
            <a:ext cx="292500" cy="129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g3f883da9c22_0_240"/>
          <p:cNvSpPr/>
          <p:nvPr/>
        </p:nvSpPr>
        <p:spPr>
          <a:xfrm>
            <a:off x="8805672" y="2487168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g3f883da9c22_0_240"/>
          <p:cNvSpPr/>
          <p:nvPr/>
        </p:nvSpPr>
        <p:spPr>
          <a:xfrm rot="-8608336">
            <a:off x="9055538" y="2714752"/>
            <a:ext cx="914296" cy="1266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g3f883da9c22_0_240"/>
          <p:cNvSpPr/>
          <p:nvPr/>
        </p:nvSpPr>
        <p:spPr>
          <a:xfrm rot="-3212635">
            <a:off x="9055474" y="2361321"/>
            <a:ext cx="91382" cy="109802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g3f883da9c22_0_240"/>
          <p:cNvSpPr/>
          <p:nvPr/>
        </p:nvSpPr>
        <p:spPr>
          <a:xfrm rot="-2191664">
            <a:off x="8967270" y="2714665"/>
            <a:ext cx="914296" cy="1266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g3f883da9c22_0_240"/>
          <p:cNvSpPr/>
          <p:nvPr/>
        </p:nvSpPr>
        <p:spPr>
          <a:xfrm rot="3212635">
            <a:off x="9790240" y="2361344"/>
            <a:ext cx="91382" cy="109802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g3f883da9c22_0_240"/>
          <p:cNvSpPr/>
          <p:nvPr/>
        </p:nvSpPr>
        <p:spPr>
          <a:xfrm rot="-5400000">
            <a:off x="9939631" y="2736804"/>
            <a:ext cx="292500" cy="129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g3f883da9c22_0_240"/>
          <p:cNvSpPr/>
          <p:nvPr/>
        </p:nvSpPr>
        <p:spPr>
          <a:xfrm>
            <a:off x="10040112" y="2487168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g3f883da9c22_0_240"/>
          <p:cNvSpPr/>
          <p:nvPr/>
        </p:nvSpPr>
        <p:spPr>
          <a:xfrm rot="-7452731">
            <a:off x="10185676" y="2728618"/>
            <a:ext cx="483941" cy="10151"/>
          </a:xfrm>
          <a:prstGeom prst="rect">
            <a:avLst/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g3f883da9c22_0_240"/>
          <p:cNvSpPr/>
          <p:nvPr/>
        </p:nvSpPr>
        <p:spPr>
          <a:xfrm rot="-2049582">
            <a:off x="10215013" y="2433379"/>
            <a:ext cx="91362" cy="109670"/>
          </a:xfrm>
          <a:prstGeom prst="triangle">
            <a:avLst>
              <a:gd fmla="val 50000" name="adj"/>
            </a:avLst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g3f883da9c22_0_240"/>
          <p:cNvSpPr/>
          <p:nvPr/>
        </p:nvSpPr>
        <p:spPr>
          <a:xfrm rot="-7452731">
            <a:off x="5860564" y="2728618"/>
            <a:ext cx="483941" cy="10151"/>
          </a:xfrm>
          <a:prstGeom prst="rect">
            <a:avLst/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g3f883da9c22_0_240"/>
          <p:cNvSpPr/>
          <p:nvPr/>
        </p:nvSpPr>
        <p:spPr>
          <a:xfrm rot="-2049582">
            <a:off x="5889901" y="2433379"/>
            <a:ext cx="91362" cy="109670"/>
          </a:xfrm>
          <a:prstGeom prst="triangle">
            <a:avLst>
              <a:gd fmla="val 50000" name="adj"/>
            </a:avLst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g3f883da9c22_0_240"/>
          <p:cNvSpPr/>
          <p:nvPr/>
        </p:nvSpPr>
        <p:spPr>
          <a:xfrm rot="-3347269">
            <a:off x="10123923" y="2728662"/>
            <a:ext cx="483941" cy="10151"/>
          </a:xfrm>
          <a:prstGeom prst="rect">
            <a:avLst/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g3f883da9c22_0_240"/>
          <p:cNvSpPr/>
          <p:nvPr/>
        </p:nvSpPr>
        <p:spPr>
          <a:xfrm rot="2049582">
            <a:off x="10487066" y="2433261"/>
            <a:ext cx="91362" cy="109670"/>
          </a:xfrm>
          <a:prstGeom prst="triangle">
            <a:avLst>
              <a:gd fmla="val 50000" name="adj"/>
            </a:avLst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g3f883da9c22_0_240"/>
          <p:cNvSpPr/>
          <p:nvPr/>
        </p:nvSpPr>
        <p:spPr>
          <a:xfrm>
            <a:off x="6144768" y="1993392"/>
            <a:ext cx="475500" cy="4755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g3f883da9c22_0_240"/>
          <p:cNvSpPr txBox="1"/>
          <p:nvPr/>
        </p:nvSpPr>
        <p:spPr>
          <a:xfrm>
            <a:off x="6144768" y="199339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g3f883da9c22_0_240"/>
          <p:cNvSpPr/>
          <p:nvPr/>
        </p:nvSpPr>
        <p:spPr>
          <a:xfrm>
            <a:off x="6144768" y="2907792"/>
            <a:ext cx="475500" cy="4755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g3f883da9c22_0_240"/>
          <p:cNvSpPr txBox="1"/>
          <p:nvPr/>
        </p:nvSpPr>
        <p:spPr>
          <a:xfrm>
            <a:off x="6144768" y="290779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g3f883da9c22_0_240"/>
          <p:cNvSpPr/>
          <p:nvPr/>
        </p:nvSpPr>
        <p:spPr>
          <a:xfrm>
            <a:off x="7379208" y="1993392"/>
            <a:ext cx="475500" cy="4755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g3f883da9c22_0_240"/>
          <p:cNvSpPr txBox="1"/>
          <p:nvPr/>
        </p:nvSpPr>
        <p:spPr>
          <a:xfrm>
            <a:off x="7379208" y="199339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g3f883da9c22_0_240"/>
          <p:cNvSpPr/>
          <p:nvPr/>
        </p:nvSpPr>
        <p:spPr>
          <a:xfrm>
            <a:off x="7379208" y="2907792"/>
            <a:ext cx="475500" cy="4755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g3f883da9c22_0_240"/>
          <p:cNvSpPr txBox="1"/>
          <p:nvPr/>
        </p:nvSpPr>
        <p:spPr>
          <a:xfrm>
            <a:off x="7379208" y="290779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g3f883da9c22_0_240"/>
          <p:cNvSpPr/>
          <p:nvPr/>
        </p:nvSpPr>
        <p:spPr>
          <a:xfrm>
            <a:off x="8613648" y="1993392"/>
            <a:ext cx="475500" cy="4755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g3f883da9c22_0_240"/>
          <p:cNvSpPr txBox="1"/>
          <p:nvPr/>
        </p:nvSpPr>
        <p:spPr>
          <a:xfrm>
            <a:off x="8613648" y="199339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g3f883da9c22_0_240"/>
          <p:cNvSpPr/>
          <p:nvPr/>
        </p:nvSpPr>
        <p:spPr>
          <a:xfrm>
            <a:off x="8613648" y="2907792"/>
            <a:ext cx="475500" cy="4755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g3f883da9c22_0_240"/>
          <p:cNvSpPr txBox="1"/>
          <p:nvPr/>
        </p:nvSpPr>
        <p:spPr>
          <a:xfrm>
            <a:off x="8613648" y="290779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g3f883da9c22_0_240"/>
          <p:cNvSpPr/>
          <p:nvPr/>
        </p:nvSpPr>
        <p:spPr>
          <a:xfrm>
            <a:off x="9848088" y="1993392"/>
            <a:ext cx="475500" cy="4755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g3f883da9c22_0_240"/>
          <p:cNvSpPr txBox="1"/>
          <p:nvPr/>
        </p:nvSpPr>
        <p:spPr>
          <a:xfrm>
            <a:off x="9848088" y="199339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g3f883da9c22_0_240"/>
          <p:cNvSpPr/>
          <p:nvPr/>
        </p:nvSpPr>
        <p:spPr>
          <a:xfrm>
            <a:off x="9848088" y="2907792"/>
            <a:ext cx="475500" cy="4755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g3f883da9c22_0_240"/>
          <p:cNvSpPr txBox="1"/>
          <p:nvPr/>
        </p:nvSpPr>
        <p:spPr>
          <a:xfrm>
            <a:off x="9848088" y="290779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g3f883da9c22_0_240"/>
          <p:cNvSpPr/>
          <p:nvPr/>
        </p:nvSpPr>
        <p:spPr>
          <a:xfrm>
            <a:off x="5394960" y="3730752"/>
            <a:ext cx="5669400" cy="11100"/>
          </a:xfrm>
          <a:prstGeom prst="rect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g3f883da9c22_0_240"/>
          <p:cNvSpPr txBox="1"/>
          <p:nvPr/>
        </p:nvSpPr>
        <p:spPr>
          <a:xfrm>
            <a:off x="5029200" y="3785616"/>
            <a:ext cx="6400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the same network, after the input has been shifted to the right by one pixel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g3f883da9c22_0_240"/>
          <p:cNvSpPr txBox="1"/>
          <p:nvPr/>
        </p:nvSpPr>
        <p:spPr>
          <a:xfrm>
            <a:off x="4937760" y="4078224"/>
            <a:ext cx="6583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POOLING STAGE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g3f883da9c22_0_240"/>
          <p:cNvSpPr txBox="1"/>
          <p:nvPr/>
        </p:nvSpPr>
        <p:spPr>
          <a:xfrm>
            <a:off x="4937760" y="5815584"/>
            <a:ext cx="6583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DETECTOR STAGE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g3f883da9c22_0_240"/>
          <p:cNvSpPr txBox="1"/>
          <p:nvPr/>
        </p:nvSpPr>
        <p:spPr>
          <a:xfrm>
            <a:off x="5349240" y="5376672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g3f883da9c22_0_240"/>
          <p:cNvSpPr txBox="1"/>
          <p:nvPr/>
        </p:nvSpPr>
        <p:spPr>
          <a:xfrm>
            <a:off x="11018520" y="5376672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g3f883da9c22_0_240"/>
          <p:cNvSpPr txBox="1"/>
          <p:nvPr/>
        </p:nvSpPr>
        <p:spPr>
          <a:xfrm>
            <a:off x="5349240" y="4462272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g3f883da9c22_0_240"/>
          <p:cNvSpPr txBox="1"/>
          <p:nvPr/>
        </p:nvSpPr>
        <p:spPr>
          <a:xfrm>
            <a:off x="11018520" y="4462272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g3f883da9c22_0_240"/>
          <p:cNvSpPr/>
          <p:nvPr/>
        </p:nvSpPr>
        <p:spPr>
          <a:xfrm rot="-3347269">
            <a:off x="5798811" y="5106102"/>
            <a:ext cx="483941" cy="10151"/>
          </a:xfrm>
          <a:prstGeom prst="rect">
            <a:avLst/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g3f883da9c22_0_240"/>
          <p:cNvSpPr/>
          <p:nvPr/>
        </p:nvSpPr>
        <p:spPr>
          <a:xfrm rot="2049582">
            <a:off x="6161954" y="4810701"/>
            <a:ext cx="91362" cy="109670"/>
          </a:xfrm>
          <a:prstGeom prst="triangle">
            <a:avLst>
              <a:gd fmla="val 50000" name="adj"/>
            </a:avLst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g3f883da9c22_0_240"/>
          <p:cNvSpPr/>
          <p:nvPr/>
        </p:nvSpPr>
        <p:spPr>
          <a:xfrm rot="-5400000">
            <a:off x="6236311" y="5114244"/>
            <a:ext cx="292500" cy="129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g3f883da9c22_0_240"/>
          <p:cNvSpPr/>
          <p:nvPr/>
        </p:nvSpPr>
        <p:spPr>
          <a:xfrm>
            <a:off x="6336792" y="4864608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g3f883da9c22_0_240"/>
          <p:cNvSpPr/>
          <p:nvPr/>
        </p:nvSpPr>
        <p:spPr>
          <a:xfrm rot="-8608336">
            <a:off x="6586658" y="5092192"/>
            <a:ext cx="914296" cy="1266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g3f883da9c22_0_240"/>
          <p:cNvSpPr/>
          <p:nvPr/>
        </p:nvSpPr>
        <p:spPr>
          <a:xfrm rot="-3212635">
            <a:off x="6586594" y="4738761"/>
            <a:ext cx="91382" cy="109802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g3f883da9c22_0_240"/>
          <p:cNvSpPr/>
          <p:nvPr/>
        </p:nvSpPr>
        <p:spPr>
          <a:xfrm rot="-2191664">
            <a:off x="6498390" y="5092105"/>
            <a:ext cx="914296" cy="1266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g3f883da9c22_0_240"/>
          <p:cNvSpPr/>
          <p:nvPr/>
        </p:nvSpPr>
        <p:spPr>
          <a:xfrm rot="3212635">
            <a:off x="7321360" y="4738784"/>
            <a:ext cx="91382" cy="109802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g3f883da9c22_0_240"/>
          <p:cNvSpPr/>
          <p:nvPr/>
        </p:nvSpPr>
        <p:spPr>
          <a:xfrm rot="-5400000">
            <a:off x="7470751" y="5114244"/>
            <a:ext cx="292500" cy="129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g3f883da9c22_0_240"/>
          <p:cNvSpPr/>
          <p:nvPr/>
        </p:nvSpPr>
        <p:spPr>
          <a:xfrm>
            <a:off x="7571232" y="4864608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g3f883da9c22_0_240"/>
          <p:cNvSpPr/>
          <p:nvPr/>
        </p:nvSpPr>
        <p:spPr>
          <a:xfrm rot="-8608336">
            <a:off x="7821098" y="5092192"/>
            <a:ext cx="914296" cy="1266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g3f883da9c22_0_240"/>
          <p:cNvSpPr/>
          <p:nvPr/>
        </p:nvSpPr>
        <p:spPr>
          <a:xfrm rot="-3212635">
            <a:off x="7821034" y="4738761"/>
            <a:ext cx="91382" cy="109802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g3f883da9c22_0_240"/>
          <p:cNvSpPr/>
          <p:nvPr/>
        </p:nvSpPr>
        <p:spPr>
          <a:xfrm rot="-2191664">
            <a:off x="7732830" y="5092105"/>
            <a:ext cx="914296" cy="1266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g3f883da9c22_0_240"/>
          <p:cNvSpPr/>
          <p:nvPr/>
        </p:nvSpPr>
        <p:spPr>
          <a:xfrm rot="3212635">
            <a:off x="8555800" y="4738784"/>
            <a:ext cx="91382" cy="109802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g3f883da9c22_0_240"/>
          <p:cNvSpPr/>
          <p:nvPr/>
        </p:nvSpPr>
        <p:spPr>
          <a:xfrm rot="-5400000">
            <a:off x="8705191" y="5114244"/>
            <a:ext cx="292500" cy="129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g3f883da9c22_0_240"/>
          <p:cNvSpPr/>
          <p:nvPr/>
        </p:nvSpPr>
        <p:spPr>
          <a:xfrm>
            <a:off x="8805672" y="4864608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g3f883da9c22_0_240"/>
          <p:cNvSpPr/>
          <p:nvPr/>
        </p:nvSpPr>
        <p:spPr>
          <a:xfrm rot="-8608336">
            <a:off x="9055538" y="5092192"/>
            <a:ext cx="914296" cy="1266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g3f883da9c22_0_240"/>
          <p:cNvSpPr/>
          <p:nvPr/>
        </p:nvSpPr>
        <p:spPr>
          <a:xfrm rot="-3212635">
            <a:off x="9055474" y="4738761"/>
            <a:ext cx="91382" cy="109802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g3f883da9c22_0_240"/>
          <p:cNvSpPr/>
          <p:nvPr/>
        </p:nvSpPr>
        <p:spPr>
          <a:xfrm rot="-2191664">
            <a:off x="8967270" y="5092105"/>
            <a:ext cx="914296" cy="1266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g3f883da9c22_0_240"/>
          <p:cNvSpPr/>
          <p:nvPr/>
        </p:nvSpPr>
        <p:spPr>
          <a:xfrm rot="3212635">
            <a:off x="9790240" y="4738784"/>
            <a:ext cx="91382" cy="109802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g3f883da9c22_0_240"/>
          <p:cNvSpPr/>
          <p:nvPr/>
        </p:nvSpPr>
        <p:spPr>
          <a:xfrm rot="-5400000">
            <a:off x="9939631" y="5114244"/>
            <a:ext cx="292500" cy="129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g3f883da9c22_0_240"/>
          <p:cNvSpPr/>
          <p:nvPr/>
        </p:nvSpPr>
        <p:spPr>
          <a:xfrm>
            <a:off x="10040112" y="4864608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g3f883da9c22_0_240"/>
          <p:cNvSpPr/>
          <p:nvPr/>
        </p:nvSpPr>
        <p:spPr>
          <a:xfrm rot="-7452731">
            <a:off x="10185676" y="5106058"/>
            <a:ext cx="483941" cy="10151"/>
          </a:xfrm>
          <a:prstGeom prst="rect">
            <a:avLst/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g3f883da9c22_0_240"/>
          <p:cNvSpPr/>
          <p:nvPr/>
        </p:nvSpPr>
        <p:spPr>
          <a:xfrm rot="-2049582">
            <a:off x="10215013" y="4810819"/>
            <a:ext cx="91362" cy="109670"/>
          </a:xfrm>
          <a:prstGeom prst="triangle">
            <a:avLst>
              <a:gd fmla="val 50000" name="adj"/>
            </a:avLst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g3f883da9c22_0_240"/>
          <p:cNvSpPr/>
          <p:nvPr/>
        </p:nvSpPr>
        <p:spPr>
          <a:xfrm rot="-7452731">
            <a:off x="5860564" y="5106058"/>
            <a:ext cx="483941" cy="10151"/>
          </a:xfrm>
          <a:prstGeom prst="rect">
            <a:avLst/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g3f883da9c22_0_240"/>
          <p:cNvSpPr/>
          <p:nvPr/>
        </p:nvSpPr>
        <p:spPr>
          <a:xfrm rot="-2049582">
            <a:off x="5889901" y="4810819"/>
            <a:ext cx="91362" cy="109670"/>
          </a:xfrm>
          <a:prstGeom prst="triangle">
            <a:avLst>
              <a:gd fmla="val 50000" name="adj"/>
            </a:avLst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g3f883da9c22_0_240"/>
          <p:cNvSpPr/>
          <p:nvPr/>
        </p:nvSpPr>
        <p:spPr>
          <a:xfrm rot="-3347269">
            <a:off x="10123923" y="5106102"/>
            <a:ext cx="483941" cy="10151"/>
          </a:xfrm>
          <a:prstGeom prst="rect">
            <a:avLst/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g3f883da9c22_0_240"/>
          <p:cNvSpPr/>
          <p:nvPr/>
        </p:nvSpPr>
        <p:spPr>
          <a:xfrm rot="2049582">
            <a:off x="10487066" y="4810701"/>
            <a:ext cx="91362" cy="109670"/>
          </a:xfrm>
          <a:prstGeom prst="triangle">
            <a:avLst>
              <a:gd fmla="val 50000" name="adj"/>
            </a:avLst>
          </a:prstGeom>
          <a:solidFill>
            <a:srgbClr val="E2DDF2"/>
          </a:solidFill>
          <a:ln cap="flat" cmpd="sng" w="12700">
            <a:solidFill>
              <a:srgbClr val="E2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g3f883da9c22_0_240"/>
          <p:cNvSpPr/>
          <p:nvPr/>
        </p:nvSpPr>
        <p:spPr>
          <a:xfrm>
            <a:off x="6144768" y="4370832"/>
            <a:ext cx="475500" cy="4755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g3f883da9c22_0_240"/>
          <p:cNvSpPr txBox="1"/>
          <p:nvPr/>
        </p:nvSpPr>
        <p:spPr>
          <a:xfrm>
            <a:off x="6144768" y="437083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g3f883da9c22_0_240"/>
          <p:cNvSpPr/>
          <p:nvPr/>
        </p:nvSpPr>
        <p:spPr>
          <a:xfrm>
            <a:off x="6144768" y="5285232"/>
            <a:ext cx="475500" cy="475500"/>
          </a:xfrm>
          <a:prstGeom prst="ellipse">
            <a:avLst/>
          </a:prstGeom>
          <a:solidFill>
            <a:srgbClr val="FFF1F0"/>
          </a:solidFill>
          <a:ln cap="flat" cmpd="sng" w="203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g3f883da9c22_0_240"/>
          <p:cNvSpPr txBox="1"/>
          <p:nvPr/>
        </p:nvSpPr>
        <p:spPr>
          <a:xfrm>
            <a:off x="6144768" y="528523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g3f883da9c22_0_240"/>
          <p:cNvSpPr/>
          <p:nvPr/>
        </p:nvSpPr>
        <p:spPr>
          <a:xfrm>
            <a:off x="7379208" y="4370832"/>
            <a:ext cx="475500" cy="4755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g3f883da9c22_0_240"/>
          <p:cNvSpPr txBox="1"/>
          <p:nvPr/>
        </p:nvSpPr>
        <p:spPr>
          <a:xfrm>
            <a:off x="7379208" y="437083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g3f883da9c22_0_240"/>
          <p:cNvSpPr/>
          <p:nvPr/>
        </p:nvSpPr>
        <p:spPr>
          <a:xfrm>
            <a:off x="7379208" y="5285232"/>
            <a:ext cx="475500" cy="475500"/>
          </a:xfrm>
          <a:prstGeom prst="ellipse">
            <a:avLst/>
          </a:prstGeom>
          <a:solidFill>
            <a:srgbClr val="FFF1F0"/>
          </a:solidFill>
          <a:ln cap="flat" cmpd="sng" w="203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g3f883da9c22_0_240"/>
          <p:cNvSpPr txBox="1"/>
          <p:nvPr/>
        </p:nvSpPr>
        <p:spPr>
          <a:xfrm>
            <a:off x="7379208" y="528523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g3f883da9c22_0_240"/>
          <p:cNvSpPr/>
          <p:nvPr/>
        </p:nvSpPr>
        <p:spPr>
          <a:xfrm>
            <a:off x="8613648" y="4370832"/>
            <a:ext cx="475500" cy="4755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g3f883da9c22_0_240"/>
          <p:cNvSpPr txBox="1"/>
          <p:nvPr/>
        </p:nvSpPr>
        <p:spPr>
          <a:xfrm>
            <a:off x="8613648" y="437083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g3f883da9c22_0_240"/>
          <p:cNvSpPr/>
          <p:nvPr/>
        </p:nvSpPr>
        <p:spPr>
          <a:xfrm>
            <a:off x="8613648" y="5285232"/>
            <a:ext cx="475500" cy="475500"/>
          </a:xfrm>
          <a:prstGeom prst="ellipse">
            <a:avLst/>
          </a:prstGeom>
          <a:solidFill>
            <a:srgbClr val="FFF1F0"/>
          </a:solidFill>
          <a:ln cap="flat" cmpd="sng" w="203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g3f883da9c22_0_240"/>
          <p:cNvSpPr txBox="1"/>
          <p:nvPr/>
        </p:nvSpPr>
        <p:spPr>
          <a:xfrm>
            <a:off x="8613648" y="528523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g3f883da9c22_0_240"/>
          <p:cNvSpPr/>
          <p:nvPr/>
        </p:nvSpPr>
        <p:spPr>
          <a:xfrm>
            <a:off x="9848088" y="4370832"/>
            <a:ext cx="475500" cy="4755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g3f883da9c22_0_240"/>
          <p:cNvSpPr txBox="1"/>
          <p:nvPr/>
        </p:nvSpPr>
        <p:spPr>
          <a:xfrm>
            <a:off x="9848088" y="437083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g3f883da9c22_0_240"/>
          <p:cNvSpPr/>
          <p:nvPr/>
        </p:nvSpPr>
        <p:spPr>
          <a:xfrm>
            <a:off x="9848088" y="5285232"/>
            <a:ext cx="475500" cy="475500"/>
          </a:xfrm>
          <a:prstGeom prst="ellipse">
            <a:avLst/>
          </a:prstGeom>
          <a:solidFill>
            <a:srgbClr val="FFF1F0"/>
          </a:solidFill>
          <a:ln cap="flat" cmpd="sng" w="203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g3f883da9c22_0_240"/>
          <p:cNvSpPr txBox="1"/>
          <p:nvPr/>
        </p:nvSpPr>
        <p:spPr>
          <a:xfrm>
            <a:off x="9848088" y="5285232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f883da9c22_0_363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POOLING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g3f883da9c22_0_363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Why pooling? Learning invariances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g3f883da9c22_0_363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g3f883da9c22_0_363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g3f883da9c22_0_363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g3f883da9c22_0_363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g3f883da9c22_0_363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g3f883da9c22_0_363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g3f883da9c22_0_363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g3f883da9c22_0_363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g3f883da9c22_0_363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g3f883da9c22_0_363"/>
          <p:cNvSpPr txBox="1"/>
          <p:nvPr/>
        </p:nvSpPr>
        <p:spPr>
          <a:xfrm>
            <a:off x="548640" y="1554480"/>
            <a:ext cx="40233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In this example we use three filters, each tuned to a slightly different orientation of the digit 5.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When a 5 appears in the input, the corresponding filter matches it and causes a large activation in one detector unit.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max-pooling unit then has a large activation regardless of which detector unit was activated.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If we pool over the outputs of separately </a:t>
            </a:r>
            <a:r>
              <a:rPr lang="en-US" sz="1350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parameterized</a:t>
            </a: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 convolutions, the features can learn which transformations to become invariant to.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g3f883da9c22_0_363"/>
          <p:cNvSpPr/>
          <p:nvPr/>
        </p:nvSpPr>
        <p:spPr>
          <a:xfrm>
            <a:off x="548640" y="5120640"/>
            <a:ext cx="4023300" cy="777300"/>
          </a:xfrm>
          <a:prstGeom prst="roundRect">
            <a:avLst>
              <a:gd fmla="val 7059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g3f883da9c22_0_363"/>
          <p:cNvSpPr txBox="1"/>
          <p:nvPr/>
        </p:nvSpPr>
        <p:spPr>
          <a:xfrm>
            <a:off x="804672" y="5285232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Same pooling output, different detector — the invariance is learned, not built in.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g3f883da9c22_0_363"/>
          <p:cNvSpPr/>
          <p:nvPr/>
        </p:nvSpPr>
        <p:spPr>
          <a:xfrm>
            <a:off x="4846320" y="1417320"/>
            <a:ext cx="6766500" cy="4480500"/>
          </a:xfrm>
          <a:prstGeom prst="roundRect">
            <a:avLst>
              <a:gd fmla="val 1224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g3f883da9c22_0_363"/>
          <p:cNvSpPr txBox="1"/>
          <p:nvPr/>
        </p:nvSpPr>
        <p:spPr>
          <a:xfrm>
            <a:off x="5029200" y="1572768"/>
            <a:ext cx="6400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Three filters, each matching a different orientation — one shared pooling unit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g3f883da9c22_0_363"/>
          <p:cNvSpPr/>
          <p:nvPr/>
        </p:nvSpPr>
        <p:spPr>
          <a:xfrm>
            <a:off x="5577840" y="1965960"/>
            <a:ext cx="1920300" cy="658500"/>
          </a:xfrm>
          <a:prstGeom prst="ellipse">
            <a:avLst/>
          </a:prstGeom>
          <a:solidFill>
            <a:srgbClr val="FFF1F0"/>
          </a:solidFill>
          <a:ln cap="flat" cmpd="sng" w="1905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g3f883da9c22_0_363"/>
          <p:cNvSpPr txBox="1"/>
          <p:nvPr/>
        </p:nvSpPr>
        <p:spPr>
          <a:xfrm>
            <a:off x="5577840" y="1965960"/>
            <a:ext cx="1920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Large response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in pooling unit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g3f883da9c22_0_363"/>
          <p:cNvSpPr/>
          <p:nvPr/>
        </p:nvSpPr>
        <p:spPr>
          <a:xfrm>
            <a:off x="5340096" y="3200400"/>
            <a:ext cx="713100" cy="713100"/>
          </a:xfrm>
          <a:prstGeom prst="roundRect">
            <a:avLst>
              <a:gd fmla="val 6410" name="adj"/>
            </a:avLst>
          </a:prstGeom>
          <a:solidFill>
            <a:srgbClr val="FFE3E2"/>
          </a:solidFill>
          <a:ln cap="flat" cmpd="sng" w="254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g3f883da9c22_0_363"/>
          <p:cNvSpPr txBox="1"/>
          <p:nvPr/>
        </p:nvSpPr>
        <p:spPr>
          <a:xfrm rot="-2280743">
            <a:off x="5340099" y="3200313"/>
            <a:ext cx="713182" cy="713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5E5B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g3f883da9c22_0_363"/>
          <p:cNvSpPr/>
          <p:nvPr/>
        </p:nvSpPr>
        <p:spPr>
          <a:xfrm rot="-2525468">
            <a:off x="5615886" y="2945432"/>
            <a:ext cx="627022" cy="16568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g3f883da9c22_0_363"/>
          <p:cNvSpPr/>
          <p:nvPr/>
        </p:nvSpPr>
        <p:spPr>
          <a:xfrm rot="2875731">
            <a:off x="6157164" y="2651966"/>
            <a:ext cx="91336" cy="109599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g3f883da9c22_0_363"/>
          <p:cNvSpPr/>
          <p:nvPr/>
        </p:nvSpPr>
        <p:spPr>
          <a:xfrm rot="-8546210">
            <a:off x="5723415" y="4185925"/>
            <a:ext cx="580182" cy="16261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g3f883da9c22_0_363"/>
          <p:cNvSpPr/>
          <p:nvPr/>
        </p:nvSpPr>
        <p:spPr>
          <a:xfrm rot="-3147258">
            <a:off x="5694453" y="3928723"/>
            <a:ext cx="91566" cy="109748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g3f883da9c22_0_363"/>
          <p:cNvSpPr/>
          <p:nvPr/>
        </p:nvSpPr>
        <p:spPr>
          <a:xfrm>
            <a:off x="6181344" y="3200400"/>
            <a:ext cx="713100" cy="713100"/>
          </a:xfrm>
          <a:prstGeom prst="roundRect">
            <a:avLst>
              <a:gd fmla="val 6410" name="adj"/>
            </a:avLst>
          </a:prstGeom>
          <a:solidFill>
            <a:srgbClr val="F7F6FB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g3f883da9c22_0_363"/>
          <p:cNvSpPr txBox="1"/>
          <p:nvPr/>
        </p:nvSpPr>
        <p:spPr>
          <a:xfrm>
            <a:off x="6181344" y="3200400"/>
            <a:ext cx="713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E1F5E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g3f883da9c22_0_363"/>
          <p:cNvSpPr/>
          <p:nvPr/>
        </p:nvSpPr>
        <p:spPr>
          <a:xfrm rot="-5400000">
            <a:off x="6346024" y="2966275"/>
            <a:ext cx="384000" cy="11100"/>
          </a:xfrm>
          <a:prstGeom prst="rect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g3f883da9c22_0_363"/>
          <p:cNvSpPr/>
          <p:nvPr/>
        </p:nvSpPr>
        <p:spPr>
          <a:xfrm>
            <a:off x="6492240" y="2670048"/>
            <a:ext cx="91500" cy="109800"/>
          </a:xfrm>
          <a:prstGeom prst="triangle">
            <a:avLst>
              <a:gd fmla="val 50000" name="adj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g3f883da9c22_0_363"/>
          <p:cNvSpPr/>
          <p:nvPr/>
        </p:nvSpPr>
        <p:spPr>
          <a:xfrm rot="-5400000">
            <a:off x="6382624" y="4209883"/>
            <a:ext cx="310800" cy="11100"/>
          </a:xfrm>
          <a:prstGeom prst="rect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g3f883da9c22_0_363"/>
          <p:cNvSpPr/>
          <p:nvPr/>
        </p:nvSpPr>
        <p:spPr>
          <a:xfrm>
            <a:off x="6492240" y="3950208"/>
            <a:ext cx="91500" cy="109800"/>
          </a:xfrm>
          <a:prstGeom prst="triangle">
            <a:avLst>
              <a:gd fmla="val 50000" name="adj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g3f883da9c22_0_363"/>
          <p:cNvSpPr/>
          <p:nvPr/>
        </p:nvSpPr>
        <p:spPr>
          <a:xfrm>
            <a:off x="7022592" y="3200400"/>
            <a:ext cx="713100" cy="713100"/>
          </a:xfrm>
          <a:prstGeom prst="roundRect">
            <a:avLst>
              <a:gd fmla="val 6410" name="adj"/>
            </a:avLst>
          </a:prstGeom>
          <a:solidFill>
            <a:srgbClr val="F7F6FB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g3f883da9c22_0_363"/>
          <p:cNvSpPr txBox="1"/>
          <p:nvPr/>
        </p:nvSpPr>
        <p:spPr>
          <a:xfrm rot="2280743">
            <a:off x="7022505" y="3200403"/>
            <a:ext cx="713182" cy="713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E1F5E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g3f883da9c22_0_363"/>
          <p:cNvSpPr/>
          <p:nvPr/>
        </p:nvSpPr>
        <p:spPr>
          <a:xfrm rot="-8274532">
            <a:off x="6833120" y="2948176"/>
            <a:ext cx="627022" cy="11039"/>
          </a:xfrm>
          <a:prstGeom prst="rect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g3f883da9c22_0_363"/>
          <p:cNvSpPr/>
          <p:nvPr/>
        </p:nvSpPr>
        <p:spPr>
          <a:xfrm rot="-2875731">
            <a:off x="6827337" y="2652031"/>
            <a:ext cx="91336" cy="109599"/>
          </a:xfrm>
          <a:prstGeom prst="triangle">
            <a:avLst>
              <a:gd fmla="val 50000" name="adj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g3f883da9c22_0_363"/>
          <p:cNvSpPr/>
          <p:nvPr/>
        </p:nvSpPr>
        <p:spPr>
          <a:xfrm rot="-2253790">
            <a:off x="6772211" y="4188524"/>
            <a:ext cx="580182" cy="10920"/>
          </a:xfrm>
          <a:prstGeom prst="rect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g3f883da9c22_0_363"/>
          <p:cNvSpPr/>
          <p:nvPr/>
        </p:nvSpPr>
        <p:spPr>
          <a:xfrm rot="3147258">
            <a:off x="7289948" y="3928845"/>
            <a:ext cx="91566" cy="109748"/>
          </a:xfrm>
          <a:prstGeom prst="triangle">
            <a:avLst>
              <a:gd fmla="val 50000" name="adj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g3f883da9c22_0_363"/>
          <p:cNvSpPr txBox="1"/>
          <p:nvPr/>
        </p:nvSpPr>
        <p:spPr>
          <a:xfrm>
            <a:off x="5440680" y="397764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detector units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g3f883da9c22_0_363"/>
          <p:cNvSpPr/>
          <p:nvPr/>
        </p:nvSpPr>
        <p:spPr>
          <a:xfrm>
            <a:off x="6181344" y="4407408"/>
            <a:ext cx="713100" cy="713100"/>
          </a:xfrm>
          <a:prstGeom prst="roundRect">
            <a:avLst>
              <a:gd fmla="val 6410" name="adj"/>
            </a:avLst>
          </a:prstGeom>
          <a:solidFill>
            <a:srgbClr val="EDEAF6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g3f883da9c22_0_363"/>
          <p:cNvSpPr txBox="1"/>
          <p:nvPr/>
        </p:nvSpPr>
        <p:spPr>
          <a:xfrm rot="-2280743">
            <a:off x="6181347" y="4407321"/>
            <a:ext cx="713182" cy="713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g3f883da9c22_0_363"/>
          <p:cNvSpPr txBox="1"/>
          <p:nvPr/>
        </p:nvSpPr>
        <p:spPr>
          <a:xfrm>
            <a:off x="5166360" y="5230368"/>
            <a:ext cx="27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 matches detector unit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g3f883da9c22_0_363"/>
          <p:cNvSpPr/>
          <p:nvPr/>
        </p:nvSpPr>
        <p:spPr>
          <a:xfrm>
            <a:off x="8961120" y="1965960"/>
            <a:ext cx="1920300" cy="658500"/>
          </a:xfrm>
          <a:prstGeom prst="ellipse">
            <a:avLst/>
          </a:prstGeom>
          <a:solidFill>
            <a:srgbClr val="FFF1F0"/>
          </a:solidFill>
          <a:ln cap="flat" cmpd="sng" w="1905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g3f883da9c22_0_363"/>
          <p:cNvSpPr txBox="1"/>
          <p:nvPr/>
        </p:nvSpPr>
        <p:spPr>
          <a:xfrm>
            <a:off x="8961120" y="1965960"/>
            <a:ext cx="1920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Large response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in pooling unit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g3f883da9c22_0_363"/>
          <p:cNvSpPr/>
          <p:nvPr/>
        </p:nvSpPr>
        <p:spPr>
          <a:xfrm>
            <a:off x="8723376" y="3200400"/>
            <a:ext cx="713100" cy="713100"/>
          </a:xfrm>
          <a:prstGeom prst="roundRect">
            <a:avLst>
              <a:gd fmla="val 6410" name="adj"/>
            </a:avLst>
          </a:prstGeom>
          <a:solidFill>
            <a:srgbClr val="F7F6FB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g3f883da9c22_0_363"/>
          <p:cNvSpPr txBox="1"/>
          <p:nvPr/>
        </p:nvSpPr>
        <p:spPr>
          <a:xfrm rot="-2280743">
            <a:off x="8723379" y="3200313"/>
            <a:ext cx="713182" cy="713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E1F5E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g3f883da9c22_0_363"/>
          <p:cNvSpPr/>
          <p:nvPr/>
        </p:nvSpPr>
        <p:spPr>
          <a:xfrm rot="-2525468">
            <a:off x="8999204" y="2948132"/>
            <a:ext cx="627022" cy="11039"/>
          </a:xfrm>
          <a:prstGeom prst="rect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g3f883da9c22_0_363"/>
          <p:cNvSpPr/>
          <p:nvPr/>
        </p:nvSpPr>
        <p:spPr>
          <a:xfrm rot="2875731">
            <a:off x="9540444" y="2651966"/>
            <a:ext cx="91336" cy="109599"/>
          </a:xfrm>
          <a:prstGeom prst="triangle">
            <a:avLst>
              <a:gd fmla="val 50000" name="adj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g3f883da9c22_0_363"/>
          <p:cNvSpPr/>
          <p:nvPr/>
        </p:nvSpPr>
        <p:spPr>
          <a:xfrm rot="-8546210">
            <a:off x="9106717" y="4188521"/>
            <a:ext cx="580182" cy="10920"/>
          </a:xfrm>
          <a:prstGeom prst="rect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g3f883da9c22_0_363"/>
          <p:cNvSpPr/>
          <p:nvPr/>
        </p:nvSpPr>
        <p:spPr>
          <a:xfrm rot="-3147258">
            <a:off x="9077733" y="3928723"/>
            <a:ext cx="91566" cy="109748"/>
          </a:xfrm>
          <a:prstGeom prst="triangle">
            <a:avLst>
              <a:gd fmla="val 50000" name="adj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g3f883da9c22_0_363"/>
          <p:cNvSpPr/>
          <p:nvPr/>
        </p:nvSpPr>
        <p:spPr>
          <a:xfrm>
            <a:off x="9564624" y="3200400"/>
            <a:ext cx="713100" cy="713100"/>
          </a:xfrm>
          <a:prstGeom prst="roundRect">
            <a:avLst>
              <a:gd fmla="val 6410" name="adj"/>
            </a:avLst>
          </a:prstGeom>
          <a:solidFill>
            <a:srgbClr val="F7F6FB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g3f883da9c22_0_363"/>
          <p:cNvSpPr txBox="1"/>
          <p:nvPr/>
        </p:nvSpPr>
        <p:spPr>
          <a:xfrm>
            <a:off x="9564624" y="3200400"/>
            <a:ext cx="713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E1F5E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g3f883da9c22_0_363"/>
          <p:cNvSpPr/>
          <p:nvPr/>
        </p:nvSpPr>
        <p:spPr>
          <a:xfrm rot="-5400000">
            <a:off x="9729304" y="2966275"/>
            <a:ext cx="384000" cy="11100"/>
          </a:xfrm>
          <a:prstGeom prst="rect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g3f883da9c22_0_363"/>
          <p:cNvSpPr/>
          <p:nvPr/>
        </p:nvSpPr>
        <p:spPr>
          <a:xfrm>
            <a:off x="9875520" y="2670048"/>
            <a:ext cx="91500" cy="109800"/>
          </a:xfrm>
          <a:prstGeom prst="triangle">
            <a:avLst>
              <a:gd fmla="val 50000" name="adj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g3f883da9c22_0_363"/>
          <p:cNvSpPr/>
          <p:nvPr/>
        </p:nvSpPr>
        <p:spPr>
          <a:xfrm rot="-5400000">
            <a:off x="9765904" y="4209883"/>
            <a:ext cx="310800" cy="11100"/>
          </a:xfrm>
          <a:prstGeom prst="rect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g3f883da9c22_0_363"/>
          <p:cNvSpPr/>
          <p:nvPr/>
        </p:nvSpPr>
        <p:spPr>
          <a:xfrm>
            <a:off x="9875520" y="3950208"/>
            <a:ext cx="91500" cy="109800"/>
          </a:xfrm>
          <a:prstGeom prst="triangle">
            <a:avLst>
              <a:gd fmla="val 50000" name="adj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g3f883da9c22_0_363"/>
          <p:cNvSpPr/>
          <p:nvPr/>
        </p:nvSpPr>
        <p:spPr>
          <a:xfrm>
            <a:off x="10405872" y="3200400"/>
            <a:ext cx="713100" cy="713100"/>
          </a:xfrm>
          <a:prstGeom prst="roundRect">
            <a:avLst>
              <a:gd fmla="val 6410" name="adj"/>
            </a:avLst>
          </a:prstGeom>
          <a:solidFill>
            <a:srgbClr val="FFE3E2"/>
          </a:solidFill>
          <a:ln cap="flat" cmpd="sng" w="254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g3f883da9c22_0_363"/>
          <p:cNvSpPr txBox="1"/>
          <p:nvPr/>
        </p:nvSpPr>
        <p:spPr>
          <a:xfrm rot="2280743">
            <a:off x="10405785" y="3200403"/>
            <a:ext cx="713182" cy="713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5E5B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g3f883da9c22_0_363"/>
          <p:cNvSpPr/>
          <p:nvPr/>
        </p:nvSpPr>
        <p:spPr>
          <a:xfrm rot="-8274532">
            <a:off x="10216362" y="2945347"/>
            <a:ext cx="627022" cy="16568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g3f883da9c22_0_363"/>
          <p:cNvSpPr/>
          <p:nvPr/>
        </p:nvSpPr>
        <p:spPr>
          <a:xfrm rot="-2875731">
            <a:off x="10210617" y="2652031"/>
            <a:ext cx="91336" cy="109599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g3f883da9c22_0_363"/>
          <p:cNvSpPr/>
          <p:nvPr/>
        </p:nvSpPr>
        <p:spPr>
          <a:xfrm rot="-2253790">
            <a:off x="10155468" y="4185779"/>
            <a:ext cx="580182" cy="16261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g3f883da9c22_0_363"/>
          <p:cNvSpPr/>
          <p:nvPr/>
        </p:nvSpPr>
        <p:spPr>
          <a:xfrm rot="3147258">
            <a:off x="10673228" y="3928845"/>
            <a:ext cx="91566" cy="109748"/>
          </a:xfrm>
          <a:prstGeom prst="triangle">
            <a:avLst>
              <a:gd fmla="val 50000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g3f883da9c22_0_363"/>
          <p:cNvSpPr txBox="1"/>
          <p:nvPr/>
        </p:nvSpPr>
        <p:spPr>
          <a:xfrm>
            <a:off x="8823960" y="397764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detector units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g3f883da9c22_0_363"/>
          <p:cNvSpPr/>
          <p:nvPr/>
        </p:nvSpPr>
        <p:spPr>
          <a:xfrm>
            <a:off x="9564624" y="4407408"/>
            <a:ext cx="713100" cy="713100"/>
          </a:xfrm>
          <a:prstGeom prst="roundRect">
            <a:avLst>
              <a:gd fmla="val 6410" name="adj"/>
            </a:avLst>
          </a:prstGeom>
          <a:solidFill>
            <a:srgbClr val="EDEAF6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g3f883da9c22_0_363"/>
          <p:cNvSpPr txBox="1"/>
          <p:nvPr/>
        </p:nvSpPr>
        <p:spPr>
          <a:xfrm rot="2280743">
            <a:off x="9564537" y="4407411"/>
            <a:ext cx="713182" cy="713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g3f883da9c22_0_363"/>
          <p:cNvSpPr txBox="1"/>
          <p:nvPr/>
        </p:nvSpPr>
        <p:spPr>
          <a:xfrm>
            <a:off x="8549640" y="5230368"/>
            <a:ext cx="27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 matches detector unit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g3f883da9c22_0_363"/>
          <p:cNvSpPr/>
          <p:nvPr/>
        </p:nvSpPr>
        <p:spPr>
          <a:xfrm>
            <a:off x="8229600" y="1920240"/>
            <a:ext cx="11100" cy="3200400"/>
          </a:xfrm>
          <a:prstGeom prst="rect">
            <a:avLst/>
          </a:prstGeom>
          <a:solidFill>
            <a:srgbClr val="EFEBF9"/>
          </a:solidFill>
          <a:ln cap="flat" cmpd="sng" w="12700">
            <a:solidFill>
              <a:srgbClr val="EFE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3f883da9c22_0_433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POOLING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g3f883da9c22_0_433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Why pooling? Down sampling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g3f883da9c22_0_433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g3f883da9c22_0_433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g3f883da9c22_0_433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g3f883da9c22_0_433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g3f883da9c22_0_433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g3f883da9c22_0_433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g3f883da9c22_0_433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g3f883da9c22_0_433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g3f883da9c22_0_433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g3f883da9c22_0_433"/>
          <p:cNvSpPr/>
          <p:nvPr/>
        </p:nvSpPr>
        <p:spPr>
          <a:xfrm>
            <a:off x="548640" y="1417320"/>
            <a:ext cx="11064300" cy="2697600"/>
          </a:xfrm>
          <a:prstGeom prst="roundRect">
            <a:avLst>
              <a:gd fmla="val 2034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g3f883da9c22_0_433"/>
          <p:cNvSpPr txBox="1"/>
          <p:nvPr/>
        </p:nvSpPr>
        <p:spPr>
          <a:xfrm>
            <a:off x="731520" y="1572768"/>
            <a:ext cx="1069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Max pooling with a pool width of three and a stride between pools of two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g3f883da9c22_0_433"/>
          <p:cNvSpPr/>
          <p:nvPr/>
        </p:nvSpPr>
        <p:spPr>
          <a:xfrm rot="-2319588">
            <a:off x="2746684" y="2910990"/>
            <a:ext cx="1089171" cy="1279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g3f883da9c22_0_433"/>
          <p:cNvSpPr/>
          <p:nvPr/>
        </p:nvSpPr>
        <p:spPr>
          <a:xfrm rot="3085217">
            <a:off x="3712462" y="2480883"/>
            <a:ext cx="100545" cy="118864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g3f883da9c22_0_433"/>
          <p:cNvSpPr/>
          <p:nvPr/>
        </p:nvSpPr>
        <p:spPr>
          <a:xfrm rot="-5400000">
            <a:off x="3808459" y="2933280"/>
            <a:ext cx="429900" cy="129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g3f883da9c22_0_433"/>
          <p:cNvSpPr/>
          <p:nvPr/>
        </p:nvSpPr>
        <p:spPr>
          <a:xfrm>
            <a:off x="3973068" y="2606040"/>
            <a:ext cx="100500" cy="118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g3f883da9c22_0_433"/>
          <p:cNvSpPr/>
          <p:nvPr/>
        </p:nvSpPr>
        <p:spPr>
          <a:xfrm rot="-8480412">
            <a:off x="4210967" y="2911087"/>
            <a:ext cx="1089171" cy="1279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g3f883da9c22_0_433"/>
          <p:cNvSpPr/>
          <p:nvPr/>
        </p:nvSpPr>
        <p:spPr>
          <a:xfrm rot="-3085217">
            <a:off x="4233579" y="2480826"/>
            <a:ext cx="100545" cy="118864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g3f883da9c22_0_433"/>
          <p:cNvSpPr/>
          <p:nvPr/>
        </p:nvSpPr>
        <p:spPr>
          <a:xfrm rot="-2319588">
            <a:off x="5489884" y="2910990"/>
            <a:ext cx="1089171" cy="1279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g3f883da9c22_0_433"/>
          <p:cNvSpPr/>
          <p:nvPr/>
        </p:nvSpPr>
        <p:spPr>
          <a:xfrm rot="3085217">
            <a:off x="6455662" y="2480883"/>
            <a:ext cx="100545" cy="118864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g3f883da9c22_0_433"/>
          <p:cNvSpPr/>
          <p:nvPr/>
        </p:nvSpPr>
        <p:spPr>
          <a:xfrm rot="-5400000">
            <a:off x="6551659" y="2933280"/>
            <a:ext cx="429900" cy="129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g3f883da9c22_0_433"/>
          <p:cNvSpPr/>
          <p:nvPr/>
        </p:nvSpPr>
        <p:spPr>
          <a:xfrm>
            <a:off x="6716268" y="2606040"/>
            <a:ext cx="100500" cy="118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g3f883da9c22_0_433"/>
          <p:cNvSpPr/>
          <p:nvPr/>
        </p:nvSpPr>
        <p:spPr>
          <a:xfrm rot="-8480412">
            <a:off x="6954167" y="2911087"/>
            <a:ext cx="1089171" cy="1279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g3f883da9c22_0_433"/>
          <p:cNvSpPr/>
          <p:nvPr/>
        </p:nvSpPr>
        <p:spPr>
          <a:xfrm rot="-3085217">
            <a:off x="6976779" y="2480826"/>
            <a:ext cx="100545" cy="118864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g3f883da9c22_0_433"/>
          <p:cNvSpPr/>
          <p:nvPr/>
        </p:nvSpPr>
        <p:spPr>
          <a:xfrm rot="-2319588">
            <a:off x="8233084" y="2910990"/>
            <a:ext cx="1089171" cy="12791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g3f883da9c22_0_433"/>
          <p:cNvSpPr/>
          <p:nvPr/>
        </p:nvSpPr>
        <p:spPr>
          <a:xfrm rot="3085217">
            <a:off x="9198862" y="2480883"/>
            <a:ext cx="100545" cy="118864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g3f883da9c22_0_433"/>
          <p:cNvSpPr/>
          <p:nvPr/>
        </p:nvSpPr>
        <p:spPr>
          <a:xfrm rot="-5400000">
            <a:off x="9294859" y="2933280"/>
            <a:ext cx="429900" cy="129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g3f883da9c22_0_433"/>
          <p:cNvSpPr/>
          <p:nvPr/>
        </p:nvSpPr>
        <p:spPr>
          <a:xfrm>
            <a:off x="9459468" y="2606040"/>
            <a:ext cx="100500" cy="118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g3f883da9c22_0_433"/>
          <p:cNvSpPr/>
          <p:nvPr/>
        </p:nvSpPr>
        <p:spPr>
          <a:xfrm>
            <a:off x="2395728" y="3172968"/>
            <a:ext cx="512100" cy="5121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g3f883da9c22_0_433"/>
          <p:cNvSpPr txBox="1"/>
          <p:nvPr/>
        </p:nvSpPr>
        <p:spPr>
          <a:xfrm>
            <a:off x="2395728" y="3172968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g3f883da9c22_0_433"/>
          <p:cNvSpPr/>
          <p:nvPr/>
        </p:nvSpPr>
        <p:spPr>
          <a:xfrm>
            <a:off x="3767328" y="3172968"/>
            <a:ext cx="512100" cy="5121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g3f883da9c22_0_433"/>
          <p:cNvSpPr txBox="1"/>
          <p:nvPr/>
        </p:nvSpPr>
        <p:spPr>
          <a:xfrm>
            <a:off x="3767328" y="3172968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g3f883da9c22_0_433"/>
          <p:cNvSpPr/>
          <p:nvPr/>
        </p:nvSpPr>
        <p:spPr>
          <a:xfrm>
            <a:off x="5138928" y="3172968"/>
            <a:ext cx="512100" cy="5121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g3f883da9c22_0_433"/>
          <p:cNvSpPr txBox="1"/>
          <p:nvPr/>
        </p:nvSpPr>
        <p:spPr>
          <a:xfrm>
            <a:off x="5138928" y="3172968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g3f883da9c22_0_433"/>
          <p:cNvSpPr/>
          <p:nvPr/>
        </p:nvSpPr>
        <p:spPr>
          <a:xfrm>
            <a:off x="6510528" y="3172968"/>
            <a:ext cx="512100" cy="5121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g3f883da9c22_0_433"/>
          <p:cNvSpPr txBox="1"/>
          <p:nvPr/>
        </p:nvSpPr>
        <p:spPr>
          <a:xfrm>
            <a:off x="6510528" y="3172968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g3f883da9c22_0_433"/>
          <p:cNvSpPr/>
          <p:nvPr/>
        </p:nvSpPr>
        <p:spPr>
          <a:xfrm>
            <a:off x="7882128" y="3172968"/>
            <a:ext cx="512100" cy="5121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g3f883da9c22_0_433"/>
          <p:cNvSpPr txBox="1"/>
          <p:nvPr/>
        </p:nvSpPr>
        <p:spPr>
          <a:xfrm>
            <a:off x="7882128" y="3172968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g3f883da9c22_0_433"/>
          <p:cNvSpPr/>
          <p:nvPr/>
        </p:nvSpPr>
        <p:spPr>
          <a:xfrm>
            <a:off x="9253728" y="3172968"/>
            <a:ext cx="512100" cy="5121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g3f883da9c22_0_433"/>
          <p:cNvSpPr txBox="1"/>
          <p:nvPr/>
        </p:nvSpPr>
        <p:spPr>
          <a:xfrm>
            <a:off x="9253728" y="3172968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g3f883da9c22_0_433"/>
          <p:cNvSpPr/>
          <p:nvPr/>
        </p:nvSpPr>
        <p:spPr>
          <a:xfrm>
            <a:off x="3767328" y="2075688"/>
            <a:ext cx="512100" cy="5121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g3f883da9c22_0_433"/>
          <p:cNvSpPr txBox="1"/>
          <p:nvPr/>
        </p:nvSpPr>
        <p:spPr>
          <a:xfrm>
            <a:off x="3767328" y="2075688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g3f883da9c22_0_433"/>
          <p:cNvSpPr/>
          <p:nvPr/>
        </p:nvSpPr>
        <p:spPr>
          <a:xfrm>
            <a:off x="6510528" y="2075688"/>
            <a:ext cx="512100" cy="5121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g3f883da9c22_0_433"/>
          <p:cNvSpPr txBox="1"/>
          <p:nvPr/>
        </p:nvSpPr>
        <p:spPr>
          <a:xfrm>
            <a:off x="6510528" y="2075688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g3f883da9c22_0_433"/>
          <p:cNvSpPr/>
          <p:nvPr/>
        </p:nvSpPr>
        <p:spPr>
          <a:xfrm>
            <a:off x="9253728" y="2075688"/>
            <a:ext cx="512100" cy="512100"/>
          </a:xfrm>
          <a:prstGeom prst="ellipse">
            <a:avLst/>
          </a:prstGeom>
          <a:solidFill>
            <a:srgbClr val="FFE3E2"/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g3f883da9c22_0_433"/>
          <p:cNvSpPr txBox="1"/>
          <p:nvPr/>
        </p:nvSpPr>
        <p:spPr>
          <a:xfrm>
            <a:off x="9253728" y="2075688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g3f883da9c22_0_433"/>
          <p:cNvSpPr txBox="1"/>
          <p:nvPr/>
        </p:nvSpPr>
        <p:spPr>
          <a:xfrm>
            <a:off x="9966960" y="3300984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6 detector units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g3f883da9c22_0_433"/>
          <p:cNvSpPr txBox="1"/>
          <p:nvPr/>
        </p:nvSpPr>
        <p:spPr>
          <a:xfrm>
            <a:off x="9966960" y="2203704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3 pooling units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g3f883da9c22_0_433"/>
          <p:cNvSpPr txBox="1"/>
          <p:nvPr/>
        </p:nvSpPr>
        <p:spPr>
          <a:xfrm>
            <a:off x="731520" y="3767328"/>
            <a:ext cx="1069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This reduces the representation size by a factor of two, which reduces the computational and statistical burden on the next layer.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g3f883da9c22_0_433"/>
          <p:cNvSpPr/>
          <p:nvPr/>
        </p:nvSpPr>
        <p:spPr>
          <a:xfrm>
            <a:off x="548650" y="4315976"/>
            <a:ext cx="3520500" cy="1809600"/>
          </a:xfrm>
          <a:prstGeom prst="roundRect">
            <a:avLst>
              <a:gd fmla="val 3371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g3f883da9c22_0_433"/>
          <p:cNvSpPr/>
          <p:nvPr/>
        </p:nvSpPr>
        <p:spPr>
          <a:xfrm>
            <a:off x="822960" y="4526280"/>
            <a:ext cx="201300" cy="201300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g3f883da9c22_0_433"/>
          <p:cNvSpPr txBox="1"/>
          <p:nvPr/>
        </p:nvSpPr>
        <p:spPr>
          <a:xfrm>
            <a:off x="822960" y="482803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Fewer pooling units than detector units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g3f883da9c22_0_433"/>
          <p:cNvSpPr txBox="1"/>
          <p:nvPr/>
        </p:nvSpPr>
        <p:spPr>
          <a:xfrm>
            <a:off x="822960" y="5230368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Because pooling summarises the responses over a whole neighbourhood, we can report summary statistics for regions spaced k pixels apart rather than 1 pixel apart.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g3f883da9c22_0_433"/>
          <p:cNvSpPr/>
          <p:nvPr/>
        </p:nvSpPr>
        <p:spPr>
          <a:xfrm>
            <a:off x="4343403" y="4315976"/>
            <a:ext cx="3520500" cy="1809600"/>
          </a:xfrm>
          <a:prstGeom prst="roundRect">
            <a:avLst>
              <a:gd fmla="val 3371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g3f883da9c22_0_433"/>
          <p:cNvSpPr/>
          <p:nvPr/>
        </p:nvSpPr>
        <p:spPr>
          <a:xfrm>
            <a:off x="4617720" y="4526280"/>
            <a:ext cx="201300" cy="201300"/>
          </a:xfrm>
          <a:prstGeom prst="rect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g3f883da9c22_0_433"/>
          <p:cNvSpPr txBox="1"/>
          <p:nvPr/>
        </p:nvSpPr>
        <p:spPr>
          <a:xfrm>
            <a:off x="4617720" y="482803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Computational efficiency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g3f883da9c22_0_433"/>
          <p:cNvSpPr txBox="1"/>
          <p:nvPr/>
        </p:nvSpPr>
        <p:spPr>
          <a:xfrm>
            <a:off x="4617720" y="5230368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next layer then has roughly k times fewer inputs to process — here k = 2, so the representation halves.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g3f883da9c22_0_433"/>
          <p:cNvSpPr/>
          <p:nvPr/>
        </p:nvSpPr>
        <p:spPr>
          <a:xfrm>
            <a:off x="8138156" y="4315976"/>
            <a:ext cx="3520500" cy="1809600"/>
          </a:xfrm>
          <a:prstGeom prst="roundRect">
            <a:avLst>
              <a:gd fmla="val 3371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g3f883da9c22_0_433"/>
          <p:cNvSpPr/>
          <p:nvPr/>
        </p:nvSpPr>
        <p:spPr>
          <a:xfrm>
            <a:off x="8412480" y="4526280"/>
            <a:ext cx="201300" cy="201300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g3f883da9c22_0_433"/>
          <p:cNvSpPr txBox="1"/>
          <p:nvPr/>
        </p:nvSpPr>
        <p:spPr>
          <a:xfrm>
            <a:off x="8412480" y="482803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Statistical efficiency and memory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g3f883da9c22_0_433"/>
          <p:cNvSpPr txBox="1"/>
          <p:nvPr/>
        </p:nvSpPr>
        <p:spPr>
          <a:xfrm>
            <a:off x="8412480" y="5230368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reduction in input size also improves statistical efficiency and reduces the memory needed to store the parameters.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22"/>
          <p:cNvSpPr txBox="1"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PRACTICE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22"/>
          <p:cNvSpPr txBox="1"/>
          <p:nvPr/>
        </p:nvSpPr>
        <p:spPr>
          <a:xfrm>
            <a:off x="548640" y="59436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Solved problem: counting parameters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22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22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22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22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22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22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22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22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22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22"/>
          <p:cNvSpPr txBox="1"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Consider a CNN with the following layers: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22"/>
          <p:cNvSpPr/>
          <p:nvPr/>
        </p:nvSpPr>
        <p:spPr>
          <a:xfrm>
            <a:off x="548640" y="1965960"/>
            <a:ext cx="2926080" cy="566928"/>
          </a:xfrm>
          <a:prstGeom prst="roundRect">
            <a:avLst>
              <a:gd fmla="val 8065" name="adj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22"/>
          <p:cNvSpPr txBox="1"/>
          <p:nvPr/>
        </p:nvSpPr>
        <p:spPr>
          <a:xfrm>
            <a:off x="3657600" y="211226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one channel, 32 × 32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22"/>
          <p:cNvSpPr/>
          <p:nvPr/>
        </p:nvSpPr>
        <p:spPr>
          <a:xfrm>
            <a:off x="548640" y="2715768"/>
            <a:ext cx="2926080" cy="566928"/>
          </a:xfrm>
          <a:prstGeom prst="roundRect">
            <a:avLst>
              <a:gd fmla="val 8065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Convolutional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22"/>
          <p:cNvSpPr txBox="1"/>
          <p:nvPr/>
        </p:nvSpPr>
        <p:spPr>
          <a:xfrm>
            <a:off x="3657600" y="286207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6 filters of size 5 × 5, padding 2, stride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22"/>
          <p:cNvSpPr/>
          <p:nvPr/>
        </p:nvSpPr>
        <p:spPr>
          <a:xfrm>
            <a:off x="548640" y="3465576"/>
            <a:ext cx="2926080" cy="566928"/>
          </a:xfrm>
          <a:prstGeom prst="roundRect">
            <a:avLst>
              <a:gd fmla="val 8065" name="adj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Pooling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22"/>
          <p:cNvSpPr txBox="1"/>
          <p:nvPr/>
        </p:nvSpPr>
        <p:spPr>
          <a:xfrm>
            <a:off x="3657600" y="3611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 × 2 max pooling, stride 2, padding 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22"/>
          <p:cNvSpPr/>
          <p:nvPr/>
        </p:nvSpPr>
        <p:spPr>
          <a:xfrm>
            <a:off x="548640" y="4215384"/>
            <a:ext cx="2926080" cy="566928"/>
          </a:xfrm>
          <a:prstGeom prst="roundRect">
            <a:avLst>
              <a:gd fmla="val 8065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Fully connected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22"/>
          <p:cNvSpPr txBox="1"/>
          <p:nvPr/>
        </p:nvSpPr>
        <p:spPr>
          <a:xfrm>
            <a:off x="3657600" y="436168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N output neurons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22"/>
          <p:cNvSpPr/>
          <p:nvPr/>
        </p:nvSpPr>
        <p:spPr>
          <a:xfrm>
            <a:off x="8595360" y="1965960"/>
            <a:ext cx="3017520" cy="3017520"/>
          </a:xfrm>
          <a:prstGeom prst="roundRect">
            <a:avLst>
              <a:gd fmla="val 1818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22"/>
          <p:cNvSpPr txBox="1"/>
          <p:nvPr/>
        </p:nvSpPr>
        <p:spPr>
          <a:xfrm>
            <a:off x="8869680" y="219456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22"/>
          <p:cNvSpPr txBox="1"/>
          <p:nvPr/>
        </p:nvSpPr>
        <p:spPr>
          <a:xfrm>
            <a:off x="8869680" y="2560320"/>
            <a:ext cx="24688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  Compute the dimensions and the number of parameters at both the convolutional and the pooling layers.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  Determine the number of weights in the fully connected layer.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22"/>
          <p:cNvSpPr/>
          <p:nvPr/>
        </p:nvSpPr>
        <p:spPr>
          <a:xfrm>
            <a:off x="548640" y="5212080"/>
            <a:ext cx="7680960" cy="566928"/>
          </a:xfrm>
          <a:prstGeom prst="roundRect">
            <a:avLst>
              <a:gd fmla="val 9677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22"/>
          <p:cNvSpPr txBox="1"/>
          <p:nvPr/>
        </p:nvSpPr>
        <p:spPr>
          <a:xfrm>
            <a:off x="822960" y="5358384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Hint: padding adds 2 rows and 2 columns on each side — 4 in total per dimension.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23"/>
          <p:cNvSpPr txBox="1"/>
          <p:nvPr/>
        </p:nvSpPr>
        <p:spPr>
          <a:xfrm>
            <a:off x="548640" y="32918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PRACTICE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23"/>
          <p:cNvSpPr txBox="1"/>
          <p:nvPr/>
        </p:nvSpPr>
        <p:spPr>
          <a:xfrm>
            <a:off x="548640" y="594360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Solution, step by step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23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23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23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23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23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23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23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3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23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23"/>
          <p:cNvSpPr/>
          <p:nvPr/>
        </p:nvSpPr>
        <p:spPr>
          <a:xfrm>
            <a:off x="548640" y="1481328"/>
            <a:ext cx="7589520" cy="475488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23"/>
          <p:cNvSpPr/>
          <p:nvPr/>
        </p:nvSpPr>
        <p:spPr>
          <a:xfrm>
            <a:off x="777240" y="1627632"/>
            <a:ext cx="182880" cy="182880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23"/>
          <p:cNvSpPr txBox="1"/>
          <p:nvPr/>
        </p:nvSpPr>
        <p:spPr>
          <a:xfrm>
            <a:off x="1143000" y="160020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Convolutional layer — parameters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23"/>
          <p:cNvSpPr txBox="1"/>
          <p:nvPr/>
        </p:nvSpPr>
        <p:spPr>
          <a:xfrm>
            <a:off x="4709160" y="160020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6 × ( 5 × 5 + 1 bias )  =  156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23"/>
          <p:cNvSpPr/>
          <p:nvPr/>
        </p:nvSpPr>
        <p:spPr>
          <a:xfrm>
            <a:off x="548640" y="2029968"/>
            <a:ext cx="7589520" cy="475488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23"/>
          <p:cNvSpPr/>
          <p:nvPr/>
        </p:nvSpPr>
        <p:spPr>
          <a:xfrm>
            <a:off x="777240" y="2176272"/>
            <a:ext cx="182880" cy="182880"/>
          </a:xfrm>
          <a:prstGeom prst="rect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23"/>
          <p:cNvSpPr txBox="1"/>
          <p:nvPr/>
        </p:nvSpPr>
        <p:spPr>
          <a:xfrm>
            <a:off x="1143000" y="214884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Pooling layer — parameters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23"/>
          <p:cNvSpPr txBox="1"/>
          <p:nvPr/>
        </p:nvSpPr>
        <p:spPr>
          <a:xfrm>
            <a:off x="4709160" y="214884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  —  pooling has nothing to learn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23"/>
          <p:cNvSpPr/>
          <p:nvPr/>
        </p:nvSpPr>
        <p:spPr>
          <a:xfrm>
            <a:off x="548640" y="2578608"/>
            <a:ext cx="7589520" cy="475488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23"/>
          <p:cNvSpPr/>
          <p:nvPr/>
        </p:nvSpPr>
        <p:spPr>
          <a:xfrm>
            <a:off x="777240" y="2724912"/>
            <a:ext cx="182880" cy="18288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23"/>
          <p:cNvSpPr txBox="1"/>
          <p:nvPr/>
        </p:nvSpPr>
        <p:spPr>
          <a:xfrm>
            <a:off x="1143000" y="269748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Input size after padding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23"/>
          <p:cNvSpPr txBox="1"/>
          <p:nvPr/>
        </p:nvSpPr>
        <p:spPr>
          <a:xfrm>
            <a:off x="4709160" y="269748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32 + 2 × 2  =  36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23"/>
          <p:cNvSpPr/>
          <p:nvPr/>
        </p:nvSpPr>
        <p:spPr>
          <a:xfrm>
            <a:off x="548640" y="3127248"/>
            <a:ext cx="7589520" cy="475488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23"/>
          <p:cNvSpPr/>
          <p:nvPr/>
        </p:nvSpPr>
        <p:spPr>
          <a:xfrm>
            <a:off x="777240" y="3273552"/>
            <a:ext cx="182880" cy="18288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23"/>
          <p:cNvSpPr txBox="1"/>
          <p:nvPr/>
        </p:nvSpPr>
        <p:spPr>
          <a:xfrm>
            <a:off x="1143000" y="324612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Size after the convolution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23"/>
          <p:cNvSpPr txBox="1"/>
          <p:nvPr/>
        </p:nvSpPr>
        <p:spPr>
          <a:xfrm>
            <a:off x="4709160" y="324612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( 36 − 5 ) / 1 + 1  =  32   (same as the input)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23"/>
          <p:cNvSpPr/>
          <p:nvPr/>
        </p:nvSpPr>
        <p:spPr>
          <a:xfrm>
            <a:off x="548640" y="3675888"/>
            <a:ext cx="7589520" cy="475488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23"/>
          <p:cNvSpPr/>
          <p:nvPr/>
        </p:nvSpPr>
        <p:spPr>
          <a:xfrm>
            <a:off x="777240" y="3822192"/>
            <a:ext cx="182880" cy="18288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23"/>
          <p:cNvSpPr txBox="1"/>
          <p:nvPr/>
        </p:nvSpPr>
        <p:spPr>
          <a:xfrm>
            <a:off x="1143000" y="379476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Convolved feature 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23"/>
          <p:cNvSpPr txBox="1"/>
          <p:nvPr/>
        </p:nvSpPr>
        <p:spPr>
          <a:xfrm>
            <a:off x="4709160" y="379476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32 × 32 × 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23"/>
          <p:cNvSpPr/>
          <p:nvPr/>
        </p:nvSpPr>
        <p:spPr>
          <a:xfrm>
            <a:off x="548640" y="4224528"/>
            <a:ext cx="7589520" cy="475488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23"/>
          <p:cNvSpPr/>
          <p:nvPr/>
        </p:nvSpPr>
        <p:spPr>
          <a:xfrm>
            <a:off x="777240" y="4370832"/>
            <a:ext cx="182880" cy="18288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23"/>
          <p:cNvSpPr txBox="1"/>
          <p:nvPr/>
        </p:nvSpPr>
        <p:spPr>
          <a:xfrm>
            <a:off x="1143000" y="434340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Size after pooling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23"/>
          <p:cNvSpPr txBox="1"/>
          <p:nvPr/>
        </p:nvSpPr>
        <p:spPr>
          <a:xfrm>
            <a:off x="4709160" y="434340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( 32 − 2 ) / 2 + 1  = 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23"/>
          <p:cNvSpPr/>
          <p:nvPr/>
        </p:nvSpPr>
        <p:spPr>
          <a:xfrm>
            <a:off x="548640" y="4773168"/>
            <a:ext cx="7589520" cy="475488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23"/>
          <p:cNvSpPr/>
          <p:nvPr/>
        </p:nvSpPr>
        <p:spPr>
          <a:xfrm>
            <a:off x="777240" y="4919472"/>
            <a:ext cx="182880" cy="18288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3"/>
          <p:cNvSpPr txBox="1"/>
          <p:nvPr/>
        </p:nvSpPr>
        <p:spPr>
          <a:xfrm>
            <a:off x="1143000" y="489204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Input to the fully connected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23"/>
          <p:cNvSpPr txBox="1"/>
          <p:nvPr/>
        </p:nvSpPr>
        <p:spPr>
          <a:xfrm>
            <a:off x="4709160" y="489204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16 × 16 × 6  =  1 536 values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23"/>
          <p:cNvSpPr/>
          <p:nvPr/>
        </p:nvSpPr>
        <p:spPr>
          <a:xfrm>
            <a:off x="8412480" y="1481328"/>
            <a:ext cx="3200400" cy="2377440"/>
          </a:xfrm>
          <a:prstGeom prst="roundRect">
            <a:avLst>
              <a:gd fmla="val 2308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3"/>
          <p:cNvSpPr txBox="1"/>
          <p:nvPr/>
        </p:nvSpPr>
        <p:spPr>
          <a:xfrm>
            <a:off x="8686800" y="170992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Answer (b)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23"/>
          <p:cNvSpPr txBox="1"/>
          <p:nvPr/>
        </p:nvSpPr>
        <p:spPr>
          <a:xfrm>
            <a:off x="8686800" y="210312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( 1 536 + 1 ) × 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23"/>
          <p:cNvSpPr txBox="1"/>
          <p:nvPr/>
        </p:nvSpPr>
        <p:spPr>
          <a:xfrm>
            <a:off x="8686800" y="26517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0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E8930C"/>
                </a:solidFill>
                <a:latin typeface="Cambria"/>
                <a:ea typeface="Cambria"/>
                <a:cs typeface="Cambria"/>
                <a:sym typeface="Cambria"/>
              </a:rPr>
              <a:t>=  1 537 N weights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23"/>
          <p:cNvSpPr txBox="1"/>
          <p:nvPr/>
        </p:nvSpPr>
        <p:spPr>
          <a:xfrm>
            <a:off x="8686800" y="31089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BEE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6BEE6"/>
                </a:solidFill>
                <a:latin typeface="Calibri"/>
                <a:ea typeface="Calibri"/>
                <a:cs typeface="Calibri"/>
                <a:sym typeface="Calibri"/>
              </a:rPr>
              <a:t>for N output neurons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23"/>
          <p:cNvSpPr/>
          <p:nvPr/>
        </p:nvSpPr>
        <p:spPr>
          <a:xfrm>
            <a:off x="8412480" y="4069080"/>
            <a:ext cx="3200400" cy="1280160"/>
          </a:xfrm>
          <a:prstGeom prst="roundRect">
            <a:avLst>
              <a:gd fmla="val 4286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23"/>
          <p:cNvSpPr txBox="1"/>
          <p:nvPr/>
        </p:nvSpPr>
        <p:spPr>
          <a:xfrm>
            <a:off x="8686800" y="4251960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Take-away: 156 parameters in the conv layer, but over 1 500 × N in a single dense layer. The FC layers are where the weights live.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035"/>
        </a:solidFill>
      </p:bgPr>
    </p:bg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24"/>
          <p:cNvSpPr txBox="1"/>
          <p:nvPr/>
        </p:nvSpPr>
        <p:spPr>
          <a:xfrm>
            <a:off x="777240" y="1417320"/>
            <a:ext cx="29260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13000"/>
              <a:buFont typeface="Cambria"/>
              <a:buNone/>
            </a:pPr>
            <a:r>
              <a:rPr b="1" i="0" lang="en-US" sz="13000" u="none" cap="none" strike="noStrike">
                <a:solidFill>
                  <a:srgbClr val="2E1F5E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24"/>
          <p:cNvSpPr txBox="1"/>
          <p:nvPr/>
        </p:nvSpPr>
        <p:spPr>
          <a:xfrm>
            <a:off x="822960" y="3246120"/>
            <a:ext cx="6035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Landmark CNN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architectures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24"/>
          <p:cNvSpPr/>
          <p:nvPr/>
        </p:nvSpPr>
        <p:spPr>
          <a:xfrm>
            <a:off x="7360920" y="1883664"/>
            <a:ext cx="237744" cy="237744"/>
          </a:xfrm>
          <a:prstGeom prst="ellipse">
            <a:avLst/>
          </a:prstGeom>
          <a:solidFill>
            <a:srgbClr val="FF5E5B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24"/>
          <p:cNvSpPr txBox="1"/>
          <p:nvPr/>
        </p:nvSpPr>
        <p:spPr>
          <a:xfrm>
            <a:off x="7818120" y="181051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LeNet-5 and the ImageNet era: AlexNet, VGG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24"/>
          <p:cNvSpPr/>
          <p:nvPr/>
        </p:nvSpPr>
        <p:spPr>
          <a:xfrm>
            <a:off x="7360920" y="2843784"/>
            <a:ext cx="237744" cy="237744"/>
          </a:xfrm>
          <a:prstGeom prst="ellipse">
            <a:avLst/>
          </a:prstGeom>
          <a:solidFill>
            <a:srgbClr val="12A594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24"/>
          <p:cNvSpPr txBox="1"/>
          <p:nvPr/>
        </p:nvSpPr>
        <p:spPr>
          <a:xfrm>
            <a:off x="7818120" y="277063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GoogLeNet</a:t>
            </a:r>
            <a:r>
              <a:rPr b="0" i="0" lang="en-US" sz="1500" u="none" cap="none" strike="noStrike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 inception module and the 1 × 1 trick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24"/>
          <p:cNvSpPr/>
          <p:nvPr/>
        </p:nvSpPr>
        <p:spPr>
          <a:xfrm>
            <a:off x="7360920" y="3803904"/>
            <a:ext cx="237744" cy="237744"/>
          </a:xfrm>
          <a:prstGeom prst="ellipse">
            <a:avLst/>
          </a:prstGeom>
          <a:solidFill>
            <a:srgbClr val="E8930C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24"/>
          <p:cNvSpPr txBox="1"/>
          <p:nvPr/>
        </p:nvSpPr>
        <p:spPr>
          <a:xfrm>
            <a:off x="7818120" y="373075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ResNet, residual learning and transfer learning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24"/>
          <p:cNvSpPr/>
          <p:nvPr/>
        </p:nvSpPr>
        <p:spPr>
          <a:xfrm>
            <a:off x="11338560" y="384048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24"/>
          <p:cNvSpPr/>
          <p:nvPr/>
        </p:nvSpPr>
        <p:spPr>
          <a:xfrm>
            <a:off x="11462004" y="384048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24"/>
          <p:cNvSpPr/>
          <p:nvPr/>
        </p:nvSpPr>
        <p:spPr>
          <a:xfrm>
            <a:off x="11585448" y="384048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24"/>
          <p:cNvSpPr/>
          <p:nvPr/>
        </p:nvSpPr>
        <p:spPr>
          <a:xfrm>
            <a:off x="11338560" y="507492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24"/>
          <p:cNvSpPr/>
          <p:nvPr/>
        </p:nvSpPr>
        <p:spPr>
          <a:xfrm>
            <a:off x="11462004" y="507492"/>
            <a:ext cx="91440" cy="9144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24"/>
          <p:cNvSpPr/>
          <p:nvPr/>
        </p:nvSpPr>
        <p:spPr>
          <a:xfrm>
            <a:off x="11585448" y="507492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24"/>
          <p:cNvSpPr/>
          <p:nvPr/>
        </p:nvSpPr>
        <p:spPr>
          <a:xfrm>
            <a:off x="11338560" y="630936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24"/>
          <p:cNvSpPr/>
          <p:nvPr/>
        </p:nvSpPr>
        <p:spPr>
          <a:xfrm>
            <a:off x="11462004" y="630936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24"/>
          <p:cNvSpPr/>
          <p:nvPr/>
        </p:nvSpPr>
        <p:spPr>
          <a:xfrm>
            <a:off x="11585448" y="630936"/>
            <a:ext cx="91440" cy="9144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3f883da9c22_0_502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THE ORIGINAL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g3f883da9c22_0_502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LeNet-5  ·  LeCun et al., 1998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g3f883da9c22_0_502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g3f883da9c22_0_502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g3f883da9c22_0_502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g3f883da9c22_0_502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g3f883da9c22_0_502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g3f883da9c22_0_502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g3f883da9c22_0_502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g3f883da9c22_0_502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g3f883da9c22_0_502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g3f883da9c22_0_502"/>
          <p:cNvSpPr/>
          <p:nvPr/>
        </p:nvSpPr>
        <p:spPr>
          <a:xfrm>
            <a:off x="685800" y="2286000"/>
            <a:ext cx="1051500" cy="1051500"/>
          </a:xfrm>
          <a:prstGeom prst="rect">
            <a:avLst/>
          </a:prstGeom>
          <a:solidFill>
            <a:srgbClr val="DCD8E8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g3f883da9c22_0_502"/>
          <p:cNvSpPr txBox="1"/>
          <p:nvPr/>
        </p:nvSpPr>
        <p:spPr>
          <a:xfrm>
            <a:off x="548640" y="1764792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32 × 32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g3f883da9c22_0_502"/>
          <p:cNvSpPr/>
          <p:nvPr/>
        </p:nvSpPr>
        <p:spPr>
          <a:xfrm>
            <a:off x="2299716" y="2253996"/>
            <a:ext cx="914400" cy="9144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g3f883da9c22_0_502"/>
          <p:cNvSpPr/>
          <p:nvPr/>
        </p:nvSpPr>
        <p:spPr>
          <a:xfrm>
            <a:off x="2249424" y="2304288"/>
            <a:ext cx="914400" cy="9144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g3f883da9c22_0_502"/>
          <p:cNvSpPr/>
          <p:nvPr/>
        </p:nvSpPr>
        <p:spPr>
          <a:xfrm>
            <a:off x="2199132" y="2354580"/>
            <a:ext cx="914400" cy="9144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g3f883da9c22_0_502"/>
          <p:cNvSpPr/>
          <p:nvPr/>
        </p:nvSpPr>
        <p:spPr>
          <a:xfrm>
            <a:off x="2148840" y="2404872"/>
            <a:ext cx="914400" cy="914400"/>
          </a:xfrm>
          <a:prstGeom prst="rect">
            <a:avLst/>
          </a:prstGeom>
          <a:solidFill>
            <a:srgbClr val="CFCADF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g3f883da9c22_0_502"/>
          <p:cNvSpPr txBox="1"/>
          <p:nvPr/>
        </p:nvSpPr>
        <p:spPr>
          <a:xfrm>
            <a:off x="1874520" y="1673352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C1: feature maps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6@28 × 28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g3f883da9c22_0_502"/>
          <p:cNvSpPr/>
          <p:nvPr/>
        </p:nvSpPr>
        <p:spPr>
          <a:xfrm>
            <a:off x="3808476" y="2473452"/>
            <a:ext cx="658500" cy="6585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g3f883da9c22_0_502"/>
          <p:cNvSpPr/>
          <p:nvPr/>
        </p:nvSpPr>
        <p:spPr>
          <a:xfrm>
            <a:off x="3758184" y="2523744"/>
            <a:ext cx="658500" cy="6585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g3f883da9c22_0_502"/>
          <p:cNvSpPr/>
          <p:nvPr/>
        </p:nvSpPr>
        <p:spPr>
          <a:xfrm>
            <a:off x="3707892" y="2574036"/>
            <a:ext cx="658500" cy="6585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g3f883da9c22_0_502"/>
          <p:cNvSpPr/>
          <p:nvPr/>
        </p:nvSpPr>
        <p:spPr>
          <a:xfrm>
            <a:off x="3657600" y="2624328"/>
            <a:ext cx="658500" cy="658500"/>
          </a:xfrm>
          <a:prstGeom prst="rect">
            <a:avLst/>
          </a:prstGeom>
          <a:solidFill>
            <a:srgbClr val="CFCADF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g3f883da9c22_0_502"/>
          <p:cNvSpPr txBox="1"/>
          <p:nvPr/>
        </p:nvSpPr>
        <p:spPr>
          <a:xfrm>
            <a:off x="3429000" y="1965960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S2: f. maps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6@14 × 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g3f883da9c22_0_502"/>
          <p:cNvSpPr/>
          <p:nvPr/>
        </p:nvSpPr>
        <p:spPr>
          <a:xfrm>
            <a:off x="5280660" y="2226564"/>
            <a:ext cx="512100" cy="5121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g3f883da9c22_0_502"/>
          <p:cNvSpPr/>
          <p:nvPr/>
        </p:nvSpPr>
        <p:spPr>
          <a:xfrm>
            <a:off x="5230368" y="2276856"/>
            <a:ext cx="512100" cy="5121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g3f883da9c22_0_502"/>
          <p:cNvSpPr/>
          <p:nvPr/>
        </p:nvSpPr>
        <p:spPr>
          <a:xfrm>
            <a:off x="5180076" y="2327148"/>
            <a:ext cx="512100" cy="5121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g3f883da9c22_0_502"/>
          <p:cNvSpPr/>
          <p:nvPr/>
        </p:nvSpPr>
        <p:spPr>
          <a:xfrm>
            <a:off x="5129784" y="2377440"/>
            <a:ext cx="512100" cy="5121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g3f883da9c22_0_502"/>
          <p:cNvSpPr/>
          <p:nvPr/>
        </p:nvSpPr>
        <p:spPr>
          <a:xfrm>
            <a:off x="5079492" y="2427732"/>
            <a:ext cx="512100" cy="5121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g3f883da9c22_0_502"/>
          <p:cNvSpPr/>
          <p:nvPr/>
        </p:nvSpPr>
        <p:spPr>
          <a:xfrm>
            <a:off x="5029200" y="2478024"/>
            <a:ext cx="512100" cy="512100"/>
          </a:xfrm>
          <a:prstGeom prst="rect">
            <a:avLst/>
          </a:prstGeom>
          <a:solidFill>
            <a:srgbClr val="CFCADF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g3f883da9c22_0_502"/>
          <p:cNvSpPr txBox="1"/>
          <p:nvPr/>
        </p:nvSpPr>
        <p:spPr>
          <a:xfrm>
            <a:off x="4754880" y="1673352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C3: f. maps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16@10 ×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g3f883da9c22_0_502"/>
          <p:cNvSpPr/>
          <p:nvPr/>
        </p:nvSpPr>
        <p:spPr>
          <a:xfrm>
            <a:off x="6652260" y="2464308"/>
            <a:ext cx="329100" cy="3291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g3f883da9c22_0_502"/>
          <p:cNvSpPr/>
          <p:nvPr/>
        </p:nvSpPr>
        <p:spPr>
          <a:xfrm>
            <a:off x="6601968" y="2514600"/>
            <a:ext cx="329100" cy="3291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g3f883da9c22_0_502"/>
          <p:cNvSpPr/>
          <p:nvPr/>
        </p:nvSpPr>
        <p:spPr>
          <a:xfrm>
            <a:off x="6551676" y="2564892"/>
            <a:ext cx="329100" cy="3291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g3f883da9c22_0_502"/>
          <p:cNvSpPr/>
          <p:nvPr/>
        </p:nvSpPr>
        <p:spPr>
          <a:xfrm>
            <a:off x="6501384" y="2615184"/>
            <a:ext cx="329100" cy="3291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g3f883da9c22_0_502"/>
          <p:cNvSpPr/>
          <p:nvPr/>
        </p:nvSpPr>
        <p:spPr>
          <a:xfrm>
            <a:off x="6451092" y="2665476"/>
            <a:ext cx="329100" cy="3291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g3f883da9c22_0_502"/>
          <p:cNvSpPr/>
          <p:nvPr/>
        </p:nvSpPr>
        <p:spPr>
          <a:xfrm>
            <a:off x="6400800" y="2715768"/>
            <a:ext cx="329100" cy="329100"/>
          </a:xfrm>
          <a:prstGeom prst="rect">
            <a:avLst/>
          </a:prstGeom>
          <a:solidFill>
            <a:srgbClr val="CFCADF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g3f883da9c22_0_502"/>
          <p:cNvSpPr txBox="1"/>
          <p:nvPr/>
        </p:nvSpPr>
        <p:spPr>
          <a:xfrm>
            <a:off x="6126480" y="1965960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S4: f. maps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16@5 ×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g3f883da9c22_0_502"/>
          <p:cNvSpPr/>
          <p:nvPr/>
        </p:nvSpPr>
        <p:spPr>
          <a:xfrm>
            <a:off x="7680960" y="2377440"/>
            <a:ext cx="274200" cy="9600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g3f883da9c22_0_502"/>
          <p:cNvSpPr txBox="1"/>
          <p:nvPr/>
        </p:nvSpPr>
        <p:spPr>
          <a:xfrm>
            <a:off x="7223760" y="1874520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C5: layer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g3f883da9c22_0_502"/>
          <p:cNvSpPr/>
          <p:nvPr/>
        </p:nvSpPr>
        <p:spPr>
          <a:xfrm>
            <a:off x="8686800" y="2468880"/>
            <a:ext cx="274200" cy="777300"/>
          </a:xfrm>
          <a:prstGeom prst="rect">
            <a:avLst/>
          </a:prstGeom>
          <a:solidFill>
            <a:srgbClr val="E6E2F0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g3f883da9c22_0_502"/>
          <p:cNvSpPr txBox="1"/>
          <p:nvPr/>
        </p:nvSpPr>
        <p:spPr>
          <a:xfrm>
            <a:off x="8229600" y="1874520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F6: layer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g3f883da9c22_0_502"/>
          <p:cNvSpPr/>
          <p:nvPr/>
        </p:nvSpPr>
        <p:spPr>
          <a:xfrm>
            <a:off x="9692640" y="2606040"/>
            <a:ext cx="274200" cy="502800"/>
          </a:xfrm>
          <a:prstGeom prst="rect">
            <a:avLst/>
          </a:prstGeom>
          <a:solidFill>
            <a:srgbClr val="FBD5D3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g3f883da9c22_0_502"/>
          <p:cNvSpPr txBox="1"/>
          <p:nvPr/>
        </p:nvSpPr>
        <p:spPr>
          <a:xfrm>
            <a:off x="9235440" y="1874520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g3f883da9c22_0_502"/>
          <p:cNvSpPr/>
          <p:nvPr/>
        </p:nvSpPr>
        <p:spPr>
          <a:xfrm>
            <a:off x="1783080" y="2791206"/>
            <a:ext cx="164700" cy="138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g3f883da9c22_0_502"/>
          <p:cNvSpPr/>
          <p:nvPr/>
        </p:nvSpPr>
        <p:spPr>
          <a:xfrm rot="5400000">
            <a:off x="1961382" y="2729550"/>
            <a:ext cx="109800" cy="1371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g3f883da9c22_0_502"/>
          <p:cNvSpPr/>
          <p:nvPr/>
        </p:nvSpPr>
        <p:spPr>
          <a:xfrm>
            <a:off x="3273552" y="2791206"/>
            <a:ext cx="192000" cy="138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g3f883da9c22_0_502"/>
          <p:cNvSpPr/>
          <p:nvPr/>
        </p:nvSpPr>
        <p:spPr>
          <a:xfrm rot="5400000">
            <a:off x="3479286" y="2729550"/>
            <a:ext cx="109800" cy="1371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g3f883da9c22_0_502"/>
          <p:cNvSpPr/>
          <p:nvPr/>
        </p:nvSpPr>
        <p:spPr>
          <a:xfrm>
            <a:off x="4517136" y="2791206"/>
            <a:ext cx="320100" cy="138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g3f883da9c22_0_502"/>
          <p:cNvSpPr/>
          <p:nvPr/>
        </p:nvSpPr>
        <p:spPr>
          <a:xfrm rot="5400000">
            <a:off x="4850886" y="2729550"/>
            <a:ext cx="109800" cy="1371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g3f883da9c22_0_502"/>
          <p:cNvSpPr/>
          <p:nvPr/>
        </p:nvSpPr>
        <p:spPr>
          <a:xfrm>
            <a:off x="5843016" y="2791206"/>
            <a:ext cx="356700" cy="138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g3f883da9c22_0_502"/>
          <p:cNvSpPr/>
          <p:nvPr/>
        </p:nvSpPr>
        <p:spPr>
          <a:xfrm rot="5400000">
            <a:off x="6213342" y="2729550"/>
            <a:ext cx="109800" cy="1371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g3f883da9c22_0_502"/>
          <p:cNvSpPr/>
          <p:nvPr/>
        </p:nvSpPr>
        <p:spPr>
          <a:xfrm>
            <a:off x="7031736" y="2791206"/>
            <a:ext cx="448200" cy="138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g3f883da9c22_0_502"/>
          <p:cNvSpPr/>
          <p:nvPr/>
        </p:nvSpPr>
        <p:spPr>
          <a:xfrm rot="5400000">
            <a:off x="7493502" y="2729550"/>
            <a:ext cx="109800" cy="1371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g3f883da9c22_0_502"/>
          <p:cNvSpPr/>
          <p:nvPr/>
        </p:nvSpPr>
        <p:spPr>
          <a:xfrm>
            <a:off x="8001000" y="2791206"/>
            <a:ext cx="484500" cy="138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g3f883da9c22_0_502"/>
          <p:cNvSpPr/>
          <p:nvPr/>
        </p:nvSpPr>
        <p:spPr>
          <a:xfrm rot="5400000">
            <a:off x="8499342" y="2729550"/>
            <a:ext cx="109800" cy="1371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g3f883da9c22_0_502"/>
          <p:cNvSpPr/>
          <p:nvPr/>
        </p:nvSpPr>
        <p:spPr>
          <a:xfrm>
            <a:off x="9006840" y="2791206"/>
            <a:ext cx="484500" cy="138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g3f883da9c22_0_502"/>
          <p:cNvSpPr/>
          <p:nvPr/>
        </p:nvSpPr>
        <p:spPr>
          <a:xfrm rot="5400000">
            <a:off x="9505182" y="2729550"/>
            <a:ext cx="109800" cy="1371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g3f883da9c22_0_502"/>
          <p:cNvSpPr txBox="1"/>
          <p:nvPr/>
        </p:nvSpPr>
        <p:spPr>
          <a:xfrm>
            <a:off x="1289304" y="358444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Convolutions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g3f883da9c22_0_502"/>
          <p:cNvSpPr txBox="1"/>
          <p:nvPr/>
        </p:nvSpPr>
        <p:spPr>
          <a:xfrm>
            <a:off x="2798064" y="358444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Subsampling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g3f883da9c22_0_502"/>
          <p:cNvSpPr txBox="1"/>
          <p:nvPr/>
        </p:nvSpPr>
        <p:spPr>
          <a:xfrm>
            <a:off x="4105656" y="358444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Convolutions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g3f883da9c22_0_502"/>
          <p:cNvSpPr txBox="1"/>
          <p:nvPr/>
        </p:nvSpPr>
        <p:spPr>
          <a:xfrm>
            <a:off x="5449824" y="358444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Subsampling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g3f883da9c22_0_502"/>
          <p:cNvSpPr txBox="1"/>
          <p:nvPr/>
        </p:nvSpPr>
        <p:spPr>
          <a:xfrm>
            <a:off x="6848856" y="3584448"/>
            <a:ext cx="960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Full connection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g3f883da9c22_0_502"/>
          <p:cNvSpPr txBox="1"/>
          <p:nvPr/>
        </p:nvSpPr>
        <p:spPr>
          <a:xfrm>
            <a:off x="7836408" y="3584448"/>
            <a:ext cx="960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Full connection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g3f883da9c22_0_502"/>
          <p:cNvSpPr txBox="1"/>
          <p:nvPr/>
        </p:nvSpPr>
        <p:spPr>
          <a:xfrm>
            <a:off x="8851392" y="358444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Gaussian connections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g3f883da9c22_0_502"/>
          <p:cNvSpPr/>
          <p:nvPr/>
        </p:nvSpPr>
        <p:spPr>
          <a:xfrm>
            <a:off x="1325880" y="4069080"/>
            <a:ext cx="12801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g3f883da9c22_0_502"/>
          <p:cNvSpPr txBox="1"/>
          <p:nvPr/>
        </p:nvSpPr>
        <p:spPr>
          <a:xfrm>
            <a:off x="1399032" y="4187952"/>
            <a:ext cx="113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1F5E"/>
                </a:solidFill>
                <a:latin typeface="Calibri"/>
                <a:ea typeface="Calibri"/>
                <a:cs typeface="Calibri"/>
                <a:sym typeface="Calibri"/>
              </a:rPr>
              <a:t>Filter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1F5E"/>
                </a:solidFill>
                <a:latin typeface="Calibri"/>
                <a:ea typeface="Calibri"/>
                <a:cs typeface="Calibri"/>
                <a:sym typeface="Calibri"/>
              </a:rPr>
              <a:t>6@5 ×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1F5E"/>
                </a:solidFill>
                <a:latin typeface="Calibri"/>
                <a:ea typeface="Calibri"/>
                <a:cs typeface="Calibri"/>
                <a:sym typeface="Calibri"/>
              </a:rPr>
              <a:t>stride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g3f883da9c22_0_502"/>
          <p:cNvSpPr/>
          <p:nvPr/>
        </p:nvSpPr>
        <p:spPr>
          <a:xfrm>
            <a:off x="2697480" y="4069080"/>
            <a:ext cx="12801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g3f883da9c22_0_502"/>
          <p:cNvSpPr txBox="1"/>
          <p:nvPr/>
        </p:nvSpPr>
        <p:spPr>
          <a:xfrm>
            <a:off x="2770632" y="4187952"/>
            <a:ext cx="113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Pooling filter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size 2 ×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stride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g3f883da9c22_0_502"/>
          <p:cNvSpPr/>
          <p:nvPr/>
        </p:nvSpPr>
        <p:spPr>
          <a:xfrm>
            <a:off x="4069080" y="4069080"/>
            <a:ext cx="12801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g3f883da9c22_0_502"/>
          <p:cNvSpPr txBox="1"/>
          <p:nvPr/>
        </p:nvSpPr>
        <p:spPr>
          <a:xfrm>
            <a:off x="4142232" y="4187952"/>
            <a:ext cx="113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1F5E"/>
                </a:solidFill>
                <a:latin typeface="Calibri"/>
                <a:ea typeface="Calibri"/>
                <a:cs typeface="Calibri"/>
                <a:sym typeface="Calibri"/>
              </a:rPr>
              <a:t>Filter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1F5E"/>
                </a:solidFill>
                <a:latin typeface="Calibri"/>
                <a:ea typeface="Calibri"/>
                <a:cs typeface="Calibri"/>
                <a:sym typeface="Calibri"/>
              </a:rPr>
              <a:t>16@5 ×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1F5E"/>
                </a:solidFill>
                <a:latin typeface="Calibri"/>
                <a:ea typeface="Calibri"/>
                <a:cs typeface="Calibri"/>
                <a:sym typeface="Calibri"/>
              </a:rPr>
              <a:t>stride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g3f883da9c22_0_502"/>
          <p:cNvSpPr/>
          <p:nvPr/>
        </p:nvSpPr>
        <p:spPr>
          <a:xfrm>
            <a:off x="5440680" y="4069080"/>
            <a:ext cx="12801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g3f883da9c22_0_502"/>
          <p:cNvSpPr txBox="1"/>
          <p:nvPr/>
        </p:nvSpPr>
        <p:spPr>
          <a:xfrm>
            <a:off x="5513832" y="4187952"/>
            <a:ext cx="113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Pooling filter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size 2 ×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stride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g3f883da9c22_0_502"/>
          <p:cNvSpPr txBox="1"/>
          <p:nvPr/>
        </p:nvSpPr>
        <p:spPr>
          <a:xfrm>
            <a:off x="7223760" y="4114800"/>
            <a:ext cx="43890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Alternating convolution and subsampling, then fully connected layers — the blueprint every later architecture follows.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Roughly 60 000 parameters, trained to read handwritten digits on 32 × 32 </a:t>
            </a:r>
            <a:r>
              <a:rPr lang="en-US" sz="1250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grayscale</a:t>
            </a: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 images.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3f883da9c22_0_579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THE BENCHMARK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g3f883da9c22_0_579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ImageNet — Large Scale Visual Recognition Challenge (ILSVRC) winners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g3f883da9c22_0_579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g3f883da9c22_0_579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g3f883da9c22_0_579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g3f883da9c22_0_579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g3f883da9c22_0_579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g3f883da9c22_0_579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g3f883da9c22_0_579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g3f883da9c22_0_579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g3f883da9c22_0_579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g3f883da9c22_0_579"/>
          <p:cNvSpPr/>
          <p:nvPr/>
        </p:nvSpPr>
        <p:spPr>
          <a:xfrm>
            <a:off x="1188720" y="5138928"/>
            <a:ext cx="10287000" cy="72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g3f883da9c22_0_579"/>
          <p:cNvSpPr txBox="1"/>
          <p:nvPr/>
        </p:nvSpPr>
        <p:spPr>
          <a:xfrm>
            <a:off x="658368" y="5038344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g3f883da9c22_0_579"/>
          <p:cNvSpPr/>
          <p:nvPr/>
        </p:nvSpPr>
        <p:spPr>
          <a:xfrm>
            <a:off x="1188720" y="4599432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g3f883da9c22_0_579"/>
          <p:cNvSpPr txBox="1"/>
          <p:nvPr/>
        </p:nvSpPr>
        <p:spPr>
          <a:xfrm>
            <a:off x="658368" y="4498848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g3f883da9c22_0_579"/>
          <p:cNvSpPr/>
          <p:nvPr/>
        </p:nvSpPr>
        <p:spPr>
          <a:xfrm>
            <a:off x="1188720" y="4059936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g3f883da9c22_0_579"/>
          <p:cNvSpPr txBox="1"/>
          <p:nvPr/>
        </p:nvSpPr>
        <p:spPr>
          <a:xfrm>
            <a:off x="658368" y="3959352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g3f883da9c22_0_579"/>
          <p:cNvSpPr/>
          <p:nvPr/>
        </p:nvSpPr>
        <p:spPr>
          <a:xfrm>
            <a:off x="1188720" y="3520440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g3f883da9c22_0_579"/>
          <p:cNvSpPr txBox="1"/>
          <p:nvPr/>
        </p:nvSpPr>
        <p:spPr>
          <a:xfrm>
            <a:off x="658368" y="3419856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g3f883da9c22_0_579"/>
          <p:cNvSpPr/>
          <p:nvPr/>
        </p:nvSpPr>
        <p:spPr>
          <a:xfrm>
            <a:off x="1188720" y="2980944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g3f883da9c22_0_579"/>
          <p:cNvSpPr txBox="1"/>
          <p:nvPr/>
        </p:nvSpPr>
        <p:spPr>
          <a:xfrm>
            <a:off x="658368" y="2880360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g3f883da9c22_0_579"/>
          <p:cNvSpPr/>
          <p:nvPr/>
        </p:nvSpPr>
        <p:spPr>
          <a:xfrm>
            <a:off x="1188720" y="2441448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g3f883da9c22_0_579"/>
          <p:cNvSpPr txBox="1"/>
          <p:nvPr/>
        </p:nvSpPr>
        <p:spPr>
          <a:xfrm>
            <a:off x="658368" y="2340864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g3f883da9c22_0_579"/>
          <p:cNvSpPr/>
          <p:nvPr/>
        </p:nvSpPr>
        <p:spPr>
          <a:xfrm>
            <a:off x="1188720" y="1901952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g3f883da9c22_0_579"/>
          <p:cNvSpPr txBox="1"/>
          <p:nvPr/>
        </p:nvSpPr>
        <p:spPr>
          <a:xfrm>
            <a:off x="658368" y="1801368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g3f883da9c22_0_579"/>
          <p:cNvSpPr/>
          <p:nvPr/>
        </p:nvSpPr>
        <p:spPr>
          <a:xfrm>
            <a:off x="1431036" y="2096171"/>
            <a:ext cx="658500" cy="30429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g3f883da9c22_0_579"/>
          <p:cNvSpPr txBox="1"/>
          <p:nvPr/>
        </p:nvSpPr>
        <p:spPr>
          <a:xfrm>
            <a:off x="1303020" y="1840139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28.2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g3f883da9c22_0_579"/>
          <p:cNvSpPr txBox="1"/>
          <p:nvPr/>
        </p:nvSpPr>
        <p:spPr>
          <a:xfrm>
            <a:off x="1193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g3f883da9c22_0_579"/>
          <p:cNvSpPr txBox="1"/>
          <p:nvPr/>
        </p:nvSpPr>
        <p:spPr>
          <a:xfrm>
            <a:off x="1138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Lin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g3f883da9c22_0_579"/>
          <p:cNvSpPr/>
          <p:nvPr/>
        </p:nvSpPr>
        <p:spPr>
          <a:xfrm>
            <a:off x="2574036" y="2355129"/>
            <a:ext cx="658500" cy="27837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g3f883da9c22_0_579"/>
          <p:cNvSpPr txBox="1"/>
          <p:nvPr/>
        </p:nvSpPr>
        <p:spPr>
          <a:xfrm>
            <a:off x="2446020" y="2099097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25.8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g3f883da9c22_0_579"/>
          <p:cNvSpPr txBox="1"/>
          <p:nvPr/>
        </p:nvSpPr>
        <p:spPr>
          <a:xfrm>
            <a:off x="2336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g3f883da9c22_0_579"/>
          <p:cNvSpPr txBox="1"/>
          <p:nvPr/>
        </p:nvSpPr>
        <p:spPr>
          <a:xfrm>
            <a:off x="2281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Sanchez &amp;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Perronnin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g3f883da9c22_0_579"/>
          <p:cNvSpPr/>
          <p:nvPr/>
        </p:nvSpPr>
        <p:spPr>
          <a:xfrm>
            <a:off x="3717036" y="3369381"/>
            <a:ext cx="658500" cy="17694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g3f883da9c22_0_579"/>
          <p:cNvSpPr txBox="1"/>
          <p:nvPr/>
        </p:nvSpPr>
        <p:spPr>
          <a:xfrm>
            <a:off x="3589020" y="3113349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16.4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g3f883da9c22_0_579"/>
          <p:cNvSpPr txBox="1"/>
          <p:nvPr/>
        </p:nvSpPr>
        <p:spPr>
          <a:xfrm>
            <a:off x="3479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g3f883da9c22_0_579"/>
          <p:cNvSpPr txBox="1"/>
          <p:nvPr/>
        </p:nvSpPr>
        <p:spPr>
          <a:xfrm>
            <a:off x="3424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Krizhevsky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(AlexNet)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g3f883da9c22_0_579"/>
          <p:cNvSpPr/>
          <p:nvPr/>
        </p:nvSpPr>
        <p:spPr>
          <a:xfrm>
            <a:off x="4860036" y="3876507"/>
            <a:ext cx="658500" cy="12624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g3f883da9c22_0_579"/>
          <p:cNvSpPr txBox="1"/>
          <p:nvPr/>
        </p:nvSpPr>
        <p:spPr>
          <a:xfrm>
            <a:off x="4732020" y="3620475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11.7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g3f883da9c22_0_579"/>
          <p:cNvSpPr txBox="1"/>
          <p:nvPr/>
        </p:nvSpPr>
        <p:spPr>
          <a:xfrm>
            <a:off x="4622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g3f883da9c22_0_579"/>
          <p:cNvSpPr txBox="1"/>
          <p:nvPr/>
        </p:nvSpPr>
        <p:spPr>
          <a:xfrm>
            <a:off x="4567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Zeiler &amp;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Fergus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g3f883da9c22_0_579"/>
          <p:cNvSpPr/>
          <p:nvPr/>
        </p:nvSpPr>
        <p:spPr>
          <a:xfrm>
            <a:off x="6003036" y="4351264"/>
            <a:ext cx="658500" cy="7878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g3f883da9c22_0_579"/>
          <p:cNvSpPr txBox="1"/>
          <p:nvPr/>
        </p:nvSpPr>
        <p:spPr>
          <a:xfrm>
            <a:off x="5875020" y="4095232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7.3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g3f883da9c22_0_579"/>
          <p:cNvSpPr txBox="1"/>
          <p:nvPr/>
        </p:nvSpPr>
        <p:spPr>
          <a:xfrm>
            <a:off x="5765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g3f883da9c22_0_579"/>
          <p:cNvSpPr txBox="1"/>
          <p:nvPr/>
        </p:nvSpPr>
        <p:spPr>
          <a:xfrm>
            <a:off x="5710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Simonyan &amp;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Zisserman (VGG)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g3f883da9c22_0_579"/>
          <p:cNvSpPr/>
          <p:nvPr/>
        </p:nvSpPr>
        <p:spPr>
          <a:xfrm>
            <a:off x="7146036" y="4416003"/>
            <a:ext cx="658500" cy="7230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g3f883da9c22_0_579"/>
          <p:cNvSpPr txBox="1"/>
          <p:nvPr/>
        </p:nvSpPr>
        <p:spPr>
          <a:xfrm>
            <a:off x="7018020" y="4159971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6.7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g3f883da9c22_0_579"/>
          <p:cNvSpPr txBox="1"/>
          <p:nvPr/>
        </p:nvSpPr>
        <p:spPr>
          <a:xfrm>
            <a:off x="6908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g3f883da9c22_0_579"/>
          <p:cNvSpPr txBox="1"/>
          <p:nvPr/>
        </p:nvSpPr>
        <p:spPr>
          <a:xfrm>
            <a:off x="6853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Szegedy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(GoogLeNet)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g3f883da9c22_0_579"/>
          <p:cNvSpPr/>
          <p:nvPr/>
        </p:nvSpPr>
        <p:spPr>
          <a:xfrm>
            <a:off x="8289036" y="4750491"/>
            <a:ext cx="658500" cy="3885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g3f883da9c22_0_579"/>
          <p:cNvSpPr txBox="1"/>
          <p:nvPr/>
        </p:nvSpPr>
        <p:spPr>
          <a:xfrm>
            <a:off x="8161020" y="4494459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3.6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g3f883da9c22_0_579"/>
          <p:cNvSpPr txBox="1"/>
          <p:nvPr/>
        </p:nvSpPr>
        <p:spPr>
          <a:xfrm>
            <a:off x="8051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g3f883da9c22_0_579"/>
          <p:cNvSpPr txBox="1"/>
          <p:nvPr/>
        </p:nvSpPr>
        <p:spPr>
          <a:xfrm>
            <a:off x="7996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He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(ResNet)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g3f883da9c22_0_579"/>
          <p:cNvSpPr/>
          <p:nvPr/>
        </p:nvSpPr>
        <p:spPr>
          <a:xfrm>
            <a:off x="9432036" y="4815230"/>
            <a:ext cx="658500" cy="3237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g3f883da9c22_0_579"/>
          <p:cNvSpPr txBox="1"/>
          <p:nvPr/>
        </p:nvSpPr>
        <p:spPr>
          <a:xfrm>
            <a:off x="9304020" y="455919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g3f883da9c22_0_579"/>
          <p:cNvSpPr txBox="1"/>
          <p:nvPr/>
        </p:nvSpPr>
        <p:spPr>
          <a:xfrm>
            <a:off x="9194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g3f883da9c22_0_579"/>
          <p:cNvSpPr txBox="1"/>
          <p:nvPr/>
        </p:nvSpPr>
        <p:spPr>
          <a:xfrm>
            <a:off x="9139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Shao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g3f883da9c22_0_579"/>
          <p:cNvSpPr/>
          <p:nvPr/>
        </p:nvSpPr>
        <p:spPr>
          <a:xfrm>
            <a:off x="10575036" y="4890760"/>
            <a:ext cx="658500" cy="248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g3f883da9c22_0_579"/>
          <p:cNvSpPr txBox="1"/>
          <p:nvPr/>
        </p:nvSpPr>
        <p:spPr>
          <a:xfrm>
            <a:off x="10447020" y="463472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2.3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g3f883da9c22_0_579"/>
          <p:cNvSpPr txBox="1"/>
          <p:nvPr/>
        </p:nvSpPr>
        <p:spPr>
          <a:xfrm>
            <a:off x="10337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g3f883da9c22_0_579"/>
          <p:cNvSpPr txBox="1"/>
          <p:nvPr/>
        </p:nvSpPr>
        <p:spPr>
          <a:xfrm>
            <a:off x="10282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Hu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(SENet)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g3f883da9c22_0_579"/>
          <p:cNvSpPr/>
          <p:nvPr/>
        </p:nvSpPr>
        <p:spPr>
          <a:xfrm>
            <a:off x="1760220" y="5025542"/>
            <a:ext cx="1143000" cy="11100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g3f883da9c22_0_579"/>
          <p:cNvSpPr/>
          <p:nvPr/>
        </p:nvSpPr>
        <p:spPr>
          <a:xfrm rot="-64958">
            <a:off x="2903164" y="5014741"/>
            <a:ext cx="1143204" cy="11104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g3f883da9c22_0_579"/>
          <p:cNvSpPr/>
          <p:nvPr/>
        </p:nvSpPr>
        <p:spPr>
          <a:xfrm rot="-64958">
            <a:off x="4046164" y="4993162"/>
            <a:ext cx="1143204" cy="11104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g3f883da9c22_0_579"/>
          <p:cNvSpPr/>
          <p:nvPr/>
        </p:nvSpPr>
        <p:spPr>
          <a:xfrm rot="-388134">
            <a:off x="5185541" y="4917584"/>
            <a:ext cx="1150324" cy="10866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g3f883da9c22_0_579"/>
          <p:cNvSpPr/>
          <p:nvPr/>
        </p:nvSpPr>
        <p:spPr>
          <a:xfrm rot="-194687">
            <a:off x="6331292" y="4820504"/>
            <a:ext cx="1144835" cy="11116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g3f883da9c22_0_579"/>
          <p:cNvSpPr/>
          <p:nvPr/>
        </p:nvSpPr>
        <p:spPr>
          <a:xfrm rot="-3711094">
            <a:off x="6835255" y="3720027"/>
            <a:ext cx="2422855" cy="10871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g3f883da9c22_0_579"/>
          <p:cNvSpPr/>
          <p:nvPr/>
        </p:nvSpPr>
        <p:spPr>
          <a:xfrm>
            <a:off x="8618220" y="2651760"/>
            <a:ext cx="1143000" cy="11100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g3f883da9c22_0_579"/>
          <p:cNvSpPr/>
          <p:nvPr/>
        </p:nvSpPr>
        <p:spPr>
          <a:xfrm>
            <a:off x="9761220" y="2651760"/>
            <a:ext cx="1143000" cy="11100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g3f883da9c22_0_579"/>
          <p:cNvSpPr/>
          <p:nvPr/>
        </p:nvSpPr>
        <p:spPr>
          <a:xfrm>
            <a:off x="1659636" y="4939589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g3f883da9c22_0_579"/>
          <p:cNvSpPr/>
          <p:nvPr/>
        </p:nvSpPr>
        <p:spPr>
          <a:xfrm>
            <a:off x="2802636" y="4939589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g3f883da9c22_0_579"/>
          <p:cNvSpPr/>
          <p:nvPr/>
        </p:nvSpPr>
        <p:spPr>
          <a:xfrm>
            <a:off x="3945636" y="4918009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g3f883da9c22_0_579"/>
          <p:cNvSpPr/>
          <p:nvPr/>
        </p:nvSpPr>
        <p:spPr>
          <a:xfrm>
            <a:off x="5088636" y="4896429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g3f883da9c22_0_579"/>
          <p:cNvSpPr/>
          <p:nvPr/>
        </p:nvSpPr>
        <p:spPr>
          <a:xfrm>
            <a:off x="6231636" y="4766950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g3f883da9c22_0_579"/>
          <p:cNvSpPr/>
          <p:nvPr/>
        </p:nvSpPr>
        <p:spPr>
          <a:xfrm>
            <a:off x="7374636" y="4702211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g3f883da9c22_0_579"/>
          <p:cNvSpPr/>
          <p:nvPr/>
        </p:nvSpPr>
        <p:spPr>
          <a:xfrm>
            <a:off x="8517636" y="2565806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g3f883da9c22_0_579"/>
          <p:cNvSpPr/>
          <p:nvPr/>
        </p:nvSpPr>
        <p:spPr>
          <a:xfrm>
            <a:off x="9660636" y="2565806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g3f883da9c22_0_579"/>
          <p:cNvSpPr/>
          <p:nvPr/>
        </p:nvSpPr>
        <p:spPr>
          <a:xfrm>
            <a:off x="10803636" y="2565806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g3f883da9c22_0_579"/>
          <p:cNvSpPr/>
          <p:nvPr/>
        </p:nvSpPr>
        <p:spPr>
          <a:xfrm>
            <a:off x="1303020" y="4431548"/>
            <a:ext cx="21489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shallow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g3f883da9c22_0_579"/>
          <p:cNvSpPr/>
          <p:nvPr/>
        </p:nvSpPr>
        <p:spPr>
          <a:xfrm>
            <a:off x="3589020" y="4431548"/>
            <a:ext cx="9144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8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g3f883da9c22_0_579"/>
          <p:cNvSpPr/>
          <p:nvPr/>
        </p:nvSpPr>
        <p:spPr>
          <a:xfrm>
            <a:off x="4732020" y="4431548"/>
            <a:ext cx="9144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8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g3f883da9c22_0_579"/>
          <p:cNvSpPr/>
          <p:nvPr/>
        </p:nvSpPr>
        <p:spPr>
          <a:xfrm>
            <a:off x="5829300" y="3751783"/>
            <a:ext cx="10059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19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g3f883da9c22_0_579"/>
          <p:cNvSpPr/>
          <p:nvPr/>
        </p:nvSpPr>
        <p:spPr>
          <a:xfrm>
            <a:off x="6972300" y="3751783"/>
            <a:ext cx="10059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22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g3f883da9c22_0_579"/>
          <p:cNvSpPr/>
          <p:nvPr/>
        </p:nvSpPr>
        <p:spPr>
          <a:xfrm>
            <a:off x="8087868" y="2025396"/>
            <a:ext cx="10608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152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g3f883da9c22_0_579"/>
          <p:cNvSpPr/>
          <p:nvPr/>
        </p:nvSpPr>
        <p:spPr>
          <a:xfrm>
            <a:off x="9230868" y="2025396"/>
            <a:ext cx="10608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152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g3f883da9c22_0_579"/>
          <p:cNvSpPr/>
          <p:nvPr/>
        </p:nvSpPr>
        <p:spPr>
          <a:xfrm>
            <a:off x="10373868" y="2025396"/>
            <a:ext cx="10608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152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g3f883da9c22_0_579"/>
          <p:cNvSpPr/>
          <p:nvPr/>
        </p:nvSpPr>
        <p:spPr>
          <a:xfrm>
            <a:off x="3479292" y="3142793"/>
            <a:ext cx="1134000" cy="2709300"/>
          </a:xfrm>
          <a:prstGeom prst="rect">
            <a:avLst/>
          </a:prstGeom>
          <a:noFill/>
          <a:ln cap="flat" cmpd="sng" w="254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g3f883da9c22_0_579"/>
          <p:cNvSpPr txBox="1"/>
          <p:nvPr/>
        </p:nvSpPr>
        <p:spPr>
          <a:xfrm>
            <a:off x="3246120" y="1572768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First 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3f883da9c22_0_671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THE BREAKTHROUGH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g3f883da9c22_0_671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AlexNet  ·  Krizhevsky et al., 2012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0" name="Google Shape;1590;g3f883da9c22_0_6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988" y="1210385"/>
            <a:ext cx="11612027" cy="527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3f883da9c22_0_678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TENSOR SIZES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g3f883da9c22_0_678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AlexNet, volume by volume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g3f883da9c22_0_678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g3f883da9c22_0_678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g3f883da9c22_0_678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g3f883da9c22_0_678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g3f883da9c22_0_678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g3f883da9c22_0_678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g3f883da9c22_0_678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g3f883da9c22_0_678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g3f883da9c22_0_678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g3f883da9c22_0_678"/>
          <p:cNvSpPr/>
          <p:nvPr/>
        </p:nvSpPr>
        <p:spPr>
          <a:xfrm>
            <a:off x="685800" y="1783080"/>
            <a:ext cx="1051500" cy="1051500"/>
          </a:xfrm>
          <a:prstGeom prst="rect">
            <a:avLst/>
          </a:prstGeom>
          <a:solidFill>
            <a:srgbClr val="F3D9A6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g3f883da9c22_0_678"/>
          <p:cNvSpPr txBox="1"/>
          <p:nvPr/>
        </p:nvSpPr>
        <p:spPr>
          <a:xfrm>
            <a:off x="274320" y="2889504"/>
            <a:ext cx="187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227 × 227 ×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g3f883da9c22_0_678"/>
          <p:cNvSpPr txBox="1"/>
          <p:nvPr/>
        </p:nvSpPr>
        <p:spPr>
          <a:xfrm>
            <a:off x="274320" y="1527048"/>
            <a:ext cx="187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g3f883da9c22_0_678"/>
          <p:cNvSpPr/>
          <p:nvPr/>
        </p:nvSpPr>
        <p:spPr>
          <a:xfrm>
            <a:off x="2606040" y="1965960"/>
            <a:ext cx="685800" cy="685800"/>
          </a:xfrm>
          <a:prstGeom prst="rect">
            <a:avLst/>
          </a:prstGeom>
          <a:solidFill>
            <a:srgbClr val="F3D9A6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g3f883da9c22_0_678"/>
          <p:cNvSpPr txBox="1"/>
          <p:nvPr/>
        </p:nvSpPr>
        <p:spPr>
          <a:xfrm>
            <a:off x="2194560" y="2706624"/>
            <a:ext cx="150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55 × 55 × 96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g3f883da9c22_0_678"/>
          <p:cNvSpPr txBox="1"/>
          <p:nvPr/>
        </p:nvSpPr>
        <p:spPr>
          <a:xfrm>
            <a:off x="2194560" y="1709928"/>
            <a:ext cx="150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(227−11)/4 + 1 = 55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g3f883da9c22_0_678"/>
          <p:cNvSpPr/>
          <p:nvPr/>
        </p:nvSpPr>
        <p:spPr>
          <a:xfrm>
            <a:off x="4160520" y="2121408"/>
            <a:ext cx="457200" cy="457200"/>
          </a:xfrm>
          <a:prstGeom prst="rect">
            <a:avLst/>
          </a:prstGeom>
          <a:solidFill>
            <a:srgbClr val="F3D9A6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g3f883da9c22_0_678"/>
          <p:cNvSpPr txBox="1"/>
          <p:nvPr/>
        </p:nvSpPr>
        <p:spPr>
          <a:xfrm>
            <a:off x="3749040" y="2633472"/>
            <a:ext cx="128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27 × 27 × 96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g3f883da9c22_0_678"/>
          <p:cNvSpPr txBox="1"/>
          <p:nvPr/>
        </p:nvSpPr>
        <p:spPr>
          <a:xfrm>
            <a:off x="3749040" y="1865376"/>
            <a:ext cx="128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(55−3)/2 + 1 = 27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g3f883da9c22_0_678"/>
          <p:cNvSpPr/>
          <p:nvPr/>
        </p:nvSpPr>
        <p:spPr>
          <a:xfrm>
            <a:off x="5715000" y="2121408"/>
            <a:ext cx="457200" cy="457200"/>
          </a:xfrm>
          <a:prstGeom prst="rect">
            <a:avLst/>
          </a:prstGeom>
          <a:solidFill>
            <a:srgbClr val="E8B06A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g3f883da9c22_0_678"/>
          <p:cNvSpPr txBox="1"/>
          <p:nvPr/>
        </p:nvSpPr>
        <p:spPr>
          <a:xfrm>
            <a:off x="5303520" y="2633472"/>
            <a:ext cx="128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27 × 27 × 256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g3f883da9c22_0_678"/>
          <p:cNvSpPr txBox="1"/>
          <p:nvPr/>
        </p:nvSpPr>
        <p:spPr>
          <a:xfrm>
            <a:off x="5303520" y="1865376"/>
            <a:ext cx="128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(27+2·2−5)/1 + 1 = 27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g3f883da9c22_0_678"/>
          <p:cNvSpPr/>
          <p:nvPr/>
        </p:nvSpPr>
        <p:spPr>
          <a:xfrm>
            <a:off x="7269480" y="2231136"/>
            <a:ext cx="292500" cy="292500"/>
          </a:xfrm>
          <a:prstGeom prst="rect">
            <a:avLst/>
          </a:prstGeom>
          <a:solidFill>
            <a:srgbClr val="E8B06A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g3f883da9c22_0_678"/>
          <p:cNvSpPr txBox="1"/>
          <p:nvPr/>
        </p:nvSpPr>
        <p:spPr>
          <a:xfrm>
            <a:off x="6858000" y="2578608"/>
            <a:ext cx="111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13 × 13 × 256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g3f883da9c22_0_678"/>
          <p:cNvSpPr txBox="1"/>
          <p:nvPr/>
        </p:nvSpPr>
        <p:spPr>
          <a:xfrm>
            <a:off x="6858000" y="1975104"/>
            <a:ext cx="111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(27−3)/2 + 1 = 13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g3f883da9c22_0_678"/>
          <p:cNvSpPr/>
          <p:nvPr/>
        </p:nvSpPr>
        <p:spPr>
          <a:xfrm>
            <a:off x="8823960" y="2231136"/>
            <a:ext cx="292500" cy="292500"/>
          </a:xfrm>
          <a:prstGeom prst="rect">
            <a:avLst/>
          </a:prstGeom>
          <a:solidFill>
            <a:srgbClr val="E8B06A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g3f883da9c22_0_678"/>
          <p:cNvSpPr txBox="1"/>
          <p:nvPr/>
        </p:nvSpPr>
        <p:spPr>
          <a:xfrm>
            <a:off x="8412480" y="2578608"/>
            <a:ext cx="111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13 × 13 × 384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g3f883da9c22_0_678"/>
          <p:cNvSpPr txBox="1"/>
          <p:nvPr/>
        </p:nvSpPr>
        <p:spPr>
          <a:xfrm>
            <a:off x="8412480" y="1975104"/>
            <a:ext cx="111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(13+2·1−3)/1 + 1 = 13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g3f883da9c22_0_678"/>
          <p:cNvSpPr/>
          <p:nvPr/>
        </p:nvSpPr>
        <p:spPr>
          <a:xfrm>
            <a:off x="10378440" y="2231136"/>
            <a:ext cx="292500" cy="292500"/>
          </a:xfrm>
          <a:prstGeom prst="rect">
            <a:avLst/>
          </a:prstGeom>
          <a:solidFill>
            <a:srgbClr val="E8B06A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g3f883da9c22_0_678"/>
          <p:cNvSpPr txBox="1"/>
          <p:nvPr/>
        </p:nvSpPr>
        <p:spPr>
          <a:xfrm>
            <a:off x="9966960" y="2578608"/>
            <a:ext cx="111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13 × 13 × 384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g3f883da9c22_0_678"/>
          <p:cNvSpPr txBox="1"/>
          <p:nvPr/>
        </p:nvSpPr>
        <p:spPr>
          <a:xfrm>
            <a:off x="9966960" y="1975104"/>
            <a:ext cx="111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same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g3f883da9c22_0_678"/>
          <p:cNvSpPr txBox="1"/>
          <p:nvPr/>
        </p:nvSpPr>
        <p:spPr>
          <a:xfrm>
            <a:off x="1581912" y="1536192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CONV 11×11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stride 4, 96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g3f883da9c22_0_678"/>
          <p:cNvSpPr/>
          <p:nvPr/>
        </p:nvSpPr>
        <p:spPr>
          <a:xfrm>
            <a:off x="1874520" y="2331720"/>
            <a:ext cx="3657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g3f883da9c22_0_678"/>
          <p:cNvSpPr txBox="1"/>
          <p:nvPr/>
        </p:nvSpPr>
        <p:spPr>
          <a:xfrm>
            <a:off x="3136392" y="1536192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Max POOL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3×3, stride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g3f883da9c22_0_678"/>
          <p:cNvSpPr/>
          <p:nvPr/>
        </p:nvSpPr>
        <p:spPr>
          <a:xfrm>
            <a:off x="3429000" y="2331720"/>
            <a:ext cx="3657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g3f883da9c22_0_678"/>
          <p:cNvSpPr txBox="1"/>
          <p:nvPr/>
        </p:nvSpPr>
        <p:spPr>
          <a:xfrm>
            <a:off x="4690872" y="1536192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CONV 5×5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pad 2, 256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g3f883da9c22_0_678"/>
          <p:cNvSpPr/>
          <p:nvPr/>
        </p:nvSpPr>
        <p:spPr>
          <a:xfrm>
            <a:off x="4983480" y="2331720"/>
            <a:ext cx="3657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g3f883da9c22_0_678"/>
          <p:cNvSpPr txBox="1"/>
          <p:nvPr/>
        </p:nvSpPr>
        <p:spPr>
          <a:xfrm>
            <a:off x="6245352" y="1536192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Max POOL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3×3, stride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g3f883da9c22_0_678"/>
          <p:cNvSpPr/>
          <p:nvPr/>
        </p:nvSpPr>
        <p:spPr>
          <a:xfrm>
            <a:off x="6537960" y="2331720"/>
            <a:ext cx="3657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g3f883da9c22_0_678"/>
          <p:cNvSpPr txBox="1"/>
          <p:nvPr/>
        </p:nvSpPr>
        <p:spPr>
          <a:xfrm>
            <a:off x="7799832" y="1536192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CONV 3×3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pad 1, 384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g3f883da9c22_0_678"/>
          <p:cNvSpPr/>
          <p:nvPr/>
        </p:nvSpPr>
        <p:spPr>
          <a:xfrm>
            <a:off x="8092440" y="2331720"/>
            <a:ext cx="3657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g3f883da9c22_0_678"/>
          <p:cNvSpPr txBox="1"/>
          <p:nvPr/>
        </p:nvSpPr>
        <p:spPr>
          <a:xfrm>
            <a:off x="9354312" y="1536192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CONV 3×3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pad 1, 384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g3f883da9c22_0_678"/>
          <p:cNvSpPr/>
          <p:nvPr/>
        </p:nvSpPr>
        <p:spPr>
          <a:xfrm>
            <a:off x="9646920" y="2331720"/>
            <a:ext cx="3657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g3f883da9c22_0_678"/>
          <p:cNvSpPr/>
          <p:nvPr/>
        </p:nvSpPr>
        <p:spPr>
          <a:xfrm>
            <a:off x="822960" y="4114800"/>
            <a:ext cx="292500" cy="292500"/>
          </a:xfrm>
          <a:prstGeom prst="rect">
            <a:avLst/>
          </a:prstGeom>
          <a:solidFill>
            <a:srgbClr val="E8B06A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g3f883da9c22_0_678"/>
          <p:cNvSpPr txBox="1"/>
          <p:nvPr/>
        </p:nvSpPr>
        <p:spPr>
          <a:xfrm>
            <a:off x="411480" y="4462272"/>
            <a:ext cx="111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13 × 13 × 256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g3f883da9c22_0_678"/>
          <p:cNvSpPr txBox="1"/>
          <p:nvPr/>
        </p:nvSpPr>
        <p:spPr>
          <a:xfrm>
            <a:off x="411480" y="3858768"/>
            <a:ext cx="111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(13+2·1−3)/1 + 1 = 13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g3f883da9c22_0_678"/>
          <p:cNvSpPr/>
          <p:nvPr/>
        </p:nvSpPr>
        <p:spPr>
          <a:xfrm>
            <a:off x="2606040" y="4169664"/>
            <a:ext cx="201300" cy="201300"/>
          </a:xfrm>
          <a:prstGeom prst="rect">
            <a:avLst/>
          </a:prstGeom>
          <a:solidFill>
            <a:srgbClr val="E8B06A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g3f883da9c22_0_678"/>
          <p:cNvSpPr txBox="1"/>
          <p:nvPr/>
        </p:nvSpPr>
        <p:spPr>
          <a:xfrm>
            <a:off x="2194560" y="4425696"/>
            <a:ext cx="102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6 × 6 × 256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g3f883da9c22_0_678"/>
          <p:cNvSpPr txBox="1"/>
          <p:nvPr/>
        </p:nvSpPr>
        <p:spPr>
          <a:xfrm>
            <a:off x="2194560" y="3913632"/>
            <a:ext cx="102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(13−3)/2 + 1 = 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g3f883da9c22_0_678"/>
          <p:cNvSpPr/>
          <p:nvPr/>
        </p:nvSpPr>
        <p:spPr>
          <a:xfrm>
            <a:off x="4206240" y="3886200"/>
            <a:ext cx="201300" cy="777300"/>
          </a:xfrm>
          <a:prstGeom prst="rect">
            <a:avLst/>
          </a:prstGeom>
          <a:solidFill>
            <a:srgbClr val="E8B06A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g3f883da9c22_0_678"/>
          <p:cNvSpPr txBox="1"/>
          <p:nvPr/>
        </p:nvSpPr>
        <p:spPr>
          <a:xfrm>
            <a:off x="3794760" y="4718304"/>
            <a:ext cx="102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9216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g3f883da9c22_0_678"/>
          <p:cNvSpPr txBox="1"/>
          <p:nvPr/>
        </p:nvSpPr>
        <p:spPr>
          <a:xfrm>
            <a:off x="3794760" y="3630168"/>
            <a:ext cx="102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g3f883da9c22_0_678"/>
          <p:cNvSpPr/>
          <p:nvPr/>
        </p:nvSpPr>
        <p:spPr>
          <a:xfrm>
            <a:off x="5943600" y="3886200"/>
            <a:ext cx="457200" cy="777300"/>
          </a:xfrm>
          <a:prstGeom prst="rect">
            <a:avLst/>
          </a:prstGeom>
          <a:solidFill>
            <a:srgbClr val="CDEBDF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g3f883da9c22_0_678"/>
          <p:cNvSpPr txBox="1"/>
          <p:nvPr/>
        </p:nvSpPr>
        <p:spPr>
          <a:xfrm>
            <a:off x="5532120" y="4718304"/>
            <a:ext cx="128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 4096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g3f883da9c22_0_678"/>
          <p:cNvSpPr/>
          <p:nvPr/>
        </p:nvSpPr>
        <p:spPr>
          <a:xfrm>
            <a:off x="7680960" y="3886200"/>
            <a:ext cx="457200" cy="777300"/>
          </a:xfrm>
          <a:prstGeom prst="rect">
            <a:avLst/>
          </a:prstGeom>
          <a:solidFill>
            <a:srgbClr val="CDEBDF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g3f883da9c22_0_678"/>
          <p:cNvSpPr txBox="1"/>
          <p:nvPr/>
        </p:nvSpPr>
        <p:spPr>
          <a:xfrm>
            <a:off x="7269480" y="4718304"/>
            <a:ext cx="128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 4096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g3f883da9c22_0_678"/>
          <p:cNvSpPr/>
          <p:nvPr/>
        </p:nvSpPr>
        <p:spPr>
          <a:xfrm>
            <a:off x="9418320" y="3886200"/>
            <a:ext cx="457200" cy="777300"/>
          </a:xfrm>
          <a:prstGeom prst="rect">
            <a:avLst/>
          </a:prstGeom>
          <a:solidFill>
            <a:srgbClr val="FBD5D3"/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g3f883da9c22_0_678"/>
          <p:cNvSpPr txBox="1"/>
          <p:nvPr/>
        </p:nvSpPr>
        <p:spPr>
          <a:xfrm>
            <a:off x="9006840" y="4718304"/>
            <a:ext cx="128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1000 softmax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g3f883da9c22_0_678"/>
          <p:cNvSpPr txBox="1"/>
          <p:nvPr/>
        </p:nvSpPr>
        <p:spPr>
          <a:xfrm>
            <a:off x="1463040" y="3657600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CONV 3×3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pad 1, 256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g3f883da9c22_0_678"/>
          <p:cNvSpPr/>
          <p:nvPr/>
        </p:nvSpPr>
        <p:spPr>
          <a:xfrm>
            <a:off x="1737360" y="4206240"/>
            <a:ext cx="3657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g3f883da9c22_0_678"/>
          <p:cNvSpPr txBox="1"/>
          <p:nvPr/>
        </p:nvSpPr>
        <p:spPr>
          <a:xfrm>
            <a:off x="3154680" y="3657600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Max POOL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3×3, stride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g3f883da9c22_0_678"/>
          <p:cNvSpPr/>
          <p:nvPr/>
        </p:nvSpPr>
        <p:spPr>
          <a:xfrm>
            <a:off x="3429000" y="4206240"/>
            <a:ext cx="3657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g3f883da9c22_0_678"/>
          <p:cNvSpPr/>
          <p:nvPr/>
        </p:nvSpPr>
        <p:spPr>
          <a:xfrm>
            <a:off x="5120640" y="4206240"/>
            <a:ext cx="3657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g3f883da9c22_0_678"/>
          <p:cNvSpPr txBox="1"/>
          <p:nvPr/>
        </p:nvSpPr>
        <p:spPr>
          <a:xfrm>
            <a:off x="6537960" y="3657600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FC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g3f883da9c22_0_678"/>
          <p:cNvSpPr/>
          <p:nvPr/>
        </p:nvSpPr>
        <p:spPr>
          <a:xfrm>
            <a:off x="6812280" y="4206240"/>
            <a:ext cx="3657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g3f883da9c22_0_678"/>
          <p:cNvSpPr txBox="1"/>
          <p:nvPr/>
        </p:nvSpPr>
        <p:spPr>
          <a:xfrm>
            <a:off x="8229600" y="3657600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FC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g3f883da9c22_0_678"/>
          <p:cNvSpPr/>
          <p:nvPr/>
        </p:nvSpPr>
        <p:spPr>
          <a:xfrm>
            <a:off x="8503920" y="4206240"/>
            <a:ext cx="3657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g3f883da9c22_0_678"/>
          <p:cNvSpPr/>
          <p:nvPr/>
        </p:nvSpPr>
        <p:spPr>
          <a:xfrm>
            <a:off x="548640" y="5120640"/>
            <a:ext cx="11064300" cy="731400"/>
          </a:xfrm>
          <a:prstGeom prst="roundRect">
            <a:avLst>
              <a:gd fmla="val 7500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g3f883da9c22_0_678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spatial size collapses from 227 to 6 while the depth climbs from 3 to 256 — the standard trade of resolution for semantics.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g3f883da9c22_0_752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PARAMETER 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g3f883da9c22_0_752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AlexNet — number of parameters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g3f883da9c22_0_752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g3f883da9c22_0_752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g3f883da9c22_0_752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g3f883da9c22_0_752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g3f883da9c22_0_752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g3f883da9c22_0_752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g3f883da9c22_0_752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g3f883da9c22_0_752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g3f883da9c22_0_752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g3f883da9c22_0_752"/>
          <p:cNvSpPr txBox="1"/>
          <p:nvPr/>
        </p:nvSpPr>
        <p:spPr>
          <a:xfrm>
            <a:off x="548640" y="1444752"/>
            <a:ext cx="1051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Layer 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g3f883da9c22_0_752"/>
          <p:cNvSpPr txBox="1"/>
          <p:nvPr/>
        </p:nvSpPr>
        <p:spPr>
          <a:xfrm>
            <a:off x="1600200" y="1444752"/>
            <a:ext cx="128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Tensor 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g3f883da9c22_0_752"/>
          <p:cNvSpPr txBox="1"/>
          <p:nvPr/>
        </p:nvSpPr>
        <p:spPr>
          <a:xfrm>
            <a:off x="2880360" y="1444752"/>
            <a:ext cx="109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Weights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g3f883da9c22_0_752"/>
          <p:cNvSpPr txBox="1"/>
          <p:nvPr/>
        </p:nvSpPr>
        <p:spPr>
          <a:xfrm>
            <a:off x="3977640" y="1444752"/>
            <a:ext cx="82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Biases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g3f883da9c22_0_752"/>
          <p:cNvSpPr txBox="1"/>
          <p:nvPr/>
        </p:nvSpPr>
        <p:spPr>
          <a:xfrm>
            <a:off x="4800600" y="1444752"/>
            <a:ext cx="109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g3f883da9c22_0_752"/>
          <p:cNvSpPr txBox="1"/>
          <p:nvPr/>
        </p:nvSpPr>
        <p:spPr>
          <a:xfrm>
            <a:off x="5943600" y="1444752"/>
            <a:ext cx="27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Parameter calc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g3f883da9c22_0_752"/>
          <p:cNvSpPr txBox="1"/>
          <p:nvPr/>
        </p:nvSpPr>
        <p:spPr>
          <a:xfrm>
            <a:off x="8778240" y="1444752"/>
            <a:ext cx="2834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Output volume calc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g3f883da9c22_0_752"/>
          <p:cNvSpPr txBox="1"/>
          <p:nvPr/>
        </p:nvSpPr>
        <p:spPr>
          <a:xfrm>
            <a:off x="548640" y="1764792"/>
            <a:ext cx="105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Input image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g3f883da9c22_0_752"/>
          <p:cNvSpPr txBox="1"/>
          <p:nvPr/>
        </p:nvSpPr>
        <p:spPr>
          <a:xfrm>
            <a:off x="1600200" y="1764792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227×227×3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g3f883da9c22_0_752"/>
          <p:cNvSpPr txBox="1"/>
          <p:nvPr/>
        </p:nvSpPr>
        <p:spPr>
          <a:xfrm>
            <a:off x="2880360" y="1764792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g3f883da9c22_0_752"/>
          <p:cNvSpPr txBox="1"/>
          <p:nvPr/>
        </p:nvSpPr>
        <p:spPr>
          <a:xfrm>
            <a:off x="3977640" y="1764792"/>
            <a:ext cx="82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g3f883da9c22_0_752"/>
          <p:cNvSpPr txBox="1"/>
          <p:nvPr/>
        </p:nvSpPr>
        <p:spPr>
          <a:xfrm>
            <a:off x="4800600" y="1764792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g3f883da9c22_0_752"/>
          <p:cNvSpPr txBox="1"/>
          <p:nvPr/>
        </p:nvSpPr>
        <p:spPr>
          <a:xfrm>
            <a:off x="548640" y="2071116"/>
            <a:ext cx="105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Conv-1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g3f883da9c22_0_752"/>
          <p:cNvSpPr txBox="1"/>
          <p:nvPr/>
        </p:nvSpPr>
        <p:spPr>
          <a:xfrm>
            <a:off x="1600200" y="2071116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55×55×96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g3f883da9c22_0_752"/>
          <p:cNvSpPr txBox="1"/>
          <p:nvPr/>
        </p:nvSpPr>
        <p:spPr>
          <a:xfrm>
            <a:off x="2880360" y="2071116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34 848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g3f883da9c22_0_752"/>
          <p:cNvSpPr txBox="1"/>
          <p:nvPr/>
        </p:nvSpPr>
        <p:spPr>
          <a:xfrm>
            <a:off x="3977640" y="2071116"/>
            <a:ext cx="82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g3f883da9c22_0_752"/>
          <p:cNvSpPr txBox="1"/>
          <p:nvPr/>
        </p:nvSpPr>
        <p:spPr>
          <a:xfrm>
            <a:off x="4800600" y="2071116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34 944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g3f883da9c22_0_752"/>
          <p:cNvSpPr txBox="1"/>
          <p:nvPr/>
        </p:nvSpPr>
        <p:spPr>
          <a:xfrm>
            <a:off x="5943600" y="2071116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(11×11×3 + 1) × 96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g3f883da9c22_0_752"/>
          <p:cNvSpPr txBox="1"/>
          <p:nvPr/>
        </p:nvSpPr>
        <p:spPr>
          <a:xfrm>
            <a:off x="8778240" y="2071116"/>
            <a:ext cx="2834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(227−11)/4 + 1 = 55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g3f883da9c22_0_752"/>
          <p:cNvSpPr txBox="1"/>
          <p:nvPr/>
        </p:nvSpPr>
        <p:spPr>
          <a:xfrm>
            <a:off x="548640" y="2377440"/>
            <a:ext cx="105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MaxPool-1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g3f883da9c22_0_752"/>
          <p:cNvSpPr txBox="1"/>
          <p:nvPr/>
        </p:nvSpPr>
        <p:spPr>
          <a:xfrm>
            <a:off x="1600200" y="2377440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27×27×96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g3f883da9c22_0_752"/>
          <p:cNvSpPr txBox="1"/>
          <p:nvPr/>
        </p:nvSpPr>
        <p:spPr>
          <a:xfrm>
            <a:off x="2880360" y="2377440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g3f883da9c22_0_752"/>
          <p:cNvSpPr txBox="1"/>
          <p:nvPr/>
        </p:nvSpPr>
        <p:spPr>
          <a:xfrm>
            <a:off x="3977640" y="2377440"/>
            <a:ext cx="82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g3f883da9c22_0_752"/>
          <p:cNvSpPr txBox="1"/>
          <p:nvPr/>
        </p:nvSpPr>
        <p:spPr>
          <a:xfrm>
            <a:off x="4800600" y="2377440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g3f883da9c22_0_752"/>
          <p:cNvSpPr txBox="1"/>
          <p:nvPr/>
        </p:nvSpPr>
        <p:spPr>
          <a:xfrm>
            <a:off x="8778240" y="2377440"/>
            <a:ext cx="2834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(55−3)/2 + 1 = 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g3f883da9c22_0_752"/>
          <p:cNvSpPr txBox="1"/>
          <p:nvPr/>
        </p:nvSpPr>
        <p:spPr>
          <a:xfrm>
            <a:off x="548640" y="2683764"/>
            <a:ext cx="105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Conv-2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g3f883da9c22_0_752"/>
          <p:cNvSpPr txBox="1"/>
          <p:nvPr/>
        </p:nvSpPr>
        <p:spPr>
          <a:xfrm>
            <a:off x="1600200" y="2683764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27×27×256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g3f883da9c22_0_752"/>
          <p:cNvSpPr txBox="1"/>
          <p:nvPr/>
        </p:nvSpPr>
        <p:spPr>
          <a:xfrm>
            <a:off x="2880360" y="2683764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614 400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g3f883da9c22_0_752"/>
          <p:cNvSpPr txBox="1"/>
          <p:nvPr/>
        </p:nvSpPr>
        <p:spPr>
          <a:xfrm>
            <a:off x="3977640" y="2683764"/>
            <a:ext cx="82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g3f883da9c22_0_752"/>
          <p:cNvSpPr txBox="1"/>
          <p:nvPr/>
        </p:nvSpPr>
        <p:spPr>
          <a:xfrm>
            <a:off x="4800600" y="2683764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614 656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g3f883da9c22_0_752"/>
          <p:cNvSpPr txBox="1"/>
          <p:nvPr/>
        </p:nvSpPr>
        <p:spPr>
          <a:xfrm>
            <a:off x="5943600" y="2683764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(5×5×96 + 1) × 256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g3f883da9c22_0_752"/>
          <p:cNvSpPr txBox="1"/>
          <p:nvPr/>
        </p:nvSpPr>
        <p:spPr>
          <a:xfrm>
            <a:off x="8778240" y="2683764"/>
            <a:ext cx="2834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(27+2·2−5)/1 + 1 = 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g3f883da9c22_0_752"/>
          <p:cNvSpPr txBox="1"/>
          <p:nvPr/>
        </p:nvSpPr>
        <p:spPr>
          <a:xfrm>
            <a:off x="548640" y="2990088"/>
            <a:ext cx="105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MaxPool-2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g3f883da9c22_0_752"/>
          <p:cNvSpPr txBox="1"/>
          <p:nvPr/>
        </p:nvSpPr>
        <p:spPr>
          <a:xfrm>
            <a:off x="1600200" y="2990088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13×13×256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g3f883da9c22_0_752"/>
          <p:cNvSpPr txBox="1"/>
          <p:nvPr/>
        </p:nvSpPr>
        <p:spPr>
          <a:xfrm>
            <a:off x="2880360" y="2990088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g3f883da9c22_0_752"/>
          <p:cNvSpPr txBox="1"/>
          <p:nvPr/>
        </p:nvSpPr>
        <p:spPr>
          <a:xfrm>
            <a:off x="3977640" y="2990088"/>
            <a:ext cx="82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g3f883da9c22_0_752"/>
          <p:cNvSpPr txBox="1"/>
          <p:nvPr/>
        </p:nvSpPr>
        <p:spPr>
          <a:xfrm>
            <a:off x="4800600" y="2990088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g3f883da9c22_0_752"/>
          <p:cNvSpPr txBox="1"/>
          <p:nvPr/>
        </p:nvSpPr>
        <p:spPr>
          <a:xfrm>
            <a:off x="8778240" y="2990088"/>
            <a:ext cx="2834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(27−3)/2 + 1 = 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g3f883da9c22_0_752"/>
          <p:cNvSpPr txBox="1"/>
          <p:nvPr/>
        </p:nvSpPr>
        <p:spPr>
          <a:xfrm>
            <a:off x="548640" y="3296412"/>
            <a:ext cx="105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Conv-3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g3f883da9c22_0_752"/>
          <p:cNvSpPr txBox="1"/>
          <p:nvPr/>
        </p:nvSpPr>
        <p:spPr>
          <a:xfrm>
            <a:off x="1600200" y="3296412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13×13×384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g3f883da9c22_0_752"/>
          <p:cNvSpPr txBox="1"/>
          <p:nvPr/>
        </p:nvSpPr>
        <p:spPr>
          <a:xfrm>
            <a:off x="2880360" y="3296412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884 736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g3f883da9c22_0_752"/>
          <p:cNvSpPr txBox="1"/>
          <p:nvPr/>
        </p:nvSpPr>
        <p:spPr>
          <a:xfrm>
            <a:off x="3977640" y="3296412"/>
            <a:ext cx="82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384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g3f883da9c22_0_752"/>
          <p:cNvSpPr txBox="1"/>
          <p:nvPr/>
        </p:nvSpPr>
        <p:spPr>
          <a:xfrm>
            <a:off x="4800600" y="3296412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885 120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g3f883da9c22_0_752"/>
          <p:cNvSpPr txBox="1"/>
          <p:nvPr/>
        </p:nvSpPr>
        <p:spPr>
          <a:xfrm>
            <a:off x="5943600" y="3296412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(3×3×256 + 1) × 384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g3f883da9c22_0_752"/>
          <p:cNvSpPr txBox="1"/>
          <p:nvPr/>
        </p:nvSpPr>
        <p:spPr>
          <a:xfrm>
            <a:off x="8778240" y="3296412"/>
            <a:ext cx="2834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(13+2·1−3)/1 + 1 = 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g3f883da9c22_0_752"/>
          <p:cNvSpPr txBox="1"/>
          <p:nvPr/>
        </p:nvSpPr>
        <p:spPr>
          <a:xfrm>
            <a:off x="548640" y="3602736"/>
            <a:ext cx="105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Conv-4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g3f883da9c22_0_752"/>
          <p:cNvSpPr txBox="1"/>
          <p:nvPr/>
        </p:nvSpPr>
        <p:spPr>
          <a:xfrm>
            <a:off x="1600200" y="3602736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13×13×384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g3f883da9c22_0_752"/>
          <p:cNvSpPr txBox="1"/>
          <p:nvPr/>
        </p:nvSpPr>
        <p:spPr>
          <a:xfrm>
            <a:off x="2880360" y="3602736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1 327 104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g3f883da9c22_0_752"/>
          <p:cNvSpPr txBox="1"/>
          <p:nvPr/>
        </p:nvSpPr>
        <p:spPr>
          <a:xfrm>
            <a:off x="3977640" y="3602736"/>
            <a:ext cx="82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384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g3f883da9c22_0_752"/>
          <p:cNvSpPr txBox="1"/>
          <p:nvPr/>
        </p:nvSpPr>
        <p:spPr>
          <a:xfrm>
            <a:off x="4800600" y="3602736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1 327 488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g3f883da9c22_0_752"/>
          <p:cNvSpPr txBox="1"/>
          <p:nvPr/>
        </p:nvSpPr>
        <p:spPr>
          <a:xfrm>
            <a:off x="5943600" y="3602736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(3×3×384 + 1) × 384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g3f883da9c22_0_752"/>
          <p:cNvSpPr txBox="1"/>
          <p:nvPr/>
        </p:nvSpPr>
        <p:spPr>
          <a:xfrm>
            <a:off x="8778240" y="3602736"/>
            <a:ext cx="2834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(13+2·1−3)/1 + 1 = 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g3f883da9c22_0_752"/>
          <p:cNvSpPr txBox="1"/>
          <p:nvPr/>
        </p:nvSpPr>
        <p:spPr>
          <a:xfrm>
            <a:off x="548640" y="3909060"/>
            <a:ext cx="105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Conv-5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g3f883da9c22_0_752"/>
          <p:cNvSpPr txBox="1"/>
          <p:nvPr/>
        </p:nvSpPr>
        <p:spPr>
          <a:xfrm>
            <a:off x="1600200" y="3909060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13×13×256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g3f883da9c22_0_752"/>
          <p:cNvSpPr txBox="1"/>
          <p:nvPr/>
        </p:nvSpPr>
        <p:spPr>
          <a:xfrm>
            <a:off x="2880360" y="3909060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884 736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g3f883da9c22_0_752"/>
          <p:cNvSpPr txBox="1"/>
          <p:nvPr/>
        </p:nvSpPr>
        <p:spPr>
          <a:xfrm>
            <a:off x="3977640" y="3909060"/>
            <a:ext cx="82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g3f883da9c22_0_752"/>
          <p:cNvSpPr txBox="1"/>
          <p:nvPr/>
        </p:nvSpPr>
        <p:spPr>
          <a:xfrm>
            <a:off x="4800600" y="3909060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884 992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g3f883da9c22_0_752"/>
          <p:cNvSpPr txBox="1"/>
          <p:nvPr/>
        </p:nvSpPr>
        <p:spPr>
          <a:xfrm>
            <a:off x="5943600" y="3909060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(3×3×384 + 1) × 256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g3f883da9c22_0_752"/>
          <p:cNvSpPr txBox="1"/>
          <p:nvPr/>
        </p:nvSpPr>
        <p:spPr>
          <a:xfrm>
            <a:off x="8778240" y="3909060"/>
            <a:ext cx="2834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(13+2·1−3)/1 + 1 = 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g3f883da9c22_0_752"/>
          <p:cNvSpPr txBox="1"/>
          <p:nvPr/>
        </p:nvSpPr>
        <p:spPr>
          <a:xfrm>
            <a:off x="548640" y="4215384"/>
            <a:ext cx="105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MaxPool-3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g3f883da9c22_0_752"/>
          <p:cNvSpPr txBox="1"/>
          <p:nvPr/>
        </p:nvSpPr>
        <p:spPr>
          <a:xfrm>
            <a:off x="1600200" y="4215384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6×6×256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g3f883da9c22_0_752"/>
          <p:cNvSpPr txBox="1"/>
          <p:nvPr/>
        </p:nvSpPr>
        <p:spPr>
          <a:xfrm>
            <a:off x="2880360" y="4215384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g3f883da9c22_0_752"/>
          <p:cNvSpPr txBox="1"/>
          <p:nvPr/>
        </p:nvSpPr>
        <p:spPr>
          <a:xfrm>
            <a:off x="3977640" y="4215384"/>
            <a:ext cx="82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g3f883da9c22_0_752"/>
          <p:cNvSpPr txBox="1"/>
          <p:nvPr/>
        </p:nvSpPr>
        <p:spPr>
          <a:xfrm>
            <a:off x="4800600" y="4215384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g3f883da9c22_0_752"/>
          <p:cNvSpPr txBox="1"/>
          <p:nvPr/>
        </p:nvSpPr>
        <p:spPr>
          <a:xfrm>
            <a:off x="8778240" y="4215384"/>
            <a:ext cx="2834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(13−3)/2 + 1 =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g3f883da9c22_0_752"/>
          <p:cNvSpPr/>
          <p:nvPr/>
        </p:nvSpPr>
        <p:spPr>
          <a:xfrm>
            <a:off x="502920" y="4475988"/>
            <a:ext cx="11155800" cy="288000"/>
          </a:xfrm>
          <a:prstGeom prst="rect">
            <a:avLst/>
          </a:prstGeom>
          <a:solidFill>
            <a:srgbClr val="FFF1F0"/>
          </a:solidFill>
          <a:ln cap="flat" cmpd="sng" w="12700">
            <a:solidFill>
              <a:srgbClr val="FFF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g3f883da9c22_0_752"/>
          <p:cNvSpPr txBox="1"/>
          <p:nvPr/>
        </p:nvSpPr>
        <p:spPr>
          <a:xfrm>
            <a:off x="548640" y="4521708"/>
            <a:ext cx="105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FC-1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g3f883da9c22_0_752"/>
          <p:cNvSpPr txBox="1"/>
          <p:nvPr/>
        </p:nvSpPr>
        <p:spPr>
          <a:xfrm>
            <a:off x="1600200" y="4521708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4096×1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g3f883da9c22_0_752"/>
          <p:cNvSpPr txBox="1"/>
          <p:nvPr/>
        </p:nvSpPr>
        <p:spPr>
          <a:xfrm>
            <a:off x="2880360" y="4521708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37 748 736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g3f883da9c22_0_752"/>
          <p:cNvSpPr txBox="1"/>
          <p:nvPr/>
        </p:nvSpPr>
        <p:spPr>
          <a:xfrm>
            <a:off x="3977640" y="4521708"/>
            <a:ext cx="82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4 096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g3f883da9c22_0_752"/>
          <p:cNvSpPr txBox="1"/>
          <p:nvPr/>
        </p:nvSpPr>
        <p:spPr>
          <a:xfrm>
            <a:off x="4800600" y="4521708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37 752 832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g3f883da9c22_0_752"/>
          <p:cNvSpPr txBox="1"/>
          <p:nvPr/>
        </p:nvSpPr>
        <p:spPr>
          <a:xfrm>
            <a:off x="5943600" y="4521708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(6×6×256 + 1) × 4096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g3f883da9c22_0_752"/>
          <p:cNvSpPr/>
          <p:nvPr/>
        </p:nvSpPr>
        <p:spPr>
          <a:xfrm>
            <a:off x="502920" y="4782312"/>
            <a:ext cx="11155800" cy="288000"/>
          </a:xfrm>
          <a:prstGeom prst="rect">
            <a:avLst/>
          </a:prstGeom>
          <a:solidFill>
            <a:srgbClr val="FFF1F0"/>
          </a:solidFill>
          <a:ln cap="flat" cmpd="sng" w="12700">
            <a:solidFill>
              <a:srgbClr val="FFF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g3f883da9c22_0_752"/>
          <p:cNvSpPr txBox="1"/>
          <p:nvPr/>
        </p:nvSpPr>
        <p:spPr>
          <a:xfrm>
            <a:off x="548640" y="4828032"/>
            <a:ext cx="105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FC-2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g3f883da9c22_0_752"/>
          <p:cNvSpPr txBox="1"/>
          <p:nvPr/>
        </p:nvSpPr>
        <p:spPr>
          <a:xfrm>
            <a:off x="1600200" y="4828032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4096×1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g3f883da9c22_0_752"/>
          <p:cNvSpPr txBox="1"/>
          <p:nvPr/>
        </p:nvSpPr>
        <p:spPr>
          <a:xfrm>
            <a:off x="2880360" y="4828032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16 777 216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g3f883da9c22_0_752"/>
          <p:cNvSpPr txBox="1"/>
          <p:nvPr/>
        </p:nvSpPr>
        <p:spPr>
          <a:xfrm>
            <a:off x="3977640" y="4828032"/>
            <a:ext cx="82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4 096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g3f883da9c22_0_752"/>
          <p:cNvSpPr txBox="1"/>
          <p:nvPr/>
        </p:nvSpPr>
        <p:spPr>
          <a:xfrm>
            <a:off x="4800600" y="4828032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16 781 312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g3f883da9c22_0_752"/>
          <p:cNvSpPr txBox="1"/>
          <p:nvPr/>
        </p:nvSpPr>
        <p:spPr>
          <a:xfrm>
            <a:off x="5943600" y="4828032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(4096 + 1) × 4096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g3f883da9c22_0_752"/>
          <p:cNvSpPr/>
          <p:nvPr/>
        </p:nvSpPr>
        <p:spPr>
          <a:xfrm>
            <a:off x="502920" y="5088636"/>
            <a:ext cx="11155800" cy="288000"/>
          </a:xfrm>
          <a:prstGeom prst="rect">
            <a:avLst/>
          </a:prstGeom>
          <a:solidFill>
            <a:srgbClr val="FFF1F0"/>
          </a:solidFill>
          <a:ln cap="flat" cmpd="sng" w="12700">
            <a:solidFill>
              <a:srgbClr val="FFF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g3f883da9c22_0_752"/>
          <p:cNvSpPr txBox="1"/>
          <p:nvPr/>
        </p:nvSpPr>
        <p:spPr>
          <a:xfrm>
            <a:off x="548640" y="5134356"/>
            <a:ext cx="105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FC-3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g3f883da9c22_0_752"/>
          <p:cNvSpPr txBox="1"/>
          <p:nvPr/>
        </p:nvSpPr>
        <p:spPr>
          <a:xfrm>
            <a:off x="1600200" y="5134356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1000×1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g3f883da9c22_0_752"/>
          <p:cNvSpPr txBox="1"/>
          <p:nvPr/>
        </p:nvSpPr>
        <p:spPr>
          <a:xfrm>
            <a:off x="2880360" y="5134356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4 096 000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g3f883da9c22_0_752"/>
          <p:cNvSpPr txBox="1"/>
          <p:nvPr/>
        </p:nvSpPr>
        <p:spPr>
          <a:xfrm>
            <a:off x="3977640" y="5134356"/>
            <a:ext cx="82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1 000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g3f883da9c22_0_752"/>
          <p:cNvSpPr txBox="1"/>
          <p:nvPr/>
        </p:nvSpPr>
        <p:spPr>
          <a:xfrm>
            <a:off x="4800600" y="5134356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4 097 000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g3f883da9c22_0_752"/>
          <p:cNvSpPr txBox="1"/>
          <p:nvPr/>
        </p:nvSpPr>
        <p:spPr>
          <a:xfrm>
            <a:off x="5943600" y="5134356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(4096 + 1) × 1000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g3f883da9c22_0_752"/>
          <p:cNvSpPr txBox="1"/>
          <p:nvPr/>
        </p:nvSpPr>
        <p:spPr>
          <a:xfrm>
            <a:off x="548640" y="5440680"/>
            <a:ext cx="105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g3f883da9c22_0_752"/>
          <p:cNvSpPr txBox="1"/>
          <p:nvPr/>
        </p:nvSpPr>
        <p:spPr>
          <a:xfrm>
            <a:off x="1600200" y="5440680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1000×1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g3f883da9c22_0_752"/>
          <p:cNvSpPr txBox="1"/>
          <p:nvPr/>
        </p:nvSpPr>
        <p:spPr>
          <a:xfrm>
            <a:off x="2880360" y="5440680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g3f883da9c22_0_752"/>
          <p:cNvSpPr txBox="1"/>
          <p:nvPr/>
        </p:nvSpPr>
        <p:spPr>
          <a:xfrm>
            <a:off x="3977640" y="5440680"/>
            <a:ext cx="82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g3f883da9c22_0_752"/>
          <p:cNvSpPr txBox="1"/>
          <p:nvPr/>
        </p:nvSpPr>
        <p:spPr>
          <a:xfrm>
            <a:off x="4800600" y="5440680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g3f883da9c22_0_752"/>
          <p:cNvSpPr/>
          <p:nvPr/>
        </p:nvSpPr>
        <p:spPr>
          <a:xfrm>
            <a:off x="548640" y="5760720"/>
            <a:ext cx="5943600" cy="13800"/>
          </a:xfrm>
          <a:prstGeom prst="rect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g3f883da9c22_0_752"/>
          <p:cNvSpPr txBox="1"/>
          <p:nvPr/>
        </p:nvSpPr>
        <p:spPr>
          <a:xfrm>
            <a:off x="548640" y="5833872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g3f883da9c22_0_752"/>
          <p:cNvSpPr txBox="1"/>
          <p:nvPr/>
        </p:nvSpPr>
        <p:spPr>
          <a:xfrm>
            <a:off x="4800600" y="5833872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62 378 344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g3f883da9c22_0_752"/>
          <p:cNvSpPr txBox="1"/>
          <p:nvPr/>
        </p:nvSpPr>
        <p:spPr>
          <a:xfrm>
            <a:off x="6400800" y="5833872"/>
            <a:ext cx="521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94 % of all parameters sit in the three fully connected layers.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g3f883da9c22_0_752"/>
          <p:cNvSpPr txBox="1"/>
          <p:nvPr/>
        </p:nvSpPr>
        <p:spPr>
          <a:xfrm>
            <a:off x="548640" y="6355080"/>
            <a:ext cx="10515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Table: learnopencv.com — number of parameters and tensor sizes in a CNN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g3f883da9c22_0_863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TRAINING RECIPE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g3f883da9c22_0_863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AlexNet — what made it work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g3f883da9c22_0_863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g3f883da9c22_0_863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g3f883da9c22_0_863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g3f883da9c22_0_863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g3f883da9c22_0_863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g3f883da9c22_0_863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g3f883da9c22_0_863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g3f883da9c22_0_863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g3f883da9c22_0_863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g3f883da9c22_0_863"/>
          <p:cNvSpPr/>
          <p:nvPr/>
        </p:nvSpPr>
        <p:spPr>
          <a:xfrm>
            <a:off x="548640" y="1554480"/>
            <a:ext cx="3520500" cy="18744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g3f883da9c22_0_863"/>
          <p:cNvSpPr/>
          <p:nvPr/>
        </p:nvSpPr>
        <p:spPr>
          <a:xfrm>
            <a:off x="822960" y="1828800"/>
            <a:ext cx="310800" cy="310800"/>
          </a:xfrm>
          <a:prstGeom prst="ellipse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g3f883da9c22_0_863"/>
          <p:cNvSpPr txBox="1"/>
          <p:nvPr/>
        </p:nvSpPr>
        <p:spPr>
          <a:xfrm>
            <a:off x="822960" y="22677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ReLU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g3f883da9c22_0_863"/>
          <p:cNvSpPr txBox="1"/>
          <p:nvPr/>
        </p:nvSpPr>
        <p:spPr>
          <a:xfrm>
            <a:off x="822960" y="269748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One of the first attempts to use rectified linear units in deep learning — several times faster to train than saturating units.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g3f883da9c22_0_863"/>
          <p:cNvSpPr/>
          <p:nvPr/>
        </p:nvSpPr>
        <p:spPr>
          <a:xfrm>
            <a:off x="4343400" y="1554480"/>
            <a:ext cx="3520500" cy="18744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g3f883da9c22_0_863"/>
          <p:cNvSpPr/>
          <p:nvPr/>
        </p:nvSpPr>
        <p:spPr>
          <a:xfrm>
            <a:off x="4617720" y="1828800"/>
            <a:ext cx="310800" cy="310800"/>
          </a:xfrm>
          <a:prstGeom prst="ellipse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g3f883da9c22_0_863"/>
          <p:cNvSpPr txBox="1"/>
          <p:nvPr/>
        </p:nvSpPr>
        <p:spPr>
          <a:xfrm>
            <a:off x="4617720" y="22677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Local response normalisation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g3f883da9c22_0_863"/>
          <p:cNvSpPr txBox="1"/>
          <p:nvPr/>
        </p:nvSpPr>
        <p:spPr>
          <a:xfrm>
            <a:off x="4617720" y="269748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 lateral-inhibition style normalisation across channels. Later architectures dropped it entirely.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g3f883da9c22_0_863"/>
          <p:cNvSpPr/>
          <p:nvPr/>
        </p:nvSpPr>
        <p:spPr>
          <a:xfrm>
            <a:off x="8138160" y="1554480"/>
            <a:ext cx="3520500" cy="18744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g3f883da9c22_0_863"/>
          <p:cNvSpPr/>
          <p:nvPr/>
        </p:nvSpPr>
        <p:spPr>
          <a:xfrm>
            <a:off x="8412480" y="1828800"/>
            <a:ext cx="310800" cy="310800"/>
          </a:xfrm>
          <a:prstGeom prst="ellipse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g3f883da9c22_0_863"/>
          <p:cNvSpPr txBox="1"/>
          <p:nvPr/>
        </p:nvSpPr>
        <p:spPr>
          <a:xfrm>
            <a:off x="8412480" y="22677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Dropout 0.5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g3f883da9c22_0_863"/>
          <p:cNvSpPr txBox="1"/>
          <p:nvPr/>
        </p:nvSpPr>
        <p:spPr>
          <a:xfrm>
            <a:off x="8412480" y="269748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Applied in the fully connected layers, where nearly all the parameters — and the overfitting risk — live.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g3f883da9c22_0_863"/>
          <p:cNvSpPr/>
          <p:nvPr/>
        </p:nvSpPr>
        <p:spPr>
          <a:xfrm>
            <a:off x="548640" y="3749040"/>
            <a:ext cx="3520500" cy="18744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g3f883da9c22_0_863"/>
          <p:cNvSpPr/>
          <p:nvPr/>
        </p:nvSpPr>
        <p:spPr>
          <a:xfrm>
            <a:off x="822960" y="4023360"/>
            <a:ext cx="310800" cy="310800"/>
          </a:xfrm>
          <a:prstGeom prst="ellipse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g3f883da9c22_0_863"/>
          <p:cNvSpPr txBox="1"/>
          <p:nvPr/>
        </p:nvSpPr>
        <p:spPr>
          <a:xfrm>
            <a:off x="822960" y="446227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SGD momentum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g3f883da9c22_0_863"/>
          <p:cNvSpPr txBox="1"/>
          <p:nvPr/>
        </p:nvSpPr>
        <p:spPr>
          <a:xfrm>
            <a:off x="822960" y="48920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workhorse optimiser, with a manually decayed learning rate.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g3f883da9c22_0_863"/>
          <p:cNvSpPr/>
          <p:nvPr/>
        </p:nvSpPr>
        <p:spPr>
          <a:xfrm>
            <a:off x="4343400" y="3749040"/>
            <a:ext cx="3520500" cy="18744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g3f883da9c22_0_863"/>
          <p:cNvSpPr/>
          <p:nvPr/>
        </p:nvSpPr>
        <p:spPr>
          <a:xfrm>
            <a:off x="4617720" y="4023360"/>
            <a:ext cx="310800" cy="310800"/>
          </a:xfrm>
          <a:prstGeom prst="ellipse">
            <a:avLst/>
          </a:prstGeom>
          <a:solidFill>
            <a:srgbClr val="6E4BB8"/>
          </a:solidFill>
          <a:ln cap="flat" cmpd="sng" w="12700">
            <a:solidFill>
              <a:srgbClr val="6E4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g3f883da9c22_0_863"/>
          <p:cNvSpPr txBox="1"/>
          <p:nvPr/>
        </p:nvSpPr>
        <p:spPr>
          <a:xfrm>
            <a:off x="4617720" y="446227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L2 weight decay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g3f883da9c22_0_863"/>
          <p:cNvSpPr txBox="1"/>
          <p:nvPr/>
        </p:nvSpPr>
        <p:spPr>
          <a:xfrm>
            <a:off x="4617720" y="48920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Standard regularisation on top of dropout.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g3f883da9c22_0_863"/>
          <p:cNvSpPr/>
          <p:nvPr/>
        </p:nvSpPr>
        <p:spPr>
          <a:xfrm>
            <a:off x="8138160" y="3749040"/>
            <a:ext cx="3520500" cy="18744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g3f883da9c22_0_863"/>
          <p:cNvSpPr/>
          <p:nvPr/>
        </p:nvSpPr>
        <p:spPr>
          <a:xfrm>
            <a:off x="8412480" y="4023360"/>
            <a:ext cx="310800" cy="310800"/>
          </a:xfrm>
          <a:prstGeom prst="ellipse">
            <a:avLst/>
          </a:prstGeom>
          <a:solidFill>
            <a:srgbClr val="C24C86"/>
          </a:solidFill>
          <a:ln cap="flat" cmpd="sng" w="12700">
            <a:solidFill>
              <a:srgbClr val="C24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g3f883da9c22_0_863"/>
          <p:cNvSpPr txBox="1"/>
          <p:nvPr/>
        </p:nvSpPr>
        <p:spPr>
          <a:xfrm>
            <a:off x="8412480" y="446227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Heavy data augmentation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g3f883da9c22_0_863"/>
          <p:cNvSpPr txBox="1"/>
          <p:nvPr/>
        </p:nvSpPr>
        <p:spPr>
          <a:xfrm>
            <a:off x="8412480" y="48920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Random crops, horizontal flips and PCA colour jitter, effectively enlarging a 1.2 M image dataset many times over.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3f883da9c22_0_902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THE BENCHMARK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g3f883da9c22_0_902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ILSVRC winners — 2013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g3f883da9c22_0_902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g3f883da9c22_0_902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g3f883da9c22_0_902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g3f883da9c22_0_902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g3f883da9c22_0_902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g3f883da9c22_0_902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g3f883da9c22_0_902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g3f883da9c22_0_902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g3f883da9c22_0_902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g3f883da9c22_0_902"/>
          <p:cNvSpPr/>
          <p:nvPr/>
        </p:nvSpPr>
        <p:spPr>
          <a:xfrm>
            <a:off x="1188720" y="5138928"/>
            <a:ext cx="10287000" cy="72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g3f883da9c22_0_902"/>
          <p:cNvSpPr txBox="1"/>
          <p:nvPr/>
        </p:nvSpPr>
        <p:spPr>
          <a:xfrm>
            <a:off x="658368" y="5038344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g3f883da9c22_0_902"/>
          <p:cNvSpPr/>
          <p:nvPr/>
        </p:nvSpPr>
        <p:spPr>
          <a:xfrm>
            <a:off x="1188720" y="4599432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g3f883da9c22_0_902"/>
          <p:cNvSpPr txBox="1"/>
          <p:nvPr/>
        </p:nvSpPr>
        <p:spPr>
          <a:xfrm>
            <a:off x="658368" y="4498848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g3f883da9c22_0_902"/>
          <p:cNvSpPr/>
          <p:nvPr/>
        </p:nvSpPr>
        <p:spPr>
          <a:xfrm>
            <a:off x="1188720" y="4059936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g3f883da9c22_0_902"/>
          <p:cNvSpPr txBox="1"/>
          <p:nvPr/>
        </p:nvSpPr>
        <p:spPr>
          <a:xfrm>
            <a:off x="658368" y="3959352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g3f883da9c22_0_902"/>
          <p:cNvSpPr/>
          <p:nvPr/>
        </p:nvSpPr>
        <p:spPr>
          <a:xfrm>
            <a:off x="1188720" y="3520440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g3f883da9c22_0_902"/>
          <p:cNvSpPr txBox="1"/>
          <p:nvPr/>
        </p:nvSpPr>
        <p:spPr>
          <a:xfrm>
            <a:off x="658368" y="3419856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g3f883da9c22_0_902"/>
          <p:cNvSpPr/>
          <p:nvPr/>
        </p:nvSpPr>
        <p:spPr>
          <a:xfrm>
            <a:off x="1188720" y="2980944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g3f883da9c22_0_902"/>
          <p:cNvSpPr txBox="1"/>
          <p:nvPr/>
        </p:nvSpPr>
        <p:spPr>
          <a:xfrm>
            <a:off x="658368" y="2880360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g3f883da9c22_0_902"/>
          <p:cNvSpPr/>
          <p:nvPr/>
        </p:nvSpPr>
        <p:spPr>
          <a:xfrm>
            <a:off x="1188720" y="2441448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g3f883da9c22_0_902"/>
          <p:cNvSpPr txBox="1"/>
          <p:nvPr/>
        </p:nvSpPr>
        <p:spPr>
          <a:xfrm>
            <a:off x="658368" y="2340864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g3f883da9c22_0_902"/>
          <p:cNvSpPr/>
          <p:nvPr/>
        </p:nvSpPr>
        <p:spPr>
          <a:xfrm>
            <a:off x="1188720" y="1901952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g3f883da9c22_0_902"/>
          <p:cNvSpPr txBox="1"/>
          <p:nvPr/>
        </p:nvSpPr>
        <p:spPr>
          <a:xfrm>
            <a:off x="658368" y="1801368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g3f883da9c22_0_902"/>
          <p:cNvSpPr/>
          <p:nvPr/>
        </p:nvSpPr>
        <p:spPr>
          <a:xfrm>
            <a:off x="1431036" y="2096171"/>
            <a:ext cx="658500" cy="30429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g3f883da9c22_0_902"/>
          <p:cNvSpPr txBox="1"/>
          <p:nvPr/>
        </p:nvSpPr>
        <p:spPr>
          <a:xfrm>
            <a:off x="1303020" y="1840139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28.2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g3f883da9c22_0_902"/>
          <p:cNvSpPr txBox="1"/>
          <p:nvPr/>
        </p:nvSpPr>
        <p:spPr>
          <a:xfrm>
            <a:off x="1193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g3f883da9c22_0_902"/>
          <p:cNvSpPr txBox="1"/>
          <p:nvPr/>
        </p:nvSpPr>
        <p:spPr>
          <a:xfrm>
            <a:off x="1138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Lin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g3f883da9c22_0_902"/>
          <p:cNvSpPr/>
          <p:nvPr/>
        </p:nvSpPr>
        <p:spPr>
          <a:xfrm>
            <a:off x="2574036" y="2355129"/>
            <a:ext cx="658500" cy="27837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g3f883da9c22_0_902"/>
          <p:cNvSpPr txBox="1"/>
          <p:nvPr/>
        </p:nvSpPr>
        <p:spPr>
          <a:xfrm>
            <a:off x="2446020" y="2099097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25.8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g3f883da9c22_0_902"/>
          <p:cNvSpPr txBox="1"/>
          <p:nvPr/>
        </p:nvSpPr>
        <p:spPr>
          <a:xfrm>
            <a:off x="2336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g3f883da9c22_0_902"/>
          <p:cNvSpPr txBox="1"/>
          <p:nvPr/>
        </p:nvSpPr>
        <p:spPr>
          <a:xfrm>
            <a:off x="2281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Sanchez &amp;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Perronnin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g3f883da9c22_0_902"/>
          <p:cNvSpPr/>
          <p:nvPr/>
        </p:nvSpPr>
        <p:spPr>
          <a:xfrm>
            <a:off x="3717036" y="3369381"/>
            <a:ext cx="658500" cy="17694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g3f883da9c22_0_902"/>
          <p:cNvSpPr txBox="1"/>
          <p:nvPr/>
        </p:nvSpPr>
        <p:spPr>
          <a:xfrm>
            <a:off x="3589020" y="3113349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16.4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g3f883da9c22_0_902"/>
          <p:cNvSpPr txBox="1"/>
          <p:nvPr/>
        </p:nvSpPr>
        <p:spPr>
          <a:xfrm>
            <a:off x="3479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g3f883da9c22_0_902"/>
          <p:cNvSpPr txBox="1"/>
          <p:nvPr/>
        </p:nvSpPr>
        <p:spPr>
          <a:xfrm>
            <a:off x="3424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Krizhevsky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(AlexNet)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g3f883da9c22_0_902"/>
          <p:cNvSpPr/>
          <p:nvPr/>
        </p:nvSpPr>
        <p:spPr>
          <a:xfrm>
            <a:off x="4860036" y="3876507"/>
            <a:ext cx="658500" cy="12624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g3f883da9c22_0_902"/>
          <p:cNvSpPr txBox="1"/>
          <p:nvPr/>
        </p:nvSpPr>
        <p:spPr>
          <a:xfrm>
            <a:off x="4732020" y="3620475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11.7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g3f883da9c22_0_902"/>
          <p:cNvSpPr txBox="1"/>
          <p:nvPr/>
        </p:nvSpPr>
        <p:spPr>
          <a:xfrm>
            <a:off x="4622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g3f883da9c22_0_902"/>
          <p:cNvSpPr txBox="1"/>
          <p:nvPr/>
        </p:nvSpPr>
        <p:spPr>
          <a:xfrm>
            <a:off x="4567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Zeiler &amp;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Fergus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g3f883da9c22_0_902"/>
          <p:cNvSpPr/>
          <p:nvPr/>
        </p:nvSpPr>
        <p:spPr>
          <a:xfrm>
            <a:off x="6003036" y="4351264"/>
            <a:ext cx="658500" cy="7878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g3f883da9c22_0_902"/>
          <p:cNvSpPr txBox="1"/>
          <p:nvPr/>
        </p:nvSpPr>
        <p:spPr>
          <a:xfrm>
            <a:off x="5875020" y="4095232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7.3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g3f883da9c22_0_902"/>
          <p:cNvSpPr txBox="1"/>
          <p:nvPr/>
        </p:nvSpPr>
        <p:spPr>
          <a:xfrm>
            <a:off x="5765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g3f883da9c22_0_902"/>
          <p:cNvSpPr txBox="1"/>
          <p:nvPr/>
        </p:nvSpPr>
        <p:spPr>
          <a:xfrm>
            <a:off x="5710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Simonyan &amp;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Zisserman (VGG)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g3f883da9c22_0_902"/>
          <p:cNvSpPr/>
          <p:nvPr/>
        </p:nvSpPr>
        <p:spPr>
          <a:xfrm>
            <a:off x="7146036" y="4416003"/>
            <a:ext cx="658500" cy="7230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g3f883da9c22_0_902"/>
          <p:cNvSpPr txBox="1"/>
          <p:nvPr/>
        </p:nvSpPr>
        <p:spPr>
          <a:xfrm>
            <a:off x="7018020" y="4159971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6.7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g3f883da9c22_0_902"/>
          <p:cNvSpPr txBox="1"/>
          <p:nvPr/>
        </p:nvSpPr>
        <p:spPr>
          <a:xfrm>
            <a:off x="6908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g3f883da9c22_0_902"/>
          <p:cNvSpPr txBox="1"/>
          <p:nvPr/>
        </p:nvSpPr>
        <p:spPr>
          <a:xfrm>
            <a:off x="6853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Szegedy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(GoogLeNet)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g3f883da9c22_0_902"/>
          <p:cNvSpPr/>
          <p:nvPr/>
        </p:nvSpPr>
        <p:spPr>
          <a:xfrm>
            <a:off x="8289036" y="4750491"/>
            <a:ext cx="658500" cy="3885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g3f883da9c22_0_902"/>
          <p:cNvSpPr txBox="1"/>
          <p:nvPr/>
        </p:nvSpPr>
        <p:spPr>
          <a:xfrm>
            <a:off x="8161020" y="4494459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3.6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g3f883da9c22_0_902"/>
          <p:cNvSpPr txBox="1"/>
          <p:nvPr/>
        </p:nvSpPr>
        <p:spPr>
          <a:xfrm>
            <a:off x="8051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g3f883da9c22_0_902"/>
          <p:cNvSpPr txBox="1"/>
          <p:nvPr/>
        </p:nvSpPr>
        <p:spPr>
          <a:xfrm>
            <a:off x="7996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He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(ResNet)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g3f883da9c22_0_902"/>
          <p:cNvSpPr/>
          <p:nvPr/>
        </p:nvSpPr>
        <p:spPr>
          <a:xfrm>
            <a:off x="9432036" y="4815230"/>
            <a:ext cx="658500" cy="3237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g3f883da9c22_0_902"/>
          <p:cNvSpPr txBox="1"/>
          <p:nvPr/>
        </p:nvSpPr>
        <p:spPr>
          <a:xfrm>
            <a:off x="9304020" y="455919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g3f883da9c22_0_902"/>
          <p:cNvSpPr txBox="1"/>
          <p:nvPr/>
        </p:nvSpPr>
        <p:spPr>
          <a:xfrm>
            <a:off x="9194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g3f883da9c22_0_902"/>
          <p:cNvSpPr txBox="1"/>
          <p:nvPr/>
        </p:nvSpPr>
        <p:spPr>
          <a:xfrm>
            <a:off x="9139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Shao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g3f883da9c22_0_902"/>
          <p:cNvSpPr/>
          <p:nvPr/>
        </p:nvSpPr>
        <p:spPr>
          <a:xfrm>
            <a:off x="10575036" y="4890760"/>
            <a:ext cx="658500" cy="248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g3f883da9c22_0_902"/>
          <p:cNvSpPr txBox="1"/>
          <p:nvPr/>
        </p:nvSpPr>
        <p:spPr>
          <a:xfrm>
            <a:off x="10447020" y="463472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2.3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g3f883da9c22_0_902"/>
          <p:cNvSpPr txBox="1"/>
          <p:nvPr/>
        </p:nvSpPr>
        <p:spPr>
          <a:xfrm>
            <a:off x="10337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g3f883da9c22_0_902"/>
          <p:cNvSpPr txBox="1"/>
          <p:nvPr/>
        </p:nvSpPr>
        <p:spPr>
          <a:xfrm>
            <a:off x="10282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Hu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(SENet)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g3f883da9c22_0_902"/>
          <p:cNvSpPr/>
          <p:nvPr/>
        </p:nvSpPr>
        <p:spPr>
          <a:xfrm>
            <a:off x="1760220" y="5025542"/>
            <a:ext cx="1143000" cy="11100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g3f883da9c22_0_902"/>
          <p:cNvSpPr/>
          <p:nvPr/>
        </p:nvSpPr>
        <p:spPr>
          <a:xfrm rot="-64958">
            <a:off x="2903164" y="5014741"/>
            <a:ext cx="1143204" cy="11104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g3f883da9c22_0_902"/>
          <p:cNvSpPr/>
          <p:nvPr/>
        </p:nvSpPr>
        <p:spPr>
          <a:xfrm rot="-64958">
            <a:off x="4046164" y="4993162"/>
            <a:ext cx="1143204" cy="11104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g3f883da9c22_0_902"/>
          <p:cNvSpPr/>
          <p:nvPr/>
        </p:nvSpPr>
        <p:spPr>
          <a:xfrm rot="-388134">
            <a:off x="5185541" y="4917584"/>
            <a:ext cx="1150324" cy="10866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g3f883da9c22_0_902"/>
          <p:cNvSpPr/>
          <p:nvPr/>
        </p:nvSpPr>
        <p:spPr>
          <a:xfrm rot="-194687">
            <a:off x="6331292" y="4820504"/>
            <a:ext cx="1144835" cy="11116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g3f883da9c22_0_902"/>
          <p:cNvSpPr/>
          <p:nvPr/>
        </p:nvSpPr>
        <p:spPr>
          <a:xfrm rot="-3711094">
            <a:off x="6835255" y="3720027"/>
            <a:ext cx="2422855" cy="10871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g3f883da9c22_0_902"/>
          <p:cNvSpPr/>
          <p:nvPr/>
        </p:nvSpPr>
        <p:spPr>
          <a:xfrm>
            <a:off x="8618220" y="2651760"/>
            <a:ext cx="1143000" cy="11100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g3f883da9c22_0_902"/>
          <p:cNvSpPr/>
          <p:nvPr/>
        </p:nvSpPr>
        <p:spPr>
          <a:xfrm>
            <a:off x="9761220" y="2651760"/>
            <a:ext cx="1143000" cy="11100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g3f883da9c22_0_902"/>
          <p:cNvSpPr/>
          <p:nvPr/>
        </p:nvSpPr>
        <p:spPr>
          <a:xfrm>
            <a:off x="1659636" y="4939589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g3f883da9c22_0_902"/>
          <p:cNvSpPr/>
          <p:nvPr/>
        </p:nvSpPr>
        <p:spPr>
          <a:xfrm>
            <a:off x="2802636" y="4939589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g3f883da9c22_0_902"/>
          <p:cNvSpPr/>
          <p:nvPr/>
        </p:nvSpPr>
        <p:spPr>
          <a:xfrm>
            <a:off x="3945636" y="4918009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g3f883da9c22_0_902"/>
          <p:cNvSpPr/>
          <p:nvPr/>
        </p:nvSpPr>
        <p:spPr>
          <a:xfrm>
            <a:off x="5088636" y="4896429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g3f883da9c22_0_902"/>
          <p:cNvSpPr/>
          <p:nvPr/>
        </p:nvSpPr>
        <p:spPr>
          <a:xfrm>
            <a:off x="6231636" y="4766950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g3f883da9c22_0_902"/>
          <p:cNvSpPr/>
          <p:nvPr/>
        </p:nvSpPr>
        <p:spPr>
          <a:xfrm>
            <a:off x="7374636" y="4702211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g3f883da9c22_0_902"/>
          <p:cNvSpPr/>
          <p:nvPr/>
        </p:nvSpPr>
        <p:spPr>
          <a:xfrm>
            <a:off x="8517636" y="2565806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g3f883da9c22_0_902"/>
          <p:cNvSpPr/>
          <p:nvPr/>
        </p:nvSpPr>
        <p:spPr>
          <a:xfrm>
            <a:off x="9660636" y="2565806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g3f883da9c22_0_902"/>
          <p:cNvSpPr/>
          <p:nvPr/>
        </p:nvSpPr>
        <p:spPr>
          <a:xfrm>
            <a:off x="10803636" y="2565806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g3f883da9c22_0_902"/>
          <p:cNvSpPr/>
          <p:nvPr/>
        </p:nvSpPr>
        <p:spPr>
          <a:xfrm>
            <a:off x="1303020" y="4431548"/>
            <a:ext cx="21489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shallow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g3f883da9c22_0_902"/>
          <p:cNvSpPr/>
          <p:nvPr/>
        </p:nvSpPr>
        <p:spPr>
          <a:xfrm>
            <a:off x="3589020" y="4431548"/>
            <a:ext cx="9144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8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g3f883da9c22_0_902"/>
          <p:cNvSpPr/>
          <p:nvPr/>
        </p:nvSpPr>
        <p:spPr>
          <a:xfrm>
            <a:off x="4732020" y="4431548"/>
            <a:ext cx="9144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8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g3f883da9c22_0_902"/>
          <p:cNvSpPr/>
          <p:nvPr/>
        </p:nvSpPr>
        <p:spPr>
          <a:xfrm>
            <a:off x="5829300" y="3751783"/>
            <a:ext cx="10059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19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g3f883da9c22_0_902"/>
          <p:cNvSpPr/>
          <p:nvPr/>
        </p:nvSpPr>
        <p:spPr>
          <a:xfrm>
            <a:off x="6972300" y="3751783"/>
            <a:ext cx="10059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22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g3f883da9c22_0_902"/>
          <p:cNvSpPr/>
          <p:nvPr/>
        </p:nvSpPr>
        <p:spPr>
          <a:xfrm>
            <a:off x="8087868" y="2025396"/>
            <a:ext cx="10608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152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g3f883da9c22_0_902"/>
          <p:cNvSpPr/>
          <p:nvPr/>
        </p:nvSpPr>
        <p:spPr>
          <a:xfrm>
            <a:off x="9230868" y="2025396"/>
            <a:ext cx="10608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152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g3f883da9c22_0_902"/>
          <p:cNvSpPr/>
          <p:nvPr/>
        </p:nvSpPr>
        <p:spPr>
          <a:xfrm>
            <a:off x="10373868" y="2025396"/>
            <a:ext cx="10608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152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g3f883da9c22_0_902"/>
          <p:cNvSpPr/>
          <p:nvPr/>
        </p:nvSpPr>
        <p:spPr>
          <a:xfrm>
            <a:off x="4622292" y="3628339"/>
            <a:ext cx="1134000" cy="2223900"/>
          </a:xfrm>
          <a:prstGeom prst="rect">
            <a:avLst/>
          </a:prstGeom>
          <a:noFill/>
          <a:ln cap="flat" cmpd="sng" w="254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g3f883da9c22_0_902"/>
          <p:cNvSpPr txBox="1"/>
          <p:nvPr/>
        </p:nvSpPr>
        <p:spPr>
          <a:xfrm>
            <a:off x="3657600" y="1463040"/>
            <a:ext cx="219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ZF Net: improved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hyper-parameters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over AlexNet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3f883da9c22_0_994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THE BENCHMARK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g3f883da9c22_0_994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ILSVRC winners — 2014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g3f883da9c22_0_994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g3f883da9c22_0_994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g3f883da9c22_0_994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g3f883da9c22_0_994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g3f883da9c22_0_994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g3f883da9c22_0_994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g3f883da9c22_0_994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g3f883da9c22_0_994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g3f883da9c22_0_994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g3f883da9c22_0_994"/>
          <p:cNvSpPr/>
          <p:nvPr/>
        </p:nvSpPr>
        <p:spPr>
          <a:xfrm>
            <a:off x="1188720" y="5138928"/>
            <a:ext cx="10287000" cy="72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g3f883da9c22_0_994"/>
          <p:cNvSpPr txBox="1"/>
          <p:nvPr/>
        </p:nvSpPr>
        <p:spPr>
          <a:xfrm>
            <a:off x="658368" y="5038344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g3f883da9c22_0_994"/>
          <p:cNvSpPr/>
          <p:nvPr/>
        </p:nvSpPr>
        <p:spPr>
          <a:xfrm>
            <a:off x="1188720" y="4599432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g3f883da9c22_0_994"/>
          <p:cNvSpPr txBox="1"/>
          <p:nvPr/>
        </p:nvSpPr>
        <p:spPr>
          <a:xfrm>
            <a:off x="658368" y="4498848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g3f883da9c22_0_994"/>
          <p:cNvSpPr/>
          <p:nvPr/>
        </p:nvSpPr>
        <p:spPr>
          <a:xfrm>
            <a:off x="1188720" y="4059936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g3f883da9c22_0_994"/>
          <p:cNvSpPr txBox="1"/>
          <p:nvPr/>
        </p:nvSpPr>
        <p:spPr>
          <a:xfrm>
            <a:off x="658368" y="3959352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g3f883da9c22_0_994"/>
          <p:cNvSpPr/>
          <p:nvPr/>
        </p:nvSpPr>
        <p:spPr>
          <a:xfrm>
            <a:off x="1188720" y="3520440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g3f883da9c22_0_994"/>
          <p:cNvSpPr txBox="1"/>
          <p:nvPr/>
        </p:nvSpPr>
        <p:spPr>
          <a:xfrm>
            <a:off x="658368" y="3419856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g3f883da9c22_0_994"/>
          <p:cNvSpPr/>
          <p:nvPr/>
        </p:nvSpPr>
        <p:spPr>
          <a:xfrm>
            <a:off x="1188720" y="2980944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g3f883da9c22_0_994"/>
          <p:cNvSpPr txBox="1"/>
          <p:nvPr/>
        </p:nvSpPr>
        <p:spPr>
          <a:xfrm>
            <a:off x="658368" y="2880360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g3f883da9c22_0_994"/>
          <p:cNvSpPr/>
          <p:nvPr/>
        </p:nvSpPr>
        <p:spPr>
          <a:xfrm>
            <a:off x="1188720" y="2441448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g3f883da9c22_0_994"/>
          <p:cNvSpPr txBox="1"/>
          <p:nvPr/>
        </p:nvSpPr>
        <p:spPr>
          <a:xfrm>
            <a:off x="658368" y="2340864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g3f883da9c22_0_994"/>
          <p:cNvSpPr/>
          <p:nvPr/>
        </p:nvSpPr>
        <p:spPr>
          <a:xfrm>
            <a:off x="1188720" y="1901952"/>
            <a:ext cx="10287000" cy="7200"/>
          </a:xfrm>
          <a:prstGeom prst="rect">
            <a:avLst/>
          </a:prstGeom>
          <a:solidFill>
            <a:srgbClr val="E7E3F3"/>
          </a:solidFill>
          <a:ln cap="flat" cmpd="sng" w="12700">
            <a:solidFill>
              <a:srgbClr val="E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g3f883da9c22_0_994"/>
          <p:cNvSpPr txBox="1"/>
          <p:nvPr/>
        </p:nvSpPr>
        <p:spPr>
          <a:xfrm>
            <a:off x="658368" y="1801368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g3f883da9c22_0_994"/>
          <p:cNvSpPr/>
          <p:nvPr/>
        </p:nvSpPr>
        <p:spPr>
          <a:xfrm>
            <a:off x="1431036" y="2096171"/>
            <a:ext cx="658500" cy="30429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g3f883da9c22_0_994"/>
          <p:cNvSpPr txBox="1"/>
          <p:nvPr/>
        </p:nvSpPr>
        <p:spPr>
          <a:xfrm>
            <a:off x="1303020" y="1840139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28.2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g3f883da9c22_0_994"/>
          <p:cNvSpPr txBox="1"/>
          <p:nvPr/>
        </p:nvSpPr>
        <p:spPr>
          <a:xfrm>
            <a:off x="1193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g3f883da9c22_0_994"/>
          <p:cNvSpPr txBox="1"/>
          <p:nvPr/>
        </p:nvSpPr>
        <p:spPr>
          <a:xfrm>
            <a:off x="1138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Lin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g3f883da9c22_0_994"/>
          <p:cNvSpPr/>
          <p:nvPr/>
        </p:nvSpPr>
        <p:spPr>
          <a:xfrm>
            <a:off x="2574036" y="2355129"/>
            <a:ext cx="658500" cy="27837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g3f883da9c22_0_994"/>
          <p:cNvSpPr txBox="1"/>
          <p:nvPr/>
        </p:nvSpPr>
        <p:spPr>
          <a:xfrm>
            <a:off x="2446020" y="2099097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25.8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g3f883da9c22_0_994"/>
          <p:cNvSpPr txBox="1"/>
          <p:nvPr/>
        </p:nvSpPr>
        <p:spPr>
          <a:xfrm>
            <a:off x="2336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g3f883da9c22_0_994"/>
          <p:cNvSpPr txBox="1"/>
          <p:nvPr/>
        </p:nvSpPr>
        <p:spPr>
          <a:xfrm>
            <a:off x="2281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Sanchez &amp;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Perronnin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g3f883da9c22_0_994"/>
          <p:cNvSpPr/>
          <p:nvPr/>
        </p:nvSpPr>
        <p:spPr>
          <a:xfrm>
            <a:off x="3717036" y="3369381"/>
            <a:ext cx="658500" cy="17694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g3f883da9c22_0_994"/>
          <p:cNvSpPr txBox="1"/>
          <p:nvPr/>
        </p:nvSpPr>
        <p:spPr>
          <a:xfrm>
            <a:off x="3589020" y="3113349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16.4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g3f883da9c22_0_994"/>
          <p:cNvSpPr txBox="1"/>
          <p:nvPr/>
        </p:nvSpPr>
        <p:spPr>
          <a:xfrm>
            <a:off x="3479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g3f883da9c22_0_994"/>
          <p:cNvSpPr txBox="1"/>
          <p:nvPr/>
        </p:nvSpPr>
        <p:spPr>
          <a:xfrm>
            <a:off x="3424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Krizhevsky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(AlexNet)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g3f883da9c22_0_994"/>
          <p:cNvSpPr/>
          <p:nvPr/>
        </p:nvSpPr>
        <p:spPr>
          <a:xfrm>
            <a:off x="4860036" y="3876507"/>
            <a:ext cx="658500" cy="12624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g3f883da9c22_0_994"/>
          <p:cNvSpPr txBox="1"/>
          <p:nvPr/>
        </p:nvSpPr>
        <p:spPr>
          <a:xfrm>
            <a:off x="4732020" y="3620475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11.7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g3f883da9c22_0_994"/>
          <p:cNvSpPr txBox="1"/>
          <p:nvPr/>
        </p:nvSpPr>
        <p:spPr>
          <a:xfrm>
            <a:off x="4622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g3f883da9c22_0_994"/>
          <p:cNvSpPr txBox="1"/>
          <p:nvPr/>
        </p:nvSpPr>
        <p:spPr>
          <a:xfrm>
            <a:off x="4567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Zeiler &amp;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Fergus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g3f883da9c22_0_994"/>
          <p:cNvSpPr/>
          <p:nvPr/>
        </p:nvSpPr>
        <p:spPr>
          <a:xfrm>
            <a:off x="6003036" y="4351264"/>
            <a:ext cx="658500" cy="7878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g3f883da9c22_0_994"/>
          <p:cNvSpPr txBox="1"/>
          <p:nvPr/>
        </p:nvSpPr>
        <p:spPr>
          <a:xfrm>
            <a:off x="5875020" y="4095232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7.3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g3f883da9c22_0_994"/>
          <p:cNvSpPr txBox="1"/>
          <p:nvPr/>
        </p:nvSpPr>
        <p:spPr>
          <a:xfrm>
            <a:off x="5765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g3f883da9c22_0_994"/>
          <p:cNvSpPr txBox="1"/>
          <p:nvPr/>
        </p:nvSpPr>
        <p:spPr>
          <a:xfrm>
            <a:off x="5710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Simonyan &amp;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Zisserman (VGG)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g3f883da9c22_0_994"/>
          <p:cNvSpPr/>
          <p:nvPr/>
        </p:nvSpPr>
        <p:spPr>
          <a:xfrm>
            <a:off x="7146036" y="4416003"/>
            <a:ext cx="658500" cy="7230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g3f883da9c22_0_994"/>
          <p:cNvSpPr txBox="1"/>
          <p:nvPr/>
        </p:nvSpPr>
        <p:spPr>
          <a:xfrm>
            <a:off x="7018020" y="4159971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6.7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g3f883da9c22_0_994"/>
          <p:cNvSpPr txBox="1"/>
          <p:nvPr/>
        </p:nvSpPr>
        <p:spPr>
          <a:xfrm>
            <a:off x="6908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g3f883da9c22_0_994"/>
          <p:cNvSpPr txBox="1"/>
          <p:nvPr/>
        </p:nvSpPr>
        <p:spPr>
          <a:xfrm>
            <a:off x="6853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Szegedy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(GoogLeNet)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g3f883da9c22_0_994"/>
          <p:cNvSpPr/>
          <p:nvPr/>
        </p:nvSpPr>
        <p:spPr>
          <a:xfrm>
            <a:off x="8289036" y="4750491"/>
            <a:ext cx="658500" cy="3885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g3f883da9c22_0_994"/>
          <p:cNvSpPr txBox="1"/>
          <p:nvPr/>
        </p:nvSpPr>
        <p:spPr>
          <a:xfrm>
            <a:off x="8161020" y="4494459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3.6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g3f883da9c22_0_994"/>
          <p:cNvSpPr txBox="1"/>
          <p:nvPr/>
        </p:nvSpPr>
        <p:spPr>
          <a:xfrm>
            <a:off x="8051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g3f883da9c22_0_994"/>
          <p:cNvSpPr txBox="1"/>
          <p:nvPr/>
        </p:nvSpPr>
        <p:spPr>
          <a:xfrm>
            <a:off x="7996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He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(ResNet)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g3f883da9c22_0_994"/>
          <p:cNvSpPr/>
          <p:nvPr/>
        </p:nvSpPr>
        <p:spPr>
          <a:xfrm>
            <a:off x="9432036" y="4815230"/>
            <a:ext cx="658500" cy="3237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g3f883da9c22_0_994"/>
          <p:cNvSpPr txBox="1"/>
          <p:nvPr/>
        </p:nvSpPr>
        <p:spPr>
          <a:xfrm>
            <a:off x="9304020" y="455919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1" name="Google Shape;1971;g3f883da9c22_0_994"/>
          <p:cNvSpPr txBox="1"/>
          <p:nvPr/>
        </p:nvSpPr>
        <p:spPr>
          <a:xfrm>
            <a:off x="9194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2" name="Google Shape;1972;g3f883da9c22_0_994"/>
          <p:cNvSpPr txBox="1"/>
          <p:nvPr/>
        </p:nvSpPr>
        <p:spPr>
          <a:xfrm>
            <a:off x="9139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Shao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3" name="Google Shape;1973;g3f883da9c22_0_994"/>
          <p:cNvSpPr/>
          <p:nvPr/>
        </p:nvSpPr>
        <p:spPr>
          <a:xfrm>
            <a:off x="10575036" y="4890760"/>
            <a:ext cx="658500" cy="248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g3f883da9c22_0_994"/>
          <p:cNvSpPr txBox="1"/>
          <p:nvPr/>
        </p:nvSpPr>
        <p:spPr>
          <a:xfrm>
            <a:off x="10447020" y="463472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2.3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5" name="Google Shape;1975;g3f883da9c22_0_994"/>
          <p:cNvSpPr txBox="1"/>
          <p:nvPr/>
        </p:nvSpPr>
        <p:spPr>
          <a:xfrm>
            <a:off x="10337292" y="5193792"/>
            <a:ext cx="113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2017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6" name="Google Shape;1976;g3f883da9c22_0_994"/>
          <p:cNvSpPr txBox="1"/>
          <p:nvPr/>
        </p:nvSpPr>
        <p:spPr>
          <a:xfrm>
            <a:off x="10282428" y="5404104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Hu et 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(SENet)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7" name="Google Shape;1977;g3f883da9c22_0_994"/>
          <p:cNvSpPr/>
          <p:nvPr/>
        </p:nvSpPr>
        <p:spPr>
          <a:xfrm>
            <a:off x="1760220" y="5025542"/>
            <a:ext cx="1143000" cy="11100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g3f883da9c22_0_994"/>
          <p:cNvSpPr/>
          <p:nvPr/>
        </p:nvSpPr>
        <p:spPr>
          <a:xfrm rot="-64958">
            <a:off x="2903164" y="5014741"/>
            <a:ext cx="1143204" cy="11104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g3f883da9c22_0_994"/>
          <p:cNvSpPr/>
          <p:nvPr/>
        </p:nvSpPr>
        <p:spPr>
          <a:xfrm rot="-64958">
            <a:off x="4046164" y="4993162"/>
            <a:ext cx="1143204" cy="11104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g3f883da9c22_0_994"/>
          <p:cNvSpPr/>
          <p:nvPr/>
        </p:nvSpPr>
        <p:spPr>
          <a:xfrm rot="-388134">
            <a:off x="5185541" y="4917584"/>
            <a:ext cx="1150324" cy="10866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g3f883da9c22_0_994"/>
          <p:cNvSpPr/>
          <p:nvPr/>
        </p:nvSpPr>
        <p:spPr>
          <a:xfrm rot="-194687">
            <a:off x="6331292" y="4820504"/>
            <a:ext cx="1144835" cy="11116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g3f883da9c22_0_994"/>
          <p:cNvSpPr/>
          <p:nvPr/>
        </p:nvSpPr>
        <p:spPr>
          <a:xfrm rot="-3711094">
            <a:off x="6835255" y="3720027"/>
            <a:ext cx="2422855" cy="10871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g3f883da9c22_0_994"/>
          <p:cNvSpPr/>
          <p:nvPr/>
        </p:nvSpPr>
        <p:spPr>
          <a:xfrm>
            <a:off x="8618220" y="2651760"/>
            <a:ext cx="1143000" cy="11100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g3f883da9c22_0_994"/>
          <p:cNvSpPr/>
          <p:nvPr/>
        </p:nvSpPr>
        <p:spPr>
          <a:xfrm>
            <a:off x="9761220" y="2651760"/>
            <a:ext cx="1143000" cy="11100"/>
          </a:xfrm>
          <a:prstGeom prst="rect">
            <a:avLst/>
          </a:prstGeom>
          <a:solidFill>
            <a:srgbClr val="F3C77A"/>
          </a:solidFill>
          <a:ln cap="flat" cmpd="sng" w="12700">
            <a:solidFill>
              <a:srgbClr val="F3C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g3f883da9c22_0_994"/>
          <p:cNvSpPr/>
          <p:nvPr/>
        </p:nvSpPr>
        <p:spPr>
          <a:xfrm>
            <a:off x="1659636" y="4939589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g3f883da9c22_0_994"/>
          <p:cNvSpPr/>
          <p:nvPr/>
        </p:nvSpPr>
        <p:spPr>
          <a:xfrm>
            <a:off x="2802636" y="4939589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g3f883da9c22_0_994"/>
          <p:cNvSpPr/>
          <p:nvPr/>
        </p:nvSpPr>
        <p:spPr>
          <a:xfrm>
            <a:off x="3945636" y="4918009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g3f883da9c22_0_994"/>
          <p:cNvSpPr/>
          <p:nvPr/>
        </p:nvSpPr>
        <p:spPr>
          <a:xfrm>
            <a:off x="5088636" y="4896429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g3f883da9c22_0_994"/>
          <p:cNvSpPr/>
          <p:nvPr/>
        </p:nvSpPr>
        <p:spPr>
          <a:xfrm>
            <a:off x="6231636" y="4766950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g3f883da9c22_0_994"/>
          <p:cNvSpPr/>
          <p:nvPr/>
        </p:nvSpPr>
        <p:spPr>
          <a:xfrm>
            <a:off x="7374636" y="4702211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g3f883da9c22_0_994"/>
          <p:cNvSpPr/>
          <p:nvPr/>
        </p:nvSpPr>
        <p:spPr>
          <a:xfrm>
            <a:off x="8517636" y="2565806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g3f883da9c22_0_994"/>
          <p:cNvSpPr/>
          <p:nvPr/>
        </p:nvSpPr>
        <p:spPr>
          <a:xfrm>
            <a:off x="9660636" y="2565806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g3f883da9c22_0_994"/>
          <p:cNvSpPr/>
          <p:nvPr/>
        </p:nvSpPr>
        <p:spPr>
          <a:xfrm>
            <a:off x="10803636" y="2565806"/>
            <a:ext cx="201300" cy="183000"/>
          </a:xfrm>
          <a:prstGeom prst="triangle">
            <a:avLst>
              <a:gd fmla="val 5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g3f883da9c22_0_994"/>
          <p:cNvSpPr/>
          <p:nvPr/>
        </p:nvSpPr>
        <p:spPr>
          <a:xfrm>
            <a:off x="1303020" y="4431548"/>
            <a:ext cx="21489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shallow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g3f883da9c22_0_994"/>
          <p:cNvSpPr/>
          <p:nvPr/>
        </p:nvSpPr>
        <p:spPr>
          <a:xfrm>
            <a:off x="3589020" y="4431548"/>
            <a:ext cx="9144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8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g3f883da9c22_0_994"/>
          <p:cNvSpPr/>
          <p:nvPr/>
        </p:nvSpPr>
        <p:spPr>
          <a:xfrm>
            <a:off x="4732020" y="4431548"/>
            <a:ext cx="9144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8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g3f883da9c22_0_994"/>
          <p:cNvSpPr/>
          <p:nvPr/>
        </p:nvSpPr>
        <p:spPr>
          <a:xfrm>
            <a:off x="5829300" y="3751783"/>
            <a:ext cx="10059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19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g3f883da9c22_0_994"/>
          <p:cNvSpPr/>
          <p:nvPr/>
        </p:nvSpPr>
        <p:spPr>
          <a:xfrm>
            <a:off x="6972300" y="3751783"/>
            <a:ext cx="10059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22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g3f883da9c22_0_994"/>
          <p:cNvSpPr/>
          <p:nvPr/>
        </p:nvSpPr>
        <p:spPr>
          <a:xfrm>
            <a:off x="8087868" y="2025396"/>
            <a:ext cx="10608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152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g3f883da9c22_0_994"/>
          <p:cNvSpPr/>
          <p:nvPr/>
        </p:nvSpPr>
        <p:spPr>
          <a:xfrm>
            <a:off x="9230868" y="2025396"/>
            <a:ext cx="10608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152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g3f883da9c22_0_994"/>
          <p:cNvSpPr/>
          <p:nvPr/>
        </p:nvSpPr>
        <p:spPr>
          <a:xfrm>
            <a:off x="10373868" y="2025396"/>
            <a:ext cx="1060800" cy="29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152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g3f883da9c22_0_994"/>
          <p:cNvSpPr/>
          <p:nvPr/>
        </p:nvSpPr>
        <p:spPr>
          <a:xfrm>
            <a:off x="5765292" y="3736238"/>
            <a:ext cx="2277000" cy="2115900"/>
          </a:xfrm>
          <a:prstGeom prst="rect">
            <a:avLst/>
          </a:prstGeom>
          <a:noFill/>
          <a:ln cap="flat" cmpd="sng" w="254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g3f883da9c22_0_994"/>
          <p:cNvSpPr txBox="1"/>
          <p:nvPr/>
        </p:nvSpPr>
        <p:spPr>
          <a:xfrm>
            <a:off x="5120640" y="1463040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Deeper networks: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VGG and GoogLeNet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3f883da9c22_0_1086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SMALL FILTERS, DEEPER NETWORKS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g3f883da9c22_0_1086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VGGNet  ·  Simonyan &amp; Zisserman, 2014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g3f883da9c22_0_1086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g3f883da9c22_0_1086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g3f883da9c22_0_1086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g3f883da9c22_0_1086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g3f883da9c22_0_1086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g3f883da9c22_0_1086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g3f883da9c22_0_1086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g3f883da9c22_0_1086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g3f883da9c22_0_1086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g3f883da9c22_0_1086"/>
          <p:cNvSpPr/>
          <p:nvPr/>
        </p:nvSpPr>
        <p:spPr>
          <a:xfrm>
            <a:off x="548640" y="1463040"/>
            <a:ext cx="5852100" cy="868800"/>
          </a:xfrm>
          <a:prstGeom prst="roundRect">
            <a:avLst>
              <a:gd fmla="val 6316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g3f883da9c22_0_1086"/>
          <p:cNvSpPr txBox="1"/>
          <p:nvPr/>
        </p:nvSpPr>
        <p:spPr>
          <a:xfrm>
            <a:off x="822960" y="1664208"/>
            <a:ext cx="530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Only 3 × 3 conv filters, stride 1, pad 1  ·  only 2 × 2 max pool, stride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g3f883da9c22_0_1086"/>
          <p:cNvSpPr txBox="1"/>
          <p:nvPr/>
        </p:nvSpPr>
        <p:spPr>
          <a:xfrm>
            <a:off x="548640" y="2514600"/>
            <a:ext cx="58521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1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Key idea: small filters, deeper networks.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Intuition behind using smaller filters: a stack of three 3 × 3 conv layers (stride 1) has the same effective receptive field as one 7 × 7 conv layer.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But deeper means more non-linearities and fewer parameters: 3 · (3²C²) versus 7²C² for C channels per layer.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16 or 19 weight layers; VGG19 is only slightly better than VGG16 and needs more memory.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g3f883da9c22_0_1086"/>
          <p:cNvSpPr/>
          <p:nvPr/>
        </p:nvSpPr>
        <p:spPr>
          <a:xfrm>
            <a:off x="6903720" y="5449824"/>
            <a:ext cx="1371600" cy="128100"/>
          </a:xfrm>
          <a:prstGeom prst="rect">
            <a:avLst/>
          </a:prstGeom>
          <a:solidFill>
            <a:srgbClr val="D8D4E6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g3f883da9c22_0_1086"/>
          <p:cNvSpPr txBox="1"/>
          <p:nvPr/>
        </p:nvSpPr>
        <p:spPr>
          <a:xfrm>
            <a:off x="6903720" y="5449824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g3f883da9c22_0_1086"/>
          <p:cNvSpPr/>
          <p:nvPr/>
        </p:nvSpPr>
        <p:spPr>
          <a:xfrm>
            <a:off x="6903720" y="5298948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g3f883da9c22_0_1086"/>
          <p:cNvSpPr txBox="1"/>
          <p:nvPr/>
        </p:nvSpPr>
        <p:spPr>
          <a:xfrm>
            <a:off x="6903720" y="5298948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11×11 conv, 96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7" name="Google Shape;2027;g3f883da9c22_0_1086"/>
          <p:cNvSpPr/>
          <p:nvPr/>
        </p:nvSpPr>
        <p:spPr>
          <a:xfrm>
            <a:off x="6903720" y="5148072"/>
            <a:ext cx="1371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g3f883da9c22_0_1086"/>
          <p:cNvSpPr txBox="1"/>
          <p:nvPr/>
        </p:nvSpPr>
        <p:spPr>
          <a:xfrm>
            <a:off x="6903720" y="5148072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g3f883da9c22_0_1086"/>
          <p:cNvSpPr/>
          <p:nvPr/>
        </p:nvSpPr>
        <p:spPr>
          <a:xfrm>
            <a:off x="6903720" y="4997196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g3f883da9c22_0_1086"/>
          <p:cNvSpPr txBox="1"/>
          <p:nvPr/>
        </p:nvSpPr>
        <p:spPr>
          <a:xfrm>
            <a:off x="6903720" y="4997196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5×5 conv, 256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1" name="Google Shape;2031;g3f883da9c22_0_1086"/>
          <p:cNvSpPr/>
          <p:nvPr/>
        </p:nvSpPr>
        <p:spPr>
          <a:xfrm>
            <a:off x="6903720" y="4846320"/>
            <a:ext cx="1371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g3f883da9c22_0_1086"/>
          <p:cNvSpPr txBox="1"/>
          <p:nvPr/>
        </p:nvSpPr>
        <p:spPr>
          <a:xfrm>
            <a:off x="6903720" y="4846320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g3f883da9c22_0_1086"/>
          <p:cNvSpPr/>
          <p:nvPr/>
        </p:nvSpPr>
        <p:spPr>
          <a:xfrm>
            <a:off x="6903720" y="4695444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g3f883da9c22_0_1086"/>
          <p:cNvSpPr txBox="1"/>
          <p:nvPr/>
        </p:nvSpPr>
        <p:spPr>
          <a:xfrm>
            <a:off x="6903720" y="4695444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384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g3f883da9c22_0_1086"/>
          <p:cNvSpPr/>
          <p:nvPr/>
        </p:nvSpPr>
        <p:spPr>
          <a:xfrm>
            <a:off x="6903720" y="4544568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g3f883da9c22_0_1086"/>
          <p:cNvSpPr txBox="1"/>
          <p:nvPr/>
        </p:nvSpPr>
        <p:spPr>
          <a:xfrm>
            <a:off x="6903720" y="4544568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384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g3f883da9c22_0_1086"/>
          <p:cNvSpPr/>
          <p:nvPr/>
        </p:nvSpPr>
        <p:spPr>
          <a:xfrm>
            <a:off x="6903720" y="4393692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g3f883da9c22_0_1086"/>
          <p:cNvSpPr txBox="1"/>
          <p:nvPr/>
        </p:nvSpPr>
        <p:spPr>
          <a:xfrm>
            <a:off x="6903720" y="4393692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9" name="Google Shape;2039;g3f883da9c22_0_1086"/>
          <p:cNvSpPr/>
          <p:nvPr/>
        </p:nvSpPr>
        <p:spPr>
          <a:xfrm>
            <a:off x="6903720" y="4242816"/>
            <a:ext cx="1371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g3f883da9c22_0_1086"/>
          <p:cNvSpPr txBox="1"/>
          <p:nvPr/>
        </p:nvSpPr>
        <p:spPr>
          <a:xfrm>
            <a:off x="6903720" y="4242816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1" name="Google Shape;2041;g3f883da9c22_0_1086"/>
          <p:cNvSpPr/>
          <p:nvPr/>
        </p:nvSpPr>
        <p:spPr>
          <a:xfrm>
            <a:off x="6903720" y="4091940"/>
            <a:ext cx="1371600" cy="128100"/>
          </a:xfrm>
          <a:prstGeom prst="rect">
            <a:avLst/>
          </a:prstGeom>
          <a:solidFill>
            <a:srgbClr val="CDEBDF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g3f883da9c22_0_1086"/>
          <p:cNvSpPr txBox="1"/>
          <p:nvPr/>
        </p:nvSpPr>
        <p:spPr>
          <a:xfrm>
            <a:off x="6903720" y="4091940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 4096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3" name="Google Shape;2043;g3f883da9c22_0_1086"/>
          <p:cNvSpPr/>
          <p:nvPr/>
        </p:nvSpPr>
        <p:spPr>
          <a:xfrm>
            <a:off x="6903720" y="3941064"/>
            <a:ext cx="1371600" cy="128100"/>
          </a:xfrm>
          <a:prstGeom prst="rect">
            <a:avLst/>
          </a:prstGeom>
          <a:solidFill>
            <a:srgbClr val="CDEBDF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g3f883da9c22_0_1086"/>
          <p:cNvSpPr txBox="1"/>
          <p:nvPr/>
        </p:nvSpPr>
        <p:spPr>
          <a:xfrm>
            <a:off x="6903720" y="3941064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 4096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g3f883da9c22_0_1086"/>
          <p:cNvSpPr/>
          <p:nvPr/>
        </p:nvSpPr>
        <p:spPr>
          <a:xfrm>
            <a:off x="6903720" y="3790188"/>
            <a:ext cx="1371600" cy="128100"/>
          </a:xfrm>
          <a:prstGeom prst="rect">
            <a:avLst/>
          </a:prstGeom>
          <a:solidFill>
            <a:srgbClr val="CDEBDF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g3f883da9c22_0_1086"/>
          <p:cNvSpPr txBox="1"/>
          <p:nvPr/>
        </p:nvSpPr>
        <p:spPr>
          <a:xfrm>
            <a:off x="6903720" y="3790188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 1000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g3f883da9c22_0_1086"/>
          <p:cNvSpPr/>
          <p:nvPr/>
        </p:nvSpPr>
        <p:spPr>
          <a:xfrm>
            <a:off x="6903720" y="3639312"/>
            <a:ext cx="1371600" cy="128100"/>
          </a:xfrm>
          <a:prstGeom prst="rect">
            <a:avLst/>
          </a:prstGeom>
          <a:solidFill>
            <a:srgbClr val="FBD5D3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g3f883da9c22_0_1086"/>
          <p:cNvSpPr txBox="1"/>
          <p:nvPr/>
        </p:nvSpPr>
        <p:spPr>
          <a:xfrm>
            <a:off x="6903720" y="3639312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g3f883da9c22_0_1086"/>
          <p:cNvSpPr txBox="1"/>
          <p:nvPr/>
        </p:nvSpPr>
        <p:spPr>
          <a:xfrm>
            <a:off x="6629400" y="5669280"/>
            <a:ext cx="192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AlexNet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g3f883da9c22_0_1086"/>
          <p:cNvSpPr/>
          <p:nvPr/>
        </p:nvSpPr>
        <p:spPr>
          <a:xfrm>
            <a:off x="8549640" y="5449824"/>
            <a:ext cx="1371600" cy="128100"/>
          </a:xfrm>
          <a:prstGeom prst="rect">
            <a:avLst/>
          </a:prstGeom>
          <a:solidFill>
            <a:srgbClr val="D8D4E6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g3f883da9c22_0_1086"/>
          <p:cNvSpPr txBox="1"/>
          <p:nvPr/>
        </p:nvSpPr>
        <p:spPr>
          <a:xfrm>
            <a:off x="8549640" y="5449824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g3f883da9c22_0_1086"/>
          <p:cNvSpPr/>
          <p:nvPr/>
        </p:nvSpPr>
        <p:spPr>
          <a:xfrm>
            <a:off x="8549640" y="5298948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g3f883da9c22_0_1086"/>
          <p:cNvSpPr txBox="1"/>
          <p:nvPr/>
        </p:nvSpPr>
        <p:spPr>
          <a:xfrm>
            <a:off x="8549640" y="5298948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64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g3f883da9c22_0_1086"/>
          <p:cNvSpPr/>
          <p:nvPr/>
        </p:nvSpPr>
        <p:spPr>
          <a:xfrm>
            <a:off x="8549640" y="5148072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g3f883da9c22_0_1086"/>
          <p:cNvSpPr txBox="1"/>
          <p:nvPr/>
        </p:nvSpPr>
        <p:spPr>
          <a:xfrm>
            <a:off x="8549640" y="5148072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64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g3f883da9c22_0_1086"/>
          <p:cNvSpPr/>
          <p:nvPr/>
        </p:nvSpPr>
        <p:spPr>
          <a:xfrm>
            <a:off x="8549640" y="4997196"/>
            <a:ext cx="1371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g3f883da9c22_0_1086"/>
          <p:cNvSpPr txBox="1"/>
          <p:nvPr/>
        </p:nvSpPr>
        <p:spPr>
          <a:xfrm>
            <a:off x="8549640" y="4997196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g3f883da9c22_0_1086"/>
          <p:cNvSpPr/>
          <p:nvPr/>
        </p:nvSpPr>
        <p:spPr>
          <a:xfrm>
            <a:off x="8549640" y="4846320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g3f883da9c22_0_1086"/>
          <p:cNvSpPr txBox="1"/>
          <p:nvPr/>
        </p:nvSpPr>
        <p:spPr>
          <a:xfrm>
            <a:off x="8549640" y="4846320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128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g3f883da9c22_0_1086"/>
          <p:cNvSpPr/>
          <p:nvPr/>
        </p:nvSpPr>
        <p:spPr>
          <a:xfrm>
            <a:off x="8549640" y="4695444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g3f883da9c22_0_1086"/>
          <p:cNvSpPr txBox="1"/>
          <p:nvPr/>
        </p:nvSpPr>
        <p:spPr>
          <a:xfrm>
            <a:off x="8549640" y="4695444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128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g3f883da9c22_0_1086"/>
          <p:cNvSpPr/>
          <p:nvPr/>
        </p:nvSpPr>
        <p:spPr>
          <a:xfrm>
            <a:off x="8549640" y="4544568"/>
            <a:ext cx="1371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g3f883da9c22_0_1086"/>
          <p:cNvSpPr txBox="1"/>
          <p:nvPr/>
        </p:nvSpPr>
        <p:spPr>
          <a:xfrm>
            <a:off x="8549640" y="4544568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g3f883da9c22_0_1086"/>
          <p:cNvSpPr/>
          <p:nvPr/>
        </p:nvSpPr>
        <p:spPr>
          <a:xfrm>
            <a:off x="8549640" y="4393692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g3f883da9c22_0_1086"/>
          <p:cNvSpPr txBox="1"/>
          <p:nvPr/>
        </p:nvSpPr>
        <p:spPr>
          <a:xfrm>
            <a:off x="8549640" y="4393692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g3f883da9c22_0_1086"/>
          <p:cNvSpPr/>
          <p:nvPr/>
        </p:nvSpPr>
        <p:spPr>
          <a:xfrm>
            <a:off x="8549640" y="4242816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g3f883da9c22_0_1086"/>
          <p:cNvSpPr txBox="1"/>
          <p:nvPr/>
        </p:nvSpPr>
        <p:spPr>
          <a:xfrm>
            <a:off x="8549640" y="4242816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g3f883da9c22_0_1086"/>
          <p:cNvSpPr/>
          <p:nvPr/>
        </p:nvSpPr>
        <p:spPr>
          <a:xfrm>
            <a:off x="8549640" y="4091940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g3f883da9c22_0_1086"/>
          <p:cNvSpPr txBox="1"/>
          <p:nvPr/>
        </p:nvSpPr>
        <p:spPr>
          <a:xfrm>
            <a:off x="8549640" y="4091940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g3f883da9c22_0_1086"/>
          <p:cNvSpPr/>
          <p:nvPr/>
        </p:nvSpPr>
        <p:spPr>
          <a:xfrm>
            <a:off x="8549640" y="3941064"/>
            <a:ext cx="1371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g3f883da9c22_0_1086"/>
          <p:cNvSpPr txBox="1"/>
          <p:nvPr/>
        </p:nvSpPr>
        <p:spPr>
          <a:xfrm>
            <a:off x="8549640" y="3941064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g3f883da9c22_0_1086"/>
          <p:cNvSpPr/>
          <p:nvPr/>
        </p:nvSpPr>
        <p:spPr>
          <a:xfrm>
            <a:off x="8549640" y="3790188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g3f883da9c22_0_1086"/>
          <p:cNvSpPr txBox="1"/>
          <p:nvPr/>
        </p:nvSpPr>
        <p:spPr>
          <a:xfrm>
            <a:off x="8549640" y="3790188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g3f883da9c22_0_1086"/>
          <p:cNvSpPr/>
          <p:nvPr/>
        </p:nvSpPr>
        <p:spPr>
          <a:xfrm>
            <a:off x="8549640" y="3639312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g3f883da9c22_0_1086"/>
          <p:cNvSpPr txBox="1"/>
          <p:nvPr/>
        </p:nvSpPr>
        <p:spPr>
          <a:xfrm>
            <a:off x="8549640" y="3639312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g3f883da9c22_0_1086"/>
          <p:cNvSpPr/>
          <p:nvPr/>
        </p:nvSpPr>
        <p:spPr>
          <a:xfrm>
            <a:off x="8549640" y="3488436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g3f883da9c22_0_1086"/>
          <p:cNvSpPr txBox="1"/>
          <p:nvPr/>
        </p:nvSpPr>
        <p:spPr>
          <a:xfrm>
            <a:off x="8549640" y="3488436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g3f883da9c22_0_1086"/>
          <p:cNvSpPr/>
          <p:nvPr/>
        </p:nvSpPr>
        <p:spPr>
          <a:xfrm>
            <a:off x="8549640" y="3337560"/>
            <a:ext cx="1371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g3f883da9c22_0_1086"/>
          <p:cNvSpPr txBox="1"/>
          <p:nvPr/>
        </p:nvSpPr>
        <p:spPr>
          <a:xfrm>
            <a:off x="8549640" y="3337560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0" name="Google Shape;2080;g3f883da9c22_0_1086"/>
          <p:cNvSpPr/>
          <p:nvPr/>
        </p:nvSpPr>
        <p:spPr>
          <a:xfrm>
            <a:off x="8549640" y="3186684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g3f883da9c22_0_1086"/>
          <p:cNvSpPr txBox="1"/>
          <p:nvPr/>
        </p:nvSpPr>
        <p:spPr>
          <a:xfrm>
            <a:off x="8549640" y="3186684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Google Shape;2082;g3f883da9c22_0_1086"/>
          <p:cNvSpPr/>
          <p:nvPr/>
        </p:nvSpPr>
        <p:spPr>
          <a:xfrm>
            <a:off x="8549640" y="3035808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g3f883da9c22_0_1086"/>
          <p:cNvSpPr txBox="1"/>
          <p:nvPr/>
        </p:nvSpPr>
        <p:spPr>
          <a:xfrm>
            <a:off x="8549640" y="3035808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g3f883da9c22_0_1086"/>
          <p:cNvSpPr/>
          <p:nvPr/>
        </p:nvSpPr>
        <p:spPr>
          <a:xfrm>
            <a:off x="8549640" y="2884932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g3f883da9c22_0_1086"/>
          <p:cNvSpPr txBox="1"/>
          <p:nvPr/>
        </p:nvSpPr>
        <p:spPr>
          <a:xfrm>
            <a:off x="8549640" y="2884932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g3f883da9c22_0_1086"/>
          <p:cNvSpPr/>
          <p:nvPr/>
        </p:nvSpPr>
        <p:spPr>
          <a:xfrm>
            <a:off x="8549640" y="2734056"/>
            <a:ext cx="1371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g3f883da9c22_0_1086"/>
          <p:cNvSpPr txBox="1"/>
          <p:nvPr/>
        </p:nvSpPr>
        <p:spPr>
          <a:xfrm>
            <a:off x="8549640" y="2734056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g3f883da9c22_0_1086"/>
          <p:cNvSpPr/>
          <p:nvPr/>
        </p:nvSpPr>
        <p:spPr>
          <a:xfrm>
            <a:off x="8549640" y="2583180"/>
            <a:ext cx="1371600" cy="128100"/>
          </a:xfrm>
          <a:prstGeom prst="rect">
            <a:avLst/>
          </a:prstGeom>
          <a:solidFill>
            <a:srgbClr val="CDEBDF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g3f883da9c22_0_1086"/>
          <p:cNvSpPr txBox="1"/>
          <p:nvPr/>
        </p:nvSpPr>
        <p:spPr>
          <a:xfrm>
            <a:off x="8549640" y="2583180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 4096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g3f883da9c22_0_1086"/>
          <p:cNvSpPr/>
          <p:nvPr/>
        </p:nvSpPr>
        <p:spPr>
          <a:xfrm>
            <a:off x="8549640" y="2432304"/>
            <a:ext cx="1371600" cy="128100"/>
          </a:xfrm>
          <a:prstGeom prst="rect">
            <a:avLst/>
          </a:prstGeom>
          <a:solidFill>
            <a:srgbClr val="CDEBDF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g3f883da9c22_0_1086"/>
          <p:cNvSpPr txBox="1"/>
          <p:nvPr/>
        </p:nvSpPr>
        <p:spPr>
          <a:xfrm>
            <a:off x="8549640" y="2432304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 4096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2" name="Google Shape;2092;g3f883da9c22_0_1086"/>
          <p:cNvSpPr/>
          <p:nvPr/>
        </p:nvSpPr>
        <p:spPr>
          <a:xfrm>
            <a:off x="8549640" y="2281428"/>
            <a:ext cx="1371600" cy="128100"/>
          </a:xfrm>
          <a:prstGeom prst="rect">
            <a:avLst/>
          </a:prstGeom>
          <a:solidFill>
            <a:srgbClr val="CDEBDF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g3f883da9c22_0_1086"/>
          <p:cNvSpPr txBox="1"/>
          <p:nvPr/>
        </p:nvSpPr>
        <p:spPr>
          <a:xfrm>
            <a:off x="8549640" y="2281428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 1000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g3f883da9c22_0_1086"/>
          <p:cNvSpPr/>
          <p:nvPr/>
        </p:nvSpPr>
        <p:spPr>
          <a:xfrm>
            <a:off x="8549640" y="2130552"/>
            <a:ext cx="1371600" cy="128100"/>
          </a:xfrm>
          <a:prstGeom prst="rect">
            <a:avLst/>
          </a:prstGeom>
          <a:solidFill>
            <a:srgbClr val="FBD5D3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g3f883da9c22_0_1086"/>
          <p:cNvSpPr txBox="1"/>
          <p:nvPr/>
        </p:nvSpPr>
        <p:spPr>
          <a:xfrm>
            <a:off x="8549640" y="2130552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6" name="Google Shape;2096;g3f883da9c22_0_1086"/>
          <p:cNvSpPr txBox="1"/>
          <p:nvPr/>
        </p:nvSpPr>
        <p:spPr>
          <a:xfrm>
            <a:off x="8275320" y="5669280"/>
            <a:ext cx="192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VGG16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g3f883da9c22_0_1086"/>
          <p:cNvSpPr/>
          <p:nvPr/>
        </p:nvSpPr>
        <p:spPr>
          <a:xfrm>
            <a:off x="10195560" y="5449824"/>
            <a:ext cx="1371600" cy="128100"/>
          </a:xfrm>
          <a:prstGeom prst="rect">
            <a:avLst/>
          </a:prstGeom>
          <a:solidFill>
            <a:srgbClr val="D8D4E6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g3f883da9c22_0_1086"/>
          <p:cNvSpPr txBox="1"/>
          <p:nvPr/>
        </p:nvSpPr>
        <p:spPr>
          <a:xfrm>
            <a:off x="10195560" y="5449824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g3f883da9c22_0_1086"/>
          <p:cNvSpPr/>
          <p:nvPr/>
        </p:nvSpPr>
        <p:spPr>
          <a:xfrm>
            <a:off x="10195560" y="5298948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g3f883da9c22_0_1086"/>
          <p:cNvSpPr txBox="1"/>
          <p:nvPr/>
        </p:nvSpPr>
        <p:spPr>
          <a:xfrm>
            <a:off x="10195560" y="5298948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64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g3f883da9c22_0_1086"/>
          <p:cNvSpPr/>
          <p:nvPr/>
        </p:nvSpPr>
        <p:spPr>
          <a:xfrm>
            <a:off x="10195560" y="5148072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g3f883da9c22_0_1086"/>
          <p:cNvSpPr txBox="1"/>
          <p:nvPr/>
        </p:nvSpPr>
        <p:spPr>
          <a:xfrm>
            <a:off x="10195560" y="5148072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64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3" name="Google Shape;2103;g3f883da9c22_0_1086"/>
          <p:cNvSpPr/>
          <p:nvPr/>
        </p:nvSpPr>
        <p:spPr>
          <a:xfrm>
            <a:off x="10195560" y="4997196"/>
            <a:ext cx="1371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g3f883da9c22_0_1086"/>
          <p:cNvSpPr txBox="1"/>
          <p:nvPr/>
        </p:nvSpPr>
        <p:spPr>
          <a:xfrm>
            <a:off x="10195560" y="4997196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g3f883da9c22_0_1086"/>
          <p:cNvSpPr/>
          <p:nvPr/>
        </p:nvSpPr>
        <p:spPr>
          <a:xfrm>
            <a:off x="10195560" y="4846320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g3f883da9c22_0_1086"/>
          <p:cNvSpPr txBox="1"/>
          <p:nvPr/>
        </p:nvSpPr>
        <p:spPr>
          <a:xfrm>
            <a:off x="10195560" y="4846320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128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g3f883da9c22_0_1086"/>
          <p:cNvSpPr/>
          <p:nvPr/>
        </p:nvSpPr>
        <p:spPr>
          <a:xfrm>
            <a:off x="10195560" y="4695444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g3f883da9c22_0_1086"/>
          <p:cNvSpPr txBox="1"/>
          <p:nvPr/>
        </p:nvSpPr>
        <p:spPr>
          <a:xfrm>
            <a:off x="10195560" y="4695444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128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g3f883da9c22_0_1086"/>
          <p:cNvSpPr/>
          <p:nvPr/>
        </p:nvSpPr>
        <p:spPr>
          <a:xfrm>
            <a:off x="10195560" y="4544568"/>
            <a:ext cx="1371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g3f883da9c22_0_1086"/>
          <p:cNvSpPr txBox="1"/>
          <p:nvPr/>
        </p:nvSpPr>
        <p:spPr>
          <a:xfrm>
            <a:off x="10195560" y="4544568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g3f883da9c22_0_1086"/>
          <p:cNvSpPr/>
          <p:nvPr/>
        </p:nvSpPr>
        <p:spPr>
          <a:xfrm>
            <a:off x="10195560" y="4393692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g3f883da9c22_0_1086"/>
          <p:cNvSpPr txBox="1"/>
          <p:nvPr/>
        </p:nvSpPr>
        <p:spPr>
          <a:xfrm>
            <a:off x="10195560" y="4393692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g3f883da9c22_0_1086"/>
          <p:cNvSpPr/>
          <p:nvPr/>
        </p:nvSpPr>
        <p:spPr>
          <a:xfrm>
            <a:off x="10195560" y="4242816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g3f883da9c22_0_1086"/>
          <p:cNvSpPr txBox="1"/>
          <p:nvPr/>
        </p:nvSpPr>
        <p:spPr>
          <a:xfrm>
            <a:off x="10195560" y="4242816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g3f883da9c22_0_1086"/>
          <p:cNvSpPr/>
          <p:nvPr/>
        </p:nvSpPr>
        <p:spPr>
          <a:xfrm>
            <a:off x="10195560" y="4091940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g3f883da9c22_0_1086"/>
          <p:cNvSpPr txBox="1"/>
          <p:nvPr/>
        </p:nvSpPr>
        <p:spPr>
          <a:xfrm>
            <a:off x="10195560" y="4091940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g3f883da9c22_0_1086"/>
          <p:cNvSpPr/>
          <p:nvPr/>
        </p:nvSpPr>
        <p:spPr>
          <a:xfrm>
            <a:off x="10195560" y="3941064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g3f883da9c22_0_1086"/>
          <p:cNvSpPr txBox="1"/>
          <p:nvPr/>
        </p:nvSpPr>
        <p:spPr>
          <a:xfrm>
            <a:off x="10195560" y="3941064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g3f883da9c22_0_1086"/>
          <p:cNvSpPr/>
          <p:nvPr/>
        </p:nvSpPr>
        <p:spPr>
          <a:xfrm>
            <a:off x="10195560" y="3790188"/>
            <a:ext cx="1371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g3f883da9c22_0_1086"/>
          <p:cNvSpPr txBox="1"/>
          <p:nvPr/>
        </p:nvSpPr>
        <p:spPr>
          <a:xfrm>
            <a:off x="10195560" y="3790188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g3f883da9c22_0_1086"/>
          <p:cNvSpPr/>
          <p:nvPr/>
        </p:nvSpPr>
        <p:spPr>
          <a:xfrm>
            <a:off x="10195560" y="3639312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g3f883da9c22_0_1086"/>
          <p:cNvSpPr txBox="1"/>
          <p:nvPr/>
        </p:nvSpPr>
        <p:spPr>
          <a:xfrm>
            <a:off x="10195560" y="3639312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g3f883da9c22_0_1086"/>
          <p:cNvSpPr/>
          <p:nvPr/>
        </p:nvSpPr>
        <p:spPr>
          <a:xfrm>
            <a:off x="10195560" y="3488436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g3f883da9c22_0_1086"/>
          <p:cNvSpPr txBox="1"/>
          <p:nvPr/>
        </p:nvSpPr>
        <p:spPr>
          <a:xfrm>
            <a:off x="10195560" y="3488436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g3f883da9c22_0_1086"/>
          <p:cNvSpPr/>
          <p:nvPr/>
        </p:nvSpPr>
        <p:spPr>
          <a:xfrm>
            <a:off x="10195560" y="3337560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g3f883da9c22_0_1086"/>
          <p:cNvSpPr txBox="1"/>
          <p:nvPr/>
        </p:nvSpPr>
        <p:spPr>
          <a:xfrm>
            <a:off x="10195560" y="3337560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g3f883da9c22_0_1086"/>
          <p:cNvSpPr/>
          <p:nvPr/>
        </p:nvSpPr>
        <p:spPr>
          <a:xfrm>
            <a:off x="10195560" y="3186684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g3f883da9c22_0_1086"/>
          <p:cNvSpPr txBox="1"/>
          <p:nvPr/>
        </p:nvSpPr>
        <p:spPr>
          <a:xfrm>
            <a:off x="10195560" y="3186684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g3f883da9c22_0_1086"/>
          <p:cNvSpPr/>
          <p:nvPr/>
        </p:nvSpPr>
        <p:spPr>
          <a:xfrm>
            <a:off x="10195560" y="3035808"/>
            <a:ext cx="1371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g3f883da9c22_0_1086"/>
          <p:cNvSpPr txBox="1"/>
          <p:nvPr/>
        </p:nvSpPr>
        <p:spPr>
          <a:xfrm>
            <a:off x="10195560" y="3035808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g3f883da9c22_0_1086"/>
          <p:cNvSpPr/>
          <p:nvPr/>
        </p:nvSpPr>
        <p:spPr>
          <a:xfrm>
            <a:off x="10195560" y="2884932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g3f883da9c22_0_1086"/>
          <p:cNvSpPr txBox="1"/>
          <p:nvPr/>
        </p:nvSpPr>
        <p:spPr>
          <a:xfrm>
            <a:off x="10195560" y="2884932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g3f883da9c22_0_1086"/>
          <p:cNvSpPr/>
          <p:nvPr/>
        </p:nvSpPr>
        <p:spPr>
          <a:xfrm>
            <a:off x="10195560" y="2734056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g3f883da9c22_0_1086"/>
          <p:cNvSpPr txBox="1"/>
          <p:nvPr/>
        </p:nvSpPr>
        <p:spPr>
          <a:xfrm>
            <a:off x="10195560" y="2734056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g3f883da9c22_0_1086"/>
          <p:cNvSpPr/>
          <p:nvPr/>
        </p:nvSpPr>
        <p:spPr>
          <a:xfrm>
            <a:off x="10195560" y="2583180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g3f883da9c22_0_1086"/>
          <p:cNvSpPr txBox="1"/>
          <p:nvPr/>
        </p:nvSpPr>
        <p:spPr>
          <a:xfrm>
            <a:off x="10195560" y="2583180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g3f883da9c22_0_1086"/>
          <p:cNvSpPr/>
          <p:nvPr/>
        </p:nvSpPr>
        <p:spPr>
          <a:xfrm>
            <a:off x="10195560" y="2432304"/>
            <a:ext cx="1371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g3f883da9c22_0_1086"/>
          <p:cNvSpPr txBox="1"/>
          <p:nvPr/>
        </p:nvSpPr>
        <p:spPr>
          <a:xfrm>
            <a:off x="10195560" y="2432304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g3f883da9c22_0_1086"/>
          <p:cNvSpPr/>
          <p:nvPr/>
        </p:nvSpPr>
        <p:spPr>
          <a:xfrm>
            <a:off x="10195560" y="2281428"/>
            <a:ext cx="1371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g3f883da9c22_0_1086"/>
          <p:cNvSpPr txBox="1"/>
          <p:nvPr/>
        </p:nvSpPr>
        <p:spPr>
          <a:xfrm>
            <a:off x="10195560" y="2281428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g3f883da9c22_0_1086"/>
          <p:cNvSpPr/>
          <p:nvPr/>
        </p:nvSpPr>
        <p:spPr>
          <a:xfrm>
            <a:off x="10195560" y="2130552"/>
            <a:ext cx="1371600" cy="128100"/>
          </a:xfrm>
          <a:prstGeom prst="rect">
            <a:avLst/>
          </a:prstGeom>
          <a:solidFill>
            <a:srgbClr val="CDEBDF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g3f883da9c22_0_1086"/>
          <p:cNvSpPr txBox="1"/>
          <p:nvPr/>
        </p:nvSpPr>
        <p:spPr>
          <a:xfrm>
            <a:off x="10195560" y="2130552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 4096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g3f883da9c22_0_1086"/>
          <p:cNvSpPr/>
          <p:nvPr/>
        </p:nvSpPr>
        <p:spPr>
          <a:xfrm>
            <a:off x="10195560" y="1979676"/>
            <a:ext cx="1371600" cy="128100"/>
          </a:xfrm>
          <a:prstGeom prst="rect">
            <a:avLst/>
          </a:prstGeom>
          <a:solidFill>
            <a:srgbClr val="CDEBDF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g3f883da9c22_0_1086"/>
          <p:cNvSpPr txBox="1"/>
          <p:nvPr/>
        </p:nvSpPr>
        <p:spPr>
          <a:xfrm>
            <a:off x="10195560" y="1979676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 4096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g3f883da9c22_0_1086"/>
          <p:cNvSpPr/>
          <p:nvPr/>
        </p:nvSpPr>
        <p:spPr>
          <a:xfrm>
            <a:off x="10195560" y="1828800"/>
            <a:ext cx="1371600" cy="128100"/>
          </a:xfrm>
          <a:prstGeom prst="rect">
            <a:avLst/>
          </a:prstGeom>
          <a:solidFill>
            <a:srgbClr val="CDEBDF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g3f883da9c22_0_1086"/>
          <p:cNvSpPr txBox="1"/>
          <p:nvPr/>
        </p:nvSpPr>
        <p:spPr>
          <a:xfrm>
            <a:off x="10195560" y="1828800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 1000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g3f883da9c22_0_1086"/>
          <p:cNvSpPr/>
          <p:nvPr/>
        </p:nvSpPr>
        <p:spPr>
          <a:xfrm>
            <a:off x="10195560" y="1677924"/>
            <a:ext cx="1371600" cy="128100"/>
          </a:xfrm>
          <a:prstGeom prst="rect">
            <a:avLst/>
          </a:prstGeom>
          <a:solidFill>
            <a:srgbClr val="FBD5D3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g3f883da9c22_0_1086"/>
          <p:cNvSpPr txBox="1"/>
          <p:nvPr/>
        </p:nvSpPr>
        <p:spPr>
          <a:xfrm>
            <a:off x="10195560" y="1677924"/>
            <a:ext cx="1371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g3f883da9c22_0_1086"/>
          <p:cNvSpPr txBox="1"/>
          <p:nvPr/>
        </p:nvSpPr>
        <p:spPr>
          <a:xfrm>
            <a:off x="9921240" y="5669280"/>
            <a:ext cx="192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VGG19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g3f883da9c22_0_1231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WHY SMALL FILTERS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g3f883da9c22_0_1231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VGGNet — receptive field (1)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g3f883da9c22_0_1231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g3f883da9c22_0_1231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g3f883da9c22_0_1231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g3f883da9c22_0_1231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g3f883da9c22_0_1231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g3f883da9c22_0_1231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g3f883da9c22_0_1231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g3f883da9c22_0_1231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g3f883da9c22_0_1231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g3f883da9c22_0_1231"/>
          <p:cNvSpPr txBox="1"/>
          <p:nvPr/>
        </p:nvSpPr>
        <p:spPr>
          <a:xfrm>
            <a:off x="82296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g3f883da9c22_0_1231"/>
          <p:cNvSpPr/>
          <p:nvPr/>
        </p:nvSpPr>
        <p:spPr>
          <a:xfrm>
            <a:off x="82296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g3f883da9c22_0_1231"/>
          <p:cNvSpPr/>
          <p:nvPr/>
        </p:nvSpPr>
        <p:spPr>
          <a:xfrm>
            <a:off x="106984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g3f883da9c22_0_1231"/>
          <p:cNvSpPr/>
          <p:nvPr/>
        </p:nvSpPr>
        <p:spPr>
          <a:xfrm>
            <a:off x="131673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g3f883da9c22_0_1231"/>
          <p:cNvSpPr/>
          <p:nvPr/>
        </p:nvSpPr>
        <p:spPr>
          <a:xfrm>
            <a:off x="156362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g3f883da9c22_0_1231"/>
          <p:cNvSpPr/>
          <p:nvPr/>
        </p:nvSpPr>
        <p:spPr>
          <a:xfrm>
            <a:off x="181051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g3f883da9c22_0_1231"/>
          <p:cNvSpPr/>
          <p:nvPr/>
        </p:nvSpPr>
        <p:spPr>
          <a:xfrm>
            <a:off x="205740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g3f883da9c22_0_1231"/>
          <p:cNvSpPr/>
          <p:nvPr/>
        </p:nvSpPr>
        <p:spPr>
          <a:xfrm>
            <a:off x="230428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g3f883da9c22_0_1231"/>
          <p:cNvSpPr/>
          <p:nvPr/>
        </p:nvSpPr>
        <p:spPr>
          <a:xfrm>
            <a:off x="255117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g3f883da9c22_0_1231"/>
          <p:cNvSpPr/>
          <p:nvPr/>
        </p:nvSpPr>
        <p:spPr>
          <a:xfrm>
            <a:off x="279806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g3f883da9c22_0_1231"/>
          <p:cNvSpPr/>
          <p:nvPr/>
        </p:nvSpPr>
        <p:spPr>
          <a:xfrm>
            <a:off x="82296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7" name="Google Shape;2177;g3f883da9c22_0_1231"/>
          <p:cNvSpPr/>
          <p:nvPr/>
        </p:nvSpPr>
        <p:spPr>
          <a:xfrm>
            <a:off x="106984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g3f883da9c22_0_1231"/>
          <p:cNvSpPr/>
          <p:nvPr/>
        </p:nvSpPr>
        <p:spPr>
          <a:xfrm>
            <a:off x="131673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g3f883da9c22_0_1231"/>
          <p:cNvSpPr/>
          <p:nvPr/>
        </p:nvSpPr>
        <p:spPr>
          <a:xfrm>
            <a:off x="156362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g3f883da9c22_0_1231"/>
          <p:cNvSpPr/>
          <p:nvPr/>
        </p:nvSpPr>
        <p:spPr>
          <a:xfrm>
            <a:off x="181051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g3f883da9c22_0_1231"/>
          <p:cNvSpPr/>
          <p:nvPr/>
        </p:nvSpPr>
        <p:spPr>
          <a:xfrm>
            <a:off x="205740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g3f883da9c22_0_1231"/>
          <p:cNvSpPr/>
          <p:nvPr/>
        </p:nvSpPr>
        <p:spPr>
          <a:xfrm>
            <a:off x="230428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g3f883da9c22_0_1231"/>
          <p:cNvSpPr/>
          <p:nvPr/>
        </p:nvSpPr>
        <p:spPr>
          <a:xfrm>
            <a:off x="255117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g3f883da9c22_0_1231"/>
          <p:cNvSpPr/>
          <p:nvPr/>
        </p:nvSpPr>
        <p:spPr>
          <a:xfrm>
            <a:off x="279806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5" name="Google Shape;2185;g3f883da9c22_0_1231"/>
          <p:cNvSpPr/>
          <p:nvPr/>
        </p:nvSpPr>
        <p:spPr>
          <a:xfrm>
            <a:off x="82296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g3f883da9c22_0_1231"/>
          <p:cNvSpPr/>
          <p:nvPr/>
        </p:nvSpPr>
        <p:spPr>
          <a:xfrm>
            <a:off x="106984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g3f883da9c22_0_1231"/>
          <p:cNvSpPr/>
          <p:nvPr/>
        </p:nvSpPr>
        <p:spPr>
          <a:xfrm>
            <a:off x="131673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g3f883da9c22_0_1231"/>
          <p:cNvSpPr/>
          <p:nvPr/>
        </p:nvSpPr>
        <p:spPr>
          <a:xfrm>
            <a:off x="156362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g3f883da9c22_0_1231"/>
          <p:cNvSpPr/>
          <p:nvPr/>
        </p:nvSpPr>
        <p:spPr>
          <a:xfrm>
            <a:off x="181051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g3f883da9c22_0_1231"/>
          <p:cNvSpPr/>
          <p:nvPr/>
        </p:nvSpPr>
        <p:spPr>
          <a:xfrm>
            <a:off x="205740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g3f883da9c22_0_1231"/>
          <p:cNvSpPr/>
          <p:nvPr/>
        </p:nvSpPr>
        <p:spPr>
          <a:xfrm>
            <a:off x="230428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g3f883da9c22_0_1231"/>
          <p:cNvSpPr/>
          <p:nvPr/>
        </p:nvSpPr>
        <p:spPr>
          <a:xfrm>
            <a:off x="255117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g3f883da9c22_0_1231"/>
          <p:cNvSpPr/>
          <p:nvPr/>
        </p:nvSpPr>
        <p:spPr>
          <a:xfrm>
            <a:off x="279806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g3f883da9c22_0_1231"/>
          <p:cNvSpPr/>
          <p:nvPr/>
        </p:nvSpPr>
        <p:spPr>
          <a:xfrm>
            <a:off x="82296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5" name="Google Shape;2195;g3f883da9c22_0_1231"/>
          <p:cNvSpPr/>
          <p:nvPr/>
        </p:nvSpPr>
        <p:spPr>
          <a:xfrm>
            <a:off x="106984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g3f883da9c22_0_1231"/>
          <p:cNvSpPr/>
          <p:nvPr/>
        </p:nvSpPr>
        <p:spPr>
          <a:xfrm>
            <a:off x="131673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g3f883da9c22_0_1231"/>
          <p:cNvSpPr/>
          <p:nvPr/>
        </p:nvSpPr>
        <p:spPr>
          <a:xfrm>
            <a:off x="156362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g3f883da9c22_0_1231"/>
          <p:cNvSpPr/>
          <p:nvPr/>
        </p:nvSpPr>
        <p:spPr>
          <a:xfrm>
            <a:off x="181051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g3f883da9c22_0_1231"/>
          <p:cNvSpPr/>
          <p:nvPr/>
        </p:nvSpPr>
        <p:spPr>
          <a:xfrm>
            <a:off x="205740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0" name="Google Shape;2200;g3f883da9c22_0_1231"/>
          <p:cNvSpPr/>
          <p:nvPr/>
        </p:nvSpPr>
        <p:spPr>
          <a:xfrm>
            <a:off x="230428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g3f883da9c22_0_1231"/>
          <p:cNvSpPr/>
          <p:nvPr/>
        </p:nvSpPr>
        <p:spPr>
          <a:xfrm>
            <a:off x="255117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g3f883da9c22_0_1231"/>
          <p:cNvSpPr/>
          <p:nvPr/>
        </p:nvSpPr>
        <p:spPr>
          <a:xfrm>
            <a:off x="279806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g3f883da9c22_0_1231"/>
          <p:cNvSpPr/>
          <p:nvPr/>
        </p:nvSpPr>
        <p:spPr>
          <a:xfrm>
            <a:off x="82296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g3f883da9c22_0_1231"/>
          <p:cNvSpPr/>
          <p:nvPr/>
        </p:nvSpPr>
        <p:spPr>
          <a:xfrm>
            <a:off x="106984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g3f883da9c22_0_1231"/>
          <p:cNvSpPr/>
          <p:nvPr/>
        </p:nvSpPr>
        <p:spPr>
          <a:xfrm>
            <a:off x="131673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g3f883da9c22_0_1231"/>
          <p:cNvSpPr/>
          <p:nvPr/>
        </p:nvSpPr>
        <p:spPr>
          <a:xfrm>
            <a:off x="156362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g3f883da9c22_0_1231"/>
          <p:cNvSpPr/>
          <p:nvPr/>
        </p:nvSpPr>
        <p:spPr>
          <a:xfrm>
            <a:off x="181051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g3f883da9c22_0_1231"/>
          <p:cNvSpPr/>
          <p:nvPr/>
        </p:nvSpPr>
        <p:spPr>
          <a:xfrm>
            <a:off x="205740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g3f883da9c22_0_1231"/>
          <p:cNvSpPr/>
          <p:nvPr/>
        </p:nvSpPr>
        <p:spPr>
          <a:xfrm>
            <a:off x="230428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g3f883da9c22_0_1231"/>
          <p:cNvSpPr/>
          <p:nvPr/>
        </p:nvSpPr>
        <p:spPr>
          <a:xfrm>
            <a:off x="255117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g3f883da9c22_0_1231"/>
          <p:cNvSpPr/>
          <p:nvPr/>
        </p:nvSpPr>
        <p:spPr>
          <a:xfrm>
            <a:off x="279806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g3f883da9c22_0_1231"/>
          <p:cNvSpPr/>
          <p:nvPr/>
        </p:nvSpPr>
        <p:spPr>
          <a:xfrm>
            <a:off x="82296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g3f883da9c22_0_1231"/>
          <p:cNvSpPr/>
          <p:nvPr/>
        </p:nvSpPr>
        <p:spPr>
          <a:xfrm>
            <a:off x="106984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g3f883da9c22_0_1231"/>
          <p:cNvSpPr/>
          <p:nvPr/>
        </p:nvSpPr>
        <p:spPr>
          <a:xfrm>
            <a:off x="131673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g3f883da9c22_0_1231"/>
          <p:cNvSpPr/>
          <p:nvPr/>
        </p:nvSpPr>
        <p:spPr>
          <a:xfrm>
            <a:off x="156362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6" name="Google Shape;2216;g3f883da9c22_0_1231"/>
          <p:cNvSpPr/>
          <p:nvPr/>
        </p:nvSpPr>
        <p:spPr>
          <a:xfrm>
            <a:off x="181051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g3f883da9c22_0_1231"/>
          <p:cNvSpPr/>
          <p:nvPr/>
        </p:nvSpPr>
        <p:spPr>
          <a:xfrm>
            <a:off x="205740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g3f883da9c22_0_1231"/>
          <p:cNvSpPr/>
          <p:nvPr/>
        </p:nvSpPr>
        <p:spPr>
          <a:xfrm>
            <a:off x="230428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g3f883da9c22_0_1231"/>
          <p:cNvSpPr/>
          <p:nvPr/>
        </p:nvSpPr>
        <p:spPr>
          <a:xfrm>
            <a:off x="255117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g3f883da9c22_0_1231"/>
          <p:cNvSpPr/>
          <p:nvPr/>
        </p:nvSpPr>
        <p:spPr>
          <a:xfrm>
            <a:off x="279806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g3f883da9c22_0_1231"/>
          <p:cNvSpPr/>
          <p:nvPr/>
        </p:nvSpPr>
        <p:spPr>
          <a:xfrm>
            <a:off x="82296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2" name="Google Shape;2222;g3f883da9c22_0_1231"/>
          <p:cNvSpPr/>
          <p:nvPr/>
        </p:nvSpPr>
        <p:spPr>
          <a:xfrm>
            <a:off x="106984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3" name="Google Shape;2223;g3f883da9c22_0_1231"/>
          <p:cNvSpPr/>
          <p:nvPr/>
        </p:nvSpPr>
        <p:spPr>
          <a:xfrm>
            <a:off x="131673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g3f883da9c22_0_1231"/>
          <p:cNvSpPr/>
          <p:nvPr/>
        </p:nvSpPr>
        <p:spPr>
          <a:xfrm>
            <a:off x="156362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5" name="Google Shape;2225;g3f883da9c22_0_1231"/>
          <p:cNvSpPr/>
          <p:nvPr/>
        </p:nvSpPr>
        <p:spPr>
          <a:xfrm>
            <a:off x="181051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6" name="Google Shape;2226;g3f883da9c22_0_1231"/>
          <p:cNvSpPr/>
          <p:nvPr/>
        </p:nvSpPr>
        <p:spPr>
          <a:xfrm>
            <a:off x="205740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7" name="Google Shape;2227;g3f883da9c22_0_1231"/>
          <p:cNvSpPr/>
          <p:nvPr/>
        </p:nvSpPr>
        <p:spPr>
          <a:xfrm>
            <a:off x="230428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8" name="Google Shape;2228;g3f883da9c22_0_1231"/>
          <p:cNvSpPr/>
          <p:nvPr/>
        </p:nvSpPr>
        <p:spPr>
          <a:xfrm>
            <a:off x="255117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g3f883da9c22_0_1231"/>
          <p:cNvSpPr/>
          <p:nvPr/>
        </p:nvSpPr>
        <p:spPr>
          <a:xfrm>
            <a:off x="279806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0" name="Google Shape;2230;g3f883da9c22_0_1231"/>
          <p:cNvSpPr txBox="1"/>
          <p:nvPr/>
        </p:nvSpPr>
        <p:spPr>
          <a:xfrm>
            <a:off x="365760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g3f883da9c22_0_1231"/>
          <p:cNvSpPr/>
          <p:nvPr/>
        </p:nvSpPr>
        <p:spPr>
          <a:xfrm>
            <a:off x="365760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g3f883da9c22_0_1231"/>
          <p:cNvSpPr/>
          <p:nvPr/>
        </p:nvSpPr>
        <p:spPr>
          <a:xfrm>
            <a:off x="390448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3" name="Google Shape;2233;g3f883da9c22_0_1231"/>
          <p:cNvSpPr/>
          <p:nvPr/>
        </p:nvSpPr>
        <p:spPr>
          <a:xfrm>
            <a:off x="415137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g3f883da9c22_0_1231"/>
          <p:cNvSpPr/>
          <p:nvPr/>
        </p:nvSpPr>
        <p:spPr>
          <a:xfrm>
            <a:off x="439826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g3f883da9c22_0_1231"/>
          <p:cNvSpPr/>
          <p:nvPr/>
        </p:nvSpPr>
        <p:spPr>
          <a:xfrm>
            <a:off x="464515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6" name="Google Shape;2236;g3f883da9c22_0_1231"/>
          <p:cNvSpPr/>
          <p:nvPr/>
        </p:nvSpPr>
        <p:spPr>
          <a:xfrm>
            <a:off x="489204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g3f883da9c22_0_1231"/>
          <p:cNvSpPr/>
          <p:nvPr/>
        </p:nvSpPr>
        <p:spPr>
          <a:xfrm>
            <a:off x="513892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g3f883da9c22_0_1231"/>
          <p:cNvSpPr/>
          <p:nvPr/>
        </p:nvSpPr>
        <p:spPr>
          <a:xfrm>
            <a:off x="538581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9" name="Google Shape;2239;g3f883da9c22_0_1231"/>
          <p:cNvSpPr/>
          <p:nvPr/>
        </p:nvSpPr>
        <p:spPr>
          <a:xfrm>
            <a:off x="563270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0" name="Google Shape;2240;g3f883da9c22_0_1231"/>
          <p:cNvSpPr/>
          <p:nvPr/>
        </p:nvSpPr>
        <p:spPr>
          <a:xfrm>
            <a:off x="365760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g3f883da9c22_0_1231"/>
          <p:cNvSpPr/>
          <p:nvPr/>
        </p:nvSpPr>
        <p:spPr>
          <a:xfrm>
            <a:off x="390448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2" name="Google Shape;2242;g3f883da9c22_0_1231"/>
          <p:cNvSpPr/>
          <p:nvPr/>
        </p:nvSpPr>
        <p:spPr>
          <a:xfrm>
            <a:off x="415137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g3f883da9c22_0_1231"/>
          <p:cNvSpPr/>
          <p:nvPr/>
        </p:nvSpPr>
        <p:spPr>
          <a:xfrm>
            <a:off x="439826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g3f883da9c22_0_1231"/>
          <p:cNvSpPr/>
          <p:nvPr/>
        </p:nvSpPr>
        <p:spPr>
          <a:xfrm>
            <a:off x="464515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g3f883da9c22_0_1231"/>
          <p:cNvSpPr/>
          <p:nvPr/>
        </p:nvSpPr>
        <p:spPr>
          <a:xfrm>
            <a:off x="489204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g3f883da9c22_0_1231"/>
          <p:cNvSpPr/>
          <p:nvPr/>
        </p:nvSpPr>
        <p:spPr>
          <a:xfrm>
            <a:off x="513892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g3f883da9c22_0_1231"/>
          <p:cNvSpPr/>
          <p:nvPr/>
        </p:nvSpPr>
        <p:spPr>
          <a:xfrm>
            <a:off x="538581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8" name="Google Shape;2248;g3f883da9c22_0_1231"/>
          <p:cNvSpPr/>
          <p:nvPr/>
        </p:nvSpPr>
        <p:spPr>
          <a:xfrm>
            <a:off x="563270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g3f883da9c22_0_1231"/>
          <p:cNvSpPr/>
          <p:nvPr/>
        </p:nvSpPr>
        <p:spPr>
          <a:xfrm>
            <a:off x="365760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0" name="Google Shape;2250;g3f883da9c22_0_1231"/>
          <p:cNvSpPr/>
          <p:nvPr/>
        </p:nvSpPr>
        <p:spPr>
          <a:xfrm>
            <a:off x="390448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g3f883da9c22_0_1231"/>
          <p:cNvSpPr/>
          <p:nvPr/>
        </p:nvSpPr>
        <p:spPr>
          <a:xfrm>
            <a:off x="415137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g3f883da9c22_0_1231"/>
          <p:cNvSpPr/>
          <p:nvPr/>
        </p:nvSpPr>
        <p:spPr>
          <a:xfrm>
            <a:off x="439826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3" name="Google Shape;2253;g3f883da9c22_0_1231"/>
          <p:cNvSpPr/>
          <p:nvPr/>
        </p:nvSpPr>
        <p:spPr>
          <a:xfrm>
            <a:off x="464515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4" name="Google Shape;2254;g3f883da9c22_0_1231"/>
          <p:cNvSpPr/>
          <p:nvPr/>
        </p:nvSpPr>
        <p:spPr>
          <a:xfrm>
            <a:off x="489204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5" name="Google Shape;2255;g3f883da9c22_0_1231"/>
          <p:cNvSpPr/>
          <p:nvPr/>
        </p:nvSpPr>
        <p:spPr>
          <a:xfrm>
            <a:off x="513892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6" name="Google Shape;2256;g3f883da9c22_0_1231"/>
          <p:cNvSpPr/>
          <p:nvPr/>
        </p:nvSpPr>
        <p:spPr>
          <a:xfrm>
            <a:off x="538581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g3f883da9c22_0_1231"/>
          <p:cNvSpPr/>
          <p:nvPr/>
        </p:nvSpPr>
        <p:spPr>
          <a:xfrm>
            <a:off x="563270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g3f883da9c22_0_1231"/>
          <p:cNvSpPr/>
          <p:nvPr/>
        </p:nvSpPr>
        <p:spPr>
          <a:xfrm>
            <a:off x="365760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g3f883da9c22_0_1231"/>
          <p:cNvSpPr/>
          <p:nvPr/>
        </p:nvSpPr>
        <p:spPr>
          <a:xfrm>
            <a:off x="390448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g3f883da9c22_0_1231"/>
          <p:cNvSpPr/>
          <p:nvPr/>
        </p:nvSpPr>
        <p:spPr>
          <a:xfrm>
            <a:off x="415137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g3f883da9c22_0_1231"/>
          <p:cNvSpPr/>
          <p:nvPr/>
        </p:nvSpPr>
        <p:spPr>
          <a:xfrm>
            <a:off x="439826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g3f883da9c22_0_1231"/>
          <p:cNvSpPr/>
          <p:nvPr/>
        </p:nvSpPr>
        <p:spPr>
          <a:xfrm>
            <a:off x="464515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g3f883da9c22_0_1231"/>
          <p:cNvSpPr/>
          <p:nvPr/>
        </p:nvSpPr>
        <p:spPr>
          <a:xfrm>
            <a:off x="489204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g3f883da9c22_0_1231"/>
          <p:cNvSpPr/>
          <p:nvPr/>
        </p:nvSpPr>
        <p:spPr>
          <a:xfrm>
            <a:off x="513892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g3f883da9c22_0_1231"/>
          <p:cNvSpPr/>
          <p:nvPr/>
        </p:nvSpPr>
        <p:spPr>
          <a:xfrm>
            <a:off x="538581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g3f883da9c22_0_1231"/>
          <p:cNvSpPr/>
          <p:nvPr/>
        </p:nvSpPr>
        <p:spPr>
          <a:xfrm>
            <a:off x="563270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g3f883da9c22_0_1231"/>
          <p:cNvSpPr/>
          <p:nvPr/>
        </p:nvSpPr>
        <p:spPr>
          <a:xfrm>
            <a:off x="365760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g3f883da9c22_0_1231"/>
          <p:cNvSpPr/>
          <p:nvPr/>
        </p:nvSpPr>
        <p:spPr>
          <a:xfrm>
            <a:off x="390448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g3f883da9c22_0_1231"/>
          <p:cNvSpPr/>
          <p:nvPr/>
        </p:nvSpPr>
        <p:spPr>
          <a:xfrm>
            <a:off x="415137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g3f883da9c22_0_1231"/>
          <p:cNvSpPr/>
          <p:nvPr/>
        </p:nvSpPr>
        <p:spPr>
          <a:xfrm>
            <a:off x="439826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g3f883da9c22_0_1231"/>
          <p:cNvSpPr/>
          <p:nvPr/>
        </p:nvSpPr>
        <p:spPr>
          <a:xfrm>
            <a:off x="464515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g3f883da9c22_0_1231"/>
          <p:cNvSpPr/>
          <p:nvPr/>
        </p:nvSpPr>
        <p:spPr>
          <a:xfrm>
            <a:off x="489204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3" name="Google Shape;2273;g3f883da9c22_0_1231"/>
          <p:cNvSpPr/>
          <p:nvPr/>
        </p:nvSpPr>
        <p:spPr>
          <a:xfrm>
            <a:off x="513892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g3f883da9c22_0_1231"/>
          <p:cNvSpPr/>
          <p:nvPr/>
        </p:nvSpPr>
        <p:spPr>
          <a:xfrm>
            <a:off x="538581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g3f883da9c22_0_1231"/>
          <p:cNvSpPr/>
          <p:nvPr/>
        </p:nvSpPr>
        <p:spPr>
          <a:xfrm>
            <a:off x="563270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g3f883da9c22_0_1231"/>
          <p:cNvSpPr/>
          <p:nvPr/>
        </p:nvSpPr>
        <p:spPr>
          <a:xfrm>
            <a:off x="365760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7" name="Google Shape;2277;g3f883da9c22_0_1231"/>
          <p:cNvSpPr/>
          <p:nvPr/>
        </p:nvSpPr>
        <p:spPr>
          <a:xfrm>
            <a:off x="390448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g3f883da9c22_0_1231"/>
          <p:cNvSpPr/>
          <p:nvPr/>
        </p:nvSpPr>
        <p:spPr>
          <a:xfrm>
            <a:off x="415137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g3f883da9c22_0_1231"/>
          <p:cNvSpPr/>
          <p:nvPr/>
        </p:nvSpPr>
        <p:spPr>
          <a:xfrm>
            <a:off x="439826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g3f883da9c22_0_1231"/>
          <p:cNvSpPr/>
          <p:nvPr/>
        </p:nvSpPr>
        <p:spPr>
          <a:xfrm>
            <a:off x="464515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1" name="Google Shape;2281;g3f883da9c22_0_1231"/>
          <p:cNvSpPr/>
          <p:nvPr/>
        </p:nvSpPr>
        <p:spPr>
          <a:xfrm>
            <a:off x="489204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g3f883da9c22_0_1231"/>
          <p:cNvSpPr/>
          <p:nvPr/>
        </p:nvSpPr>
        <p:spPr>
          <a:xfrm>
            <a:off x="513892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g3f883da9c22_0_1231"/>
          <p:cNvSpPr/>
          <p:nvPr/>
        </p:nvSpPr>
        <p:spPr>
          <a:xfrm>
            <a:off x="538581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g3f883da9c22_0_1231"/>
          <p:cNvSpPr/>
          <p:nvPr/>
        </p:nvSpPr>
        <p:spPr>
          <a:xfrm>
            <a:off x="563270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g3f883da9c22_0_1231"/>
          <p:cNvSpPr/>
          <p:nvPr/>
        </p:nvSpPr>
        <p:spPr>
          <a:xfrm>
            <a:off x="365760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g3f883da9c22_0_1231"/>
          <p:cNvSpPr/>
          <p:nvPr/>
        </p:nvSpPr>
        <p:spPr>
          <a:xfrm>
            <a:off x="390448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g3f883da9c22_0_1231"/>
          <p:cNvSpPr/>
          <p:nvPr/>
        </p:nvSpPr>
        <p:spPr>
          <a:xfrm>
            <a:off x="415137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g3f883da9c22_0_1231"/>
          <p:cNvSpPr/>
          <p:nvPr/>
        </p:nvSpPr>
        <p:spPr>
          <a:xfrm>
            <a:off x="439826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g3f883da9c22_0_1231"/>
          <p:cNvSpPr/>
          <p:nvPr/>
        </p:nvSpPr>
        <p:spPr>
          <a:xfrm>
            <a:off x="464515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g3f883da9c22_0_1231"/>
          <p:cNvSpPr/>
          <p:nvPr/>
        </p:nvSpPr>
        <p:spPr>
          <a:xfrm>
            <a:off x="489204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g3f883da9c22_0_1231"/>
          <p:cNvSpPr/>
          <p:nvPr/>
        </p:nvSpPr>
        <p:spPr>
          <a:xfrm>
            <a:off x="513892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g3f883da9c22_0_1231"/>
          <p:cNvSpPr/>
          <p:nvPr/>
        </p:nvSpPr>
        <p:spPr>
          <a:xfrm>
            <a:off x="538581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g3f883da9c22_0_1231"/>
          <p:cNvSpPr/>
          <p:nvPr/>
        </p:nvSpPr>
        <p:spPr>
          <a:xfrm>
            <a:off x="563270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g3f883da9c22_0_1231"/>
          <p:cNvSpPr txBox="1"/>
          <p:nvPr/>
        </p:nvSpPr>
        <p:spPr>
          <a:xfrm>
            <a:off x="649224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g3f883da9c22_0_1231"/>
          <p:cNvSpPr/>
          <p:nvPr/>
        </p:nvSpPr>
        <p:spPr>
          <a:xfrm>
            <a:off x="649224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g3f883da9c22_0_1231"/>
          <p:cNvSpPr/>
          <p:nvPr/>
        </p:nvSpPr>
        <p:spPr>
          <a:xfrm>
            <a:off x="673912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g3f883da9c22_0_1231"/>
          <p:cNvSpPr/>
          <p:nvPr/>
        </p:nvSpPr>
        <p:spPr>
          <a:xfrm>
            <a:off x="698601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g3f883da9c22_0_1231"/>
          <p:cNvSpPr/>
          <p:nvPr/>
        </p:nvSpPr>
        <p:spPr>
          <a:xfrm>
            <a:off x="723290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9" name="Google Shape;2299;g3f883da9c22_0_1231"/>
          <p:cNvSpPr/>
          <p:nvPr/>
        </p:nvSpPr>
        <p:spPr>
          <a:xfrm>
            <a:off x="747979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g3f883da9c22_0_1231"/>
          <p:cNvSpPr/>
          <p:nvPr/>
        </p:nvSpPr>
        <p:spPr>
          <a:xfrm>
            <a:off x="772668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1" name="Google Shape;2301;g3f883da9c22_0_1231"/>
          <p:cNvSpPr/>
          <p:nvPr/>
        </p:nvSpPr>
        <p:spPr>
          <a:xfrm>
            <a:off x="797356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2" name="Google Shape;2302;g3f883da9c22_0_1231"/>
          <p:cNvSpPr/>
          <p:nvPr/>
        </p:nvSpPr>
        <p:spPr>
          <a:xfrm>
            <a:off x="822045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g3f883da9c22_0_1231"/>
          <p:cNvSpPr/>
          <p:nvPr/>
        </p:nvSpPr>
        <p:spPr>
          <a:xfrm>
            <a:off x="846734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g3f883da9c22_0_1231"/>
          <p:cNvSpPr/>
          <p:nvPr/>
        </p:nvSpPr>
        <p:spPr>
          <a:xfrm>
            <a:off x="649224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g3f883da9c22_0_1231"/>
          <p:cNvSpPr/>
          <p:nvPr/>
        </p:nvSpPr>
        <p:spPr>
          <a:xfrm>
            <a:off x="673912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6" name="Google Shape;2306;g3f883da9c22_0_1231"/>
          <p:cNvSpPr/>
          <p:nvPr/>
        </p:nvSpPr>
        <p:spPr>
          <a:xfrm>
            <a:off x="698601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g3f883da9c22_0_1231"/>
          <p:cNvSpPr/>
          <p:nvPr/>
        </p:nvSpPr>
        <p:spPr>
          <a:xfrm>
            <a:off x="723290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g3f883da9c22_0_1231"/>
          <p:cNvSpPr/>
          <p:nvPr/>
        </p:nvSpPr>
        <p:spPr>
          <a:xfrm>
            <a:off x="747979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g3f883da9c22_0_1231"/>
          <p:cNvSpPr/>
          <p:nvPr/>
        </p:nvSpPr>
        <p:spPr>
          <a:xfrm>
            <a:off x="772668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g3f883da9c22_0_1231"/>
          <p:cNvSpPr/>
          <p:nvPr/>
        </p:nvSpPr>
        <p:spPr>
          <a:xfrm>
            <a:off x="797356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g3f883da9c22_0_1231"/>
          <p:cNvSpPr/>
          <p:nvPr/>
        </p:nvSpPr>
        <p:spPr>
          <a:xfrm>
            <a:off x="822045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g3f883da9c22_0_1231"/>
          <p:cNvSpPr/>
          <p:nvPr/>
        </p:nvSpPr>
        <p:spPr>
          <a:xfrm>
            <a:off x="846734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g3f883da9c22_0_1231"/>
          <p:cNvSpPr/>
          <p:nvPr/>
        </p:nvSpPr>
        <p:spPr>
          <a:xfrm>
            <a:off x="649224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g3f883da9c22_0_1231"/>
          <p:cNvSpPr/>
          <p:nvPr/>
        </p:nvSpPr>
        <p:spPr>
          <a:xfrm>
            <a:off x="673912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g3f883da9c22_0_1231"/>
          <p:cNvSpPr/>
          <p:nvPr/>
        </p:nvSpPr>
        <p:spPr>
          <a:xfrm>
            <a:off x="698601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g3f883da9c22_0_1231"/>
          <p:cNvSpPr/>
          <p:nvPr/>
        </p:nvSpPr>
        <p:spPr>
          <a:xfrm>
            <a:off x="723290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g3f883da9c22_0_1231"/>
          <p:cNvSpPr/>
          <p:nvPr/>
        </p:nvSpPr>
        <p:spPr>
          <a:xfrm>
            <a:off x="747979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g3f883da9c22_0_1231"/>
          <p:cNvSpPr/>
          <p:nvPr/>
        </p:nvSpPr>
        <p:spPr>
          <a:xfrm>
            <a:off x="772668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g3f883da9c22_0_1231"/>
          <p:cNvSpPr/>
          <p:nvPr/>
        </p:nvSpPr>
        <p:spPr>
          <a:xfrm>
            <a:off x="797356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g3f883da9c22_0_1231"/>
          <p:cNvSpPr/>
          <p:nvPr/>
        </p:nvSpPr>
        <p:spPr>
          <a:xfrm>
            <a:off x="822045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g3f883da9c22_0_1231"/>
          <p:cNvSpPr/>
          <p:nvPr/>
        </p:nvSpPr>
        <p:spPr>
          <a:xfrm>
            <a:off x="846734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g3f883da9c22_0_1231"/>
          <p:cNvSpPr/>
          <p:nvPr/>
        </p:nvSpPr>
        <p:spPr>
          <a:xfrm>
            <a:off x="649224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g3f883da9c22_0_1231"/>
          <p:cNvSpPr/>
          <p:nvPr/>
        </p:nvSpPr>
        <p:spPr>
          <a:xfrm>
            <a:off x="673912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g3f883da9c22_0_1231"/>
          <p:cNvSpPr/>
          <p:nvPr/>
        </p:nvSpPr>
        <p:spPr>
          <a:xfrm>
            <a:off x="698601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g3f883da9c22_0_1231"/>
          <p:cNvSpPr/>
          <p:nvPr/>
        </p:nvSpPr>
        <p:spPr>
          <a:xfrm>
            <a:off x="723290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g3f883da9c22_0_1231"/>
          <p:cNvSpPr/>
          <p:nvPr/>
        </p:nvSpPr>
        <p:spPr>
          <a:xfrm>
            <a:off x="747979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g3f883da9c22_0_1231"/>
          <p:cNvSpPr/>
          <p:nvPr/>
        </p:nvSpPr>
        <p:spPr>
          <a:xfrm>
            <a:off x="772668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g3f883da9c22_0_1231"/>
          <p:cNvSpPr/>
          <p:nvPr/>
        </p:nvSpPr>
        <p:spPr>
          <a:xfrm>
            <a:off x="797356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g3f883da9c22_0_1231"/>
          <p:cNvSpPr/>
          <p:nvPr/>
        </p:nvSpPr>
        <p:spPr>
          <a:xfrm>
            <a:off x="822045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g3f883da9c22_0_1231"/>
          <p:cNvSpPr/>
          <p:nvPr/>
        </p:nvSpPr>
        <p:spPr>
          <a:xfrm>
            <a:off x="846734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g3f883da9c22_0_1231"/>
          <p:cNvSpPr/>
          <p:nvPr/>
        </p:nvSpPr>
        <p:spPr>
          <a:xfrm>
            <a:off x="649224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g3f883da9c22_0_1231"/>
          <p:cNvSpPr/>
          <p:nvPr/>
        </p:nvSpPr>
        <p:spPr>
          <a:xfrm>
            <a:off x="673912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g3f883da9c22_0_1231"/>
          <p:cNvSpPr/>
          <p:nvPr/>
        </p:nvSpPr>
        <p:spPr>
          <a:xfrm>
            <a:off x="698601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g3f883da9c22_0_1231"/>
          <p:cNvSpPr/>
          <p:nvPr/>
        </p:nvSpPr>
        <p:spPr>
          <a:xfrm>
            <a:off x="723290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g3f883da9c22_0_1231"/>
          <p:cNvSpPr/>
          <p:nvPr/>
        </p:nvSpPr>
        <p:spPr>
          <a:xfrm>
            <a:off x="747979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g3f883da9c22_0_1231"/>
          <p:cNvSpPr/>
          <p:nvPr/>
        </p:nvSpPr>
        <p:spPr>
          <a:xfrm>
            <a:off x="772668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g3f883da9c22_0_1231"/>
          <p:cNvSpPr/>
          <p:nvPr/>
        </p:nvSpPr>
        <p:spPr>
          <a:xfrm>
            <a:off x="797356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g3f883da9c22_0_1231"/>
          <p:cNvSpPr/>
          <p:nvPr/>
        </p:nvSpPr>
        <p:spPr>
          <a:xfrm>
            <a:off x="822045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g3f883da9c22_0_1231"/>
          <p:cNvSpPr/>
          <p:nvPr/>
        </p:nvSpPr>
        <p:spPr>
          <a:xfrm>
            <a:off x="846734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g3f883da9c22_0_1231"/>
          <p:cNvSpPr/>
          <p:nvPr/>
        </p:nvSpPr>
        <p:spPr>
          <a:xfrm>
            <a:off x="649224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1" name="Google Shape;2341;g3f883da9c22_0_1231"/>
          <p:cNvSpPr/>
          <p:nvPr/>
        </p:nvSpPr>
        <p:spPr>
          <a:xfrm>
            <a:off x="673912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g3f883da9c22_0_1231"/>
          <p:cNvSpPr/>
          <p:nvPr/>
        </p:nvSpPr>
        <p:spPr>
          <a:xfrm>
            <a:off x="698601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g3f883da9c22_0_1231"/>
          <p:cNvSpPr/>
          <p:nvPr/>
        </p:nvSpPr>
        <p:spPr>
          <a:xfrm>
            <a:off x="723290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4" name="Google Shape;2344;g3f883da9c22_0_1231"/>
          <p:cNvSpPr/>
          <p:nvPr/>
        </p:nvSpPr>
        <p:spPr>
          <a:xfrm>
            <a:off x="747979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5" name="Google Shape;2345;g3f883da9c22_0_1231"/>
          <p:cNvSpPr/>
          <p:nvPr/>
        </p:nvSpPr>
        <p:spPr>
          <a:xfrm>
            <a:off x="772668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g3f883da9c22_0_1231"/>
          <p:cNvSpPr/>
          <p:nvPr/>
        </p:nvSpPr>
        <p:spPr>
          <a:xfrm>
            <a:off x="797356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7" name="Google Shape;2347;g3f883da9c22_0_1231"/>
          <p:cNvSpPr/>
          <p:nvPr/>
        </p:nvSpPr>
        <p:spPr>
          <a:xfrm>
            <a:off x="822045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g3f883da9c22_0_1231"/>
          <p:cNvSpPr/>
          <p:nvPr/>
        </p:nvSpPr>
        <p:spPr>
          <a:xfrm>
            <a:off x="846734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g3f883da9c22_0_1231"/>
          <p:cNvSpPr/>
          <p:nvPr/>
        </p:nvSpPr>
        <p:spPr>
          <a:xfrm>
            <a:off x="649224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g3f883da9c22_0_1231"/>
          <p:cNvSpPr/>
          <p:nvPr/>
        </p:nvSpPr>
        <p:spPr>
          <a:xfrm>
            <a:off x="673912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g3f883da9c22_0_1231"/>
          <p:cNvSpPr/>
          <p:nvPr/>
        </p:nvSpPr>
        <p:spPr>
          <a:xfrm>
            <a:off x="698601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g3f883da9c22_0_1231"/>
          <p:cNvSpPr/>
          <p:nvPr/>
        </p:nvSpPr>
        <p:spPr>
          <a:xfrm>
            <a:off x="723290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3" name="Google Shape;2353;g3f883da9c22_0_1231"/>
          <p:cNvSpPr/>
          <p:nvPr/>
        </p:nvSpPr>
        <p:spPr>
          <a:xfrm>
            <a:off x="747979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g3f883da9c22_0_1231"/>
          <p:cNvSpPr/>
          <p:nvPr/>
        </p:nvSpPr>
        <p:spPr>
          <a:xfrm>
            <a:off x="772668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g3f883da9c22_0_1231"/>
          <p:cNvSpPr/>
          <p:nvPr/>
        </p:nvSpPr>
        <p:spPr>
          <a:xfrm>
            <a:off x="797356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6" name="Google Shape;2356;g3f883da9c22_0_1231"/>
          <p:cNvSpPr/>
          <p:nvPr/>
        </p:nvSpPr>
        <p:spPr>
          <a:xfrm>
            <a:off x="822045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g3f883da9c22_0_1231"/>
          <p:cNvSpPr/>
          <p:nvPr/>
        </p:nvSpPr>
        <p:spPr>
          <a:xfrm>
            <a:off x="846734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8" name="Google Shape;2358;g3f883da9c22_0_1231"/>
          <p:cNvSpPr txBox="1"/>
          <p:nvPr/>
        </p:nvSpPr>
        <p:spPr>
          <a:xfrm>
            <a:off x="932688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g3f883da9c22_0_1231"/>
          <p:cNvSpPr/>
          <p:nvPr/>
        </p:nvSpPr>
        <p:spPr>
          <a:xfrm>
            <a:off x="932688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g3f883da9c22_0_1231"/>
          <p:cNvSpPr/>
          <p:nvPr/>
        </p:nvSpPr>
        <p:spPr>
          <a:xfrm>
            <a:off x="957376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1" name="Google Shape;2361;g3f883da9c22_0_1231"/>
          <p:cNvSpPr/>
          <p:nvPr/>
        </p:nvSpPr>
        <p:spPr>
          <a:xfrm>
            <a:off x="982065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2" name="Google Shape;2362;g3f883da9c22_0_1231"/>
          <p:cNvSpPr/>
          <p:nvPr/>
        </p:nvSpPr>
        <p:spPr>
          <a:xfrm>
            <a:off x="1006754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3" name="Google Shape;2363;g3f883da9c22_0_1231"/>
          <p:cNvSpPr/>
          <p:nvPr/>
        </p:nvSpPr>
        <p:spPr>
          <a:xfrm>
            <a:off x="1031443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g3f883da9c22_0_1231"/>
          <p:cNvSpPr/>
          <p:nvPr/>
        </p:nvSpPr>
        <p:spPr>
          <a:xfrm>
            <a:off x="1056132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5" name="Google Shape;2365;g3f883da9c22_0_1231"/>
          <p:cNvSpPr/>
          <p:nvPr/>
        </p:nvSpPr>
        <p:spPr>
          <a:xfrm>
            <a:off x="1080820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g3f883da9c22_0_1231"/>
          <p:cNvSpPr/>
          <p:nvPr/>
        </p:nvSpPr>
        <p:spPr>
          <a:xfrm>
            <a:off x="1105509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g3f883da9c22_0_1231"/>
          <p:cNvSpPr/>
          <p:nvPr/>
        </p:nvSpPr>
        <p:spPr>
          <a:xfrm>
            <a:off x="1130198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8" name="Google Shape;2368;g3f883da9c22_0_1231"/>
          <p:cNvSpPr/>
          <p:nvPr/>
        </p:nvSpPr>
        <p:spPr>
          <a:xfrm>
            <a:off x="932688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g3f883da9c22_0_1231"/>
          <p:cNvSpPr/>
          <p:nvPr/>
        </p:nvSpPr>
        <p:spPr>
          <a:xfrm>
            <a:off x="957376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g3f883da9c22_0_1231"/>
          <p:cNvSpPr/>
          <p:nvPr/>
        </p:nvSpPr>
        <p:spPr>
          <a:xfrm>
            <a:off x="982065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g3f883da9c22_0_1231"/>
          <p:cNvSpPr/>
          <p:nvPr/>
        </p:nvSpPr>
        <p:spPr>
          <a:xfrm>
            <a:off x="1006754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2" name="Google Shape;2372;g3f883da9c22_0_1231"/>
          <p:cNvSpPr/>
          <p:nvPr/>
        </p:nvSpPr>
        <p:spPr>
          <a:xfrm>
            <a:off x="1031443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3" name="Google Shape;2373;g3f883da9c22_0_1231"/>
          <p:cNvSpPr/>
          <p:nvPr/>
        </p:nvSpPr>
        <p:spPr>
          <a:xfrm>
            <a:off x="1056132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4" name="Google Shape;2374;g3f883da9c22_0_1231"/>
          <p:cNvSpPr/>
          <p:nvPr/>
        </p:nvSpPr>
        <p:spPr>
          <a:xfrm>
            <a:off x="1080820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g3f883da9c22_0_1231"/>
          <p:cNvSpPr/>
          <p:nvPr/>
        </p:nvSpPr>
        <p:spPr>
          <a:xfrm>
            <a:off x="1105509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g3f883da9c22_0_1231"/>
          <p:cNvSpPr/>
          <p:nvPr/>
        </p:nvSpPr>
        <p:spPr>
          <a:xfrm>
            <a:off x="1130198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7" name="Google Shape;2377;g3f883da9c22_0_1231"/>
          <p:cNvSpPr/>
          <p:nvPr/>
        </p:nvSpPr>
        <p:spPr>
          <a:xfrm>
            <a:off x="932688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g3f883da9c22_0_1231"/>
          <p:cNvSpPr/>
          <p:nvPr/>
        </p:nvSpPr>
        <p:spPr>
          <a:xfrm>
            <a:off x="957376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9" name="Google Shape;2379;g3f883da9c22_0_1231"/>
          <p:cNvSpPr/>
          <p:nvPr/>
        </p:nvSpPr>
        <p:spPr>
          <a:xfrm>
            <a:off x="982065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0" name="Google Shape;2380;g3f883da9c22_0_1231"/>
          <p:cNvSpPr/>
          <p:nvPr/>
        </p:nvSpPr>
        <p:spPr>
          <a:xfrm>
            <a:off x="1006754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1" name="Google Shape;2381;g3f883da9c22_0_1231"/>
          <p:cNvSpPr/>
          <p:nvPr/>
        </p:nvSpPr>
        <p:spPr>
          <a:xfrm>
            <a:off x="1031443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2" name="Google Shape;2382;g3f883da9c22_0_1231"/>
          <p:cNvSpPr/>
          <p:nvPr/>
        </p:nvSpPr>
        <p:spPr>
          <a:xfrm>
            <a:off x="1056132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3" name="Google Shape;2383;g3f883da9c22_0_1231"/>
          <p:cNvSpPr/>
          <p:nvPr/>
        </p:nvSpPr>
        <p:spPr>
          <a:xfrm>
            <a:off x="1080820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g3f883da9c22_0_1231"/>
          <p:cNvSpPr/>
          <p:nvPr/>
        </p:nvSpPr>
        <p:spPr>
          <a:xfrm>
            <a:off x="1105509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5" name="Google Shape;2385;g3f883da9c22_0_1231"/>
          <p:cNvSpPr/>
          <p:nvPr/>
        </p:nvSpPr>
        <p:spPr>
          <a:xfrm>
            <a:off x="1130198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g3f883da9c22_0_1231"/>
          <p:cNvSpPr/>
          <p:nvPr/>
        </p:nvSpPr>
        <p:spPr>
          <a:xfrm>
            <a:off x="932688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7" name="Google Shape;2387;g3f883da9c22_0_1231"/>
          <p:cNvSpPr/>
          <p:nvPr/>
        </p:nvSpPr>
        <p:spPr>
          <a:xfrm>
            <a:off x="957376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g3f883da9c22_0_1231"/>
          <p:cNvSpPr/>
          <p:nvPr/>
        </p:nvSpPr>
        <p:spPr>
          <a:xfrm>
            <a:off x="982065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g3f883da9c22_0_1231"/>
          <p:cNvSpPr/>
          <p:nvPr/>
        </p:nvSpPr>
        <p:spPr>
          <a:xfrm>
            <a:off x="1006754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g3f883da9c22_0_1231"/>
          <p:cNvSpPr/>
          <p:nvPr/>
        </p:nvSpPr>
        <p:spPr>
          <a:xfrm>
            <a:off x="1031443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g3f883da9c22_0_1231"/>
          <p:cNvSpPr/>
          <p:nvPr/>
        </p:nvSpPr>
        <p:spPr>
          <a:xfrm>
            <a:off x="1056132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g3f883da9c22_0_1231"/>
          <p:cNvSpPr/>
          <p:nvPr/>
        </p:nvSpPr>
        <p:spPr>
          <a:xfrm>
            <a:off x="1080820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g3f883da9c22_0_1231"/>
          <p:cNvSpPr/>
          <p:nvPr/>
        </p:nvSpPr>
        <p:spPr>
          <a:xfrm>
            <a:off x="1105509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g3f883da9c22_0_1231"/>
          <p:cNvSpPr/>
          <p:nvPr/>
        </p:nvSpPr>
        <p:spPr>
          <a:xfrm>
            <a:off x="1130198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g3f883da9c22_0_1231"/>
          <p:cNvSpPr/>
          <p:nvPr/>
        </p:nvSpPr>
        <p:spPr>
          <a:xfrm>
            <a:off x="932688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g3f883da9c22_0_1231"/>
          <p:cNvSpPr/>
          <p:nvPr/>
        </p:nvSpPr>
        <p:spPr>
          <a:xfrm>
            <a:off x="957376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g3f883da9c22_0_1231"/>
          <p:cNvSpPr/>
          <p:nvPr/>
        </p:nvSpPr>
        <p:spPr>
          <a:xfrm>
            <a:off x="982065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g3f883da9c22_0_1231"/>
          <p:cNvSpPr/>
          <p:nvPr/>
        </p:nvSpPr>
        <p:spPr>
          <a:xfrm>
            <a:off x="1006754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g3f883da9c22_0_1231"/>
          <p:cNvSpPr/>
          <p:nvPr/>
        </p:nvSpPr>
        <p:spPr>
          <a:xfrm>
            <a:off x="1031443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g3f883da9c22_0_1231"/>
          <p:cNvSpPr/>
          <p:nvPr/>
        </p:nvSpPr>
        <p:spPr>
          <a:xfrm>
            <a:off x="1056132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g3f883da9c22_0_1231"/>
          <p:cNvSpPr/>
          <p:nvPr/>
        </p:nvSpPr>
        <p:spPr>
          <a:xfrm>
            <a:off x="1080820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g3f883da9c22_0_1231"/>
          <p:cNvSpPr/>
          <p:nvPr/>
        </p:nvSpPr>
        <p:spPr>
          <a:xfrm>
            <a:off x="1105509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g3f883da9c22_0_1231"/>
          <p:cNvSpPr/>
          <p:nvPr/>
        </p:nvSpPr>
        <p:spPr>
          <a:xfrm>
            <a:off x="1130198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4" name="Google Shape;2404;g3f883da9c22_0_1231"/>
          <p:cNvSpPr/>
          <p:nvPr/>
        </p:nvSpPr>
        <p:spPr>
          <a:xfrm>
            <a:off x="932688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5" name="Google Shape;2405;g3f883da9c22_0_1231"/>
          <p:cNvSpPr/>
          <p:nvPr/>
        </p:nvSpPr>
        <p:spPr>
          <a:xfrm>
            <a:off x="957376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6" name="Google Shape;2406;g3f883da9c22_0_1231"/>
          <p:cNvSpPr/>
          <p:nvPr/>
        </p:nvSpPr>
        <p:spPr>
          <a:xfrm>
            <a:off x="982065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g3f883da9c22_0_1231"/>
          <p:cNvSpPr/>
          <p:nvPr/>
        </p:nvSpPr>
        <p:spPr>
          <a:xfrm>
            <a:off x="1006754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g3f883da9c22_0_1231"/>
          <p:cNvSpPr/>
          <p:nvPr/>
        </p:nvSpPr>
        <p:spPr>
          <a:xfrm>
            <a:off x="1031443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g3f883da9c22_0_1231"/>
          <p:cNvSpPr/>
          <p:nvPr/>
        </p:nvSpPr>
        <p:spPr>
          <a:xfrm>
            <a:off x="1056132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g3f883da9c22_0_1231"/>
          <p:cNvSpPr/>
          <p:nvPr/>
        </p:nvSpPr>
        <p:spPr>
          <a:xfrm>
            <a:off x="1080820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g3f883da9c22_0_1231"/>
          <p:cNvSpPr/>
          <p:nvPr/>
        </p:nvSpPr>
        <p:spPr>
          <a:xfrm>
            <a:off x="1105509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g3f883da9c22_0_1231"/>
          <p:cNvSpPr/>
          <p:nvPr/>
        </p:nvSpPr>
        <p:spPr>
          <a:xfrm>
            <a:off x="1130198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g3f883da9c22_0_1231"/>
          <p:cNvSpPr/>
          <p:nvPr/>
        </p:nvSpPr>
        <p:spPr>
          <a:xfrm>
            <a:off x="932688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g3f883da9c22_0_1231"/>
          <p:cNvSpPr/>
          <p:nvPr/>
        </p:nvSpPr>
        <p:spPr>
          <a:xfrm>
            <a:off x="957376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g3f883da9c22_0_1231"/>
          <p:cNvSpPr/>
          <p:nvPr/>
        </p:nvSpPr>
        <p:spPr>
          <a:xfrm>
            <a:off x="982065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6" name="Google Shape;2416;g3f883da9c22_0_1231"/>
          <p:cNvSpPr/>
          <p:nvPr/>
        </p:nvSpPr>
        <p:spPr>
          <a:xfrm>
            <a:off x="1006754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7" name="Google Shape;2417;g3f883da9c22_0_1231"/>
          <p:cNvSpPr/>
          <p:nvPr/>
        </p:nvSpPr>
        <p:spPr>
          <a:xfrm>
            <a:off x="1031443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8" name="Google Shape;2418;g3f883da9c22_0_1231"/>
          <p:cNvSpPr/>
          <p:nvPr/>
        </p:nvSpPr>
        <p:spPr>
          <a:xfrm>
            <a:off x="1056132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9" name="Google Shape;2419;g3f883da9c22_0_1231"/>
          <p:cNvSpPr/>
          <p:nvPr/>
        </p:nvSpPr>
        <p:spPr>
          <a:xfrm>
            <a:off x="1080820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0" name="Google Shape;2420;g3f883da9c22_0_1231"/>
          <p:cNvSpPr/>
          <p:nvPr/>
        </p:nvSpPr>
        <p:spPr>
          <a:xfrm>
            <a:off x="1105509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1" name="Google Shape;2421;g3f883da9c22_0_1231"/>
          <p:cNvSpPr/>
          <p:nvPr/>
        </p:nvSpPr>
        <p:spPr>
          <a:xfrm>
            <a:off x="1130198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g3f883da9c22_0_1231"/>
          <p:cNvSpPr txBox="1"/>
          <p:nvPr/>
        </p:nvSpPr>
        <p:spPr>
          <a:xfrm>
            <a:off x="1371600" y="425196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Conv1 (3×3)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3" name="Google Shape;2423;g3f883da9c22_0_1231"/>
          <p:cNvSpPr/>
          <p:nvPr/>
        </p:nvSpPr>
        <p:spPr>
          <a:xfrm>
            <a:off x="3154680" y="3200400"/>
            <a:ext cx="2925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g3f883da9c22_0_1231"/>
          <p:cNvSpPr txBox="1"/>
          <p:nvPr/>
        </p:nvSpPr>
        <p:spPr>
          <a:xfrm>
            <a:off x="4206240" y="425196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Conv2 (3×3)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5" name="Google Shape;2425;g3f883da9c22_0_1231"/>
          <p:cNvSpPr/>
          <p:nvPr/>
        </p:nvSpPr>
        <p:spPr>
          <a:xfrm>
            <a:off x="5989320" y="3200400"/>
            <a:ext cx="2925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6" name="Google Shape;2426;g3f883da9c22_0_1231"/>
          <p:cNvSpPr txBox="1"/>
          <p:nvPr/>
        </p:nvSpPr>
        <p:spPr>
          <a:xfrm>
            <a:off x="7040880" y="425196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Conv3 (3×3)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7" name="Google Shape;2427;g3f883da9c22_0_1231"/>
          <p:cNvSpPr/>
          <p:nvPr/>
        </p:nvSpPr>
        <p:spPr>
          <a:xfrm>
            <a:off x="8823960" y="3200400"/>
            <a:ext cx="2925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8" name="Google Shape;2428;g3f883da9c22_0_1231"/>
          <p:cNvSpPr/>
          <p:nvPr/>
        </p:nvSpPr>
        <p:spPr>
          <a:xfrm>
            <a:off x="7232904" y="2825496"/>
            <a:ext cx="740700" cy="740700"/>
          </a:xfrm>
          <a:prstGeom prst="rect">
            <a:avLst/>
          </a:prstGeom>
          <a:noFill/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g3f883da9c22_0_1231"/>
          <p:cNvSpPr/>
          <p:nvPr/>
        </p:nvSpPr>
        <p:spPr>
          <a:xfrm>
            <a:off x="10314432" y="3072384"/>
            <a:ext cx="246900" cy="246900"/>
          </a:xfrm>
          <a:prstGeom prst="rect">
            <a:avLst/>
          </a:prstGeom>
          <a:noFill/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g3f883da9c22_0_1231"/>
          <p:cNvSpPr/>
          <p:nvPr/>
        </p:nvSpPr>
        <p:spPr>
          <a:xfrm rot="539195">
            <a:off x="7958994" y="3006933"/>
            <a:ext cx="2369992" cy="7299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g3f883da9c22_0_1231"/>
          <p:cNvSpPr/>
          <p:nvPr/>
        </p:nvSpPr>
        <p:spPr>
          <a:xfrm rot="-539195">
            <a:off x="7959051" y="3377397"/>
            <a:ext cx="2369992" cy="7299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g3f883da9c22_0_1231"/>
          <p:cNvSpPr/>
          <p:nvPr/>
        </p:nvSpPr>
        <p:spPr>
          <a:xfrm>
            <a:off x="548640" y="4754880"/>
            <a:ext cx="11064300" cy="10059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g3f883da9c22_0_1231"/>
          <p:cNvSpPr txBox="1"/>
          <p:nvPr/>
        </p:nvSpPr>
        <p:spPr>
          <a:xfrm>
            <a:off x="822960" y="4956048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One unit in A3 is computed from a 3 × 3 window of A2. Start at the far right and trace the dependency backwards, one convolution at a time.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g3f883da9c22_0_1514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WHY SMALL FILTERS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g3f883da9c22_0_1514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VGGNet — receptive field (2)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1" name="Google Shape;2441;g3f883da9c22_0_1514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2" name="Google Shape;2442;g3f883da9c22_0_1514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3" name="Google Shape;2443;g3f883da9c22_0_1514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g3f883da9c22_0_1514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5" name="Google Shape;2445;g3f883da9c22_0_1514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6" name="Google Shape;2446;g3f883da9c22_0_1514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7" name="Google Shape;2447;g3f883da9c22_0_1514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8" name="Google Shape;2448;g3f883da9c22_0_1514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9" name="Google Shape;2449;g3f883da9c22_0_1514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0" name="Google Shape;2450;g3f883da9c22_0_1514"/>
          <p:cNvSpPr txBox="1"/>
          <p:nvPr/>
        </p:nvSpPr>
        <p:spPr>
          <a:xfrm>
            <a:off x="82296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1" name="Google Shape;2451;g3f883da9c22_0_1514"/>
          <p:cNvSpPr/>
          <p:nvPr/>
        </p:nvSpPr>
        <p:spPr>
          <a:xfrm>
            <a:off x="82296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g3f883da9c22_0_1514"/>
          <p:cNvSpPr/>
          <p:nvPr/>
        </p:nvSpPr>
        <p:spPr>
          <a:xfrm>
            <a:off x="106984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g3f883da9c22_0_1514"/>
          <p:cNvSpPr/>
          <p:nvPr/>
        </p:nvSpPr>
        <p:spPr>
          <a:xfrm>
            <a:off x="131673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g3f883da9c22_0_1514"/>
          <p:cNvSpPr/>
          <p:nvPr/>
        </p:nvSpPr>
        <p:spPr>
          <a:xfrm>
            <a:off x="156362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g3f883da9c22_0_1514"/>
          <p:cNvSpPr/>
          <p:nvPr/>
        </p:nvSpPr>
        <p:spPr>
          <a:xfrm>
            <a:off x="181051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g3f883da9c22_0_1514"/>
          <p:cNvSpPr/>
          <p:nvPr/>
        </p:nvSpPr>
        <p:spPr>
          <a:xfrm>
            <a:off x="205740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g3f883da9c22_0_1514"/>
          <p:cNvSpPr/>
          <p:nvPr/>
        </p:nvSpPr>
        <p:spPr>
          <a:xfrm>
            <a:off x="230428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g3f883da9c22_0_1514"/>
          <p:cNvSpPr/>
          <p:nvPr/>
        </p:nvSpPr>
        <p:spPr>
          <a:xfrm>
            <a:off x="255117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g3f883da9c22_0_1514"/>
          <p:cNvSpPr/>
          <p:nvPr/>
        </p:nvSpPr>
        <p:spPr>
          <a:xfrm>
            <a:off x="279806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g3f883da9c22_0_1514"/>
          <p:cNvSpPr/>
          <p:nvPr/>
        </p:nvSpPr>
        <p:spPr>
          <a:xfrm>
            <a:off x="82296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g3f883da9c22_0_1514"/>
          <p:cNvSpPr/>
          <p:nvPr/>
        </p:nvSpPr>
        <p:spPr>
          <a:xfrm>
            <a:off x="106984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g3f883da9c22_0_1514"/>
          <p:cNvSpPr/>
          <p:nvPr/>
        </p:nvSpPr>
        <p:spPr>
          <a:xfrm>
            <a:off x="131673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g3f883da9c22_0_1514"/>
          <p:cNvSpPr/>
          <p:nvPr/>
        </p:nvSpPr>
        <p:spPr>
          <a:xfrm>
            <a:off x="156362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g3f883da9c22_0_1514"/>
          <p:cNvSpPr/>
          <p:nvPr/>
        </p:nvSpPr>
        <p:spPr>
          <a:xfrm>
            <a:off x="181051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g3f883da9c22_0_1514"/>
          <p:cNvSpPr/>
          <p:nvPr/>
        </p:nvSpPr>
        <p:spPr>
          <a:xfrm>
            <a:off x="205740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g3f883da9c22_0_1514"/>
          <p:cNvSpPr/>
          <p:nvPr/>
        </p:nvSpPr>
        <p:spPr>
          <a:xfrm>
            <a:off x="230428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g3f883da9c22_0_1514"/>
          <p:cNvSpPr/>
          <p:nvPr/>
        </p:nvSpPr>
        <p:spPr>
          <a:xfrm>
            <a:off x="255117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g3f883da9c22_0_1514"/>
          <p:cNvSpPr/>
          <p:nvPr/>
        </p:nvSpPr>
        <p:spPr>
          <a:xfrm>
            <a:off x="279806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g3f883da9c22_0_1514"/>
          <p:cNvSpPr/>
          <p:nvPr/>
        </p:nvSpPr>
        <p:spPr>
          <a:xfrm>
            <a:off x="82296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g3f883da9c22_0_1514"/>
          <p:cNvSpPr/>
          <p:nvPr/>
        </p:nvSpPr>
        <p:spPr>
          <a:xfrm>
            <a:off x="106984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g3f883da9c22_0_1514"/>
          <p:cNvSpPr/>
          <p:nvPr/>
        </p:nvSpPr>
        <p:spPr>
          <a:xfrm>
            <a:off x="131673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g3f883da9c22_0_1514"/>
          <p:cNvSpPr/>
          <p:nvPr/>
        </p:nvSpPr>
        <p:spPr>
          <a:xfrm>
            <a:off x="156362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g3f883da9c22_0_1514"/>
          <p:cNvSpPr/>
          <p:nvPr/>
        </p:nvSpPr>
        <p:spPr>
          <a:xfrm>
            <a:off x="181051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g3f883da9c22_0_1514"/>
          <p:cNvSpPr/>
          <p:nvPr/>
        </p:nvSpPr>
        <p:spPr>
          <a:xfrm>
            <a:off x="205740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g3f883da9c22_0_1514"/>
          <p:cNvSpPr/>
          <p:nvPr/>
        </p:nvSpPr>
        <p:spPr>
          <a:xfrm>
            <a:off x="230428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g3f883da9c22_0_1514"/>
          <p:cNvSpPr/>
          <p:nvPr/>
        </p:nvSpPr>
        <p:spPr>
          <a:xfrm>
            <a:off x="255117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g3f883da9c22_0_1514"/>
          <p:cNvSpPr/>
          <p:nvPr/>
        </p:nvSpPr>
        <p:spPr>
          <a:xfrm>
            <a:off x="279806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g3f883da9c22_0_1514"/>
          <p:cNvSpPr/>
          <p:nvPr/>
        </p:nvSpPr>
        <p:spPr>
          <a:xfrm>
            <a:off x="82296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g3f883da9c22_0_1514"/>
          <p:cNvSpPr/>
          <p:nvPr/>
        </p:nvSpPr>
        <p:spPr>
          <a:xfrm>
            <a:off x="106984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g3f883da9c22_0_1514"/>
          <p:cNvSpPr/>
          <p:nvPr/>
        </p:nvSpPr>
        <p:spPr>
          <a:xfrm>
            <a:off x="131673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g3f883da9c22_0_1514"/>
          <p:cNvSpPr/>
          <p:nvPr/>
        </p:nvSpPr>
        <p:spPr>
          <a:xfrm>
            <a:off x="156362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g3f883da9c22_0_1514"/>
          <p:cNvSpPr/>
          <p:nvPr/>
        </p:nvSpPr>
        <p:spPr>
          <a:xfrm>
            <a:off x="181051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g3f883da9c22_0_1514"/>
          <p:cNvSpPr/>
          <p:nvPr/>
        </p:nvSpPr>
        <p:spPr>
          <a:xfrm>
            <a:off x="205740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g3f883da9c22_0_1514"/>
          <p:cNvSpPr/>
          <p:nvPr/>
        </p:nvSpPr>
        <p:spPr>
          <a:xfrm>
            <a:off x="230428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g3f883da9c22_0_1514"/>
          <p:cNvSpPr/>
          <p:nvPr/>
        </p:nvSpPr>
        <p:spPr>
          <a:xfrm>
            <a:off x="255117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g3f883da9c22_0_1514"/>
          <p:cNvSpPr/>
          <p:nvPr/>
        </p:nvSpPr>
        <p:spPr>
          <a:xfrm>
            <a:off x="279806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g3f883da9c22_0_1514"/>
          <p:cNvSpPr/>
          <p:nvPr/>
        </p:nvSpPr>
        <p:spPr>
          <a:xfrm>
            <a:off x="82296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g3f883da9c22_0_1514"/>
          <p:cNvSpPr/>
          <p:nvPr/>
        </p:nvSpPr>
        <p:spPr>
          <a:xfrm>
            <a:off x="106984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g3f883da9c22_0_1514"/>
          <p:cNvSpPr/>
          <p:nvPr/>
        </p:nvSpPr>
        <p:spPr>
          <a:xfrm>
            <a:off x="131673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g3f883da9c22_0_1514"/>
          <p:cNvSpPr/>
          <p:nvPr/>
        </p:nvSpPr>
        <p:spPr>
          <a:xfrm>
            <a:off x="156362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g3f883da9c22_0_1514"/>
          <p:cNvSpPr/>
          <p:nvPr/>
        </p:nvSpPr>
        <p:spPr>
          <a:xfrm>
            <a:off x="181051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g3f883da9c22_0_1514"/>
          <p:cNvSpPr/>
          <p:nvPr/>
        </p:nvSpPr>
        <p:spPr>
          <a:xfrm>
            <a:off x="205740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g3f883da9c22_0_1514"/>
          <p:cNvSpPr/>
          <p:nvPr/>
        </p:nvSpPr>
        <p:spPr>
          <a:xfrm>
            <a:off x="230428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g3f883da9c22_0_1514"/>
          <p:cNvSpPr/>
          <p:nvPr/>
        </p:nvSpPr>
        <p:spPr>
          <a:xfrm>
            <a:off x="255117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5" name="Google Shape;2495;g3f883da9c22_0_1514"/>
          <p:cNvSpPr/>
          <p:nvPr/>
        </p:nvSpPr>
        <p:spPr>
          <a:xfrm>
            <a:off x="279806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g3f883da9c22_0_1514"/>
          <p:cNvSpPr/>
          <p:nvPr/>
        </p:nvSpPr>
        <p:spPr>
          <a:xfrm>
            <a:off x="82296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7" name="Google Shape;2497;g3f883da9c22_0_1514"/>
          <p:cNvSpPr/>
          <p:nvPr/>
        </p:nvSpPr>
        <p:spPr>
          <a:xfrm>
            <a:off x="106984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8" name="Google Shape;2498;g3f883da9c22_0_1514"/>
          <p:cNvSpPr/>
          <p:nvPr/>
        </p:nvSpPr>
        <p:spPr>
          <a:xfrm>
            <a:off x="131673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g3f883da9c22_0_1514"/>
          <p:cNvSpPr/>
          <p:nvPr/>
        </p:nvSpPr>
        <p:spPr>
          <a:xfrm>
            <a:off x="156362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g3f883da9c22_0_1514"/>
          <p:cNvSpPr/>
          <p:nvPr/>
        </p:nvSpPr>
        <p:spPr>
          <a:xfrm>
            <a:off x="181051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g3f883da9c22_0_1514"/>
          <p:cNvSpPr/>
          <p:nvPr/>
        </p:nvSpPr>
        <p:spPr>
          <a:xfrm>
            <a:off x="205740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g3f883da9c22_0_1514"/>
          <p:cNvSpPr/>
          <p:nvPr/>
        </p:nvSpPr>
        <p:spPr>
          <a:xfrm>
            <a:off x="230428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g3f883da9c22_0_1514"/>
          <p:cNvSpPr/>
          <p:nvPr/>
        </p:nvSpPr>
        <p:spPr>
          <a:xfrm>
            <a:off x="255117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g3f883da9c22_0_1514"/>
          <p:cNvSpPr/>
          <p:nvPr/>
        </p:nvSpPr>
        <p:spPr>
          <a:xfrm>
            <a:off x="279806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g3f883da9c22_0_1514"/>
          <p:cNvSpPr/>
          <p:nvPr/>
        </p:nvSpPr>
        <p:spPr>
          <a:xfrm>
            <a:off x="82296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g3f883da9c22_0_1514"/>
          <p:cNvSpPr/>
          <p:nvPr/>
        </p:nvSpPr>
        <p:spPr>
          <a:xfrm>
            <a:off x="106984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g3f883da9c22_0_1514"/>
          <p:cNvSpPr/>
          <p:nvPr/>
        </p:nvSpPr>
        <p:spPr>
          <a:xfrm>
            <a:off x="131673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g3f883da9c22_0_1514"/>
          <p:cNvSpPr/>
          <p:nvPr/>
        </p:nvSpPr>
        <p:spPr>
          <a:xfrm>
            <a:off x="156362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9" name="Google Shape;2509;g3f883da9c22_0_1514"/>
          <p:cNvSpPr/>
          <p:nvPr/>
        </p:nvSpPr>
        <p:spPr>
          <a:xfrm>
            <a:off x="181051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g3f883da9c22_0_1514"/>
          <p:cNvSpPr/>
          <p:nvPr/>
        </p:nvSpPr>
        <p:spPr>
          <a:xfrm>
            <a:off x="205740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g3f883da9c22_0_1514"/>
          <p:cNvSpPr/>
          <p:nvPr/>
        </p:nvSpPr>
        <p:spPr>
          <a:xfrm>
            <a:off x="230428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2" name="Google Shape;2512;g3f883da9c22_0_1514"/>
          <p:cNvSpPr/>
          <p:nvPr/>
        </p:nvSpPr>
        <p:spPr>
          <a:xfrm>
            <a:off x="255117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3" name="Google Shape;2513;g3f883da9c22_0_1514"/>
          <p:cNvSpPr/>
          <p:nvPr/>
        </p:nvSpPr>
        <p:spPr>
          <a:xfrm>
            <a:off x="279806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4" name="Google Shape;2514;g3f883da9c22_0_1514"/>
          <p:cNvSpPr txBox="1"/>
          <p:nvPr/>
        </p:nvSpPr>
        <p:spPr>
          <a:xfrm>
            <a:off x="365760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5" name="Google Shape;2515;g3f883da9c22_0_1514"/>
          <p:cNvSpPr/>
          <p:nvPr/>
        </p:nvSpPr>
        <p:spPr>
          <a:xfrm>
            <a:off x="365760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g3f883da9c22_0_1514"/>
          <p:cNvSpPr/>
          <p:nvPr/>
        </p:nvSpPr>
        <p:spPr>
          <a:xfrm>
            <a:off x="390448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g3f883da9c22_0_1514"/>
          <p:cNvSpPr/>
          <p:nvPr/>
        </p:nvSpPr>
        <p:spPr>
          <a:xfrm>
            <a:off x="415137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8" name="Google Shape;2518;g3f883da9c22_0_1514"/>
          <p:cNvSpPr/>
          <p:nvPr/>
        </p:nvSpPr>
        <p:spPr>
          <a:xfrm>
            <a:off x="439826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9" name="Google Shape;2519;g3f883da9c22_0_1514"/>
          <p:cNvSpPr/>
          <p:nvPr/>
        </p:nvSpPr>
        <p:spPr>
          <a:xfrm>
            <a:off x="464515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g3f883da9c22_0_1514"/>
          <p:cNvSpPr/>
          <p:nvPr/>
        </p:nvSpPr>
        <p:spPr>
          <a:xfrm>
            <a:off x="489204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g3f883da9c22_0_1514"/>
          <p:cNvSpPr/>
          <p:nvPr/>
        </p:nvSpPr>
        <p:spPr>
          <a:xfrm>
            <a:off x="513892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g3f883da9c22_0_1514"/>
          <p:cNvSpPr/>
          <p:nvPr/>
        </p:nvSpPr>
        <p:spPr>
          <a:xfrm>
            <a:off x="538581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g3f883da9c22_0_1514"/>
          <p:cNvSpPr/>
          <p:nvPr/>
        </p:nvSpPr>
        <p:spPr>
          <a:xfrm>
            <a:off x="563270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g3f883da9c22_0_1514"/>
          <p:cNvSpPr/>
          <p:nvPr/>
        </p:nvSpPr>
        <p:spPr>
          <a:xfrm>
            <a:off x="365760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g3f883da9c22_0_1514"/>
          <p:cNvSpPr/>
          <p:nvPr/>
        </p:nvSpPr>
        <p:spPr>
          <a:xfrm>
            <a:off x="390448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6" name="Google Shape;2526;g3f883da9c22_0_1514"/>
          <p:cNvSpPr/>
          <p:nvPr/>
        </p:nvSpPr>
        <p:spPr>
          <a:xfrm>
            <a:off x="415137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g3f883da9c22_0_1514"/>
          <p:cNvSpPr/>
          <p:nvPr/>
        </p:nvSpPr>
        <p:spPr>
          <a:xfrm>
            <a:off x="439826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8" name="Google Shape;2528;g3f883da9c22_0_1514"/>
          <p:cNvSpPr/>
          <p:nvPr/>
        </p:nvSpPr>
        <p:spPr>
          <a:xfrm>
            <a:off x="464515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9" name="Google Shape;2529;g3f883da9c22_0_1514"/>
          <p:cNvSpPr/>
          <p:nvPr/>
        </p:nvSpPr>
        <p:spPr>
          <a:xfrm>
            <a:off x="489204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0" name="Google Shape;2530;g3f883da9c22_0_1514"/>
          <p:cNvSpPr/>
          <p:nvPr/>
        </p:nvSpPr>
        <p:spPr>
          <a:xfrm>
            <a:off x="513892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1" name="Google Shape;2531;g3f883da9c22_0_1514"/>
          <p:cNvSpPr/>
          <p:nvPr/>
        </p:nvSpPr>
        <p:spPr>
          <a:xfrm>
            <a:off x="538581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2" name="Google Shape;2532;g3f883da9c22_0_1514"/>
          <p:cNvSpPr/>
          <p:nvPr/>
        </p:nvSpPr>
        <p:spPr>
          <a:xfrm>
            <a:off x="563270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g3f883da9c22_0_1514"/>
          <p:cNvSpPr/>
          <p:nvPr/>
        </p:nvSpPr>
        <p:spPr>
          <a:xfrm>
            <a:off x="365760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4" name="Google Shape;2534;g3f883da9c22_0_1514"/>
          <p:cNvSpPr/>
          <p:nvPr/>
        </p:nvSpPr>
        <p:spPr>
          <a:xfrm>
            <a:off x="390448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g3f883da9c22_0_1514"/>
          <p:cNvSpPr/>
          <p:nvPr/>
        </p:nvSpPr>
        <p:spPr>
          <a:xfrm>
            <a:off x="415137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6" name="Google Shape;2536;g3f883da9c22_0_1514"/>
          <p:cNvSpPr/>
          <p:nvPr/>
        </p:nvSpPr>
        <p:spPr>
          <a:xfrm>
            <a:off x="439826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g3f883da9c22_0_1514"/>
          <p:cNvSpPr/>
          <p:nvPr/>
        </p:nvSpPr>
        <p:spPr>
          <a:xfrm>
            <a:off x="464515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8" name="Google Shape;2538;g3f883da9c22_0_1514"/>
          <p:cNvSpPr/>
          <p:nvPr/>
        </p:nvSpPr>
        <p:spPr>
          <a:xfrm>
            <a:off x="489204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9" name="Google Shape;2539;g3f883da9c22_0_1514"/>
          <p:cNvSpPr/>
          <p:nvPr/>
        </p:nvSpPr>
        <p:spPr>
          <a:xfrm>
            <a:off x="513892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0" name="Google Shape;2540;g3f883da9c22_0_1514"/>
          <p:cNvSpPr/>
          <p:nvPr/>
        </p:nvSpPr>
        <p:spPr>
          <a:xfrm>
            <a:off x="538581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1" name="Google Shape;2541;g3f883da9c22_0_1514"/>
          <p:cNvSpPr/>
          <p:nvPr/>
        </p:nvSpPr>
        <p:spPr>
          <a:xfrm>
            <a:off x="563270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2" name="Google Shape;2542;g3f883da9c22_0_1514"/>
          <p:cNvSpPr/>
          <p:nvPr/>
        </p:nvSpPr>
        <p:spPr>
          <a:xfrm>
            <a:off x="365760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g3f883da9c22_0_1514"/>
          <p:cNvSpPr/>
          <p:nvPr/>
        </p:nvSpPr>
        <p:spPr>
          <a:xfrm>
            <a:off x="390448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4" name="Google Shape;2544;g3f883da9c22_0_1514"/>
          <p:cNvSpPr/>
          <p:nvPr/>
        </p:nvSpPr>
        <p:spPr>
          <a:xfrm>
            <a:off x="415137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5" name="Google Shape;2545;g3f883da9c22_0_1514"/>
          <p:cNvSpPr/>
          <p:nvPr/>
        </p:nvSpPr>
        <p:spPr>
          <a:xfrm>
            <a:off x="439826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6" name="Google Shape;2546;g3f883da9c22_0_1514"/>
          <p:cNvSpPr/>
          <p:nvPr/>
        </p:nvSpPr>
        <p:spPr>
          <a:xfrm>
            <a:off x="464515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7" name="Google Shape;2547;g3f883da9c22_0_1514"/>
          <p:cNvSpPr/>
          <p:nvPr/>
        </p:nvSpPr>
        <p:spPr>
          <a:xfrm>
            <a:off x="489204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8" name="Google Shape;2548;g3f883da9c22_0_1514"/>
          <p:cNvSpPr/>
          <p:nvPr/>
        </p:nvSpPr>
        <p:spPr>
          <a:xfrm>
            <a:off x="513892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9" name="Google Shape;2549;g3f883da9c22_0_1514"/>
          <p:cNvSpPr/>
          <p:nvPr/>
        </p:nvSpPr>
        <p:spPr>
          <a:xfrm>
            <a:off x="538581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0" name="Google Shape;2550;g3f883da9c22_0_1514"/>
          <p:cNvSpPr/>
          <p:nvPr/>
        </p:nvSpPr>
        <p:spPr>
          <a:xfrm>
            <a:off x="563270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1" name="Google Shape;2551;g3f883da9c22_0_1514"/>
          <p:cNvSpPr/>
          <p:nvPr/>
        </p:nvSpPr>
        <p:spPr>
          <a:xfrm>
            <a:off x="365760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2" name="Google Shape;2552;g3f883da9c22_0_1514"/>
          <p:cNvSpPr/>
          <p:nvPr/>
        </p:nvSpPr>
        <p:spPr>
          <a:xfrm>
            <a:off x="390448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g3f883da9c22_0_1514"/>
          <p:cNvSpPr/>
          <p:nvPr/>
        </p:nvSpPr>
        <p:spPr>
          <a:xfrm>
            <a:off x="415137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4" name="Google Shape;2554;g3f883da9c22_0_1514"/>
          <p:cNvSpPr/>
          <p:nvPr/>
        </p:nvSpPr>
        <p:spPr>
          <a:xfrm>
            <a:off x="439826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g3f883da9c22_0_1514"/>
          <p:cNvSpPr/>
          <p:nvPr/>
        </p:nvSpPr>
        <p:spPr>
          <a:xfrm>
            <a:off x="464515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g3f883da9c22_0_1514"/>
          <p:cNvSpPr/>
          <p:nvPr/>
        </p:nvSpPr>
        <p:spPr>
          <a:xfrm>
            <a:off x="489204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g3f883da9c22_0_1514"/>
          <p:cNvSpPr/>
          <p:nvPr/>
        </p:nvSpPr>
        <p:spPr>
          <a:xfrm>
            <a:off x="513892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g3f883da9c22_0_1514"/>
          <p:cNvSpPr/>
          <p:nvPr/>
        </p:nvSpPr>
        <p:spPr>
          <a:xfrm>
            <a:off x="538581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g3f883da9c22_0_1514"/>
          <p:cNvSpPr/>
          <p:nvPr/>
        </p:nvSpPr>
        <p:spPr>
          <a:xfrm>
            <a:off x="563270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g3f883da9c22_0_1514"/>
          <p:cNvSpPr/>
          <p:nvPr/>
        </p:nvSpPr>
        <p:spPr>
          <a:xfrm>
            <a:off x="365760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g3f883da9c22_0_1514"/>
          <p:cNvSpPr/>
          <p:nvPr/>
        </p:nvSpPr>
        <p:spPr>
          <a:xfrm>
            <a:off x="390448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2" name="Google Shape;2562;g3f883da9c22_0_1514"/>
          <p:cNvSpPr/>
          <p:nvPr/>
        </p:nvSpPr>
        <p:spPr>
          <a:xfrm>
            <a:off x="415137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3" name="Google Shape;2563;g3f883da9c22_0_1514"/>
          <p:cNvSpPr/>
          <p:nvPr/>
        </p:nvSpPr>
        <p:spPr>
          <a:xfrm>
            <a:off x="439826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g3f883da9c22_0_1514"/>
          <p:cNvSpPr/>
          <p:nvPr/>
        </p:nvSpPr>
        <p:spPr>
          <a:xfrm>
            <a:off x="464515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g3f883da9c22_0_1514"/>
          <p:cNvSpPr/>
          <p:nvPr/>
        </p:nvSpPr>
        <p:spPr>
          <a:xfrm>
            <a:off x="489204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g3f883da9c22_0_1514"/>
          <p:cNvSpPr/>
          <p:nvPr/>
        </p:nvSpPr>
        <p:spPr>
          <a:xfrm>
            <a:off x="513892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g3f883da9c22_0_1514"/>
          <p:cNvSpPr/>
          <p:nvPr/>
        </p:nvSpPr>
        <p:spPr>
          <a:xfrm>
            <a:off x="538581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g3f883da9c22_0_1514"/>
          <p:cNvSpPr/>
          <p:nvPr/>
        </p:nvSpPr>
        <p:spPr>
          <a:xfrm>
            <a:off x="563270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g3f883da9c22_0_1514"/>
          <p:cNvSpPr/>
          <p:nvPr/>
        </p:nvSpPr>
        <p:spPr>
          <a:xfrm>
            <a:off x="365760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g3f883da9c22_0_1514"/>
          <p:cNvSpPr/>
          <p:nvPr/>
        </p:nvSpPr>
        <p:spPr>
          <a:xfrm>
            <a:off x="390448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g3f883da9c22_0_1514"/>
          <p:cNvSpPr/>
          <p:nvPr/>
        </p:nvSpPr>
        <p:spPr>
          <a:xfrm>
            <a:off x="415137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g3f883da9c22_0_1514"/>
          <p:cNvSpPr/>
          <p:nvPr/>
        </p:nvSpPr>
        <p:spPr>
          <a:xfrm>
            <a:off x="439826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g3f883da9c22_0_1514"/>
          <p:cNvSpPr/>
          <p:nvPr/>
        </p:nvSpPr>
        <p:spPr>
          <a:xfrm>
            <a:off x="464515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g3f883da9c22_0_1514"/>
          <p:cNvSpPr/>
          <p:nvPr/>
        </p:nvSpPr>
        <p:spPr>
          <a:xfrm>
            <a:off x="489204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g3f883da9c22_0_1514"/>
          <p:cNvSpPr/>
          <p:nvPr/>
        </p:nvSpPr>
        <p:spPr>
          <a:xfrm>
            <a:off x="513892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g3f883da9c22_0_1514"/>
          <p:cNvSpPr/>
          <p:nvPr/>
        </p:nvSpPr>
        <p:spPr>
          <a:xfrm>
            <a:off x="538581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7" name="Google Shape;2577;g3f883da9c22_0_1514"/>
          <p:cNvSpPr/>
          <p:nvPr/>
        </p:nvSpPr>
        <p:spPr>
          <a:xfrm>
            <a:off x="563270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8" name="Google Shape;2578;g3f883da9c22_0_1514"/>
          <p:cNvSpPr txBox="1"/>
          <p:nvPr/>
        </p:nvSpPr>
        <p:spPr>
          <a:xfrm>
            <a:off x="649224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9" name="Google Shape;2579;g3f883da9c22_0_1514"/>
          <p:cNvSpPr/>
          <p:nvPr/>
        </p:nvSpPr>
        <p:spPr>
          <a:xfrm>
            <a:off x="649224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g3f883da9c22_0_1514"/>
          <p:cNvSpPr/>
          <p:nvPr/>
        </p:nvSpPr>
        <p:spPr>
          <a:xfrm>
            <a:off x="673912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1" name="Google Shape;2581;g3f883da9c22_0_1514"/>
          <p:cNvSpPr/>
          <p:nvPr/>
        </p:nvSpPr>
        <p:spPr>
          <a:xfrm>
            <a:off x="698601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g3f883da9c22_0_1514"/>
          <p:cNvSpPr/>
          <p:nvPr/>
        </p:nvSpPr>
        <p:spPr>
          <a:xfrm>
            <a:off x="723290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3" name="Google Shape;2583;g3f883da9c22_0_1514"/>
          <p:cNvSpPr/>
          <p:nvPr/>
        </p:nvSpPr>
        <p:spPr>
          <a:xfrm>
            <a:off x="747979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g3f883da9c22_0_1514"/>
          <p:cNvSpPr/>
          <p:nvPr/>
        </p:nvSpPr>
        <p:spPr>
          <a:xfrm>
            <a:off x="772668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5" name="Google Shape;2585;g3f883da9c22_0_1514"/>
          <p:cNvSpPr/>
          <p:nvPr/>
        </p:nvSpPr>
        <p:spPr>
          <a:xfrm>
            <a:off x="797356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g3f883da9c22_0_1514"/>
          <p:cNvSpPr/>
          <p:nvPr/>
        </p:nvSpPr>
        <p:spPr>
          <a:xfrm>
            <a:off x="822045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g3f883da9c22_0_1514"/>
          <p:cNvSpPr/>
          <p:nvPr/>
        </p:nvSpPr>
        <p:spPr>
          <a:xfrm>
            <a:off x="846734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g3f883da9c22_0_1514"/>
          <p:cNvSpPr/>
          <p:nvPr/>
        </p:nvSpPr>
        <p:spPr>
          <a:xfrm>
            <a:off x="649224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g3f883da9c22_0_1514"/>
          <p:cNvSpPr/>
          <p:nvPr/>
        </p:nvSpPr>
        <p:spPr>
          <a:xfrm>
            <a:off x="673912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g3f883da9c22_0_1514"/>
          <p:cNvSpPr/>
          <p:nvPr/>
        </p:nvSpPr>
        <p:spPr>
          <a:xfrm>
            <a:off x="698601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g3f883da9c22_0_1514"/>
          <p:cNvSpPr/>
          <p:nvPr/>
        </p:nvSpPr>
        <p:spPr>
          <a:xfrm>
            <a:off x="723290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g3f883da9c22_0_1514"/>
          <p:cNvSpPr/>
          <p:nvPr/>
        </p:nvSpPr>
        <p:spPr>
          <a:xfrm>
            <a:off x="747979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g3f883da9c22_0_1514"/>
          <p:cNvSpPr/>
          <p:nvPr/>
        </p:nvSpPr>
        <p:spPr>
          <a:xfrm>
            <a:off x="772668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g3f883da9c22_0_1514"/>
          <p:cNvSpPr/>
          <p:nvPr/>
        </p:nvSpPr>
        <p:spPr>
          <a:xfrm>
            <a:off x="797356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g3f883da9c22_0_1514"/>
          <p:cNvSpPr/>
          <p:nvPr/>
        </p:nvSpPr>
        <p:spPr>
          <a:xfrm>
            <a:off x="822045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g3f883da9c22_0_1514"/>
          <p:cNvSpPr/>
          <p:nvPr/>
        </p:nvSpPr>
        <p:spPr>
          <a:xfrm>
            <a:off x="846734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7" name="Google Shape;2597;g3f883da9c22_0_1514"/>
          <p:cNvSpPr/>
          <p:nvPr/>
        </p:nvSpPr>
        <p:spPr>
          <a:xfrm>
            <a:off x="649224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g3f883da9c22_0_1514"/>
          <p:cNvSpPr/>
          <p:nvPr/>
        </p:nvSpPr>
        <p:spPr>
          <a:xfrm>
            <a:off x="673912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9" name="Google Shape;2599;g3f883da9c22_0_1514"/>
          <p:cNvSpPr/>
          <p:nvPr/>
        </p:nvSpPr>
        <p:spPr>
          <a:xfrm>
            <a:off x="698601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g3f883da9c22_0_1514"/>
          <p:cNvSpPr/>
          <p:nvPr/>
        </p:nvSpPr>
        <p:spPr>
          <a:xfrm>
            <a:off x="723290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g3f883da9c22_0_1514"/>
          <p:cNvSpPr/>
          <p:nvPr/>
        </p:nvSpPr>
        <p:spPr>
          <a:xfrm>
            <a:off x="747979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g3f883da9c22_0_1514"/>
          <p:cNvSpPr/>
          <p:nvPr/>
        </p:nvSpPr>
        <p:spPr>
          <a:xfrm>
            <a:off x="772668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g3f883da9c22_0_1514"/>
          <p:cNvSpPr/>
          <p:nvPr/>
        </p:nvSpPr>
        <p:spPr>
          <a:xfrm>
            <a:off x="797356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g3f883da9c22_0_1514"/>
          <p:cNvSpPr/>
          <p:nvPr/>
        </p:nvSpPr>
        <p:spPr>
          <a:xfrm>
            <a:off x="822045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5" name="Google Shape;2605;g3f883da9c22_0_1514"/>
          <p:cNvSpPr/>
          <p:nvPr/>
        </p:nvSpPr>
        <p:spPr>
          <a:xfrm>
            <a:off x="846734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g3f883da9c22_0_1514"/>
          <p:cNvSpPr/>
          <p:nvPr/>
        </p:nvSpPr>
        <p:spPr>
          <a:xfrm>
            <a:off x="649224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7" name="Google Shape;2607;g3f883da9c22_0_1514"/>
          <p:cNvSpPr/>
          <p:nvPr/>
        </p:nvSpPr>
        <p:spPr>
          <a:xfrm>
            <a:off x="673912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g3f883da9c22_0_1514"/>
          <p:cNvSpPr/>
          <p:nvPr/>
        </p:nvSpPr>
        <p:spPr>
          <a:xfrm>
            <a:off x="698601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9" name="Google Shape;2609;g3f883da9c22_0_1514"/>
          <p:cNvSpPr/>
          <p:nvPr/>
        </p:nvSpPr>
        <p:spPr>
          <a:xfrm>
            <a:off x="723290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g3f883da9c22_0_1514"/>
          <p:cNvSpPr/>
          <p:nvPr/>
        </p:nvSpPr>
        <p:spPr>
          <a:xfrm>
            <a:off x="747979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1" name="Google Shape;2611;g3f883da9c22_0_1514"/>
          <p:cNvSpPr/>
          <p:nvPr/>
        </p:nvSpPr>
        <p:spPr>
          <a:xfrm>
            <a:off x="772668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2" name="Google Shape;2612;g3f883da9c22_0_1514"/>
          <p:cNvSpPr/>
          <p:nvPr/>
        </p:nvSpPr>
        <p:spPr>
          <a:xfrm>
            <a:off x="797356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g3f883da9c22_0_1514"/>
          <p:cNvSpPr/>
          <p:nvPr/>
        </p:nvSpPr>
        <p:spPr>
          <a:xfrm>
            <a:off x="822045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g3f883da9c22_0_1514"/>
          <p:cNvSpPr/>
          <p:nvPr/>
        </p:nvSpPr>
        <p:spPr>
          <a:xfrm>
            <a:off x="846734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5" name="Google Shape;2615;g3f883da9c22_0_1514"/>
          <p:cNvSpPr/>
          <p:nvPr/>
        </p:nvSpPr>
        <p:spPr>
          <a:xfrm>
            <a:off x="649224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6" name="Google Shape;2616;g3f883da9c22_0_1514"/>
          <p:cNvSpPr/>
          <p:nvPr/>
        </p:nvSpPr>
        <p:spPr>
          <a:xfrm>
            <a:off x="673912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g3f883da9c22_0_1514"/>
          <p:cNvSpPr/>
          <p:nvPr/>
        </p:nvSpPr>
        <p:spPr>
          <a:xfrm>
            <a:off x="698601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g3f883da9c22_0_1514"/>
          <p:cNvSpPr/>
          <p:nvPr/>
        </p:nvSpPr>
        <p:spPr>
          <a:xfrm>
            <a:off x="723290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g3f883da9c22_0_1514"/>
          <p:cNvSpPr/>
          <p:nvPr/>
        </p:nvSpPr>
        <p:spPr>
          <a:xfrm>
            <a:off x="747979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g3f883da9c22_0_1514"/>
          <p:cNvSpPr/>
          <p:nvPr/>
        </p:nvSpPr>
        <p:spPr>
          <a:xfrm>
            <a:off x="772668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g3f883da9c22_0_1514"/>
          <p:cNvSpPr/>
          <p:nvPr/>
        </p:nvSpPr>
        <p:spPr>
          <a:xfrm>
            <a:off x="797356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g3f883da9c22_0_1514"/>
          <p:cNvSpPr/>
          <p:nvPr/>
        </p:nvSpPr>
        <p:spPr>
          <a:xfrm>
            <a:off x="822045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g3f883da9c22_0_1514"/>
          <p:cNvSpPr/>
          <p:nvPr/>
        </p:nvSpPr>
        <p:spPr>
          <a:xfrm>
            <a:off x="846734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g3f883da9c22_0_1514"/>
          <p:cNvSpPr/>
          <p:nvPr/>
        </p:nvSpPr>
        <p:spPr>
          <a:xfrm>
            <a:off x="649224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5" name="Google Shape;2625;g3f883da9c22_0_1514"/>
          <p:cNvSpPr/>
          <p:nvPr/>
        </p:nvSpPr>
        <p:spPr>
          <a:xfrm>
            <a:off x="673912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6" name="Google Shape;2626;g3f883da9c22_0_1514"/>
          <p:cNvSpPr/>
          <p:nvPr/>
        </p:nvSpPr>
        <p:spPr>
          <a:xfrm>
            <a:off x="698601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7" name="Google Shape;2627;g3f883da9c22_0_1514"/>
          <p:cNvSpPr/>
          <p:nvPr/>
        </p:nvSpPr>
        <p:spPr>
          <a:xfrm>
            <a:off x="723290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g3f883da9c22_0_1514"/>
          <p:cNvSpPr/>
          <p:nvPr/>
        </p:nvSpPr>
        <p:spPr>
          <a:xfrm>
            <a:off x="747979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9" name="Google Shape;2629;g3f883da9c22_0_1514"/>
          <p:cNvSpPr/>
          <p:nvPr/>
        </p:nvSpPr>
        <p:spPr>
          <a:xfrm>
            <a:off x="772668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0" name="Google Shape;2630;g3f883da9c22_0_1514"/>
          <p:cNvSpPr/>
          <p:nvPr/>
        </p:nvSpPr>
        <p:spPr>
          <a:xfrm>
            <a:off x="797356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1" name="Google Shape;2631;g3f883da9c22_0_1514"/>
          <p:cNvSpPr/>
          <p:nvPr/>
        </p:nvSpPr>
        <p:spPr>
          <a:xfrm>
            <a:off x="822045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2" name="Google Shape;2632;g3f883da9c22_0_1514"/>
          <p:cNvSpPr/>
          <p:nvPr/>
        </p:nvSpPr>
        <p:spPr>
          <a:xfrm>
            <a:off x="846734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3" name="Google Shape;2633;g3f883da9c22_0_1514"/>
          <p:cNvSpPr/>
          <p:nvPr/>
        </p:nvSpPr>
        <p:spPr>
          <a:xfrm>
            <a:off x="649224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g3f883da9c22_0_1514"/>
          <p:cNvSpPr/>
          <p:nvPr/>
        </p:nvSpPr>
        <p:spPr>
          <a:xfrm>
            <a:off x="673912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g3f883da9c22_0_1514"/>
          <p:cNvSpPr/>
          <p:nvPr/>
        </p:nvSpPr>
        <p:spPr>
          <a:xfrm>
            <a:off x="698601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6" name="Google Shape;2636;g3f883da9c22_0_1514"/>
          <p:cNvSpPr/>
          <p:nvPr/>
        </p:nvSpPr>
        <p:spPr>
          <a:xfrm>
            <a:off x="723290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g3f883da9c22_0_1514"/>
          <p:cNvSpPr/>
          <p:nvPr/>
        </p:nvSpPr>
        <p:spPr>
          <a:xfrm>
            <a:off x="747979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8" name="Google Shape;2638;g3f883da9c22_0_1514"/>
          <p:cNvSpPr/>
          <p:nvPr/>
        </p:nvSpPr>
        <p:spPr>
          <a:xfrm>
            <a:off x="772668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9" name="Google Shape;2639;g3f883da9c22_0_1514"/>
          <p:cNvSpPr/>
          <p:nvPr/>
        </p:nvSpPr>
        <p:spPr>
          <a:xfrm>
            <a:off x="797356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0" name="Google Shape;2640;g3f883da9c22_0_1514"/>
          <p:cNvSpPr/>
          <p:nvPr/>
        </p:nvSpPr>
        <p:spPr>
          <a:xfrm>
            <a:off x="822045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1" name="Google Shape;2641;g3f883da9c22_0_1514"/>
          <p:cNvSpPr/>
          <p:nvPr/>
        </p:nvSpPr>
        <p:spPr>
          <a:xfrm>
            <a:off x="846734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2" name="Google Shape;2642;g3f883da9c22_0_1514"/>
          <p:cNvSpPr txBox="1"/>
          <p:nvPr/>
        </p:nvSpPr>
        <p:spPr>
          <a:xfrm>
            <a:off x="932688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3" name="Google Shape;2643;g3f883da9c22_0_1514"/>
          <p:cNvSpPr/>
          <p:nvPr/>
        </p:nvSpPr>
        <p:spPr>
          <a:xfrm>
            <a:off x="932688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g3f883da9c22_0_1514"/>
          <p:cNvSpPr/>
          <p:nvPr/>
        </p:nvSpPr>
        <p:spPr>
          <a:xfrm>
            <a:off x="957376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g3f883da9c22_0_1514"/>
          <p:cNvSpPr/>
          <p:nvPr/>
        </p:nvSpPr>
        <p:spPr>
          <a:xfrm>
            <a:off x="982065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g3f883da9c22_0_1514"/>
          <p:cNvSpPr/>
          <p:nvPr/>
        </p:nvSpPr>
        <p:spPr>
          <a:xfrm>
            <a:off x="1006754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g3f883da9c22_0_1514"/>
          <p:cNvSpPr/>
          <p:nvPr/>
        </p:nvSpPr>
        <p:spPr>
          <a:xfrm>
            <a:off x="1031443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8" name="Google Shape;2648;g3f883da9c22_0_1514"/>
          <p:cNvSpPr/>
          <p:nvPr/>
        </p:nvSpPr>
        <p:spPr>
          <a:xfrm>
            <a:off x="1056132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g3f883da9c22_0_1514"/>
          <p:cNvSpPr/>
          <p:nvPr/>
        </p:nvSpPr>
        <p:spPr>
          <a:xfrm>
            <a:off x="1080820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g3f883da9c22_0_1514"/>
          <p:cNvSpPr/>
          <p:nvPr/>
        </p:nvSpPr>
        <p:spPr>
          <a:xfrm>
            <a:off x="1105509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g3f883da9c22_0_1514"/>
          <p:cNvSpPr/>
          <p:nvPr/>
        </p:nvSpPr>
        <p:spPr>
          <a:xfrm>
            <a:off x="1130198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g3f883da9c22_0_1514"/>
          <p:cNvSpPr/>
          <p:nvPr/>
        </p:nvSpPr>
        <p:spPr>
          <a:xfrm>
            <a:off x="932688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g3f883da9c22_0_1514"/>
          <p:cNvSpPr/>
          <p:nvPr/>
        </p:nvSpPr>
        <p:spPr>
          <a:xfrm>
            <a:off x="957376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g3f883da9c22_0_1514"/>
          <p:cNvSpPr/>
          <p:nvPr/>
        </p:nvSpPr>
        <p:spPr>
          <a:xfrm>
            <a:off x="982065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g3f883da9c22_0_1514"/>
          <p:cNvSpPr/>
          <p:nvPr/>
        </p:nvSpPr>
        <p:spPr>
          <a:xfrm>
            <a:off x="1006754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g3f883da9c22_0_1514"/>
          <p:cNvSpPr/>
          <p:nvPr/>
        </p:nvSpPr>
        <p:spPr>
          <a:xfrm>
            <a:off x="1031443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g3f883da9c22_0_1514"/>
          <p:cNvSpPr/>
          <p:nvPr/>
        </p:nvSpPr>
        <p:spPr>
          <a:xfrm>
            <a:off x="1056132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g3f883da9c22_0_1514"/>
          <p:cNvSpPr/>
          <p:nvPr/>
        </p:nvSpPr>
        <p:spPr>
          <a:xfrm>
            <a:off x="1080820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g3f883da9c22_0_1514"/>
          <p:cNvSpPr/>
          <p:nvPr/>
        </p:nvSpPr>
        <p:spPr>
          <a:xfrm>
            <a:off x="1105509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g3f883da9c22_0_1514"/>
          <p:cNvSpPr/>
          <p:nvPr/>
        </p:nvSpPr>
        <p:spPr>
          <a:xfrm>
            <a:off x="1130198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g3f883da9c22_0_1514"/>
          <p:cNvSpPr/>
          <p:nvPr/>
        </p:nvSpPr>
        <p:spPr>
          <a:xfrm>
            <a:off x="932688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g3f883da9c22_0_1514"/>
          <p:cNvSpPr/>
          <p:nvPr/>
        </p:nvSpPr>
        <p:spPr>
          <a:xfrm>
            <a:off x="957376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g3f883da9c22_0_1514"/>
          <p:cNvSpPr/>
          <p:nvPr/>
        </p:nvSpPr>
        <p:spPr>
          <a:xfrm>
            <a:off x="982065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g3f883da9c22_0_1514"/>
          <p:cNvSpPr/>
          <p:nvPr/>
        </p:nvSpPr>
        <p:spPr>
          <a:xfrm>
            <a:off x="1006754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g3f883da9c22_0_1514"/>
          <p:cNvSpPr/>
          <p:nvPr/>
        </p:nvSpPr>
        <p:spPr>
          <a:xfrm>
            <a:off x="1031443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6" name="Google Shape;2666;g3f883da9c22_0_1514"/>
          <p:cNvSpPr/>
          <p:nvPr/>
        </p:nvSpPr>
        <p:spPr>
          <a:xfrm>
            <a:off x="1056132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g3f883da9c22_0_1514"/>
          <p:cNvSpPr/>
          <p:nvPr/>
        </p:nvSpPr>
        <p:spPr>
          <a:xfrm>
            <a:off x="1080820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g3f883da9c22_0_1514"/>
          <p:cNvSpPr/>
          <p:nvPr/>
        </p:nvSpPr>
        <p:spPr>
          <a:xfrm>
            <a:off x="1105509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g3f883da9c22_0_1514"/>
          <p:cNvSpPr/>
          <p:nvPr/>
        </p:nvSpPr>
        <p:spPr>
          <a:xfrm>
            <a:off x="1130198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g3f883da9c22_0_1514"/>
          <p:cNvSpPr/>
          <p:nvPr/>
        </p:nvSpPr>
        <p:spPr>
          <a:xfrm>
            <a:off x="932688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g3f883da9c22_0_1514"/>
          <p:cNvSpPr/>
          <p:nvPr/>
        </p:nvSpPr>
        <p:spPr>
          <a:xfrm>
            <a:off x="957376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g3f883da9c22_0_1514"/>
          <p:cNvSpPr/>
          <p:nvPr/>
        </p:nvSpPr>
        <p:spPr>
          <a:xfrm>
            <a:off x="982065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g3f883da9c22_0_1514"/>
          <p:cNvSpPr/>
          <p:nvPr/>
        </p:nvSpPr>
        <p:spPr>
          <a:xfrm>
            <a:off x="1006754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g3f883da9c22_0_1514"/>
          <p:cNvSpPr/>
          <p:nvPr/>
        </p:nvSpPr>
        <p:spPr>
          <a:xfrm>
            <a:off x="1031443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g3f883da9c22_0_1514"/>
          <p:cNvSpPr/>
          <p:nvPr/>
        </p:nvSpPr>
        <p:spPr>
          <a:xfrm>
            <a:off x="1056132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g3f883da9c22_0_1514"/>
          <p:cNvSpPr/>
          <p:nvPr/>
        </p:nvSpPr>
        <p:spPr>
          <a:xfrm>
            <a:off x="1080820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g3f883da9c22_0_1514"/>
          <p:cNvSpPr/>
          <p:nvPr/>
        </p:nvSpPr>
        <p:spPr>
          <a:xfrm>
            <a:off x="1105509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g3f883da9c22_0_1514"/>
          <p:cNvSpPr/>
          <p:nvPr/>
        </p:nvSpPr>
        <p:spPr>
          <a:xfrm>
            <a:off x="1130198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9" name="Google Shape;2679;g3f883da9c22_0_1514"/>
          <p:cNvSpPr/>
          <p:nvPr/>
        </p:nvSpPr>
        <p:spPr>
          <a:xfrm>
            <a:off x="932688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0" name="Google Shape;2680;g3f883da9c22_0_1514"/>
          <p:cNvSpPr/>
          <p:nvPr/>
        </p:nvSpPr>
        <p:spPr>
          <a:xfrm>
            <a:off x="957376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g3f883da9c22_0_1514"/>
          <p:cNvSpPr/>
          <p:nvPr/>
        </p:nvSpPr>
        <p:spPr>
          <a:xfrm>
            <a:off x="982065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g3f883da9c22_0_1514"/>
          <p:cNvSpPr/>
          <p:nvPr/>
        </p:nvSpPr>
        <p:spPr>
          <a:xfrm>
            <a:off x="1006754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3" name="Google Shape;2683;g3f883da9c22_0_1514"/>
          <p:cNvSpPr/>
          <p:nvPr/>
        </p:nvSpPr>
        <p:spPr>
          <a:xfrm>
            <a:off x="1031443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g3f883da9c22_0_1514"/>
          <p:cNvSpPr/>
          <p:nvPr/>
        </p:nvSpPr>
        <p:spPr>
          <a:xfrm>
            <a:off x="1056132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g3f883da9c22_0_1514"/>
          <p:cNvSpPr/>
          <p:nvPr/>
        </p:nvSpPr>
        <p:spPr>
          <a:xfrm>
            <a:off x="1080820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g3f883da9c22_0_1514"/>
          <p:cNvSpPr/>
          <p:nvPr/>
        </p:nvSpPr>
        <p:spPr>
          <a:xfrm>
            <a:off x="1105509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g3f883da9c22_0_1514"/>
          <p:cNvSpPr/>
          <p:nvPr/>
        </p:nvSpPr>
        <p:spPr>
          <a:xfrm>
            <a:off x="1130198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g3f883da9c22_0_1514"/>
          <p:cNvSpPr/>
          <p:nvPr/>
        </p:nvSpPr>
        <p:spPr>
          <a:xfrm>
            <a:off x="932688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9" name="Google Shape;2689;g3f883da9c22_0_1514"/>
          <p:cNvSpPr/>
          <p:nvPr/>
        </p:nvSpPr>
        <p:spPr>
          <a:xfrm>
            <a:off x="957376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g3f883da9c22_0_1514"/>
          <p:cNvSpPr/>
          <p:nvPr/>
        </p:nvSpPr>
        <p:spPr>
          <a:xfrm>
            <a:off x="982065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1" name="Google Shape;2691;g3f883da9c22_0_1514"/>
          <p:cNvSpPr/>
          <p:nvPr/>
        </p:nvSpPr>
        <p:spPr>
          <a:xfrm>
            <a:off x="1006754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g3f883da9c22_0_1514"/>
          <p:cNvSpPr/>
          <p:nvPr/>
        </p:nvSpPr>
        <p:spPr>
          <a:xfrm>
            <a:off x="1031443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g3f883da9c22_0_1514"/>
          <p:cNvSpPr/>
          <p:nvPr/>
        </p:nvSpPr>
        <p:spPr>
          <a:xfrm>
            <a:off x="1056132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g3f883da9c22_0_1514"/>
          <p:cNvSpPr/>
          <p:nvPr/>
        </p:nvSpPr>
        <p:spPr>
          <a:xfrm>
            <a:off x="1080820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g3f883da9c22_0_1514"/>
          <p:cNvSpPr/>
          <p:nvPr/>
        </p:nvSpPr>
        <p:spPr>
          <a:xfrm>
            <a:off x="1105509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g3f883da9c22_0_1514"/>
          <p:cNvSpPr/>
          <p:nvPr/>
        </p:nvSpPr>
        <p:spPr>
          <a:xfrm>
            <a:off x="1130198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7" name="Google Shape;2697;g3f883da9c22_0_1514"/>
          <p:cNvSpPr/>
          <p:nvPr/>
        </p:nvSpPr>
        <p:spPr>
          <a:xfrm>
            <a:off x="932688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8" name="Google Shape;2698;g3f883da9c22_0_1514"/>
          <p:cNvSpPr/>
          <p:nvPr/>
        </p:nvSpPr>
        <p:spPr>
          <a:xfrm>
            <a:off x="957376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g3f883da9c22_0_1514"/>
          <p:cNvSpPr/>
          <p:nvPr/>
        </p:nvSpPr>
        <p:spPr>
          <a:xfrm>
            <a:off x="982065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g3f883da9c22_0_1514"/>
          <p:cNvSpPr/>
          <p:nvPr/>
        </p:nvSpPr>
        <p:spPr>
          <a:xfrm>
            <a:off x="1006754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g3f883da9c22_0_1514"/>
          <p:cNvSpPr/>
          <p:nvPr/>
        </p:nvSpPr>
        <p:spPr>
          <a:xfrm>
            <a:off x="1031443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g3f883da9c22_0_1514"/>
          <p:cNvSpPr/>
          <p:nvPr/>
        </p:nvSpPr>
        <p:spPr>
          <a:xfrm>
            <a:off x="1056132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3" name="Google Shape;2703;g3f883da9c22_0_1514"/>
          <p:cNvSpPr/>
          <p:nvPr/>
        </p:nvSpPr>
        <p:spPr>
          <a:xfrm>
            <a:off x="1080820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g3f883da9c22_0_1514"/>
          <p:cNvSpPr/>
          <p:nvPr/>
        </p:nvSpPr>
        <p:spPr>
          <a:xfrm>
            <a:off x="1105509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5" name="Google Shape;2705;g3f883da9c22_0_1514"/>
          <p:cNvSpPr/>
          <p:nvPr/>
        </p:nvSpPr>
        <p:spPr>
          <a:xfrm>
            <a:off x="1130198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6" name="Google Shape;2706;g3f883da9c22_0_1514"/>
          <p:cNvSpPr txBox="1"/>
          <p:nvPr/>
        </p:nvSpPr>
        <p:spPr>
          <a:xfrm>
            <a:off x="1371600" y="425196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Conv1 (3×3)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7" name="Google Shape;2707;g3f883da9c22_0_1514"/>
          <p:cNvSpPr/>
          <p:nvPr/>
        </p:nvSpPr>
        <p:spPr>
          <a:xfrm>
            <a:off x="3154680" y="3200400"/>
            <a:ext cx="2925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g3f883da9c22_0_1514"/>
          <p:cNvSpPr txBox="1"/>
          <p:nvPr/>
        </p:nvSpPr>
        <p:spPr>
          <a:xfrm>
            <a:off x="4206240" y="425196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Conv2 (3×3)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9" name="Google Shape;2709;g3f883da9c22_0_1514"/>
          <p:cNvSpPr/>
          <p:nvPr/>
        </p:nvSpPr>
        <p:spPr>
          <a:xfrm>
            <a:off x="5989320" y="3200400"/>
            <a:ext cx="2925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g3f883da9c22_0_1514"/>
          <p:cNvSpPr txBox="1"/>
          <p:nvPr/>
        </p:nvSpPr>
        <p:spPr>
          <a:xfrm>
            <a:off x="7040880" y="425196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Conv3 (3×3)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1" name="Google Shape;2711;g3f883da9c22_0_1514"/>
          <p:cNvSpPr/>
          <p:nvPr/>
        </p:nvSpPr>
        <p:spPr>
          <a:xfrm>
            <a:off x="8823960" y="3200400"/>
            <a:ext cx="2925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g3f883da9c22_0_1514"/>
          <p:cNvSpPr/>
          <p:nvPr/>
        </p:nvSpPr>
        <p:spPr>
          <a:xfrm>
            <a:off x="7232904" y="2825496"/>
            <a:ext cx="740700" cy="740700"/>
          </a:xfrm>
          <a:prstGeom prst="rect">
            <a:avLst/>
          </a:prstGeom>
          <a:noFill/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3" name="Google Shape;2713;g3f883da9c22_0_1514"/>
          <p:cNvSpPr/>
          <p:nvPr/>
        </p:nvSpPr>
        <p:spPr>
          <a:xfrm>
            <a:off x="10314432" y="3072384"/>
            <a:ext cx="246900" cy="246900"/>
          </a:xfrm>
          <a:prstGeom prst="rect">
            <a:avLst/>
          </a:prstGeom>
          <a:noFill/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g3f883da9c22_0_1514"/>
          <p:cNvSpPr/>
          <p:nvPr/>
        </p:nvSpPr>
        <p:spPr>
          <a:xfrm rot="539195">
            <a:off x="7958994" y="3006933"/>
            <a:ext cx="2369992" cy="7299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g3f883da9c22_0_1514"/>
          <p:cNvSpPr/>
          <p:nvPr/>
        </p:nvSpPr>
        <p:spPr>
          <a:xfrm rot="-539195">
            <a:off x="7959051" y="3377397"/>
            <a:ext cx="2369992" cy="7299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g3f883da9c22_0_1514"/>
          <p:cNvSpPr/>
          <p:nvPr/>
        </p:nvSpPr>
        <p:spPr>
          <a:xfrm>
            <a:off x="4151376" y="2578608"/>
            <a:ext cx="740700" cy="740700"/>
          </a:xfrm>
          <a:prstGeom prst="rect">
            <a:avLst/>
          </a:prstGeom>
          <a:noFill/>
          <a:ln cap="flat" cmpd="sng" w="17775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7" name="Google Shape;2717;g3f883da9c22_0_1514"/>
          <p:cNvSpPr/>
          <p:nvPr/>
        </p:nvSpPr>
        <p:spPr>
          <a:xfrm>
            <a:off x="4398264" y="2825496"/>
            <a:ext cx="740700" cy="740700"/>
          </a:xfrm>
          <a:prstGeom prst="rect">
            <a:avLst/>
          </a:prstGeom>
          <a:noFill/>
          <a:ln cap="flat" cmpd="sng" w="17775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8" name="Google Shape;2718;g3f883da9c22_0_1514"/>
          <p:cNvSpPr/>
          <p:nvPr/>
        </p:nvSpPr>
        <p:spPr>
          <a:xfrm>
            <a:off x="4645152" y="3072384"/>
            <a:ext cx="740700" cy="740700"/>
          </a:xfrm>
          <a:prstGeom prst="rect">
            <a:avLst/>
          </a:prstGeom>
          <a:noFill/>
          <a:ln cap="flat" cmpd="sng" w="17775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g3f883da9c22_0_1514"/>
          <p:cNvSpPr/>
          <p:nvPr/>
        </p:nvSpPr>
        <p:spPr>
          <a:xfrm rot="306211">
            <a:off x="4887112" y="2686102"/>
            <a:ext cx="2499007" cy="722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0" name="Google Shape;2720;g3f883da9c22_0_1514"/>
          <p:cNvSpPr/>
          <p:nvPr/>
        </p:nvSpPr>
        <p:spPr>
          <a:xfrm rot="-705882">
            <a:off x="4865339" y="3056414"/>
            <a:ext cx="2542510" cy="735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1" name="Google Shape;2721;g3f883da9c22_0_1514"/>
          <p:cNvSpPr/>
          <p:nvPr/>
        </p:nvSpPr>
        <p:spPr>
          <a:xfrm rot="306211">
            <a:off x="5134000" y="2932990"/>
            <a:ext cx="2499007" cy="722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2" name="Google Shape;2722;g3f883da9c22_0_1514"/>
          <p:cNvSpPr/>
          <p:nvPr/>
        </p:nvSpPr>
        <p:spPr>
          <a:xfrm rot="-705882">
            <a:off x="5112227" y="3303302"/>
            <a:ext cx="2542510" cy="735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3" name="Google Shape;2723;g3f883da9c22_0_1514"/>
          <p:cNvSpPr/>
          <p:nvPr/>
        </p:nvSpPr>
        <p:spPr>
          <a:xfrm rot="306211">
            <a:off x="5380888" y="3179878"/>
            <a:ext cx="2499007" cy="722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g3f883da9c22_0_1514"/>
          <p:cNvSpPr/>
          <p:nvPr/>
        </p:nvSpPr>
        <p:spPr>
          <a:xfrm rot="-705882">
            <a:off x="5359115" y="3550190"/>
            <a:ext cx="2542510" cy="735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5" name="Google Shape;2725;g3f883da9c22_0_1514"/>
          <p:cNvSpPr/>
          <p:nvPr/>
        </p:nvSpPr>
        <p:spPr>
          <a:xfrm>
            <a:off x="548640" y="4754880"/>
            <a:ext cx="11064300" cy="10059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6" name="Google Shape;2726;g3f883da9c22_0_1514"/>
          <p:cNvSpPr txBox="1"/>
          <p:nvPr/>
        </p:nvSpPr>
        <p:spPr>
          <a:xfrm>
            <a:off x="822960" y="4956048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Each of those three A2 units is itself computed from a 3 × 3 window of A1 — and the three windows overlap, sliding one cell apart.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273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g3f883da9c22_0_1806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WHY SMALL FILTERS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g3f883da9c22_0_1806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VGGNet — receptive field (3)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4" name="Google Shape;2734;g3f883da9c22_0_1806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5" name="Google Shape;2735;g3f883da9c22_0_1806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6" name="Google Shape;2736;g3f883da9c22_0_1806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7" name="Google Shape;2737;g3f883da9c22_0_1806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8" name="Google Shape;2738;g3f883da9c22_0_1806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g3f883da9c22_0_1806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0" name="Google Shape;2740;g3f883da9c22_0_1806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1" name="Google Shape;2741;g3f883da9c22_0_1806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2" name="Google Shape;2742;g3f883da9c22_0_1806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3" name="Google Shape;2743;g3f883da9c22_0_1806"/>
          <p:cNvSpPr txBox="1"/>
          <p:nvPr/>
        </p:nvSpPr>
        <p:spPr>
          <a:xfrm>
            <a:off x="82296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g3f883da9c22_0_1806"/>
          <p:cNvSpPr/>
          <p:nvPr/>
        </p:nvSpPr>
        <p:spPr>
          <a:xfrm>
            <a:off x="82296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g3f883da9c22_0_1806"/>
          <p:cNvSpPr/>
          <p:nvPr/>
        </p:nvSpPr>
        <p:spPr>
          <a:xfrm>
            <a:off x="106984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6" name="Google Shape;2746;g3f883da9c22_0_1806"/>
          <p:cNvSpPr/>
          <p:nvPr/>
        </p:nvSpPr>
        <p:spPr>
          <a:xfrm>
            <a:off x="131673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7" name="Google Shape;2747;g3f883da9c22_0_1806"/>
          <p:cNvSpPr/>
          <p:nvPr/>
        </p:nvSpPr>
        <p:spPr>
          <a:xfrm>
            <a:off x="156362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8" name="Google Shape;2748;g3f883da9c22_0_1806"/>
          <p:cNvSpPr/>
          <p:nvPr/>
        </p:nvSpPr>
        <p:spPr>
          <a:xfrm>
            <a:off x="181051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9" name="Google Shape;2749;g3f883da9c22_0_1806"/>
          <p:cNvSpPr/>
          <p:nvPr/>
        </p:nvSpPr>
        <p:spPr>
          <a:xfrm>
            <a:off x="205740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0" name="Google Shape;2750;g3f883da9c22_0_1806"/>
          <p:cNvSpPr/>
          <p:nvPr/>
        </p:nvSpPr>
        <p:spPr>
          <a:xfrm>
            <a:off x="230428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1" name="Google Shape;2751;g3f883da9c22_0_1806"/>
          <p:cNvSpPr/>
          <p:nvPr/>
        </p:nvSpPr>
        <p:spPr>
          <a:xfrm>
            <a:off x="255117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2" name="Google Shape;2752;g3f883da9c22_0_1806"/>
          <p:cNvSpPr/>
          <p:nvPr/>
        </p:nvSpPr>
        <p:spPr>
          <a:xfrm>
            <a:off x="279806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3" name="Google Shape;2753;g3f883da9c22_0_1806"/>
          <p:cNvSpPr/>
          <p:nvPr/>
        </p:nvSpPr>
        <p:spPr>
          <a:xfrm>
            <a:off x="82296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4" name="Google Shape;2754;g3f883da9c22_0_1806"/>
          <p:cNvSpPr/>
          <p:nvPr/>
        </p:nvSpPr>
        <p:spPr>
          <a:xfrm>
            <a:off x="106984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5" name="Google Shape;2755;g3f883da9c22_0_1806"/>
          <p:cNvSpPr/>
          <p:nvPr/>
        </p:nvSpPr>
        <p:spPr>
          <a:xfrm>
            <a:off x="131673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6" name="Google Shape;2756;g3f883da9c22_0_1806"/>
          <p:cNvSpPr/>
          <p:nvPr/>
        </p:nvSpPr>
        <p:spPr>
          <a:xfrm>
            <a:off x="156362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7" name="Google Shape;2757;g3f883da9c22_0_1806"/>
          <p:cNvSpPr/>
          <p:nvPr/>
        </p:nvSpPr>
        <p:spPr>
          <a:xfrm>
            <a:off x="181051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8" name="Google Shape;2758;g3f883da9c22_0_1806"/>
          <p:cNvSpPr/>
          <p:nvPr/>
        </p:nvSpPr>
        <p:spPr>
          <a:xfrm>
            <a:off x="205740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9" name="Google Shape;2759;g3f883da9c22_0_1806"/>
          <p:cNvSpPr/>
          <p:nvPr/>
        </p:nvSpPr>
        <p:spPr>
          <a:xfrm>
            <a:off x="230428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0" name="Google Shape;2760;g3f883da9c22_0_1806"/>
          <p:cNvSpPr/>
          <p:nvPr/>
        </p:nvSpPr>
        <p:spPr>
          <a:xfrm>
            <a:off x="255117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1" name="Google Shape;2761;g3f883da9c22_0_1806"/>
          <p:cNvSpPr/>
          <p:nvPr/>
        </p:nvSpPr>
        <p:spPr>
          <a:xfrm>
            <a:off x="279806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2" name="Google Shape;2762;g3f883da9c22_0_1806"/>
          <p:cNvSpPr/>
          <p:nvPr/>
        </p:nvSpPr>
        <p:spPr>
          <a:xfrm>
            <a:off x="82296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3" name="Google Shape;2763;g3f883da9c22_0_1806"/>
          <p:cNvSpPr/>
          <p:nvPr/>
        </p:nvSpPr>
        <p:spPr>
          <a:xfrm>
            <a:off x="106984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4" name="Google Shape;2764;g3f883da9c22_0_1806"/>
          <p:cNvSpPr/>
          <p:nvPr/>
        </p:nvSpPr>
        <p:spPr>
          <a:xfrm>
            <a:off x="131673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5" name="Google Shape;2765;g3f883da9c22_0_1806"/>
          <p:cNvSpPr/>
          <p:nvPr/>
        </p:nvSpPr>
        <p:spPr>
          <a:xfrm>
            <a:off x="156362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6" name="Google Shape;2766;g3f883da9c22_0_1806"/>
          <p:cNvSpPr/>
          <p:nvPr/>
        </p:nvSpPr>
        <p:spPr>
          <a:xfrm>
            <a:off x="181051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7" name="Google Shape;2767;g3f883da9c22_0_1806"/>
          <p:cNvSpPr/>
          <p:nvPr/>
        </p:nvSpPr>
        <p:spPr>
          <a:xfrm>
            <a:off x="205740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8" name="Google Shape;2768;g3f883da9c22_0_1806"/>
          <p:cNvSpPr/>
          <p:nvPr/>
        </p:nvSpPr>
        <p:spPr>
          <a:xfrm>
            <a:off x="230428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9" name="Google Shape;2769;g3f883da9c22_0_1806"/>
          <p:cNvSpPr/>
          <p:nvPr/>
        </p:nvSpPr>
        <p:spPr>
          <a:xfrm>
            <a:off x="255117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g3f883da9c22_0_1806"/>
          <p:cNvSpPr/>
          <p:nvPr/>
        </p:nvSpPr>
        <p:spPr>
          <a:xfrm>
            <a:off x="279806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1" name="Google Shape;2771;g3f883da9c22_0_1806"/>
          <p:cNvSpPr/>
          <p:nvPr/>
        </p:nvSpPr>
        <p:spPr>
          <a:xfrm>
            <a:off x="82296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2" name="Google Shape;2772;g3f883da9c22_0_1806"/>
          <p:cNvSpPr/>
          <p:nvPr/>
        </p:nvSpPr>
        <p:spPr>
          <a:xfrm>
            <a:off x="106984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3" name="Google Shape;2773;g3f883da9c22_0_1806"/>
          <p:cNvSpPr/>
          <p:nvPr/>
        </p:nvSpPr>
        <p:spPr>
          <a:xfrm>
            <a:off x="131673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4" name="Google Shape;2774;g3f883da9c22_0_1806"/>
          <p:cNvSpPr/>
          <p:nvPr/>
        </p:nvSpPr>
        <p:spPr>
          <a:xfrm>
            <a:off x="156362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5" name="Google Shape;2775;g3f883da9c22_0_1806"/>
          <p:cNvSpPr/>
          <p:nvPr/>
        </p:nvSpPr>
        <p:spPr>
          <a:xfrm>
            <a:off x="181051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6" name="Google Shape;2776;g3f883da9c22_0_1806"/>
          <p:cNvSpPr/>
          <p:nvPr/>
        </p:nvSpPr>
        <p:spPr>
          <a:xfrm>
            <a:off x="205740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7" name="Google Shape;2777;g3f883da9c22_0_1806"/>
          <p:cNvSpPr/>
          <p:nvPr/>
        </p:nvSpPr>
        <p:spPr>
          <a:xfrm>
            <a:off x="230428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8" name="Google Shape;2778;g3f883da9c22_0_1806"/>
          <p:cNvSpPr/>
          <p:nvPr/>
        </p:nvSpPr>
        <p:spPr>
          <a:xfrm>
            <a:off x="255117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9" name="Google Shape;2779;g3f883da9c22_0_1806"/>
          <p:cNvSpPr/>
          <p:nvPr/>
        </p:nvSpPr>
        <p:spPr>
          <a:xfrm>
            <a:off x="279806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0" name="Google Shape;2780;g3f883da9c22_0_1806"/>
          <p:cNvSpPr/>
          <p:nvPr/>
        </p:nvSpPr>
        <p:spPr>
          <a:xfrm>
            <a:off x="82296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1" name="Google Shape;2781;g3f883da9c22_0_1806"/>
          <p:cNvSpPr/>
          <p:nvPr/>
        </p:nvSpPr>
        <p:spPr>
          <a:xfrm>
            <a:off x="106984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2" name="Google Shape;2782;g3f883da9c22_0_1806"/>
          <p:cNvSpPr/>
          <p:nvPr/>
        </p:nvSpPr>
        <p:spPr>
          <a:xfrm>
            <a:off x="131673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3" name="Google Shape;2783;g3f883da9c22_0_1806"/>
          <p:cNvSpPr/>
          <p:nvPr/>
        </p:nvSpPr>
        <p:spPr>
          <a:xfrm>
            <a:off x="156362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4" name="Google Shape;2784;g3f883da9c22_0_1806"/>
          <p:cNvSpPr/>
          <p:nvPr/>
        </p:nvSpPr>
        <p:spPr>
          <a:xfrm>
            <a:off x="181051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g3f883da9c22_0_1806"/>
          <p:cNvSpPr/>
          <p:nvPr/>
        </p:nvSpPr>
        <p:spPr>
          <a:xfrm>
            <a:off x="205740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6" name="Google Shape;2786;g3f883da9c22_0_1806"/>
          <p:cNvSpPr/>
          <p:nvPr/>
        </p:nvSpPr>
        <p:spPr>
          <a:xfrm>
            <a:off x="230428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7" name="Google Shape;2787;g3f883da9c22_0_1806"/>
          <p:cNvSpPr/>
          <p:nvPr/>
        </p:nvSpPr>
        <p:spPr>
          <a:xfrm>
            <a:off x="255117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8" name="Google Shape;2788;g3f883da9c22_0_1806"/>
          <p:cNvSpPr/>
          <p:nvPr/>
        </p:nvSpPr>
        <p:spPr>
          <a:xfrm>
            <a:off x="279806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9" name="Google Shape;2789;g3f883da9c22_0_1806"/>
          <p:cNvSpPr/>
          <p:nvPr/>
        </p:nvSpPr>
        <p:spPr>
          <a:xfrm>
            <a:off x="82296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0" name="Google Shape;2790;g3f883da9c22_0_1806"/>
          <p:cNvSpPr/>
          <p:nvPr/>
        </p:nvSpPr>
        <p:spPr>
          <a:xfrm>
            <a:off x="106984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1" name="Google Shape;2791;g3f883da9c22_0_1806"/>
          <p:cNvSpPr/>
          <p:nvPr/>
        </p:nvSpPr>
        <p:spPr>
          <a:xfrm>
            <a:off x="131673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2" name="Google Shape;2792;g3f883da9c22_0_1806"/>
          <p:cNvSpPr/>
          <p:nvPr/>
        </p:nvSpPr>
        <p:spPr>
          <a:xfrm>
            <a:off x="156362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3" name="Google Shape;2793;g3f883da9c22_0_1806"/>
          <p:cNvSpPr/>
          <p:nvPr/>
        </p:nvSpPr>
        <p:spPr>
          <a:xfrm>
            <a:off x="181051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4" name="Google Shape;2794;g3f883da9c22_0_1806"/>
          <p:cNvSpPr/>
          <p:nvPr/>
        </p:nvSpPr>
        <p:spPr>
          <a:xfrm>
            <a:off x="205740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5" name="Google Shape;2795;g3f883da9c22_0_1806"/>
          <p:cNvSpPr/>
          <p:nvPr/>
        </p:nvSpPr>
        <p:spPr>
          <a:xfrm>
            <a:off x="230428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6" name="Google Shape;2796;g3f883da9c22_0_1806"/>
          <p:cNvSpPr/>
          <p:nvPr/>
        </p:nvSpPr>
        <p:spPr>
          <a:xfrm>
            <a:off x="255117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7" name="Google Shape;2797;g3f883da9c22_0_1806"/>
          <p:cNvSpPr/>
          <p:nvPr/>
        </p:nvSpPr>
        <p:spPr>
          <a:xfrm>
            <a:off x="279806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8" name="Google Shape;2798;g3f883da9c22_0_1806"/>
          <p:cNvSpPr/>
          <p:nvPr/>
        </p:nvSpPr>
        <p:spPr>
          <a:xfrm>
            <a:off x="82296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9" name="Google Shape;2799;g3f883da9c22_0_1806"/>
          <p:cNvSpPr/>
          <p:nvPr/>
        </p:nvSpPr>
        <p:spPr>
          <a:xfrm>
            <a:off x="106984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0" name="Google Shape;2800;g3f883da9c22_0_1806"/>
          <p:cNvSpPr/>
          <p:nvPr/>
        </p:nvSpPr>
        <p:spPr>
          <a:xfrm>
            <a:off x="131673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1" name="Google Shape;2801;g3f883da9c22_0_1806"/>
          <p:cNvSpPr/>
          <p:nvPr/>
        </p:nvSpPr>
        <p:spPr>
          <a:xfrm>
            <a:off x="156362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2" name="Google Shape;2802;g3f883da9c22_0_1806"/>
          <p:cNvSpPr/>
          <p:nvPr/>
        </p:nvSpPr>
        <p:spPr>
          <a:xfrm>
            <a:off x="181051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3" name="Google Shape;2803;g3f883da9c22_0_1806"/>
          <p:cNvSpPr/>
          <p:nvPr/>
        </p:nvSpPr>
        <p:spPr>
          <a:xfrm>
            <a:off x="205740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4" name="Google Shape;2804;g3f883da9c22_0_1806"/>
          <p:cNvSpPr/>
          <p:nvPr/>
        </p:nvSpPr>
        <p:spPr>
          <a:xfrm>
            <a:off x="230428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5" name="Google Shape;2805;g3f883da9c22_0_1806"/>
          <p:cNvSpPr/>
          <p:nvPr/>
        </p:nvSpPr>
        <p:spPr>
          <a:xfrm>
            <a:off x="255117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6" name="Google Shape;2806;g3f883da9c22_0_1806"/>
          <p:cNvSpPr/>
          <p:nvPr/>
        </p:nvSpPr>
        <p:spPr>
          <a:xfrm>
            <a:off x="279806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7" name="Google Shape;2807;g3f883da9c22_0_1806"/>
          <p:cNvSpPr txBox="1"/>
          <p:nvPr/>
        </p:nvSpPr>
        <p:spPr>
          <a:xfrm>
            <a:off x="365760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8" name="Google Shape;2808;g3f883da9c22_0_1806"/>
          <p:cNvSpPr/>
          <p:nvPr/>
        </p:nvSpPr>
        <p:spPr>
          <a:xfrm>
            <a:off x="365760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9" name="Google Shape;2809;g3f883da9c22_0_1806"/>
          <p:cNvSpPr/>
          <p:nvPr/>
        </p:nvSpPr>
        <p:spPr>
          <a:xfrm>
            <a:off x="390448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0" name="Google Shape;2810;g3f883da9c22_0_1806"/>
          <p:cNvSpPr/>
          <p:nvPr/>
        </p:nvSpPr>
        <p:spPr>
          <a:xfrm>
            <a:off x="415137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1" name="Google Shape;2811;g3f883da9c22_0_1806"/>
          <p:cNvSpPr/>
          <p:nvPr/>
        </p:nvSpPr>
        <p:spPr>
          <a:xfrm>
            <a:off x="439826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2" name="Google Shape;2812;g3f883da9c22_0_1806"/>
          <p:cNvSpPr/>
          <p:nvPr/>
        </p:nvSpPr>
        <p:spPr>
          <a:xfrm>
            <a:off x="464515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3" name="Google Shape;2813;g3f883da9c22_0_1806"/>
          <p:cNvSpPr/>
          <p:nvPr/>
        </p:nvSpPr>
        <p:spPr>
          <a:xfrm>
            <a:off x="489204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4" name="Google Shape;2814;g3f883da9c22_0_1806"/>
          <p:cNvSpPr/>
          <p:nvPr/>
        </p:nvSpPr>
        <p:spPr>
          <a:xfrm>
            <a:off x="513892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5" name="Google Shape;2815;g3f883da9c22_0_1806"/>
          <p:cNvSpPr/>
          <p:nvPr/>
        </p:nvSpPr>
        <p:spPr>
          <a:xfrm>
            <a:off x="538581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6" name="Google Shape;2816;g3f883da9c22_0_1806"/>
          <p:cNvSpPr/>
          <p:nvPr/>
        </p:nvSpPr>
        <p:spPr>
          <a:xfrm>
            <a:off x="563270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7" name="Google Shape;2817;g3f883da9c22_0_1806"/>
          <p:cNvSpPr/>
          <p:nvPr/>
        </p:nvSpPr>
        <p:spPr>
          <a:xfrm>
            <a:off x="365760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8" name="Google Shape;2818;g3f883da9c22_0_1806"/>
          <p:cNvSpPr/>
          <p:nvPr/>
        </p:nvSpPr>
        <p:spPr>
          <a:xfrm>
            <a:off x="390448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9" name="Google Shape;2819;g3f883da9c22_0_1806"/>
          <p:cNvSpPr/>
          <p:nvPr/>
        </p:nvSpPr>
        <p:spPr>
          <a:xfrm>
            <a:off x="415137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0" name="Google Shape;2820;g3f883da9c22_0_1806"/>
          <p:cNvSpPr/>
          <p:nvPr/>
        </p:nvSpPr>
        <p:spPr>
          <a:xfrm>
            <a:off x="439826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1" name="Google Shape;2821;g3f883da9c22_0_1806"/>
          <p:cNvSpPr/>
          <p:nvPr/>
        </p:nvSpPr>
        <p:spPr>
          <a:xfrm>
            <a:off x="464515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2" name="Google Shape;2822;g3f883da9c22_0_1806"/>
          <p:cNvSpPr/>
          <p:nvPr/>
        </p:nvSpPr>
        <p:spPr>
          <a:xfrm>
            <a:off x="489204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3" name="Google Shape;2823;g3f883da9c22_0_1806"/>
          <p:cNvSpPr/>
          <p:nvPr/>
        </p:nvSpPr>
        <p:spPr>
          <a:xfrm>
            <a:off x="513892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4" name="Google Shape;2824;g3f883da9c22_0_1806"/>
          <p:cNvSpPr/>
          <p:nvPr/>
        </p:nvSpPr>
        <p:spPr>
          <a:xfrm>
            <a:off x="538581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5" name="Google Shape;2825;g3f883da9c22_0_1806"/>
          <p:cNvSpPr/>
          <p:nvPr/>
        </p:nvSpPr>
        <p:spPr>
          <a:xfrm>
            <a:off x="563270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6" name="Google Shape;2826;g3f883da9c22_0_1806"/>
          <p:cNvSpPr/>
          <p:nvPr/>
        </p:nvSpPr>
        <p:spPr>
          <a:xfrm>
            <a:off x="365760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7" name="Google Shape;2827;g3f883da9c22_0_1806"/>
          <p:cNvSpPr/>
          <p:nvPr/>
        </p:nvSpPr>
        <p:spPr>
          <a:xfrm>
            <a:off x="390448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8" name="Google Shape;2828;g3f883da9c22_0_1806"/>
          <p:cNvSpPr/>
          <p:nvPr/>
        </p:nvSpPr>
        <p:spPr>
          <a:xfrm>
            <a:off x="415137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9" name="Google Shape;2829;g3f883da9c22_0_1806"/>
          <p:cNvSpPr/>
          <p:nvPr/>
        </p:nvSpPr>
        <p:spPr>
          <a:xfrm>
            <a:off x="439826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0" name="Google Shape;2830;g3f883da9c22_0_1806"/>
          <p:cNvSpPr/>
          <p:nvPr/>
        </p:nvSpPr>
        <p:spPr>
          <a:xfrm>
            <a:off x="464515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1" name="Google Shape;2831;g3f883da9c22_0_1806"/>
          <p:cNvSpPr/>
          <p:nvPr/>
        </p:nvSpPr>
        <p:spPr>
          <a:xfrm>
            <a:off x="489204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2" name="Google Shape;2832;g3f883da9c22_0_1806"/>
          <p:cNvSpPr/>
          <p:nvPr/>
        </p:nvSpPr>
        <p:spPr>
          <a:xfrm>
            <a:off x="513892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3" name="Google Shape;2833;g3f883da9c22_0_1806"/>
          <p:cNvSpPr/>
          <p:nvPr/>
        </p:nvSpPr>
        <p:spPr>
          <a:xfrm>
            <a:off x="538581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4" name="Google Shape;2834;g3f883da9c22_0_1806"/>
          <p:cNvSpPr/>
          <p:nvPr/>
        </p:nvSpPr>
        <p:spPr>
          <a:xfrm>
            <a:off x="563270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5" name="Google Shape;2835;g3f883da9c22_0_1806"/>
          <p:cNvSpPr/>
          <p:nvPr/>
        </p:nvSpPr>
        <p:spPr>
          <a:xfrm>
            <a:off x="365760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6" name="Google Shape;2836;g3f883da9c22_0_1806"/>
          <p:cNvSpPr/>
          <p:nvPr/>
        </p:nvSpPr>
        <p:spPr>
          <a:xfrm>
            <a:off x="390448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7" name="Google Shape;2837;g3f883da9c22_0_1806"/>
          <p:cNvSpPr/>
          <p:nvPr/>
        </p:nvSpPr>
        <p:spPr>
          <a:xfrm>
            <a:off x="415137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8" name="Google Shape;2838;g3f883da9c22_0_1806"/>
          <p:cNvSpPr/>
          <p:nvPr/>
        </p:nvSpPr>
        <p:spPr>
          <a:xfrm>
            <a:off x="439826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9" name="Google Shape;2839;g3f883da9c22_0_1806"/>
          <p:cNvSpPr/>
          <p:nvPr/>
        </p:nvSpPr>
        <p:spPr>
          <a:xfrm>
            <a:off x="464515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0" name="Google Shape;2840;g3f883da9c22_0_1806"/>
          <p:cNvSpPr/>
          <p:nvPr/>
        </p:nvSpPr>
        <p:spPr>
          <a:xfrm>
            <a:off x="489204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1" name="Google Shape;2841;g3f883da9c22_0_1806"/>
          <p:cNvSpPr/>
          <p:nvPr/>
        </p:nvSpPr>
        <p:spPr>
          <a:xfrm>
            <a:off x="513892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2" name="Google Shape;2842;g3f883da9c22_0_1806"/>
          <p:cNvSpPr/>
          <p:nvPr/>
        </p:nvSpPr>
        <p:spPr>
          <a:xfrm>
            <a:off x="538581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3" name="Google Shape;2843;g3f883da9c22_0_1806"/>
          <p:cNvSpPr/>
          <p:nvPr/>
        </p:nvSpPr>
        <p:spPr>
          <a:xfrm>
            <a:off x="563270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4" name="Google Shape;2844;g3f883da9c22_0_1806"/>
          <p:cNvSpPr/>
          <p:nvPr/>
        </p:nvSpPr>
        <p:spPr>
          <a:xfrm>
            <a:off x="365760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5" name="Google Shape;2845;g3f883da9c22_0_1806"/>
          <p:cNvSpPr/>
          <p:nvPr/>
        </p:nvSpPr>
        <p:spPr>
          <a:xfrm>
            <a:off x="390448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6" name="Google Shape;2846;g3f883da9c22_0_1806"/>
          <p:cNvSpPr/>
          <p:nvPr/>
        </p:nvSpPr>
        <p:spPr>
          <a:xfrm>
            <a:off x="415137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7" name="Google Shape;2847;g3f883da9c22_0_1806"/>
          <p:cNvSpPr/>
          <p:nvPr/>
        </p:nvSpPr>
        <p:spPr>
          <a:xfrm>
            <a:off x="439826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8" name="Google Shape;2848;g3f883da9c22_0_1806"/>
          <p:cNvSpPr/>
          <p:nvPr/>
        </p:nvSpPr>
        <p:spPr>
          <a:xfrm>
            <a:off x="464515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9" name="Google Shape;2849;g3f883da9c22_0_1806"/>
          <p:cNvSpPr/>
          <p:nvPr/>
        </p:nvSpPr>
        <p:spPr>
          <a:xfrm>
            <a:off x="489204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0" name="Google Shape;2850;g3f883da9c22_0_1806"/>
          <p:cNvSpPr/>
          <p:nvPr/>
        </p:nvSpPr>
        <p:spPr>
          <a:xfrm>
            <a:off x="513892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1" name="Google Shape;2851;g3f883da9c22_0_1806"/>
          <p:cNvSpPr/>
          <p:nvPr/>
        </p:nvSpPr>
        <p:spPr>
          <a:xfrm>
            <a:off x="538581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2" name="Google Shape;2852;g3f883da9c22_0_1806"/>
          <p:cNvSpPr/>
          <p:nvPr/>
        </p:nvSpPr>
        <p:spPr>
          <a:xfrm>
            <a:off x="563270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g3f883da9c22_0_1806"/>
          <p:cNvSpPr/>
          <p:nvPr/>
        </p:nvSpPr>
        <p:spPr>
          <a:xfrm>
            <a:off x="365760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4" name="Google Shape;2854;g3f883da9c22_0_1806"/>
          <p:cNvSpPr/>
          <p:nvPr/>
        </p:nvSpPr>
        <p:spPr>
          <a:xfrm>
            <a:off x="390448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5" name="Google Shape;2855;g3f883da9c22_0_1806"/>
          <p:cNvSpPr/>
          <p:nvPr/>
        </p:nvSpPr>
        <p:spPr>
          <a:xfrm>
            <a:off x="415137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6" name="Google Shape;2856;g3f883da9c22_0_1806"/>
          <p:cNvSpPr/>
          <p:nvPr/>
        </p:nvSpPr>
        <p:spPr>
          <a:xfrm>
            <a:off x="439826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7" name="Google Shape;2857;g3f883da9c22_0_1806"/>
          <p:cNvSpPr/>
          <p:nvPr/>
        </p:nvSpPr>
        <p:spPr>
          <a:xfrm>
            <a:off x="464515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8" name="Google Shape;2858;g3f883da9c22_0_1806"/>
          <p:cNvSpPr/>
          <p:nvPr/>
        </p:nvSpPr>
        <p:spPr>
          <a:xfrm>
            <a:off x="489204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9" name="Google Shape;2859;g3f883da9c22_0_1806"/>
          <p:cNvSpPr/>
          <p:nvPr/>
        </p:nvSpPr>
        <p:spPr>
          <a:xfrm>
            <a:off x="513892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0" name="Google Shape;2860;g3f883da9c22_0_1806"/>
          <p:cNvSpPr/>
          <p:nvPr/>
        </p:nvSpPr>
        <p:spPr>
          <a:xfrm>
            <a:off x="538581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1" name="Google Shape;2861;g3f883da9c22_0_1806"/>
          <p:cNvSpPr/>
          <p:nvPr/>
        </p:nvSpPr>
        <p:spPr>
          <a:xfrm>
            <a:off x="563270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2" name="Google Shape;2862;g3f883da9c22_0_1806"/>
          <p:cNvSpPr/>
          <p:nvPr/>
        </p:nvSpPr>
        <p:spPr>
          <a:xfrm>
            <a:off x="365760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3" name="Google Shape;2863;g3f883da9c22_0_1806"/>
          <p:cNvSpPr/>
          <p:nvPr/>
        </p:nvSpPr>
        <p:spPr>
          <a:xfrm>
            <a:off x="390448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4" name="Google Shape;2864;g3f883da9c22_0_1806"/>
          <p:cNvSpPr/>
          <p:nvPr/>
        </p:nvSpPr>
        <p:spPr>
          <a:xfrm>
            <a:off x="415137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5" name="Google Shape;2865;g3f883da9c22_0_1806"/>
          <p:cNvSpPr/>
          <p:nvPr/>
        </p:nvSpPr>
        <p:spPr>
          <a:xfrm>
            <a:off x="439826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6" name="Google Shape;2866;g3f883da9c22_0_1806"/>
          <p:cNvSpPr/>
          <p:nvPr/>
        </p:nvSpPr>
        <p:spPr>
          <a:xfrm>
            <a:off x="464515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7" name="Google Shape;2867;g3f883da9c22_0_1806"/>
          <p:cNvSpPr/>
          <p:nvPr/>
        </p:nvSpPr>
        <p:spPr>
          <a:xfrm>
            <a:off x="489204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8" name="Google Shape;2868;g3f883da9c22_0_1806"/>
          <p:cNvSpPr/>
          <p:nvPr/>
        </p:nvSpPr>
        <p:spPr>
          <a:xfrm>
            <a:off x="513892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9" name="Google Shape;2869;g3f883da9c22_0_1806"/>
          <p:cNvSpPr/>
          <p:nvPr/>
        </p:nvSpPr>
        <p:spPr>
          <a:xfrm>
            <a:off x="538581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0" name="Google Shape;2870;g3f883da9c22_0_1806"/>
          <p:cNvSpPr/>
          <p:nvPr/>
        </p:nvSpPr>
        <p:spPr>
          <a:xfrm>
            <a:off x="563270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1" name="Google Shape;2871;g3f883da9c22_0_1806"/>
          <p:cNvSpPr txBox="1"/>
          <p:nvPr/>
        </p:nvSpPr>
        <p:spPr>
          <a:xfrm>
            <a:off x="649224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2" name="Google Shape;2872;g3f883da9c22_0_1806"/>
          <p:cNvSpPr/>
          <p:nvPr/>
        </p:nvSpPr>
        <p:spPr>
          <a:xfrm>
            <a:off x="649224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g3f883da9c22_0_1806"/>
          <p:cNvSpPr/>
          <p:nvPr/>
        </p:nvSpPr>
        <p:spPr>
          <a:xfrm>
            <a:off x="673912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4" name="Google Shape;2874;g3f883da9c22_0_1806"/>
          <p:cNvSpPr/>
          <p:nvPr/>
        </p:nvSpPr>
        <p:spPr>
          <a:xfrm>
            <a:off x="698601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5" name="Google Shape;2875;g3f883da9c22_0_1806"/>
          <p:cNvSpPr/>
          <p:nvPr/>
        </p:nvSpPr>
        <p:spPr>
          <a:xfrm>
            <a:off x="723290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6" name="Google Shape;2876;g3f883da9c22_0_1806"/>
          <p:cNvSpPr/>
          <p:nvPr/>
        </p:nvSpPr>
        <p:spPr>
          <a:xfrm>
            <a:off x="747979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7" name="Google Shape;2877;g3f883da9c22_0_1806"/>
          <p:cNvSpPr/>
          <p:nvPr/>
        </p:nvSpPr>
        <p:spPr>
          <a:xfrm>
            <a:off x="772668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8" name="Google Shape;2878;g3f883da9c22_0_1806"/>
          <p:cNvSpPr/>
          <p:nvPr/>
        </p:nvSpPr>
        <p:spPr>
          <a:xfrm>
            <a:off x="797356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9" name="Google Shape;2879;g3f883da9c22_0_1806"/>
          <p:cNvSpPr/>
          <p:nvPr/>
        </p:nvSpPr>
        <p:spPr>
          <a:xfrm>
            <a:off x="822045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0" name="Google Shape;2880;g3f883da9c22_0_1806"/>
          <p:cNvSpPr/>
          <p:nvPr/>
        </p:nvSpPr>
        <p:spPr>
          <a:xfrm>
            <a:off x="846734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1" name="Google Shape;2881;g3f883da9c22_0_1806"/>
          <p:cNvSpPr/>
          <p:nvPr/>
        </p:nvSpPr>
        <p:spPr>
          <a:xfrm>
            <a:off x="649224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2" name="Google Shape;2882;g3f883da9c22_0_1806"/>
          <p:cNvSpPr/>
          <p:nvPr/>
        </p:nvSpPr>
        <p:spPr>
          <a:xfrm>
            <a:off x="673912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3" name="Google Shape;2883;g3f883da9c22_0_1806"/>
          <p:cNvSpPr/>
          <p:nvPr/>
        </p:nvSpPr>
        <p:spPr>
          <a:xfrm>
            <a:off x="698601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4" name="Google Shape;2884;g3f883da9c22_0_1806"/>
          <p:cNvSpPr/>
          <p:nvPr/>
        </p:nvSpPr>
        <p:spPr>
          <a:xfrm>
            <a:off x="723290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5" name="Google Shape;2885;g3f883da9c22_0_1806"/>
          <p:cNvSpPr/>
          <p:nvPr/>
        </p:nvSpPr>
        <p:spPr>
          <a:xfrm>
            <a:off x="747979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6" name="Google Shape;2886;g3f883da9c22_0_1806"/>
          <p:cNvSpPr/>
          <p:nvPr/>
        </p:nvSpPr>
        <p:spPr>
          <a:xfrm>
            <a:off x="772668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7" name="Google Shape;2887;g3f883da9c22_0_1806"/>
          <p:cNvSpPr/>
          <p:nvPr/>
        </p:nvSpPr>
        <p:spPr>
          <a:xfrm>
            <a:off x="797356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8" name="Google Shape;2888;g3f883da9c22_0_1806"/>
          <p:cNvSpPr/>
          <p:nvPr/>
        </p:nvSpPr>
        <p:spPr>
          <a:xfrm>
            <a:off x="822045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9" name="Google Shape;2889;g3f883da9c22_0_1806"/>
          <p:cNvSpPr/>
          <p:nvPr/>
        </p:nvSpPr>
        <p:spPr>
          <a:xfrm>
            <a:off x="846734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0" name="Google Shape;2890;g3f883da9c22_0_1806"/>
          <p:cNvSpPr/>
          <p:nvPr/>
        </p:nvSpPr>
        <p:spPr>
          <a:xfrm>
            <a:off x="649224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1" name="Google Shape;2891;g3f883da9c22_0_1806"/>
          <p:cNvSpPr/>
          <p:nvPr/>
        </p:nvSpPr>
        <p:spPr>
          <a:xfrm>
            <a:off x="673912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2" name="Google Shape;2892;g3f883da9c22_0_1806"/>
          <p:cNvSpPr/>
          <p:nvPr/>
        </p:nvSpPr>
        <p:spPr>
          <a:xfrm>
            <a:off x="698601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3" name="Google Shape;2893;g3f883da9c22_0_1806"/>
          <p:cNvSpPr/>
          <p:nvPr/>
        </p:nvSpPr>
        <p:spPr>
          <a:xfrm>
            <a:off x="723290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4" name="Google Shape;2894;g3f883da9c22_0_1806"/>
          <p:cNvSpPr/>
          <p:nvPr/>
        </p:nvSpPr>
        <p:spPr>
          <a:xfrm>
            <a:off x="747979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5" name="Google Shape;2895;g3f883da9c22_0_1806"/>
          <p:cNvSpPr/>
          <p:nvPr/>
        </p:nvSpPr>
        <p:spPr>
          <a:xfrm>
            <a:off x="772668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6" name="Google Shape;2896;g3f883da9c22_0_1806"/>
          <p:cNvSpPr/>
          <p:nvPr/>
        </p:nvSpPr>
        <p:spPr>
          <a:xfrm>
            <a:off x="797356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7" name="Google Shape;2897;g3f883da9c22_0_1806"/>
          <p:cNvSpPr/>
          <p:nvPr/>
        </p:nvSpPr>
        <p:spPr>
          <a:xfrm>
            <a:off x="822045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8" name="Google Shape;2898;g3f883da9c22_0_1806"/>
          <p:cNvSpPr/>
          <p:nvPr/>
        </p:nvSpPr>
        <p:spPr>
          <a:xfrm>
            <a:off x="846734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9" name="Google Shape;2899;g3f883da9c22_0_1806"/>
          <p:cNvSpPr/>
          <p:nvPr/>
        </p:nvSpPr>
        <p:spPr>
          <a:xfrm>
            <a:off x="649224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0" name="Google Shape;2900;g3f883da9c22_0_1806"/>
          <p:cNvSpPr/>
          <p:nvPr/>
        </p:nvSpPr>
        <p:spPr>
          <a:xfrm>
            <a:off x="673912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1" name="Google Shape;2901;g3f883da9c22_0_1806"/>
          <p:cNvSpPr/>
          <p:nvPr/>
        </p:nvSpPr>
        <p:spPr>
          <a:xfrm>
            <a:off x="698601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2" name="Google Shape;2902;g3f883da9c22_0_1806"/>
          <p:cNvSpPr/>
          <p:nvPr/>
        </p:nvSpPr>
        <p:spPr>
          <a:xfrm>
            <a:off x="723290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3" name="Google Shape;2903;g3f883da9c22_0_1806"/>
          <p:cNvSpPr/>
          <p:nvPr/>
        </p:nvSpPr>
        <p:spPr>
          <a:xfrm>
            <a:off x="747979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4" name="Google Shape;2904;g3f883da9c22_0_1806"/>
          <p:cNvSpPr/>
          <p:nvPr/>
        </p:nvSpPr>
        <p:spPr>
          <a:xfrm>
            <a:off x="772668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5" name="Google Shape;2905;g3f883da9c22_0_1806"/>
          <p:cNvSpPr/>
          <p:nvPr/>
        </p:nvSpPr>
        <p:spPr>
          <a:xfrm>
            <a:off x="797356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6" name="Google Shape;2906;g3f883da9c22_0_1806"/>
          <p:cNvSpPr/>
          <p:nvPr/>
        </p:nvSpPr>
        <p:spPr>
          <a:xfrm>
            <a:off x="822045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7" name="Google Shape;2907;g3f883da9c22_0_1806"/>
          <p:cNvSpPr/>
          <p:nvPr/>
        </p:nvSpPr>
        <p:spPr>
          <a:xfrm>
            <a:off x="846734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g3f883da9c22_0_1806"/>
          <p:cNvSpPr/>
          <p:nvPr/>
        </p:nvSpPr>
        <p:spPr>
          <a:xfrm>
            <a:off x="649224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9" name="Google Shape;2909;g3f883da9c22_0_1806"/>
          <p:cNvSpPr/>
          <p:nvPr/>
        </p:nvSpPr>
        <p:spPr>
          <a:xfrm>
            <a:off x="673912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g3f883da9c22_0_1806"/>
          <p:cNvSpPr/>
          <p:nvPr/>
        </p:nvSpPr>
        <p:spPr>
          <a:xfrm>
            <a:off x="698601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1" name="Google Shape;2911;g3f883da9c22_0_1806"/>
          <p:cNvSpPr/>
          <p:nvPr/>
        </p:nvSpPr>
        <p:spPr>
          <a:xfrm>
            <a:off x="723290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g3f883da9c22_0_1806"/>
          <p:cNvSpPr/>
          <p:nvPr/>
        </p:nvSpPr>
        <p:spPr>
          <a:xfrm>
            <a:off x="747979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3" name="Google Shape;2913;g3f883da9c22_0_1806"/>
          <p:cNvSpPr/>
          <p:nvPr/>
        </p:nvSpPr>
        <p:spPr>
          <a:xfrm>
            <a:off x="772668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4" name="Google Shape;2914;g3f883da9c22_0_1806"/>
          <p:cNvSpPr/>
          <p:nvPr/>
        </p:nvSpPr>
        <p:spPr>
          <a:xfrm>
            <a:off x="797356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g3f883da9c22_0_1806"/>
          <p:cNvSpPr/>
          <p:nvPr/>
        </p:nvSpPr>
        <p:spPr>
          <a:xfrm>
            <a:off x="822045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6" name="Google Shape;2916;g3f883da9c22_0_1806"/>
          <p:cNvSpPr/>
          <p:nvPr/>
        </p:nvSpPr>
        <p:spPr>
          <a:xfrm>
            <a:off x="846734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7" name="Google Shape;2917;g3f883da9c22_0_1806"/>
          <p:cNvSpPr/>
          <p:nvPr/>
        </p:nvSpPr>
        <p:spPr>
          <a:xfrm>
            <a:off x="649224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8" name="Google Shape;2918;g3f883da9c22_0_1806"/>
          <p:cNvSpPr/>
          <p:nvPr/>
        </p:nvSpPr>
        <p:spPr>
          <a:xfrm>
            <a:off x="673912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9" name="Google Shape;2919;g3f883da9c22_0_1806"/>
          <p:cNvSpPr/>
          <p:nvPr/>
        </p:nvSpPr>
        <p:spPr>
          <a:xfrm>
            <a:off x="698601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0" name="Google Shape;2920;g3f883da9c22_0_1806"/>
          <p:cNvSpPr/>
          <p:nvPr/>
        </p:nvSpPr>
        <p:spPr>
          <a:xfrm>
            <a:off x="723290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1" name="Google Shape;2921;g3f883da9c22_0_1806"/>
          <p:cNvSpPr/>
          <p:nvPr/>
        </p:nvSpPr>
        <p:spPr>
          <a:xfrm>
            <a:off x="747979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2" name="Google Shape;2922;g3f883da9c22_0_1806"/>
          <p:cNvSpPr/>
          <p:nvPr/>
        </p:nvSpPr>
        <p:spPr>
          <a:xfrm>
            <a:off x="772668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3" name="Google Shape;2923;g3f883da9c22_0_1806"/>
          <p:cNvSpPr/>
          <p:nvPr/>
        </p:nvSpPr>
        <p:spPr>
          <a:xfrm>
            <a:off x="797356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4" name="Google Shape;2924;g3f883da9c22_0_1806"/>
          <p:cNvSpPr/>
          <p:nvPr/>
        </p:nvSpPr>
        <p:spPr>
          <a:xfrm>
            <a:off x="822045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5" name="Google Shape;2925;g3f883da9c22_0_1806"/>
          <p:cNvSpPr/>
          <p:nvPr/>
        </p:nvSpPr>
        <p:spPr>
          <a:xfrm>
            <a:off x="846734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6" name="Google Shape;2926;g3f883da9c22_0_1806"/>
          <p:cNvSpPr/>
          <p:nvPr/>
        </p:nvSpPr>
        <p:spPr>
          <a:xfrm>
            <a:off x="649224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7" name="Google Shape;2927;g3f883da9c22_0_1806"/>
          <p:cNvSpPr/>
          <p:nvPr/>
        </p:nvSpPr>
        <p:spPr>
          <a:xfrm>
            <a:off x="673912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8" name="Google Shape;2928;g3f883da9c22_0_1806"/>
          <p:cNvSpPr/>
          <p:nvPr/>
        </p:nvSpPr>
        <p:spPr>
          <a:xfrm>
            <a:off x="698601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9" name="Google Shape;2929;g3f883da9c22_0_1806"/>
          <p:cNvSpPr/>
          <p:nvPr/>
        </p:nvSpPr>
        <p:spPr>
          <a:xfrm>
            <a:off x="723290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0" name="Google Shape;2930;g3f883da9c22_0_1806"/>
          <p:cNvSpPr/>
          <p:nvPr/>
        </p:nvSpPr>
        <p:spPr>
          <a:xfrm>
            <a:off x="747979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1" name="Google Shape;2931;g3f883da9c22_0_1806"/>
          <p:cNvSpPr/>
          <p:nvPr/>
        </p:nvSpPr>
        <p:spPr>
          <a:xfrm>
            <a:off x="772668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2" name="Google Shape;2932;g3f883da9c22_0_1806"/>
          <p:cNvSpPr/>
          <p:nvPr/>
        </p:nvSpPr>
        <p:spPr>
          <a:xfrm>
            <a:off x="797356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3" name="Google Shape;2933;g3f883da9c22_0_1806"/>
          <p:cNvSpPr/>
          <p:nvPr/>
        </p:nvSpPr>
        <p:spPr>
          <a:xfrm>
            <a:off x="822045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4" name="Google Shape;2934;g3f883da9c22_0_1806"/>
          <p:cNvSpPr/>
          <p:nvPr/>
        </p:nvSpPr>
        <p:spPr>
          <a:xfrm>
            <a:off x="846734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5" name="Google Shape;2935;g3f883da9c22_0_1806"/>
          <p:cNvSpPr txBox="1"/>
          <p:nvPr/>
        </p:nvSpPr>
        <p:spPr>
          <a:xfrm>
            <a:off x="932688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6" name="Google Shape;2936;g3f883da9c22_0_1806"/>
          <p:cNvSpPr/>
          <p:nvPr/>
        </p:nvSpPr>
        <p:spPr>
          <a:xfrm>
            <a:off x="932688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7" name="Google Shape;2937;g3f883da9c22_0_1806"/>
          <p:cNvSpPr/>
          <p:nvPr/>
        </p:nvSpPr>
        <p:spPr>
          <a:xfrm>
            <a:off x="957376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8" name="Google Shape;2938;g3f883da9c22_0_1806"/>
          <p:cNvSpPr/>
          <p:nvPr/>
        </p:nvSpPr>
        <p:spPr>
          <a:xfrm>
            <a:off x="982065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9" name="Google Shape;2939;g3f883da9c22_0_1806"/>
          <p:cNvSpPr/>
          <p:nvPr/>
        </p:nvSpPr>
        <p:spPr>
          <a:xfrm>
            <a:off x="1006754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0" name="Google Shape;2940;g3f883da9c22_0_1806"/>
          <p:cNvSpPr/>
          <p:nvPr/>
        </p:nvSpPr>
        <p:spPr>
          <a:xfrm>
            <a:off x="1031443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1" name="Google Shape;2941;g3f883da9c22_0_1806"/>
          <p:cNvSpPr/>
          <p:nvPr/>
        </p:nvSpPr>
        <p:spPr>
          <a:xfrm>
            <a:off x="1056132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2" name="Google Shape;2942;g3f883da9c22_0_1806"/>
          <p:cNvSpPr/>
          <p:nvPr/>
        </p:nvSpPr>
        <p:spPr>
          <a:xfrm>
            <a:off x="1080820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3" name="Google Shape;2943;g3f883da9c22_0_1806"/>
          <p:cNvSpPr/>
          <p:nvPr/>
        </p:nvSpPr>
        <p:spPr>
          <a:xfrm>
            <a:off x="1105509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4" name="Google Shape;2944;g3f883da9c22_0_1806"/>
          <p:cNvSpPr/>
          <p:nvPr/>
        </p:nvSpPr>
        <p:spPr>
          <a:xfrm>
            <a:off x="1130198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5" name="Google Shape;2945;g3f883da9c22_0_1806"/>
          <p:cNvSpPr/>
          <p:nvPr/>
        </p:nvSpPr>
        <p:spPr>
          <a:xfrm>
            <a:off x="932688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6" name="Google Shape;2946;g3f883da9c22_0_1806"/>
          <p:cNvSpPr/>
          <p:nvPr/>
        </p:nvSpPr>
        <p:spPr>
          <a:xfrm>
            <a:off x="957376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7" name="Google Shape;2947;g3f883da9c22_0_1806"/>
          <p:cNvSpPr/>
          <p:nvPr/>
        </p:nvSpPr>
        <p:spPr>
          <a:xfrm>
            <a:off x="982065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8" name="Google Shape;2948;g3f883da9c22_0_1806"/>
          <p:cNvSpPr/>
          <p:nvPr/>
        </p:nvSpPr>
        <p:spPr>
          <a:xfrm>
            <a:off x="1006754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9" name="Google Shape;2949;g3f883da9c22_0_1806"/>
          <p:cNvSpPr/>
          <p:nvPr/>
        </p:nvSpPr>
        <p:spPr>
          <a:xfrm>
            <a:off x="1031443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0" name="Google Shape;2950;g3f883da9c22_0_1806"/>
          <p:cNvSpPr/>
          <p:nvPr/>
        </p:nvSpPr>
        <p:spPr>
          <a:xfrm>
            <a:off x="1056132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1" name="Google Shape;2951;g3f883da9c22_0_1806"/>
          <p:cNvSpPr/>
          <p:nvPr/>
        </p:nvSpPr>
        <p:spPr>
          <a:xfrm>
            <a:off x="1080820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2" name="Google Shape;2952;g3f883da9c22_0_1806"/>
          <p:cNvSpPr/>
          <p:nvPr/>
        </p:nvSpPr>
        <p:spPr>
          <a:xfrm>
            <a:off x="1105509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3" name="Google Shape;2953;g3f883da9c22_0_1806"/>
          <p:cNvSpPr/>
          <p:nvPr/>
        </p:nvSpPr>
        <p:spPr>
          <a:xfrm>
            <a:off x="1130198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4" name="Google Shape;2954;g3f883da9c22_0_1806"/>
          <p:cNvSpPr/>
          <p:nvPr/>
        </p:nvSpPr>
        <p:spPr>
          <a:xfrm>
            <a:off x="932688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5" name="Google Shape;2955;g3f883da9c22_0_1806"/>
          <p:cNvSpPr/>
          <p:nvPr/>
        </p:nvSpPr>
        <p:spPr>
          <a:xfrm>
            <a:off x="957376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6" name="Google Shape;2956;g3f883da9c22_0_1806"/>
          <p:cNvSpPr/>
          <p:nvPr/>
        </p:nvSpPr>
        <p:spPr>
          <a:xfrm>
            <a:off x="982065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7" name="Google Shape;2957;g3f883da9c22_0_1806"/>
          <p:cNvSpPr/>
          <p:nvPr/>
        </p:nvSpPr>
        <p:spPr>
          <a:xfrm>
            <a:off x="1006754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8" name="Google Shape;2958;g3f883da9c22_0_1806"/>
          <p:cNvSpPr/>
          <p:nvPr/>
        </p:nvSpPr>
        <p:spPr>
          <a:xfrm>
            <a:off x="1031443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9" name="Google Shape;2959;g3f883da9c22_0_1806"/>
          <p:cNvSpPr/>
          <p:nvPr/>
        </p:nvSpPr>
        <p:spPr>
          <a:xfrm>
            <a:off x="1056132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0" name="Google Shape;2960;g3f883da9c22_0_1806"/>
          <p:cNvSpPr/>
          <p:nvPr/>
        </p:nvSpPr>
        <p:spPr>
          <a:xfrm>
            <a:off x="1080820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1" name="Google Shape;2961;g3f883da9c22_0_1806"/>
          <p:cNvSpPr/>
          <p:nvPr/>
        </p:nvSpPr>
        <p:spPr>
          <a:xfrm>
            <a:off x="1105509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2" name="Google Shape;2962;g3f883da9c22_0_1806"/>
          <p:cNvSpPr/>
          <p:nvPr/>
        </p:nvSpPr>
        <p:spPr>
          <a:xfrm>
            <a:off x="1130198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3" name="Google Shape;2963;g3f883da9c22_0_1806"/>
          <p:cNvSpPr/>
          <p:nvPr/>
        </p:nvSpPr>
        <p:spPr>
          <a:xfrm>
            <a:off x="932688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4" name="Google Shape;2964;g3f883da9c22_0_1806"/>
          <p:cNvSpPr/>
          <p:nvPr/>
        </p:nvSpPr>
        <p:spPr>
          <a:xfrm>
            <a:off x="957376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5" name="Google Shape;2965;g3f883da9c22_0_1806"/>
          <p:cNvSpPr/>
          <p:nvPr/>
        </p:nvSpPr>
        <p:spPr>
          <a:xfrm>
            <a:off x="982065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6" name="Google Shape;2966;g3f883da9c22_0_1806"/>
          <p:cNvSpPr/>
          <p:nvPr/>
        </p:nvSpPr>
        <p:spPr>
          <a:xfrm>
            <a:off x="1006754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g3f883da9c22_0_1806"/>
          <p:cNvSpPr/>
          <p:nvPr/>
        </p:nvSpPr>
        <p:spPr>
          <a:xfrm>
            <a:off x="1031443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8" name="Google Shape;2968;g3f883da9c22_0_1806"/>
          <p:cNvSpPr/>
          <p:nvPr/>
        </p:nvSpPr>
        <p:spPr>
          <a:xfrm>
            <a:off x="1056132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9" name="Google Shape;2969;g3f883da9c22_0_1806"/>
          <p:cNvSpPr/>
          <p:nvPr/>
        </p:nvSpPr>
        <p:spPr>
          <a:xfrm>
            <a:off x="1080820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0" name="Google Shape;2970;g3f883da9c22_0_1806"/>
          <p:cNvSpPr/>
          <p:nvPr/>
        </p:nvSpPr>
        <p:spPr>
          <a:xfrm>
            <a:off x="1105509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1" name="Google Shape;2971;g3f883da9c22_0_1806"/>
          <p:cNvSpPr/>
          <p:nvPr/>
        </p:nvSpPr>
        <p:spPr>
          <a:xfrm>
            <a:off x="1130198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g3f883da9c22_0_1806"/>
          <p:cNvSpPr/>
          <p:nvPr/>
        </p:nvSpPr>
        <p:spPr>
          <a:xfrm>
            <a:off x="932688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3" name="Google Shape;2973;g3f883da9c22_0_1806"/>
          <p:cNvSpPr/>
          <p:nvPr/>
        </p:nvSpPr>
        <p:spPr>
          <a:xfrm>
            <a:off x="957376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4" name="Google Shape;2974;g3f883da9c22_0_1806"/>
          <p:cNvSpPr/>
          <p:nvPr/>
        </p:nvSpPr>
        <p:spPr>
          <a:xfrm>
            <a:off x="982065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5" name="Google Shape;2975;g3f883da9c22_0_1806"/>
          <p:cNvSpPr/>
          <p:nvPr/>
        </p:nvSpPr>
        <p:spPr>
          <a:xfrm>
            <a:off x="1006754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6" name="Google Shape;2976;g3f883da9c22_0_1806"/>
          <p:cNvSpPr/>
          <p:nvPr/>
        </p:nvSpPr>
        <p:spPr>
          <a:xfrm>
            <a:off x="1031443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7" name="Google Shape;2977;g3f883da9c22_0_1806"/>
          <p:cNvSpPr/>
          <p:nvPr/>
        </p:nvSpPr>
        <p:spPr>
          <a:xfrm>
            <a:off x="1056132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8" name="Google Shape;2978;g3f883da9c22_0_1806"/>
          <p:cNvSpPr/>
          <p:nvPr/>
        </p:nvSpPr>
        <p:spPr>
          <a:xfrm>
            <a:off x="1080820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g3f883da9c22_0_1806"/>
          <p:cNvSpPr/>
          <p:nvPr/>
        </p:nvSpPr>
        <p:spPr>
          <a:xfrm>
            <a:off x="1105509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0" name="Google Shape;2980;g3f883da9c22_0_1806"/>
          <p:cNvSpPr/>
          <p:nvPr/>
        </p:nvSpPr>
        <p:spPr>
          <a:xfrm>
            <a:off x="1130198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1" name="Google Shape;2981;g3f883da9c22_0_1806"/>
          <p:cNvSpPr/>
          <p:nvPr/>
        </p:nvSpPr>
        <p:spPr>
          <a:xfrm>
            <a:off x="932688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2" name="Google Shape;2982;g3f883da9c22_0_1806"/>
          <p:cNvSpPr/>
          <p:nvPr/>
        </p:nvSpPr>
        <p:spPr>
          <a:xfrm>
            <a:off x="957376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3" name="Google Shape;2983;g3f883da9c22_0_1806"/>
          <p:cNvSpPr/>
          <p:nvPr/>
        </p:nvSpPr>
        <p:spPr>
          <a:xfrm>
            <a:off x="982065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4" name="Google Shape;2984;g3f883da9c22_0_1806"/>
          <p:cNvSpPr/>
          <p:nvPr/>
        </p:nvSpPr>
        <p:spPr>
          <a:xfrm>
            <a:off x="1006754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5" name="Google Shape;2985;g3f883da9c22_0_1806"/>
          <p:cNvSpPr/>
          <p:nvPr/>
        </p:nvSpPr>
        <p:spPr>
          <a:xfrm>
            <a:off x="1031443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6" name="Google Shape;2986;g3f883da9c22_0_1806"/>
          <p:cNvSpPr/>
          <p:nvPr/>
        </p:nvSpPr>
        <p:spPr>
          <a:xfrm>
            <a:off x="1056132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7" name="Google Shape;2987;g3f883da9c22_0_1806"/>
          <p:cNvSpPr/>
          <p:nvPr/>
        </p:nvSpPr>
        <p:spPr>
          <a:xfrm>
            <a:off x="1080820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8" name="Google Shape;2988;g3f883da9c22_0_1806"/>
          <p:cNvSpPr/>
          <p:nvPr/>
        </p:nvSpPr>
        <p:spPr>
          <a:xfrm>
            <a:off x="1105509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9" name="Google Shape;2989;g3f883da9c22_0_1806"/>
          <p:cNvSpPr/>
          <p:nvPr/>
        </p:nvSpPr>
        <p:spPr>
          <a:xfrm>
            <a:off x="1130198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0" name="Google Shape;2990;g3f883da9c22_0_1806"/>
          <p:cNvSpPr/>
          <p:nvPr/>
        </p:nvSpPr>
        <p:spPr>
          <a:xfrm>
            <a:off x="932688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1" name="Google Shape;2991;g3f883da9c22_0_1806"/>
          <p:cNvSpPr/>
          <p:nvPr/>
        </p:nvSpPr>
        <p:spPr>
          <a:xfrm>
            <a:off x="957376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2" name="Google Shape;2992;g3f883da9c22_0_1806"/>
          <p:cNvSpPr/>
          <p:nvPr/>
        </p:nvSpPr>
        <p:spPr>
          <a:xfrm>
            <a:off x="982065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3" name="Google Shape;2993;g3f883da9c22_0_1806"/>
          <p:cNvSpPr/>
          <p:nvPr/>
        </p:nvSpPr>
        <p:spPr>
          <a:xfrm>
            <a:off x="1006754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4" name="Google Shape;2994;g3f883da9c22_0_1806"/>
          <p:cNvSpPr/>
          <p:nvPr/>
        </p:nvSpPr>
        <p:spPr>
          <a:xfrm>
            <a:off x="1031443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5" name="Google Shape;2995;g3f883da9c22_0_1806"/>
          <p:cNvSpPr/>
          <p:nvPr/>
        </p:nvSpPr>
        <p:spPr>
          <a:xfrm>
            <a:off x="1056132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6" name="Google Shape;2996;g3f883da9c22_0_1806"/>
          <p:cNvSpPr/>
          <p:nvPr/>
        </p:nvSpPr>
        <p:spPr>
          <a:xfrm>
            <a:off x="1080820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7" name="Google Shape;2997;g3f883da9c22_0_1806"/>
          <p:cNvSpPr/>
          <p:nvPr/>
        </p:nvSpPr>
        <p:spPr>
          <a:xfrm>
            <a:off x="1105509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8" name="Google Shape;2998;g3f883da9c22_0_1806"/>
          <p:cNvSpPr/>
          <p:nvPr/>
        </p:nvSpPr>
        <p:spPr>
          <a:xfrm>
            <a:off x="1130198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9" name="Google Shape;2999;g3f883da9c22_0_1806"/>
          <p:cNvSpPr txBox="1"/>
          <p:nvPr/>
        </p:nvSpPr>
        <p:spPr>
          <a:xfrm>
            <a:off x="1371600" y="425196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Conv1 (3×3)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0" name="Google Shape;3000;g3f883da9c22_0_1806"/>
          <p:cNvSpPr/>
          <p:nvPr/>
        </p:nvSpPr>
        <p:spPr>
          <a:xfrm>
            <a:off x="3154680" y="3200400"/>
            <a:ext cx="2925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1" name="Google Shape;3001;g3f883da9c22_0_1806"/>
          <p:cNvSpPr txBox="1"/>
          <p:nvPr/>
        </p:nvSpPr>
        <p:spPr>
          <a:xfrm>
            <a:off x="4206240" y="425196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Conv2 (3×3)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2" name="Google Shape;3002;g3f883da9c22_0_1806"/>
          <p:cNvSpPr/>
          <p:nvPr/>
        </p:nvSpPr>
        <p:spPr>
          <a:xfrm>
            <a:off x="5989320" y="3200400"/>
            <a:ext cx="2925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3" name="Google Shape;3003;g3f883da9c22_0_1806"/>
          <p:cNvSpPr txBox="1"/>
          <p:nvPr/>
        </p:nvSpPr>
        <p:spPr>
          <a:xfrm>
            <a:off x="7040880" y="425196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Conv3 (3×3)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4" name="Google Shape;3004;g3f883da9c22_0_1806"/>
          <p:cNvSpPr/>
          <p:nvPr/>
        </p:nvSpPr>
        <p:spPr>
          <a:xfrm>
            <a:off x="8823960" y="3200400"/>
            <a:ext cx="2925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5" name="Google Shape;3005;g3f883da9c22_0_1806"/>
          <p:cNvSpPr/>
          <p:nvPr/>
        </p:nvSpPr>
        <p:spPr>
          <a:xfrm>
            <a:off x="7232904" y="2825496"/>
            <a:ext cx="740700" cy="740700"/>
          </a:xfrm>
          <a:prstGeom prst="rect">
            <a:avLst/>
          </a:prstGeom>
          <a:noFill/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6" name="Google Shape;3006;g3f883da9c22_0_1806"/>
          <p:cNvSpPr/>
          <p:nvPr/>
        </p:nvSpPr>
        <p:spPr>
          <a:xfrm>
            <a:off x="10314432" y="3072384"/>
            <a:ext cx="246900" cy="246900"/>
          </a:xfrm>
          <a:prstGeom prst="rect">
            <a:avLst/>
          </a:prstGeom>
          <a:noFill/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7" name="Google Shape;3007;g3f883da9c22_0_1806"/>
          <p:cNvSpPr/>
          <p:nvPr/>
        </p:nvSpPr>
        <p:spPr>
          <a:xfrm rot="539195">
            <a:off x="7958994" y="3006933"/>
            <a:ext cx="2369992" cy="7299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8" name="Google Shape;3008;g3f883da9c22_0_1806"/>
          <p:cNvSpPr/>
          <p:nvPr/>
        </p:nvSpPr>
        <p:spPr>
          <a:xfrm rot="-539195">
            <a:off x="7959051" y="3377397"/>
            <a:ext cx="2369992" cy="7299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9" name="Google Shape;3009;g3f883da9c22_0_1806"/>
          <p:cNvSpPr/>
          <p:nvPr/>
        </p:nvSpPr>
        <p:spPr>
          <a:xfrm>
            <a:off x="4151376" y="2578608"/>
            <a:ext cx="740700" cy="740700"/>
          </a:xfrm>
          <a:prstGeom prst="rect">
            <a:avLst/>
          </a:prstGeom>
          <a:noFill/>
          <a:ln cap="flat" cmpd="sng" w="17775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Google Shape;3010;g3f883da9c22_0_1806"/>
          <p:cNvSpPr/>
          <p:nvPr/>
        </p:nvSpPr>
        <p:spPr>
          <a:xfrm>
            <a:off x="4398264" y="2825496"/>
            <a:ext cx="740700" cy="740700"/>
          </a:xfrm>
          <a:prstGeom prst="rect">
            <a:avLst/>
          </a:prstGeom>
          <a:noFill/>
          <a:ln cap="flat" cmpd="sng" w="17775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1" name="Google Shape;3011;g3f883da9c22_0_1806"/>
          <p:cNvSpPr/>
          <p:nvPr/>
        </p:nvSpPr>
        <p:spPr>
          <a:xfrm>
            <a:off x="4645152" y="3072384"/>
            <a:ext cx="740700" cy="740700"/>
          </a:xfrm>
          <a:prstGeom prst="rect">
            <a:avLst/>
          </a:prstGeom>
          <a:noFill/>
          <a:ln cap="flat" cmpd="sng" w="17775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Google Shape;3012;g3f883da9c22_0_1806"/>
          <p:cNvSpPr/>
          <p:nvPr/>
        </p:nvSpPr>
        <p:spPr>
          <a:xfrm rot="306211">
            <a:off x="4887112" y="2686102"/>
            <a:ext cx="2499007" cy="722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3" name="Google Shape;3013;g3f883da9c22_0_1806"/>
          <p:cNvSpPr/>
          <p:nvPr/>
        </p:nvSpPr>
        <p:spPr>
          <a:xfrm rot="-705882">
            <a:off x="4865339" y="3056414"/>
            <a:ext cx="2542510" cy="735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4" name="Google Shape;3014;g3f883da9c22_0_1806"/>
          <p:cNvSpPr/>
          <p:nvPr/>
        </p:nvSpPr>
        <p:spPr>
          <a:xfrm rot="306211">
            <a:off x="5134000" y="2932990"/>
            <a:ext cx="2499007" cy="722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5" name="Google Shape;3015;g3f883da9c22_0_1806"/>
          <p:cNvSpPr/>
          <p:nvPr/>
        </p:nvSpPr>
        <p:spPr>
          <a:xfrm rot="-705882">
            <a:off x="5112227" y="3303302"/>
            <a:ext cx="2542510" cy="735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6" name="Google Shape;3016;g3f883da9c22_0_1806"/>
          <p:cNvSpPr/>
          <p:nvPr/>
        </p:nvSpPr>
        <p:spPr>
          <a:xfrm rot="306211">
            <a:off x="5380888" y="3179878"/>
            <a:ext cx="2499007" cy="722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7" name="Google Shape;3017;g3f883da9c22_0_1806"/>
          <p:cNvSpPr/>
          <p:nvPr/>
        </p:nvSpPr>
        <p:spPr>
          <a:xfrm rot="-705882">
            <a:off x="5359115" y="3550190"/>
            <a:ext cx="2542510" cy="735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8" name="Google Shape;3018;g3f883da9c22_0_1806"/>
          <p:cNvSpPr/>
          <p:nvPr/>
        </p:nvSpPr>
        <p:spPr>
          <a:xfrm>
            <a:off x="4151376" y="2578608"/>
            <a:ext cx="1234500" cy="1234500"/>
          </a:xfrm>
          <a:prstGeom prst="rect">
            <a:avLst/>
          </a:prstGeom>
          <a:noFill/>
          <a:ln cap="flat" cmpd="sng" w="285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9" name="Google Shape;3019;g3f883da9c22_0_1806"/>
          <p:cNvSpPr/>
          <p:nvPr/>
        </p:nvSpPr>
        <p:spPr>
          <a:xfrm>
            <a:off x="548640" y="4754880"/>
            <a:ext cx="11064300" cy="10059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0" name="Google Shape;3020;g3f883da9c22_0_1806"/>
          <p:cNvSpPr txBox="1"/>
          <p:nvPr/>
        </p:nvSpPr>
        <p:spPr>
          <a:xfrm>
            <a:off x="822960" y="4956048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Taken together, the single A3 unit depends on a 5 × 5 region of A1. Two stacked 3 × 3 layers already give a 5 × 5 receptive field.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3025" name="Shape 3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Google Shape;3026;g3f883da9c22_0_2099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WHY SMALL FILTERS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Google Shape;3027;g3f883da9c22_0_2099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VGGNet — receptive field (4)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8" name="Google Shape;3028;g3f883da9c22_0_2099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9" name="Google Shape;3029;g3f883da9c22_0_2099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0" name="Google Shape;3030;g3f883da9c22_0_2099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1" name="Google Shape;3031;g3f883da9c22_0_2099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2" name="Google Shape;3032;g3f883da9c22_0_2099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3" name="Google Shape;3033;g3f883da9c22_0_2099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4" name="Google Shape;3034;g3f883da9c22_0_2099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5" name="Google Shape;3035;g3f883da9c22_0_2099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6" name="Google Shape;3036;g3f883da9c22_0_2099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7" name="Google Shape;3037;g3f883da9c22_0_2099"/>
          <p:cNvSpPr txBox="1"/>
          <p:nvPr/>
        </p:nvSpPr>
        <p:spPr>
          <a:xfrm>
            <a:off x="82296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8" name="Google Shape;3038;g3f883da9c22_0_2099"/>
          <p:cNvSpPr/>
          <p:nvPr/>
        </p:nvSpPr>
        <p:spPr>
          <a:xfrm>
            <a:off x="82296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9" name="Google Shape;3039;g3f883da9c22_0_2099"/>
          <p:cNvSpPr/>
          <p:nvPr/>
        </p:nvSpPr>
        <p:spPr>
          <a:xfrm>
            <a:off x="106984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0" name="Google Shape;3040;g3f883da9c22_0_2099"/>
          <p:cNvSpPr/>
          <p:nvPr/>
        </p:nvSpPr>
        <p:spPr>
          <a:xfrm>
            <a:off x="131673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1" name="Google Shape;3041;g3f883da9c22_0_2099"/>
          <p:cNvSpPr/>
          <p:nvPr/>
        </p:nvSpPr>
        <p:spPr>
          <a:xfrm>
            <a:off x="156362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2" name="Google Shape;3042;g3f883da9c22_0_2099"/>
          <p:cNvSpPr/>
          <p:nvPr/>
        </p:nvSpPr>
        <p:spPr>
          <a:xfrm>
            <a:off x="181051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3" name="Google Shape;3043;g3f883da9c22_0_2099"/>
          <p:cNvSpPr/>
          <p:nvPr/>
        </p:nvSpPr>
        <p:spPr>
          <a:xfrm>
            <a:off x="205740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4" name="Google Shape;3044;g3f883da9c22_0_2099"/>
          <p:cNvSpPr/>
          <p:nvPr/>
        </p:nvSpPr>
        <p:spPr>
          <a:xfrm>
            <a:off x="230428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5" name="Google Shape;3045;g3f883da9c22_0_2099"/>
          <p:cNvSpPr/>
          <p:nvPr/>
        </p:nvSpPr>
        <p:spPr>
          <a:xfrm>
            <a:off x="255117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6" name="Google Shape;3046;g3f883da9c22_0_2099"/>
          <p:cNvSpPr/>
          <p:nvPr/>
        </p:nvSpPr>
        <p:spPr>
          <a:xfrm>
            <a:off x="279806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7" name="Google Shape;3047;g3f883da9c22_0_2099"/>
          <p:cNvSpPr/>
          <p:nvPr/>
        </p:nvSpPr>
        <p:spPr>
          <a:xfrm>
            <a:off x="82296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8" name="Google Shape;3048;g3f883da9c22_0_2099"/>
          <p:cNvSpPr/>
          <p:nvPr/>
        </p:nvSpPr>
        <p:spPr>
          <a:xfrm>
            <a:off x="106984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9" name="Google Shape;3049;g3f883da9c22_0_2099"/>
          <p:cNvSpPr/>
          <p:nvPr/>
        </p:nvSpPr>
        <p:spPr>
          <a:xfrm>
            <a:off x="131673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0" name="Google Shape;3050;g3f883da9c22_0_2099"/>
          <p:cNvSpPr/>
          <p:nvPr/>
        </p:nvSpPr>
        <p:spPr>
          <a:xfrm>
            <a:off x="156362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1" name="Google Shape;3051;g3f883da9c22_0_2099"/>
          <p:cNvSpPr/>
          <p:nvPr/>
        </p:nvSpPr>
        <p:spPr>
          <a:xfrm>
            <a:off x="181051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2" name="Google Shape;3052;g3f883da9c22_0_2099"/>
          <p:cNvSpPr/>
          <p:nvPr/>
        </p:nvSpPr>
        <p:spPr>
          <a:xfrm>
            <a:off x="205740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3" name="Google Shape;3053;g3f883da9c22_0_2099"/>
          <p:cNvSpPr/>
          <p:nvPr/>
        </p:nvSpPr>
        <p:spPr>
          <a:xfrm>
            <a:off x="230428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4" name="Google Shape;3054;g3f883da9c22_0_2099"/>
          <p:cNvSpPr/>
          <p:nvPr/>
        </p:nvSpPr>
        <p:spPr>
          <a:xfrm>
            <a:off x="255117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5" name="Google Shape;3055;g3f883da9c22_0_2099"/>
          <p:cNvSpPr/>
          <p:nvPr/>
        </p:nvSpPr>
        <p:spPr>
          <a:xfrm>
            <a:off x="279806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6" name="Google Shape;3056;g3f883da9c22_0_2099"/>
          <p:cNvSpPr/>
          <p:nvPr/>
        </p:nvSpPr>
        <p:spPr>
          <a:xfrm>
            <a:off x="82296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7" name="Google Shape;3057;g3f883da9c22_0_2099"/>
          <p:cNvSpPr/>
          <p:nvPr/>
        </p:nvSpPr>
        <p:spPr>
          <a:xfrm>
            <a:off x="106984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8" name="Google Shape;3058;g3f883da9c22_0_2099"/>
          <p:cNvSpPr/>
          <p:nvPr/>
        </p:nvSpPr>
        <p:spPr>
          <a:xfrm>
            <a:off x="131673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9" name="Google Shape;3059;g3f883da9c22_0_2099"/>
          <p:cNvSpPr/>
          <p:nvPr/>
        </p:nvSpPr>
        <p:spPr>
          <a:xfrm>
            <a:off x="156362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0" name="Google Shape;3060;g3f883da9c22_0_2099"/>
          <p:cNvSpPr/>
          <p:nvPr/>
        </p:nvSpPr>
        <p:spPr>
          <a:xfrm>
            <a:off x="181051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1" name="Google Shape;3061;g3f883da9c22_0_2099"/>
          <p:cNvSpPr/>
          <p:nvPr/>
        </p:nvSpPr>
        <p:spPr>
          <a:xfrm>
            <a:off x="205740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2" name="Google Shape;3062;g3f883da9c22_0_2099"/>
          <p:cNvSpPr/>
          <p:nvPr/>
        </p:nvSpPr>
        <p:spPr>
          <a:xfrm>
            <a:off x="230428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3" name="Google Shape;3063;g3f883da9c22_0_2099"/>
          <p:cNvSpPr/>
          <p:nvPr/>
        </p:nvSpPr>
        <p:spPr>
          <a:xfrm>
            <a:off x="255117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4" name="Google Shape;3064;g3f883da9c22_0_2099"/>
          <p:cNvSpPr/>
          <p:nvPr/>
        </p:nvSpPr>
        <p:spPr>
          <a:xfrm>
            <a:off x="279806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5" name="Google Shape;3065;g3f883da9c22_0_2099"/>
          <p:cNvSpPr/>
          <p:nvPr/>
        </p:nvSpPr>
        <p:spPr>
          <a:xfrm>
            <a:off x="82296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6" name="Google Shape;3066;g3f883da9c22_0_2099"/>
          <p:cNvSpPr/>
          <p:nvPr/>
        </p:nvSpPr>
        <p:spPr>
          <a:xfrm>
            <a:off x="106984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g3f883da9c22_0_2099"/>
          <p:cNvSpPr/>
          <p:nvPr/>
        </p:nvSpPr>
        <p:spPr>
          <a:xfrm>
            <a:off x="131673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8" name="Google Shape;3068;g3f883da9c22_0_2099"/>
          <p:cNvSpPr/>
          <p:nvPr/>
        </p:nvSpPr>
        <p:spPr>
          <a:xfrm>
            <a:off x="156362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9" name="Google Shape;3069;g3f883da9c22_0_2099"/>
          <p:cNvSpPr/>
          <p:nvPr/>
        </p:nvSpPr>
        <p:spPr>
          <a:xfrm>
            <a:off x="181051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0" name="Google Shape;3070;g3f883da9c22_0_2099"/>
          <p:cNvSpPr/>
          <p:nvPr/>
        </p:nvSpPr>
        <p:spPr>
          <a:xfrm>
            <a:off x="205740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1" name="Google Shape;3071;g3f883da9c22_0_2099"/>
          <p:cNvSpPr/>
          <p:nvPr/>
        </p:nvSpPr>
        <p:spPr>
          <a:xfrm>
            <a:off x="230428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2" name="Google Shape;3072;g3f883da9c22_0_2099"/>
          <p:cNvSpPr/>
          <p:nvPr/>
        </p:nvSpPr>
        <p:spPr>
          <a:xfrm>
            <a:off x="255117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3" name="Google Shape;3073;g3f883da9c22_0_2099"/>
          <p:cNvSpPr/>
          <p:nvPr/>
        </p:nvSpPr>
        <p:spPr>
          <a:xfrm>
            <a:off x="279806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4" name="Google Shape;3074;g3f883da9c22_0_2099"/>
          <p:cNvSpPr/>
          <p:nvPr/>
        </p:nvSpPr>
        <p:spPr>
          <a:xfrm>
            <a:off x="82296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5" name="Google Shape;3075;g3f883da9c22_0_2099"/>
          <p:cNvSpPr/>
          <p:nvPr/>
        </p:nvSpPr>
        <p:spPr>
          <a:xfrm>
            <a:off x="106984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6" name="Google Shape;3076;g3f883da9c22_0_2099"/>
          <p:cNvSpPr/>
          <p:nvPr/>
        </p:nvSpPr>
        <p:spPr>
          <a:xfrm>
            <a:off x="131673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7" name="Google Shape;3077;g3f883da9c22_0_2099"/>
          <p:cNvSpPr/>
          <p:nvPr/>
        </p:nvSpPr>
        <p:spPr>
          <a:xfrm>
            <a:off x="156362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8" name="Google Shape;3078;g3f883da9c22_0_2099"/>
          <p:cNvSpPr/>
          <p:nvPr/>
        </p:nvSpPr>
        <p:spPr>
          <a:xfrm>
            <a:off x="181051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9" name="Google Shape;3079;g3f883da9c22_0_2099"/>
          <p:cNvSpPr/>
          <p:nvPr/>
        </p:nvSpPr>
        <p:spPr>
          <a:xfrm>
            <a:off x="205740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0" name="Google Shape;3080;g3f883da9c22_0_2099"/>
          <p:cNvSpPr/>
          <p:nvPr/>
        </p:nvSpPr>
        <p:spPr>
          <a:xfrm>
            <a:off x="230428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1" name="Google Shape;3081;g3f883da9c22_0_2099"/>
          <p:cNvSpPr/>
          <p:nvPr/>
        </p:nvSpPr>
        <p:spPr>
          <a:xfrm>
            <a:off x="255117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2" name="Google Shape;3082;g3f883da9c22_0_2099"/>
          <p:cNvSpPr/>
          <p:nvPr/>
        </p:nvSpPr>
        <p:spPr>
          <a:xfrm>
            <a:off x="279806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3" name="Google Shape;3083;g3f883da9c22_0_2099"/>
          <p:cNvSpPr/>
          <p:nvPr/>
        </p:nvSpPr>
        <p:spPr>
          <a:xfrm>
            <a:off x="82296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4" name="Google Shape;3084;g3f883da9c22_0_2099"/>
          <p:cNvSpPr/>
          <p:nvPr/>
        </p:nvSpPr>
        <p:spPr>
          <a:xfrm>
            <a:off x="106984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5" name="Google Shape;3085;g3f883da9c22_0_2099"/>
          <p:cNvSpPr/>
          <p:nvPr/>
        </p:nvSpPr>
        <p:spPr>
          <a:xfrm>
            <a:off x="131673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6" name="Google Shape;3086;g3f883da9c22_0_2099"/>
          <p:cNvSpPr/>
          <p:nvPr/>
        </p:nvSpPr>
        <p:spPr>
          <a:xfrm>
            <a:off x="156362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7" name="Google Shape;3087;g3f883da9c22_0_2099"/>
          <p:cNvSpPr/>
          <p:nvPr/>
        </p:nvSpPr>
        <p:spPr>
          <a:xfrm>
            <a:off x="181051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8" name="Google Shape;3088;g3f883da9c22_0_2099"/>
          <p:cNvSpPr/>
          <p:nvPr/>
        </p:nvSpPr>
        <p:spPr>
          <a:xfrm>
            <a:off x="205740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9" name="Google Shape;3089;g3f883da9c22_0_2099"/>
          <p:cNvSpPr/>
          <p:nvPr/>
        </p:nvSpPr>
        <p:spPr>
          <a:xfrm>
            <a:off x="230428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0" name="Google Shape;3090;g3f883da9c22_0_2099"/>
          <p:cNvSpPr/>
          <p:nvPr/>
        </p:nvSpPr>
        <p:spPr>
          <a:xfrm>
            <a:off x="255117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1" name="Google Shape;3091;g3f883da9c22_0_2099"/>
          <p:cNvSpPr/>
          <p:nvPr/>
        </p:nvSpPr>
        <p:spPr>
          <a:xfrm>
            <a:off x="279806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2" name="Google Shape;3092;g3f883da9c22_0_2099"/>
          <p:cNvSpPr/>
          <p:nvPr/>
        </p:nvSpPr>
        <p:spPr>
          <a:xfrm>
            <a:off x="82296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3" name="Google Shape;3093;g3f883da9c22_0_2099"/>
          <p:cNvSpPr/>
          <p:nvPr/>
        </p:nvSpPr>
        <p:spPr>
          <a:xfrm>
            <a:off x="106984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4" name="Google Shape;3094;g3f883da9c22_0_2099"/>
          <p:cNvSpPr/>
          <p:nvPr/>
        </p:nvSpPr>
        <p:spPr>
          <a:xfrm>
            <a:off x="131673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5" name="Google Shape;3095;g3f883da9c22_0_2099"/>
          <p:cNvSpPr/>
          <p:nvPr/>
        </p:nvSpPr>
        <p:spPr>
          <a:xfrm>
            <a:off x="156362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6" name="Google Shape;3096;g3f883da9c22_0_2099"/>
          <p:cNvSpPr/>
          <p:nvPr/>
        </p:nvSpPr>
        <p:spPr>
          <a:xfrm>
            <a:off x="181051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7" name="Google Shape;3097;g3f883da9c22_0_2099"/>
          <p:cNvSpPr/>
          <p:nvPr/>
        </p:nvSpPr>
        <p:spPr>
          <a:xfrm>
            <a:off x="205740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8" name="Google Shape;3098;g3f883da9c22_0_2099"/>
          <p:cNvSpPr/>
          <p:nvPr/>
        </p:nvSpPr>
        <p:spPr>
          <a:xfrm>
            <a:off x="230428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9" name="Google Shape;3099;g3f883da9c22_0_2099"/>
          <p:cNvSpPr/>
          <p:nvPr/>
        </p:nvSpPr>
        <p:spPr>
          <a:xfrm>
            <a:off x="255117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0" name="Google Shape;3100;g3f883da9c22_0_2099"/>
          <p:cNvSpPr/>
          <p:nvPr/>
        </p:nvSpPr>
        <p:spPr>
          <a:xfrm>
            <a:off x="279806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1" name="Google Shape;3101;g3f883da9c22_0_2099"/>
          <p:cNvSpPr txBox="1"/>
          <p:nvPr/>
        </p:nvSpPr>
        <p:spPr>
          <a:xfrm>
            <a:off x="365760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2" name="Google Shape;3102;g3f883da9c22_0_2099"/>
          <p:cNvSpPr/>
          <p:nvPr/>
        </p:nvSpPr>
        <p:spPr>
          <a:xfrm>
            <a:off x="365760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3" name="Google Shape;3103;g3f883da9c22_0_2099"/>
          <p:cNvSpPr/>
          <p:nvPr/>
        </p:nvSpPr>
        <p:spPr>
          <a:xfrm>
            <a:off x="390448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4" name="Google Shape;3104;g3f883da9c22_0_2099"/>
          <p:cNvSpPr/>
          <p:nvPr/>
        </p:nvSpPr>
        <p:spPr>
          <a:xfrm>
            <a:off x="415137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5" name="Google Shape;3105;g3f883da9c22_0_2099"/>
          <p:cNvSpPr/>
          <p:nvPr/>
        </p:nvSpPr>
        <p:spPr>
          <a:xfrm>
            <a:off x="439826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6" name="Google Shape;3106;g3f883da9c22_0_2099"/>
          <p:cNvSpPr/>
          <p:nvPr/>
        </p:nvSpPr>
        <p:spPr>
          <a:xfrm>
            <a:off x="464515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7" name="Google Shape;3107;g3f883da9c22_0_2099"/>
          <p:cNvSpPr/>
          <p:nvPr/>
        </p:nvSpPr>
        <p:spPr>
          <a:xfrm>
            <a:off x="489204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8" name="Google Shape;3108;g3f883da9c22_0_2099"/>
          <p:cNvSpPr/>
          <p:nvPr/>
        </p:nvSpPr>
        <p:spPr>
          <a:xfrm>
            <a:off x="513892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9" name="Google Shape;3109;g3f883da9c22_0_2099"/>
          <p:cNvSpPr/>
          <p:nvPr/>
        </p:nvSpPr>
        <p:spPr>
          <a:xfrm>
            <a:off x="538581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0" name="Google Shape;3110;g3f883da9c22_0_2099"/>
          <p:cNvSpPr/>
          <p:nvPr/>
        </p:nvSpPr>
        <p:spPr>
          <a:xfrm>
            <a:off x="563270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1" name="Google Shape;3111;g3f883da9c22_0_2099"/>
          <p:cNvSpPr/>
          <p:nvPr/>
        </p:nvSpPr>
        <p:spPr>
          <a:xfrm>
            <a:off x="365760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g3f883da9c22_0_2099"/>
          <p:cNvSpPr/>
          <p:nvPr/>
        </p:nvSpPr>
        <p:spPr>
          <a:xfrm>
            <a:off x="390448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3" name="Google Shape;3113;g3f883da9c22_0_2099"/>
          <p:cNvSpPr/>
          <p:nvPr/>
        </p:nvSpPr>
        <p:spPr>
          <a:xfrm>
            <a:off x="415137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4" name="Google Shape;3114;g3f883da9c22_0_2099"/>
          <p:cNvSpPr/>
          <p:nvPr/>
        </p:nvSpPr>
        <p:spPr>
          <a:xfrm>
            <a:off x="439826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5" name="Google Shape;3115;g3f883da9c22_0_2099"/>
          <p:cNvSpPr/>
          <p:nvPr/>
        </p:nvSpPr>
        <p:spPr>
          <a:xfrm>
            <a:off x="464515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6" name="Google Shape;3116;g3f883da9c22_0_2099"/>
          <p:cNvSpPr/>
          <p:nvPr/>
        </p:nvSpPr>
        <p:spPr>
          <a:xfrm>
            <a:off x="489204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7" name="Google Shape;3117;g3f883da9c22_0_2099"/>
          <p:cNvSpPr/>
          <p:nvPr/>
        </p:nvSpPr>
        <p:spPr>
          <a:xfrm>
            <a:off x="513892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8" name="Google Shape;3118;g3f883da9c22_0_2099"/>
          <p:cNvSpPr/>
          <p:nvPr/>
        </p:nvSpPr>
        <p:spPr>
          <a:xfrm>
            <a:off x="538581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9" name="Google Shape;3119;g3f883da9c22_0_2099"/>
          <p:cNvSpPr/>
          <p:nvPr/>
        </p:nvSpPr>
        <p:spPr>
          <a:xfrm>
            <a:off x="563270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0" name="Google Shape;3120;g3f883da9c22_0_2099"/>
          <p:cNvSpPr/>
          <p:nvPr/>
        </p:nvSpPr>
        <p:spPr>
          <a:xfrm>
            <a:off x="365760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1" name="Google Shape;3121;g3f883da9c22_0_2099"/>
          <p:cNvSpPr/>
          <p:nvPr/>
        </p:nvSpPr>
        <p:spPr>
          <a:xfrm>
            <a:off x="390448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2" name="Google Shape;3122;g3f883da9c22_0_2099"/>
          <p:cNvSpPr/>
          <p:nvPr/>
        </p:nvSpPr>
        <p:spPr>
          <a:xfrm>
            <a:off x="415137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3" name="Google Shape;3123;g3f883da9c22_0_2099"/>
          <p:cNvSpPr/>
          <p:nvPr/>
        </p:nvSpPr>
        <p:spPr>
          <a:xfrm>
            <a:off x="439826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4" name="Google Shape;3124;g3f883da9c22_0_2099"/>
          <p:cNvSpPr/>
          <p:nvPr/>
        </p:nvSpPr>
        <p:spPr>
          <a:xfrm>
            <a:off x="464515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5" name="Google Shape;3125;g3f883da9c22_0_2099"/>
          <p:cNvSpPr/>
          <p:nvPr/>
        </p:nvSpPr>
        <p:spPr>
          <a:xfrm>
            <a:off x="489204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6" name="Google Shape;3126;g3f883da9c22_0_2099"/>
          <p:cNvSpPr/>
          <p:nvPr/>
        </p:nvSpPr>
        <p:spPr>
          <a:xfrm>
            <a:off x="513892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7" name="Google Shape;3127;g3f883da9c22_0_2099"/>
          <p:cNvSpPr/>
          <p:nvPr/>
        </p:nvSpPr>
        <p:spPr>
          <a:xfrm>
            <a:off x="538581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8" name="Google Shape;3128;g3f883da9c22_0_2099"/>
          <p:cNvSpPr/>
          <p:nvPr/>
        </p:nvSpPr>
        <p:spPr>
          <a:xfrm>
            <a:off x="563270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9" name="Google Shape;3129;g3f883da9c22_0_2099"/>
          <p:cNvSpPr/>
          <p:nvPr/>
        </p:nvSpPr>
        <p:spPr>
          <a:xfrm>
            <a:off x="365760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0" name="Google Shape;3130;g3f883da9c22_0_2099"/>
          <p:cNvSpPr/>
          <p:nvPr/>
        </p:nvSpPr>
        <p:spPr>
          <a:xfrm>
            <a:off x="390448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1" name="Google Shape;3131;g3f883da9c22_0_2099"/>
          <p:cNvSpPr/>
          <p:nvPr/>
        </p:nvSpPr>
        <p:spPr>
          <a:xfrm>
            <a:off x="415137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2" name="Google Shape;3132;g3f883da9c22_0_2099"/>
          <p:cNvSpPr/>
          <p:nvPr/>
        </p:nvSpPr>
        <p:spPr>
          <a:xfrm>
            <a:off x="439826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3" name="Google Shape;3133;g3f883da9c22_0_2099"/>
          <p:cNvSpPr/>
          <p:nvPr/>
        </p:nvSpPr>
        <p:spPr>
          <a:xfrm>
            <a:off x="464515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4" name="Google Shape;3134;g3f883da9c22_0_2099"/>
          <p:cNvSpPr/>
          <p:nvPr/>
        </p:nvSpPr>
        <p:spPr>
          <a:xfrm>
            <a:off x="489204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5" name="Google Shape;3135;g3f883da9c22_0_2099"/>
          <p:cNvSpPr/>
          <p:nvPr/>
        </p:nvSpPr>
        <p:spPr>
          <a:xfrm>
            <a:off x="513892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6" name="Google Shape;3136;g3f883da9c22_0_2099"/>
          <p:cNvSpPr/>
          <p:nvPr/>
        </p:nvSpPr>
        <p:spPr>
          <a:xfrm>
            <a:off x="538581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7" name="Google Shape;3137;g3f883da9c22_0_2099"/>
          <p:cNvSpPr/>
          <p:nvPr/>
        </p:nvSpPr>
        <p:spPr>
          <a:xfrm>
            <a:off x="563270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8" name="Google Shape;3138;g3f883da9c22_0_2099"/>
          <p:cNvSpPr/>
          <p:nvPr/>
        </p:nvSpPr>
        <p:spPr>
          <a:xfrm>
            <a:off x="365760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9" name="Google Shape;3139;g3f883da9c22_0_2099"/>
          <p:cNvSpPr/>
          <p:nvPr/>
        </p:nvSpPr>
        <p:spPr>
          <a:xfrm>
            <a:off x="390448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0" name="Google Shape;3140;g3f883da9c22_0_2099"/>
          <p:cNvSpPr/>
          <p:nvPr/>
        </p:nvSpPr>
        <p:spPr>
          <a:xfrm>
            <a:off x="415137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1" name="Google Shape;3141;g3f883da9c22_0_2099"/>
          <p:cNvSpPr/>
          <p:nvPr/>
        </p:nvSpPr>
        <p:spPr>
          <a:xfrm>
            <a:off x="439826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2" name="Google Shape;3142;g3f883da9c22_0_2099"/>
          <p:cNvSpPr/>
          <p:nvPr/>
        </p:nvSpPr>
        <p:spPr>
          <a:xfrm>
            <a:off x="464515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3" name="Google Shape;3143;g3f883da9c22_0_2099"/>
          <p:cNvSpPr/>
          <p:nvPr/>
        </p:nvSpPr>
        <p:spPr>
          <a:xfrm>
            <a:off x="489204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4" name="Google Shape;3144;g3f883da9c22_0_2099"/>
          <p:cNvSpPr/>
          <p:nvPr/>
        </p:nvSpPr>
        <p:spPr>
          <a:xfrm>
            <a:off x="513892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5" name="Google Shape;3145;g3f883da9c22_0_2099"/>
          <p:cNvSpPr/>
          <p:nvPr/>
        </p:nvSpPr>
        <p:spPr>
          <a:xfrm>
            <a:off x="538581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6" name="Google Shape;3146;g3f883da9c22_0_2099"/>
          <p:cNvSpPr/>
          <p:nvPr/>
        </p:nvSpPr>
        <p:spPr>
          <a:xfrm>
            <a:off x="563270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7" name="Google Shape;3147;g3f883da9c22_0_2099"/>
          <p:cNvSpPr/>
          <p:nvPr/>
        </p:nvSpPr>
        <p:spPr>
          <a:xfrm>
            <a:off x="365760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8" name="Google Shape;3148;g3f883da9c22_0_2099"/>
          <p:cNvSpPr/>
          <p:nvPr/>
        </p:nvSpPr>
        <p:spPr>
          <a:xfrm>
            <a:off x="390448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9" name="Google Shape;3149;g3f883da9c22_0_2099"/>
          <p:cNvSpPr/>
          <p:nvPr/>
        </p:nvSpPr>
        <p:spPr>
          <a:xfrm>
            <a:off x="415137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0" name="Google Shape;3150;g3f883da9c22_0_2099"/>
          <p:cNvSpPr/>
          <p:nvPr/>
        </p:nvSpPr>
        <p:spPr>
          <a:xfrm>
            <a:off x="439826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1" name="Google Shape;3151;g3f883da9c22_0_2099"/>
          <p:cNvSpPr/>
          <p:nvPr/>
        </p:nvSpPr>
        <p:spPr>
          <a:xfrm>
            <a:off x="464515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2" name="Google Shape;3152;g3f883da9c22_0_2099"/>
          <p:cNvSpPr/>
          <p:nvPr/>
        </p:nvSpPr>
        <p:spPr>
          <a:xfrm>
            <a:off x="489204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3" name="Google Shape;3153;g3f883da9c22_0_2099"/>
          <p:cNvSpPr/>
          <p:nvPr/>
        </p:nvSpPr>
        <p:spPr>
          <a:xfrm>
            <a:off x="513892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4" name="Google Shape;3154;g3f883da9c22_0_2099"/>
          <p:cNvSpPr/>
          <p:nvPr/>
        </p:nvSpPr>
        <p:spPr>
          <a:xfrm>
            <a:off x="538581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5" name="Google Shape;3155;g3f883da9c22_0_2099"/>
          <p:cNvSpPr/>
          <p:nvPr/>
        </p:nvSpPr>
        <p:spPr>
          <a:xfrm>
            <a:off x="563270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6" name="Google Shape;3156;g3f883da9c22_0_2099"/>
          <p:cNvSpPr/>
          <p:nvPr/>
        </p:nvSpPr>
        <p:spPr>
          <a:xfrm>
            <a:off x="365760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g3f883da9c22_0_2099"/>
          <p:cNvSpPr/>
          <p:nvPr/>
        </p:nvSpPr>
        <p:spPr>
          <a:xfrm>
            <a:off x="390448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8" name="Google Shape;3158;g3f883da9c22_0_2099"/>
          <p:cNvSpPr/>
          <p:nvPr/>
        </p:nvSpPr>
        <p:spPr>
          <a:xfrm>
            <a:off x="415137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9" name="Google Shape;3159;g3f883da9c22_0_2099"/>
          <p:cNvSpPr/>
          <p:nvPr/>
        </p:nvSpPr>
        <p:spPr>
          <a:xfrm>
            <a:off x="439826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0" name="Google Shape;3160;g3f883da9c22_0_2099"/>
          <p:cNvSpPr/>
          <p:nvPr/>
        </p:nvSpPr>
        <p:spPr>
          <a:xfrm>
            <a:off x="464515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1" name="Google Shape;3161;g3f883da9c22_0_2099"/>
          <p:cNvSpPr/>
          <p:nvPr/>
        </p:nvSpPr>
        <p:spPr>
          <a:xfrm>
            <a:off x="489204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2" name="Google Shape;3162;g3f883da9c22_0_2099"/>
          <p:cNvSpPr/>
          <p:nvPr/>
        </p:nvSpPr>
        <p:spPr>
          <a:xfrm>
            <a:off x="513892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3" name="Google Shape;3163;g3f883da9c22_0_2099"/>
          <p:cNvSpPr/>
          <p:nvPr/>
        </p:nvSpPr>
        <p:spPr>
          <a:xfrm>
            <a:off x="538581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4" name="Google Shape;3164;g3f883da9c22_0_2099"/>
          <p:cNvSpPr/>
          <p:nvPr/>
        </p:nvSpPr>
        <p:spPr>
          <a:xfrm>
            <a:off x="563270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5" name="Google Shape;3165;g3f883da9c22_0_2099"/>
          <p:cNvSpPr txBox="1"/>
          <p:nvPr/>
        </p:nvSpPr>
        <p:spPr>
          <a:xfrm>
            <a:off x="649224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6" name="Google Shape;3166;g3f883da9c22_0_2099"/>
          <p:cNvSpPr/>
          <p:nvPr/>
        </p:nvSpPr>
        <p:spPr>
          <a:xfrm>
            <a:off x="649224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7" name="Google Shape;3167;g3f883da9c22_0_2099"/>
          <p:cNvSpPr/>
          <p:nvPr/>
        </p:nvSpPr>
        <p:spPr>
          <a:xfrm>
            <a:off x="673912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8" name="Google Shape;3168;g3f883da9c22_0_2099"/>
          <p:cNvSpPr/>
          <p:nvPr/>
        </p:nvSpPr>
        <p:spPr>
          <a:xfrm>
            <a:off x="698601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9" name="Google Shape;3169;g3f883da9c22_0_2099"/>
          <p:cNvSpPr/>
          <p:nvPr/>
        </p:nvSpPr>
        <p:spPr>
          <a:xfrm>
            <a:off x="723290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0" name="Google Shape;3170;g3f883da9c22_0_2099"/>
          <p:cNvSpPr/>
          <p:nvPr/>
        </p:nvSpPr>
        <p:spPr>
          <a:xfrm>
            <a:off x="747979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1" name="Google Shape;3171;g3f883da9c22_0_2099"/>
          <p:cNvSpPr/>
          <p:nvPr/>
        </p:nvSpPr>
        <p:spPr>
          <a:xfrm>
            <a:off x="772668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2" name="Google Shape;3172;g3f883da9c22_0_2099"/>
          <p:cNvSpPr/>
          <p:nvPr/>
        </p:nvSpPr>
        <p:spPr>
          <a:xfrm>
            <a:off x="797356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3" name="Google Shape;3173;g3f883da9c22_0_2099"/>
          <p:cNvSpPr/>
          <p:nvPr/>
        </p:nvSpPr>
        <p:spPr>
          <a:xfrm>
            <a:off x="822045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4" name="Google Shape;3174;g3f883da9c22_0_2099"/>
          <p:cNvSpPr/>
          <p:nvPr/>
        </p:nvSpPr>
        <p:spPr>
          <a:xfrm>
            <a:off x="846734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5" name="Google Shape;3175;g3f883da9c22_0_2099"/>
          <p:cNvSpPr/>
          <p:nvPr/>
        </p:nvSpPr>
        <p:spPr>
          <a:xfrm>
            <a:off x="649224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6" name="Google Shape;3176;g3f883da9c22_0_2099"/>
          <p:cNvSpPr/>
          <p:nvPr/>
        </p:nvSpPr>
        <p:spPr>
          <a:xfrm>
            <a:off x="673912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7" name="Google Shape;3177;g3f883da9c22_0_2099"/>
          <p:cNvSpPr/>
          <p:nvPr/>
        </p:nvSpPr>
        <p:spPr>
          <a:xfrm>
            <a:off x="698601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8" name="Google Shape;3178;g3f883da9c22_0_2099"/>
          <p:cNvSpPr/>
          <p:nvPr/>
        </p:nvSpPr>
        <p:spPr>
          <a:xfrm>
            <a:off x="723290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9" name="Google Shape;3179;g3f883da9c22_0_2099"/>
          <p:cNvSpPr/>
          <p:nvPr/>
        </p:nvSpPr>
        <p:spPr>
          <a:xfrm>
            <a:off x="747979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0" name="Google Shape;3180;g3f883da9c22_0_2099"/>
          <p:cNvSpPr/>
          <p:nvPr/>
        </p:nvSpPr>
        <p:spPr>
          <a:xfrm>
            <a:off x="772668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1" name="Google Shape;3181;g3f883da9c22_0_2099"/>
          <p:cNvSpPr/>
          <p:nvPr/>
        </p:nvSpPr>
        <p:spPr>
          <a:xfrm>
            <a:off x="797356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2" name="Google Shape;3182;g3f883da9c22_0_2099"/>
          <p:cNvSpPr/>
          <p:nvPr/>
        </p:nvSpPr>
        <p:spPr>
          <a:xfrm>
            <a:off x="822045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3" name="Google Shape;3183;g3f883da9c22_0_2099"/>
          <p:cNvSpPr/>
          <p:nvPr/>
        </p:nvSpPr>
        <p:spPr>
          <a:xfrm>
            <a:off x="846734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4" name="Google Shape;3184;g3f883da9c22_0_2099"/>
          <p:cNvSpPr/>
          <p:nvPr/>
        </p:nvSpPr>
        <p:spPr>
          <a:xfrm>
            <a:off x="649224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5" name="Google Shape;3185;g3f883da9c22_0_2099"/>
          <p:cNvSpPr/>
          <p:nvPr/>
        </p:nvSpPr>
        <p:spPr>
          <a:xfrm>
            <a:off x="673912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6" name="Google Shape;3186;g3f883da9c22_0_2099"/>
          <p:cNvSpPr/>
          <p:nvPr/>
        </p:nvSpPr>
        <p:spPr>
          <a:xfrm>
            <a:off x="698601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7" name="Google Shape;3187;g3f883da9c22_0_2099"/>
          <p:cNvSpPr/>
          <p:nvPr/>
        </p:nvSpPr>
        <p:spPr>
          <a:xfrm>
            <a:off x="723290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8" name="Google Shape;3188;g3f883da9c22_0_2099"/>
          <p:cNvSpPr/>
          <p:nvPr/>
        </p:nvSpPr>
        <p:spPr>
          <a:xfrm>
            <a:off x="747979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9" name="Google Shape;3189;g3f883da9c22_0_2099"/>
          <p:cNvSpPr/>
          <p:nvPr/>
        </p:nvSpPr>
        <p:spPr>
          <a:xfrm>
            <a:off x="772668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0" name="Google Shape;3190;g3f883da9c22_0_2099"/>
          <p:cNvSpPr/>
          <p:nvPr/>
        </p:nvSpPr>
        <p:spPr>
          <a:xfrm>
            <a:off x="797356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1" name="Google Shape;3191;g3f883da9c22_0_2099"/>
          <p:cNvSpPr/>
          <p:nvPr/>
        </p:nvSpPr>
        <p:spPr>
          <a:xfrm>
            <a:off x="822045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2" name="Google Shape;3192;g3f883da9c22_0_2099"/>
          <p:cNvSpPr/>
          <p:nvPr/>
        </p:nvSpPr>
        <p:spPr>
          <a:xfrm>
            <a:off x="846734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3" name="Google Shape;3193;g3f883da9c22_0_2099"/>
          <p:cNvSpPr/>
          <p:nvPr/>
        </p:nvSpPr>
        <p:spPr>
          <a:xfrm>
            <a:off x="649224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4" name="Google Shape;3194;g3f883da9c22_0_2099"/>
          <p:cNvSpPr/>
          <p:nvPr/>
        </p:nvSpPr>
        <p:spPr>
          <a:xfrm>
            <a:off x="673912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5" name="Google Shape;3195;g3f883da9c22_0_2099"/>
          <p:cNvSpPr/>
          <p:nvPr/>
        </p:nvSpPr>
        <p:spPr>
          <a:xfrm>
            <a:off x="698601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6" name="Google Shape;3196;g3f883da9c22_0_2099"/>
          <p:cNvSpPr/>
          <p:nvPr/>
        </p:nvSpPr>
        <p:spPr>
          <a:xfrm>
            <a:off x="723290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7" name="Google Shape;3197;g3f883da9c22_0_2099"/>
          <p:cNvSpPr/>
          <p:nvPr/>
        </p:nvSpPr>
        <p:spPr>
          <a:xfrm>
            <a:off x="747979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8" name="Google Shape;3198;g3f883da9c22_0_2099"/>
          <p:cNvSpPr/>
          <p:nvPr/>
        </p:nvSpPr>
        <p:spPr>
          <a:xfrm>
            <a:off x="772668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9" name="Google Shape;3199;g3f883da9c22_0_2099"/>
          <p:cNvSpPr/>
          <p:nvPr/>
        </p:nvSpPr>
        <p:spPr>
          <a:xfrm>
            <a:off x="797356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0" name="Google Shape;3200;g3f883da9c22_0_2099"/>
          <p:cNvSpPr/>
          <p:nvPr/>
        </p:nvSpPr>
        <p:spPr>
          <a:xfrm>
            <a:off x="822045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1" name="Google Shape;3201;g3f883da9c22_0_2099"/>
          <p:cNvSpPr/>
          <p:nvPr/>
        </p:nvSpPr>
        <p:spPr>
          <a:xfrm>
            <a:off x="846734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2" name="Google Shape;3202;g3f883da9c22_0_2099"/>
          <p:cNvSpPr/>
          <p:nvPr/>
        </p:nvSpPr>
        <p:spPr>
          <a:xfrm>
            <a:off x="649224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3" name="Google Shape;3203;g3f883da9c22_0_2099"/>
          <p:cNvSpPr/>
          <p:nvPr/>
        </p:nvSpPr>
        <p:spPr>
          <a:xfrm>
            <a:off x="673912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4" name="Google Shape;3204;g3f883da9c22_0_2099"/>
          <p:cNvSpPr/>
          <p:nvPr/>
        </p:nvSpPr>
        <p:spPr>
          <a:xfrm>
            <a:off x="698601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5" name="Google Shape;3205;g3f883da9c22_0_2099"/>
          <p:cNvSpPr/>
          <p:nvPr/>
        </p:nvSpPr>
        <p:spPr>
          <a:xfrm>
            <a:off x="723290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6" name="Google Shape;3206;g3f883da9c22_0_2099"/>
          <p:cNvSpPr/>
          <p:nvPr/>
        </p:nvSpPr>
        <p:spPr>
          <a:xfrm>
            <a:off x="747979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7" name="Google Shape;3207;g3f883da9c22_0_2099"/>
          <p:cNvSpPr/>
          <p:nvPr/>
        </p:nvSpPr>
        <p:spPr>
          <a:xfrm>
            <a:off x="772668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8" name="Google Shape;3208;g3f883da9c22_0_2099"/>
          <p:cNvSpPr/>
          <p:nvPr/>
        </p:nvSpPr>
        <p:spPr>
          <a:xfrm>
            <a:off x="797356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9" name="Google Shape;3209;g3f883da9c22_0_2099"/>
          <p:cNvSpPr/>
          <p:nvPr/>
        </p:nvSpPr>
        <p:spPr>
          <a:xfrm>
            <a:off x="822045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0" name="Google Shape;3210;g3f883da9c22_0_2099"/>
          <p:cNvSpPr/>
          <p:nvPr/>
        </p:nvSpPr>
        <p:spPr>
          <a:xfrm>
            <a:off x="846734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1" name="Google Shape;3211;g3f883da9c22_0_2099"/>
          <p:cNvSpPr/>
          <p:nvPr/>
        </p:nvSpPr>
        <p:spPr>
          <a:xfrm>
            <a:off x="649224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2" name="Google Shape;3212;g3f883da9c22_0_2099"/>
          <p:cNvSpPr/>
          <p:nvPr/>
        </p:nvSpPr>
        <p:spPr>
          <a:xfrm>
            <a:off x="673912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3" name="Google Shape;3213;g3f883da9c22_0_2099"/>
          <p:cNvSpPr/>
          <p:nvPr/>
        </p:nvSpPr>
        <p:spPr>
          <a:xfrm>
            <a:off x="698601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4" name="Google Shape;3214;g3f883da9c22_0_2099"/>
          <p:cNvSpPr/>
          <p:nvPr/>
        </p:nvSpPr>
        <p:spPr>
          <a:xfrm>
            <a:off x="723290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5" name="Google Shape;3215;g3f883da9c22_0_2099"/>
          <p:cNvSpPr/>
          <p:nvPr/>
        </p:nvSpPr>
        <p:spPr>
          <a:xfrm>
            <a:off x="747979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6" name="Google Shape;3216;g3f883da9c22_0_2099"/>
          <p:cNvSpPr/>
          <p:nvPr/>
        </p:nvSpPr>
        <p:spPr>
          <a:xfrm>
            <a:off x="772668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7" name="Google Shape;3217;g3f883da9c22_0_2099"/>
          <p:cNvSpPr/>
          <p:nvPr/>
        </p:nvSpPr>
        <p:spPr>
          <a:xfrm>
            <a:off x="797356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8" name="Google Shape;3218;g3f883da9c22_0_2099"/>
          <p:cNvSpPr/>
          <p:nvPr/>
        </p:nvSpPr>
        <p:spPr>
          <a:xfrm>
            <a:off x="822045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9" name="Google Shape;3219;g3f883da9c22_0_2099"/>
          <p:cNvSpPr/>
          <p:nvPr/>
        </p:nvSpPr>
        <p:spPr>
          <a:xfrm>
            <a:off x="846734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0" name="Google Shape;3220;g3f883da9c22_0_2099"/>
          <p:cNvSpPr/>
          <p:nvPr/>
        </p:nvSpPr>
        <p:spPr>
          <a:xfrm>
            <a:off x="649224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1" name="Google Shape;3221;g3f883da9c22_0_2099"/>
          <p:cNvSpPr/>
          <p:nvPr/>
        </p:nvSpPr>
        <p:spPr>
          <a:xfrm>
            <a:off x="673912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2" name="Google Shape;3222;g3f883da9c22_0_2099"/>
          <p:cNvSpPr/>
          <p:nvPr/>
        </p:nvSpPr>
        <p:spPr>
          <a:xfrm>
            <a:off x="698601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3" name="Google Shape;3223;g3f883da9c22_0_2099"/>
          <p:cNvSpPr/>
          <p:nvPr/>
        </p:nvSpPr>
        <p:spPr>
          <a:xfrm>
            <a:off x="723290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4" name="Google Shape;3224;g3f883da9c22_0_2099"/>
          <p:cNvSpPr/>
          <p:nvPr/>
        </p:nvSpPr>
        <p:spPr>
          <a:xfrm>
            <a:off x="747979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5" name="Google Shape;3225;g3f883da9c22_0_2099"/>
          <p:cNvSpPr/>
          <p:nvPr/>
        </p:nvSpPr>
        <p:spPr>
          <a:xfrm>
            <a:off x="772668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6" name="Google Shape;3226;g3f883da9c22_0_2099"/>
          <p:cNvSpPr/>
          <p:nvPr/>
        </p:nvSpPr>
        <p:spPr>
          <a:xfrm>
            <a:off x="797356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7" name="Google Shape;3227;g3f883da9c22_0_2099"/>
          <p:cNvSpPr/>
          <p:nvPr/>
        </p:nvSpPr>
        <p:spPr>
          <a:xfrm>
            <a:off x="822045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8" name="Google Shape;3228;g3f883da9c22_0_2099"/>
          <p:cNvSpPr/>
          <p:nvPr/>
        </p:nvSpPr>
        <p:spPr>
          <a:xfrm>
            <a:off x="846734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9" name="Google Shape;3229;g3f883da9c22_0_2099"/>
          <p:cNvSpPr txBox="1"/>
          <p:nvPr/>
        </p:nvSpPr>
        <p:spPr>
          <a:xfrm>
            <a:off x="932688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0" name="Google Shape;3230;g3f883da9c22_0_2099"/>
          <p:cNvSpPr/>
          <p:nvPr/>
        </p:nvSpPr>
        <p:spPr>
          <a:xfrm>
            <a:off x="932688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1" name="Google Shape;3231;g3f883da9c22_0_2099"/>
          <p:cNvSpPr/>
          <p:nvPr/>
        </p:nvSpPr>
        <p:spPr>
          <a:xfrm>
            <a:off x="957376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2" name="Google Shape;3232;g3f883da9c22_0_2099"/>
          <p:cNvSpPr/>
          <p:nvPr/>
        </p:nvSpPr>
        <p:spPr>
          <a:xfrm>
            <a:off x="982065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3" name="Google Shape;3233;g3f883da9c22_0_2099"/>
          <p:cNvSpPr/>
          <p:nvPr/>
        </p:nvSpPr>
        <p:spPr>
          <a:xfrm>
            <a:off x="1006754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4" name="Google Shape;3234;g3f883da9c22_0_2099"/>
          <p:cNvSpPr/>
          <p:nvPr/>
        </p:nvSpPr>
        <p:spPr>
          <a:xfrm>
            <a:off x="1031443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5" name="Google Shape;3235;g3f883da9c22_0_2099"/>
          <p:cNvSpPr/>
          <p:nvPr/>
        </p:nvSpPr>
        <p:spPr>
          <a:xfrm>
            <a:off x="1056132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6" name="Google Shape;3236;g3f883da9c22_0_2099"/>
          <p:cNvSpPr/>
          <p:nvPr/>
        </p:nvSpPr>
        <p:spPr>
          <a:xfrm>
            <a:off x="1080820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7" name="Google Shape;3237;g3f883da9c22_0_2099"/>
          <p:cNvSpPr/>
          <p:nvPr/>
        </p:nvSpPr>
        <p:spPr>
          <a:xfrm>
            <a:off x="1105509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8" name="Google Shape;3238;g3f883da9c22_0_2099"/>
          <p:cNvSpPr/>
          <p:nvPr/>
        </p:nvSpPr>
        <p:spPr>
          <a:xfrm>
            <a:off x="1130198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9" name="Google Shape;3239;g3f883da9c22_0_2099"/>
          <p:cNvSpPr/>
          <p:nvPr/>
        </p:nvSpPr>
        <p:spPr>
          <a:xfrm>
            <a:off x="932688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0" name="Google Shape;3240;g3f883da9c22_0_2099"/>
          <p:cNvSpPr/>
          <p:nvPr/>
        </p:nvSpPr>
        <p:spPr>
          <a:xfrm>
            <a:off x="957376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1" name="Google Shape;3241;g3f883da9c22_0_2099"/>
          <p:cNvSpPr/>
          <p:nvPr/>
        </p:nvSpPr>
        <p:spPr>
          <a:xfrm>
            <a:off x="982065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2" name="Google Shape;3242;g3f883da9c22_0_2099"/>
          <p:cNvSpPr/>
          <p:nvPr/>
        </p:nvSpPr>
        <p:spPr>
          <a:xfrm>
            <a:off x="1006754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3" name="Google Shape;3243;g3f883da9c22_0_2099"/>
          <p:cNvSpPr/>
          <p:nvPr/>
        </p:nvSpPr>
        <p:spPr>
          <a:xfrm>
            <a:off x="1031443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4" name="Google Shape;3244;g3f883da9c22_0_2099"/>
          <p:cNvSpPr/>
          <p:nvPr/>
        </p:nvSpPr>
        <p:spPr>
          <a:xfrm>
            <a:off x="1056132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5" name="Google Shape;3245;g3f883da9c22_0_2099"/>
          <p:cNvSpPr/>
          <p:nvPr/>
        </p:nvSpPr>
        <p:spPr>
          <a:xfrm>
            <a:off x="1080820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6" name="Google Shape;3246;g3f883da9c22_0_2099"/>
          <p:cNvSpPr/>
          <p:nvPr/>
        </p:nvSpPr>
        <p:spPr>
          <a:xfrm>
            <a:off x="1105509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7" name="Google Shape;3247;g3f883da9c22_0_2099"/>
          <p:cNvSpPr/>
          <p:nvPr/>
        </p:nvSpPr>
        <p:spPr>
          <a:xfrm>
            <a:off x="1130198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8" name="Google Shape;3248;g3f883da9c22_0_2099"/>
          <p:cNvSpPr/>
          <p:nvPr/>
        </p:nvSpPr>
        <p:spPr>
          <a:xfrm>
            <a:off x="932688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9" name="Google Shape;3249;g3f883da9c22_0_2099"/>
          <p:cNvSpPr/>
          <p:nvPr/>
        </p:nvSpPr>
        <p:spPr>
          <a:xfrm>
            <a:off x="957376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0" name="Google Shape;3250;g3f883da9c22_0_2099"/>
          <p:cNvSpPr/>
          <p:nvPr/>
        </p:nvSpPr>
        <p:spPr>
          <a:xfrm>
            <a:off x="982065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g3f883da9c22_0_2099"/>
          <p:cNvSpPr/>
          <p:nvPr/>
        </p:nvSpPr>
        <p:spPr>
          <a:xfrm>
            <a:off x="1006754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2" name="Google Shape;3252;g3f883da9c22_0_2099"/>
          <p:cNvSpPr/>
          <p:nvPr/>
        </p:nvSpPr>
        <p:spPr>
          <a:xfrm>
            <a:off x="1031443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3" name="Google Shape;3253;g3f883da9c22_0_2099"/>
          <p:cNvSpPr/>
          <p:nvPr/>
        </p:nvSpPr>
        <p:spPr>
          <a:xfrm>
            <a:off x="1056132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4" name="Google Shape;3254;g3f883da9c22_0_2099"/>
          <p:cNvSpPr/>
          <p:nvPr/>
        </p:nvSpPr>
        <p:spPr>
          <a:xfrm>
            <a:off x="1080820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5" name="Google Shape;3255;g3f883da9c22_0_2099"/>
          <p:cNvSpPr/>
          <p:nvPr/>
        </p:nvSpPr>
        <p:spPr>
          <a:xfrm>
            <a:off x="1105509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6" name="Google Shape;3256;g3f883da9c22_0_2099"/>
          <p:cNvSpPr/>
          <p:nvPr/>
        </p:nvSpPr>
        <p:spPr>
          <a:xfrm>
            <a:off x="1130198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7" name="Google Shape;3257;g3f883da9c22_0_2099"/>
          <p:cNvSpPr/>
          <p:nvPr/>
        </p:nvSpPr>
        <p:spPr>
          <a:xfrm>
            <a:off x="932688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8" name="Google Shape;3258;g3f883da9c22_0_2099"/>
          <p:cNvSpPr/>
          <p:nvPr/>
        </p:nvSpPr>
        <p:spPr>
          <a:xfrm>
            <a:off x="957376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9" name="Google Shape;3259;g3f883da9c22_0_2099"/>
          <p:cNvSpPr/>
          <p:nvPr/>
        </p:nvSpPr>
        <p:spPr>
          <a:xfrm>
            <a:off x="982065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0" name="Google Shape;3260;g3f883da9c22_0_2099"/>
          <p:cNvSpPr/>
          <p:nvPr/>
        </p:nvSpPr>
        <p:spPr>
          <a:xfrm>
            <a:off x="1006754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1" name="Google Shape;3261;g3f883da9c22_0_2099"/>
          <p:cNvSpPr/>
          <p:nvPr/>
        </p:nvSpPr>
        <p:spPr>
          <a:xfrm>
            <a:off x="1031443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2" name="Google Shape;3262;g3f883da9c22_0_2099"/>
          <p:cNvSpPr/>
          <p:nvPr/>
        </p:nvSpPr>
        <p:spPr>
          <a:xfrm>
            <a:off x="1056132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3" name="Google Shape;3263;g3f883da9c22_0_2099"/>
          <p:cNvSpPr/>
          <p:nvPr/>
        </p:nvSpPr>
        <p:spPr>
          <a:xfrm>
            <a:off x="1080820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4" name="Google Shape;3264;g3f883da9c22_0_2099"/>
          <p:cNvSpPr/>
          <p:nvPr/>
        </p:nvSpPr>
        <p:spPr>
          <a:xfrm>
            <a:off x="1105509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5" name="Google Shape;3265;g3f883da9c22_0_2099"/>
          <p:cNvSpPr/>
          <p:nvPr/>
        </p:nvSpPr>
        <p:spPr>
          <a:xfrm>
            <a:off x="1130198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6" name="Google Shape;3266;g3f883da9c22_0_2099"/>
          <p:cNvSpPr/>
          <p:nvPr/>
        </p:nvSpPr>
        <p:spPr>
          <a:xfrm>
            <a:off x="932688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7" name="Google Shape;3267;g3f883da9c22_0_2099"/>
          <p:cNvSpPr/>
          <p:nvPr/>
        </p:nvSpPr>
        <p:spPr>
          <a:xfrm>
            <a:off x="957376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8" name="Google Shape;3268;g3f883da9c22_0_2099"/>
          <p:cNvSpPr/>
          <p:nvPr/>
        </p:nvSpPr>
        <p:spPr>
          <a:xfrm>
            <a:off x="982065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9" name="Google Shape;3269;g3f883da9c22_0_2099"/>
          <p:cNvSpPr/>
          <p:nvPr/>
        </p:nvSpPr>
        <p:spPr>
          <a:xfrm>
            <a:off x="1006754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0" name="Google Shape;3270;g3f883da9c22_0_2099"/>
          <p:cNvSpPr/>
          <p:nvPr/>
        </p:nvSpPr>
        <p:spPr>
          <a:xfrm>
            <a:off x="1031443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1" name="Google Shape;3271;g3f883da9c22_0_2099"/>
          <p:cNvSpPr/>
          <p:nvPr/>
        </p:nvSpPr>
        <p:spPr>
          <a:xfrm>
            <a:off x="1056132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2" name="Google Shape;3272;g3f883da9c22_0_2099"/>
          <p:cNvSpPr/>
          <p:nvPr/>
        </p:nvSpPr>
        <p:spPr>
          <a:xfrm>
            <a:off x="1080820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3" name="Google Shape;3273;g3f883da9c22_0_2099"/>
          <p:cNvSpPr/>
          <p:nvPr/>
        </p:nvSpPr>
        <p:spPr>
          <a:xfrm>
            <a:off x="1105509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4" name="Google Shape;3274;g3f883da9c22_0_2099"/>
          <p:cNvSpPr/>
          <p:nvPr/>
        </p:nvSpPr>
        <p:spPr>
          <a:xfrm>
            <a:off x="1130198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5" name="Google Shape;3275;g3f883da9c22_0_2099"/>
          <p:cNvSpPr/>
          <p:nvPr/>
        </p:nvSpPr>
        <p:spPr>
          <a:xfrm>
            <a:off x="932688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6" name="Google Shape;3276;g3f883da9c22_0_2099"/>
          <p:cNvSpPr/>
          <p:nvPr/>
        </p:nvSpPr>
        <p:spPr>
          <a:xfrm>
            <a:off x="957376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7" name="Google Shape;3277;g3f883da9c22_0_2099"/>
          <p:cNvSpPr/>
          <p:nvPr/>
        </p:nvSpPr>
        <p:spPr>
          <a:xfrm>
            <a:off x="982065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8" name="Google Shape;3278;g3f883da9c22_0_2099"/>
          <p:cNvSpPr/>
          <p:nvPr/>
        </p:nvSpPr>
        <p:spPr>
          <a:xfrm>
            <a:off x="1006754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9" name="Google Shape;3279;g3f883da9c22_0_2099"/>
          <p:cNvSpPr/>
          <p:nvPr/>
        </p:nvSpPr>
        <p:spPr>
          <a:xfrm>
            <a:off x="1031443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0" name="Google Shape;3280;g3f883da9c22_0_2099"/>
          <p:cNvSpPr/>
          <p:nvPr/>
        </p:nvSpPr>
        <p:spPr>
          <a:xfrm>
            <a:off x="1056132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1" name="Google Shape;3281;g3f883da9c22_0_2099"/>
          <p:cNvSpPr/>
          <p:nvPr/>
        </p:nvSpPr>
        <p:spPr>
          <a:xfrm>
            <a:off x="1080820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2" name="Google Shape;3282;g3f883da9c22_0_2099"/>
          <p:cNvSpPr/>
          <p:nvPr/>
        </p:nvSpPr>
        <p:spPr>
          <a:xfrm>
            <a:off x="1105509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3" name="Google Shape;3283;g3f883da9c22_0_2099"/>
          <p:cNvSpPr/>
          <p:nvPr/>
        </p:nvSpPr>
        <p:spPr>
          <a:xfrm>
            <a:off x="1130198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4" name="Google Shape;3284;g3f883da9c22_0_2099"/>
          <p:cNvSpPr/>
          <p:nvPr/>
        </p:nvSpPr>
        <p:spPr>
          <a:xfrm>
            <a:off x="932688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5" name="Google Shape;3285;g3f883da9c22_0_2099"/>
          <p:cNvSpPr/>
          <p:nvPr/>
        </p:nvSpPr>
        <p:spPr>
          <a:xfrm>
            <a:off x="957376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6" name="Google Shape;3286;g3f883da9c22_0_2099"/>
          <p:cNvSpPr/>
          <p:nvPr/>
        </p:nvSpPr>
        <p:spPr>
          <a:xfrm>
            <a:off x="982065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7" name="Google Shape;3287;g3f883da9c22_0_2099"/>
          <p:cNvSpPr/>
          <p:nvPr/>
        </p:nvSpPr>
        <p:spPr>
          <a:xfrm>
            <a:off x="1006754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8" name="Google Shape;3288;g3f883da9c22_0_2099"/>
          <p:cNvSpPr/>
          <p:nvPr/>
        </p:nvSpPr>
        <p:spPr>
          <a:xfrm>
            <a:off x="1031443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9" name="Google Shape;3289;g3f883da9c22_0_2099"/>
          <p:cNvSpPr/>
          <p:nvPr/>
        </p:nvSpPr>
        <p:spPr>
          <a:xfrm>
            <a:off x="1056132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0" name="Google Shape;3290;g3f883da9c22_0_2099"/>
          <p:cNvSpPr/>
          <p:nvPr/>
        </p:nvSpPr>
        <p:spPr>
          <a:xfrm>
            <a:off x="1080820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1" name="Google Shape;3291;g3f883da9c22_0_2099"/>
          <p:cNvSpPr/>
          <p:nvPr/>
        </p:nvSpPr>
        <p:spPr>
          <a:xfrm>
            <a:off x="1105509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2" name="Google Shape;3292;g3f883da9c22_0_2099"/>
          <p:cNvSpPr/>
          <p:nvPr/>
        </p:nvSpPr>
        <p:spPr>
          <a:xfrm>
            <a:off x="1130198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3" name="Google Shape;3293;g3f883da9c22_0_2099"/>
          <p:cNvSpPr txBox="1"/>
          <p:nvPr/>
        </p:nvSpPr>
        <p:spPr>
          <a:xfrm>
            <a:off x="1371600" y="425196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Conv1 (3×3)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4" name="Google Shape;3294;g3f883da9c22_0_2099"/>
          <p:cNvSpPr/>
          <p:nvPr/>
        </p:nvSpPr>
        <p:spPr>
          <a:xfrm>
            <a:off x="3154680" y="3200400"/>
            <a:ext cx="2925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5" name="Google Shape;3295;g3f883da9c22_0_2099"/>
          <p:cNvSpPr txBox="1"/>
          <p:nvPr/>
        </p:nvSpPr>
        <p:spPr>
          <a:xfrm>
            <a:off x="4206240" y="425196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Conv2 (3×3)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6" name="Google Shape;3296;g3f883da9c22_0_2099"/>
          <p:cNvSpPr/>
          <p:nvPr/>
        </p:nvSpPr>
        <p:spPr>
          <a:xfrm>
            <a:off x="5989320" y="3200400"/>
            <a:ext cx="2925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7" name="Google Shape;3297;g3f883da9c22_0_2099"/>
          <p:cNvSpPr txBox="1"/>
          <p:nvPr/>
        </p:nvSpPr>
        <p:spPr>
          <a:xfrm>
            <a:off x="7040880" y="425196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Conv3 (3×3)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8" name="Google Shape;3298;g3f883da9c22_0_2099"/>
          <p:cNvSpPr/>
          <p:nvPr/>
        </p:nvSpPr>
        <p:spPr>
          <a:xfrm>
            <a:off x="8823960" y="3200400"/>
            <a:ext cx="2925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9" name="Google Shape;3299;g3f883da9c22_0_2099"/>
          <p:cNvSpPr/>
          <p:nvPr/>
        </p:nvSpPr>
        <p:spPr>
          <a:xfrm>
            <a:off x="7232904" y="2825496"/>
            <a:ext cx="740700" cy="740700"/>
          </a:xfrm>
          <a:prstGeom prst="rect">
            <a:avLst/>
          </a:prstGeom>
          <a:noFill/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0" name="Google Shape;3300;g3f883da9c22_0_2099"/>
          <p:cNvSpPr/>
          <p:nvPr/>
        </p:nvSpPr>
        <p:spPr>
          <a:xfrm>
            <a:off x="10314432" y="3072384"/>
            <a:ext cx="246900" cy="246900"/>
          </a:xfrm>
          <a:prstGeom prst="rect">
            <a:avLst/>
          </a:prstGeom>
          <a:noFill/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1" name="Google Shape;3301;g3f883da9c22_0_2099"/>
          <p:cNvSpPr/>
          <p:nvPr/>
        </p:nvSpPr>
        <p:spPr>
          <a:xfrm rot="539195">
            <a:off x="7958994" y="3006933"/>
            <a:ext cx="2369992" cy="7299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2" name="Google Shape;3302;g3f883da9c22_0_2099"/>
          <p:cNvSpPr/>
          <p:nvPr/>
        </p:nvSpPr>
        <p:spPr>
          <a:xfrm rot="-539195">
            <a:off x="7959051" y="3377397"/>
            <a:ext cx="2369992" cy="7299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3" name="Google Shape;3303;g3f883da9c22_0_2099"/>
          <p:cNvSpPr/>
          <p:nvPr/>
        </p:nvSpPr>
        <p:spPr>
          <a:xfrm>
            <a:off x="4151376" y="2578608"/>
            <a:ext cx="740700" cy="740700"/>
          </a:xfrm>
          <a:prstGeom prst="rect">
            <a:avLst/>
          </a:prstGeom>
          <a:noFill/>
          <a:ln cap="flat" cmpd="sng" w="17775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4" name="Google Shape;3304;g3f883da9c22_0_2099"/>
          <p:cNvSpPr/>
          <p:nvPr/>
        </p:nvSpPr>
        <p:spPr>
          <a:xfrm>
            <a:off x="4398264" y="2825496"/>
            <a:ext cx="740700" cy="740700"/>
          </a:xfrm>
          <a:prstGeom prst="rect">
            <a:avLst/>
          </a:prstGeom>
          <a:noFill/>
          <a:ln cap="flat" cmpd="sng" w="17775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5" name="Google Shape;3305;g3f883da9c22_0_2099"/>
          <p:cNvSpPr/>
          <p:nvPr/>
        </p:nvSpPr>
        <p:spPr>
          <a:xfrm>
            <a:off x="4645152" y="3072384"/>
            <a:ext cx="740700" cy="740700"/>
          </a:xfrm>
          <a:prstGeom prst="rect">
            <a:avLst/>
          </a:prstGeom>
          <a:noFill/>
          <a:ln cap="flat" cmpd="sng" w="17775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6" name="Google Shape;3306;g3f883da9c22_0_2099"/>
          <p:cNvSpPr/>
          <p:nvPr/>
        </p:nvSpPr>
        <p:spPr>
          <a:xfrm rot="306211">
            <a:off x="4887112" y="2686102"/>
            <a:ext cx="2499007" cy="722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7" name="Google Shape;3307;g3f883da9c22_0_2099"/>
          <p:cNvSpPr/>
          <p:nvPr/>
        </p:nvSpPr>
        <p:spPr>
          <a:xfrm rot="-705882">
            <a:off x="4865339" y="3056414"/>
            <a:ext cx="2542510" cy="735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g3f883da9c22_0_2099"/>
          <p:cNvSpPr/>
          <p:nvPr/>
        </p:nvSpPr>
        <p:spPr>
          <a:xfrm rot="306211">
            <a:off x="5134000" y="2932990"/>
            <a:ext cx="2499007" cy="722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9" name="Google Shape;3309;g3f883da9c22_0_2099"/>
          <p:cNvSpPr/>
          <p:nvPr/>
        </p:nvSpPr>
        <p:spPr>
          <a:xfrm rot="-705882">
            <a:off x="5112227" y="3303302"/>
            <a:ext cx="2542510" cy="735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0" name="Google Shape;3310;g3f883da9c22_0_2099"/>
          <p:cNvSpPr/>
          <p:nvPr/>
        </p:nvSpPr>
        <p:spPr>
          <a:xfrm rot="306211">
            <a:off x="5380888" y="3179878"/>
            <a:ext cx="2499007" cy="722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1" name="Google Shape;3311;g3f883da9c22_0_2099"/>
          <p:cNvSpPr/>
          <p:nvPr/>
        </p:nvSpPr>
        <p:spPr>
          <a:xfrm rot="-705882">
            <a:off x="5359115" y="3550190"/>
            <a:ext cx="2542510" cy="735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2" name="Google Shape;3312;g3f883da9c22_0_2099"/>
          <p:cNvSpPr/>
          <p:nvPr/>
        </p:nvSpPr>
        <p:spPr>
          <a:xfrm>
            <a:off x="4151376" y="2578608"/>
            <a:ext cx="1234500" cy="1234500"/>
          </a:xfrm>
          <a:prstGeom prst="rect">
            <a:avLst/>
          </a:prstGeom>
          <a:noFill/>
          <a:ln cap="flat" cmpd="sng" w="285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3" name="Google Shape;3313;g3f883da9c22_0_2099"/>
          <p:cNvSpPr/>
          <p:nvPr/>
        </p:nvSpPr>
        <p:spPr>
          <a:xfrm>
            <a:off x="1069848" y="2331720"/>
            <a:ext cx="740700" cy="740700"/>
          </a:xfrm>
          <a:prstGeom prst="rect">
            <a:avLst/>
          </a:prstGeom>
          <a:noFill/>
          <a:ln cap="flat" cmpd="sng" w="1777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4" name="Google Shape;3314;g3f883da9c22_0_2099"/>
          <p:cNvSpPr/>
          <p:nvPr/>
        </p:nvSpPr>
        <p:spPr>
          <a:xfrm>
            <a:off x="1563624" y="2825496"/>
            <a:ext cx="740700" cy="740700"/>
          </a:xfrm>
          <a:prstGeom prst="rect">
            <a:avLst/>
          </a:prstGeom>
          <a:noFill/>
          <a:ln cap="flat" cmpd="sng" w="1777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5" name="Google Shape;3315;g3f883da9c22_0_2099"/>
          <p:cNvSpPr/>
          <p:nvPr/>
        </p:nvSpPr>
        <p:spPr>
          <a:xfrm>
            <a:off x="2057400" y="3319272"/>
            <a:ext cx="740700" cy="740700"/>
          </a:xfrm>
          <a:prstGeom prst="rect">
            <a:avLst/>
          </a:prstGeom>
          <a:noFill/>
          <a:ln cap="flat" cmpd="sng" w="1777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6" name="Google Shape;3316;g3f883da9c22_0_2099"/>
          <p:cNvSpPr/>
          <p:nvPr/>
        </p:nvSpPr>
        <p:spPr>
          <a:xfrm rot="306211">
            <a:off x="1805584" y="2439214"/>
            <a:ext cx="2499007" cy="7225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7" name="Google Shape;3317;g3f883da9c22_0_2099"/>
          <p:cNvSpPr/>
          <p:nvPr/>
        </p:nvSpPr>
        <p:spPr>
          <a:xfrm rot="-705882">
            <a:off x="1783811" y="2809526"/>
            <a:ext cx="2542510" cy="7355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8" name="Google Shape;3318;g3f883da9c22_0_2099"/>
          <p:cNvSpPr/>
          <p:nvPr/>
        </p:nvSpPr>
        <p:spPr>
          <a:xfrm rot="306211">
            <a:off x="2299360" y="2932990"/>
            <a:ext cx="2499007" cy="7225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9" name="Google Shape;3319;g3f883da9c22_0_2099"/>
          <p:cNvSpPr/>
          <p:nvPr/>
        </p:nvSpPr>
        <p:spPr>
          <a:xfrm rot="-705882">
            <a:off x="2277587" y="3303302"/>
            <a:ext cx="2542510" cy="7355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0" name="Google Shape;3320;g3f883da9c22_0_2099"/>
          <p:cNvSpPr/>
          <p:nvPr/>
        </p:nvSpPr>
        <p:spPr>
          <a:xfrm rot="306211">
            <a:off x="2793136" y="3426766"/>
            <a:ext cx="2499007" cy="7225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1" name="Google Shape;3321;g3f883da9c22_0_2099"/>
          <p:cNvSpPr/>
          <p:nvPr/>
        </p:nvSpPr>
        <p:spPr>
          <a:xfrm rot="-705882">
            <a:off x="2771363" y="3797078"/>
            <a:ext cx="2542510" cy="7355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2" name="Google Shape;3322;g3f883da9c22_0_2099"/>
          <p:cNvSpPr/>
          <p:nvPr/>
        </p:nvSpPr>
        <p:spPr>
          <a:xfrm>
            <a:off x="548640" y="4754880"/>
            <a:ext cx="11064300" cy="10059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3" name="Google Shape;3323;g3f883da9c22_0_2099"/>
          <p:cNvSpPr txBox="1"/>
          <p:nvPr/>
        </p:nvSpPr>
        <p:spPr>
          <a:xfrm>
            <a:off x="822960" y="4956048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Repeat the argument once more: every unit in that 5 × 5 region of A1 comes from its own 3 × 3 window of the input.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3328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g3f883da9c22_0_2401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WHY SMALL FILTERS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0" name="Google Shape;3330;g3f883da9c22_0_2401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VGGNet — receptive field (5)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1" name="Google Shape;3331;g3f883da9c22_0_2401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2" name="Google Shape;3332;g3f883da9c22_0_2401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3" name="Google Shape;3333;g3f883da9c22_0_2401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4" name="Google Shape;3334;g3f883da9c22_0_2401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5" name="Google Shape;3335;g3f883da9c22_0_2401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6" name="Google Shape;3336;g3f883da9c22_0_2401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7" name="Google Shape;3337;g3f883da9c22_0_2401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8" name="Google Shape;3338;g3f883da9c22_0_2401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9" name="Google Shape;3339;g3f883da9c22_0_2401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0" name="Google Shape;3340;g3f883da9c22_0_2401"/>
          <p:cNvSpPr txBox="1"/>
          <p:nvPr/>
        </p:nvSpPr>
        <p:spPr>
          <a:xfrm>
            <a:off x="82296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1" name="Google Shape;3341;g3f883da9c22_0_2401"/>
          <p:cNvSpPr/>
          <p:nvPr/>
        </p:nvSpPr>
        <p:spPr>
          <a:xfrm>
            <a:off x="82296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2" name="Google Shape;3342;g3f883da9c22_0_2401"/>
          <p:cNvSpPr/>
          <p:nvPr/>
        </p:nvSpPr>
        <p:spPr>
          <a:xfrm>
            <a:off x="106984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3" name="Google Shape;3343;g3f883da9c22_0_2401"/>
          <p:cNvSpPr/>
          <p:nvPr/>
        </p:nvSpPr>
        <p:spPr>
          <a:xfrm>
            <a:off x="131673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4" name="Google Shape;3344;g3f883da9c22_0_2401"/>
          <p:cNvSpPr/>
          <p:nvPr/>
        </p:nvSpPr>
        <p:spPr>
          <a:xfrm>
            <a:off x="156362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5" name="Google Shape;3345;g3f883da9c22_0_2401"/>
          <p:cNvSpPr/>
          <p:nvPr/>
        </p:nvSpPr>
        <p:spPr>
          <a:xfrm>
            <a:off x="181051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6" name="Google Shape;3346;g3f883da9c22_0_2401"/>
          <p:cNvSpPr/>
          <p:nvPr/>
        </p:nvSpPr>
        <p:spPr>
          <a:xfrm>
            <a:off x="205740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7" name="Google Shape;3347;g3f883da9c22_0_2401"/>
          <p:cNvSpPr/>
          <p:nvPr/>
        </p:nvSpPr>
        <p:spPr>
          <a:xfrm>
            <a:off x="230428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8" name="Google Shape;3348;g3f883da9c22_0_2401"/>
          <p:cNvSpPr/>
          <p:nvPr/>
        </p:nvSpPr>
        <p:spPr>
          <a:xfrm>
            <a:off x="255117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9" name="Google Shape;3349;g3f883da9c22_0_2401"/>
          <p:cNvSpPr/>
          <p:nvPr/>
        </p:nvSpPr>
        <p:spPr>
          <a:xfrm>
            <a:off x="279806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0" name="Google Shape;3350;g3f883da9c22_0_2401"/>
          <p:cNvSpPr/>
          <p:nvPr/>
        </p:nvSpPr>
        <p:spPr>
          <a:xfrm>
            <a:off x="82296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1" name="Google Shape;3351;g3f883da9c22_0_2401"/>
          <p:cNvSpPr/>
          <p:nvPr/>
        </p:nvSpPr>
        <p:spPr>
          <a:xfrm>
            <a:off x="106984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2" name="Google Shape;3352;g3f883da9c22_0_2401"/>
          <p:cNvSpPr/>
          <p:nvPr/>
        </p:nvSpPr>
        <p:spPr>
          <a:xfrm>
            <a:off x="131673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3" name="Google Shape;3353;g3f883da9c22_0_2401"/>
          <p:cNvSpPr/>
          <p:nvPr/>
        </p:nvSpPr>
        <p:spPr>
          <a:xfrm>
            <a:off x="156362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4" name="Google Shape;3354;g3f883da9c22_0_2401"/>
          <p:cNvSpPr/>
          <p:nvPr/>
        </p:nvSpPr>
        <p:spPr>
          <a:xfrm>
            <a:off x="181051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5" name="Google Shape;3355;g3f883da9c22_0_2401"/>
          <p:cNvSpPr/>
          <p:nvPr/>
        </p:nvSpPr>
        <p:spPr>
          <a:xfrm>
            <a:off x="205740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6" name="Google Shape;3356;g3f883da9c22_0_2401"/>
          <p:cNvSpPr/>
          <p:nvPr/>
        </p:nvSpPr>
        <p:spPr>
          <a:xfrm>
            <a:off x="230428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7" name="Google Shape;3357;g3f883da9c22_0_2401"/>
          <p:cNvSpPr/>
          <p:nvPr/>
        </p:nvSpPr>
        <p:spPr>
          <a:xfrm>
            <a:off x="255117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8" name="Google Shape;3358;g3f883da9c22_0_2401"/>
          <p:cNvSpPr/>
          <p:nvPr/>
        </p:nvSpPr>
        <p:spPr>
          <a:xfrm>
            <a:off x="279806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9" name="Google Shape;3359;g3f883da9c22_0_2401"/>
          <p:cNvSpPr/>
          <p:nvPr/>
        </p:nvSpPr>
        <p:spPr>
          <a:xfrm>
            <a:off x="82296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0" name="Google Shape;3360;g3f883da9c22_0_2401"/>
          <p:cNvSpPr/>
          <p:nvPr/>
        </p:nvSpPr>
        <p:spPr>
          <a:xfrm>
            <a:off x="106984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1" name="Google Shape;3361;g3f883da9c22_0_2401"/>
          <p:cNvSpPr/>
          <p:nvPr/>
        </p:nvSpPr>
        <p:spPr>
          <a:xfrm>
            <a:off x="131673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2" name="Google Shape;3362;g3f883da9c22_0_2401"/>
          <p:cNvSpPr/>
          <p:nvPr/>
        </p:nvSpPr>
        <p:spPr>
          <a:xfrm>
            <a:off x="156362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3" name="Google Shape;3363;g3f883da9c22_0_2401"/>
          <p:cNvSpPr/>
          <p:nvPr/>
        </p:nvSpPr>
        <p:spPr>
          <a:xfrm>
            <a:off x="181051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4" name="Google Shape;3364;g3f883da9c22_0_2401"/>
          <p:cNvSpPr/>
          <p:nvPr/>
        </p:nvSpPr>
        <p:spPr>
          <a:xfrm>
            <a:off x="205740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5" name="Google Shape;3365;g3f883da9c22_0_2401"/>
          <p:cNvSpPr/>
          <p:nvPr/>
        </p:nvSpPr>
        <p:spPr>
          <a:xfrm>
            <a:off x="230428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6" name="Google Shape;3366;g3f883da9c22_0_2401"/>
          <p:cNvSpPr/>
          <p:nvPr/>
        </p:nvSpPr>
        <p:spPr>
          <a:xfrm>
            <a:off x="255117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7" name="Google Shape;3367;g3f883da9c22_0_2401"/>
          <p:cNvSpPr/>
          <p:nvPr/>
        </p:nvSpPr>
        <p:spPr>
          <a:xfrm>
            <a:off x="279806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8" name="Google Shape;3368;g3f883da9c22_0_2401"/>
          <p:cNvSpPr/>
          <p:nvPr/>
        </p:nvSpPr>
        <p:spPr>
          <a:xfrm>
            <a:off x="82296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9" name="Google Shape;3369;g3f883da9c22_0_2401"/>
          <p:cNvSpPr/>
          <p:nvPr/>
        </p:nvSpPr>
        <p:spPr>
          <a:xfrm>
            <a:off x="106984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0" name="Google Shape;3370;g3f883da9c22_0_2401"/>
          <p:cNvSpPr/>
          <p:nvPr/>
        </p:nvSpPr>
        <p:spPr>
          <a:xfrm>
            <a:off x="131673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1" name="Google Shape;3371;g3f883da9c22_0_2401"/>
          <p:cNvSpPr/>
          <p:nvPr/>
        </p:nvSpPr>
        <p:spPr>
          <a:xfrm>
            <a:off x="156362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2" name="Google Shape;3372;g3f883da9c22_0_2401"/>
          <p:cNvSpPr/>
          <p:nvPr/>
        </p:nvSpPr>
        <p:spPr>
          <a:xfrm>
            <a:off x="181051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3" name="Google Shape;3373;g3f883da9c22_0_2401"/>
          <p:cNvSpPr/>
          <p:nvPr/>
        </p:nvSpPr>
        <p:spPr>
          <a:xfrm>
            <a:off x="205740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4" name="Google Shape;3374;g3f883da9c22_0_2401"/>
          <p:cNvSpPr/>
          <p:nvPr/>
        </p:nvSpPr>
        <p:spPr>
          <a:xfrm>
            <a:off x="230428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5" name="Google Shape;3375;g3f883da9c22_0_2401"/>
          <p:cNvSpPr/>
          <p:nvPr/>
        </p:nvSpPr>
        <p:spPr>
          <a:xfrm>
            <a:off x="255117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6" name="Google Shape;3376;g3f883da9c22_0_2401"/>
          <p:cNvSpPr/>
          <p:nvPr/>
        </p:nvSpPr>
        <p:spPr>
          <a:xfrm>
            <a:off x="279806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7" name="Google Shape;3377;g3f883da9c22_0_2401"/>
          <p:cNvSpPr/>
          <p:nvPr/>
        </p:nvSpPr>
        <p:spPr>
          <a:xfrm>
            <a:off x="82296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8" name="Google Shape;3378;g3f883da9c22_0_2401"/>
          <p:cNvSpPr/>
          <p:nvPr/>
        </p:nvSpPr>
        <p:spPr>
          <a:xfrm>
            <a:off x="106984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9" name="Google Shape;3379;g3f883da9c22_0_2401"/>
          <p:cNvSpPr/>
          <p:nvPr/>
        </p:nvSpPr>
        <p:spPr>
          <a:xfrm>
            <a:off x="131673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0" name="Google Shape;3380;g3f883da9c22_0_2401"/>
          <p:cNvSpPr/>
          <p:nvPr/>
        </p:nvSpPr>
        <p:spPr>
          <a:xfrm>
            <a:off x="156362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1" name="Google Shape;3381;g3f883da9c22_0_2401"/>
          <p:cNvSpPr/>
          <p:nvPr/>
        </p:nvSpPr>
        <p:spPr>
          <a:xfrm>
            <a:off x="181051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2" name="Google Shape;3382;g3f883da9c22_0_2401"/>
          <p:cNvSpPr/>
          <p:nvPr/>
        </p:nvSpPr>
        <p:spPr>
          <a:xfrm>
            <a:off x="205740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3" name="Google Shape;3383;g3f883da9c22_0_2401"/>
          <p:cNvSpPr/>
          <p:nvPr/>
        </p:nvSpPr>
        <p:spPr>
          <a:xfrm>
            <a:off x="230428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4" name="Google Shape;3384;g3f883da9c22_0_2401"/>
          <p:cNvSpPr/>
          <p:nvPr/>
        </p:nvSpPr>
        <p:spPr>
          <a:xfrm>
            <a:off x="255117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5" name="Google Shape;3385;g3f883da9c22_0_2401"/>
          <p:cNvSpPr/>
          <p:nvPr/>
        </p:nvSpPr>
        <p:spPr>
          <a:xfrm>
            <a:off x="279806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6" name="Google Shape;3386;g3f883da9c22_0_2401"/>
          <p:cNvSpPr/>
          <p:nvPr/>
        </p:nvSpPr>
        <p:spPr>
          <a:xfrm>
            <a:off x="82296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7" name="Google Shape;3387;g3f883da9c22_0_2401"/>
          <p:cNvSpPr/>
          <p:nvPr/>
        </p:nvSpPr>
        <p:spPr>
          <a:xfrm>
            <a:off x="106984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8" name="Google Shape;3388;g3f883da9c22_0_2401"/>
          <p:cNvSpPr/>
          <p:nvPr/>
        </p:nvSpPr>
        <p:spPr>
          <a:xfrm>
            <a:off x="131673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9" name="Google Shape;3389;g3f883da9c22_0_2401"/>
          <p:cNvSpPr/>
          <p:nvPr/>
        </p:nvSpPr>
        <p:spPr>
          <a:xfrm>
            <a:off x="156362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0" name="Google Shape;3390;g3f883da9c22_0_2401"/>
          <p:cNvSpPr/>
          <p:nvPr/>
        </p:nvSpPr>
        <p:spPr>
          <a:xfrm>
            <a:off x="181051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1" name="Google Shape;3391;g3f883da9c22_0_2401"/>
          <p:cNvSpPr/>
          <p:nvPr/>
        </p:nvSpPr>
        <p:spPr>
          <a:xfrm>
            <a:off x="205740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2" name="Google Shape;3392;g3f883da9c22_0_2401"/>
          <p:cNvSpPr/>
          <p:nvPr/>
        </p:nvSpPr>
        <p:spPr>
          <a:xfrm>
            <a:off x="230428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3" name="Google Shape;3393;g3f883da9c22_0_2401"/>
          <p:cNvSpPr/>
          <p:nvPr/>
        </p:nvSpPr>
        <p:spPr>
          <a:xfrm>
            <a:off x="255117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4" name="Google Shape;3394;g3f883da9c22_0_2401"/>
          <p:cNvSpPr/>
          <p:nvPr/>
        </p:nvSpPr>
        <p:spPr>
          <a:xfrm>
            <a:off x="279806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5" name="Google Shape;3395;g3f883da9c22_0_2401"/>
          <p:cNvSpPr/>
          <p:nvPr/>
        </p:nvSpPr>
        <p:spPr>
          <a:xfrm>
            <a:off x="82296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6" name="Google Shape;3396;g3f883da9c22_0_2401"/>
          <p:cNvSpPr/>
          <p:nvPr/>
        </p:nvSpPr>
        <p:spPr>
          <a:xfrm>
            <a:off x="106984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7" name="Google Shape;3397;g3f883da9c22_0_2401"/>
          <p:cNvSpPr/>
          <p:nvPr/>
        </p:nvSpPr>
        <p:spPr>
          <a:xfrm>
            <a:off x="131673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8" name="Google Shape;3398;g3f883da9c22_0_2401"/>
          <p:cNvSpPr/>
          <p:nvPr/>
        </p:nvSpPr>
        <p:spPr>
          <a:xfrm>
            <a:off x="156362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9" name="Google Shape;3399;g3f883da9c22_0_2401"/>
          <p:cNvSpPr/>
          <p:nvPr/>
        </p:nvSpPr>
        <p:spPr>
          <a:xfrm>
            <a:off x="181051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0" name="Google Shape;3400;g3f883da9c22_0_2401"/>
          <p:cNvSpPr/>
          <p:nvPr/>
        </p:nvSpPr>
        <p:spPr>
          <a:xfrm>
            <a:off x="205740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1" name="Google Shape;3401;g3f883da9c22_0_2401"/>
          <p:cNvSpPr/>
          <p:nvPr/>
        </p:nvSpPr>
        <p:spPr>
          <a:xfrm>
            <a:off x="230428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2" name="Google Shape;3402;g3f883da9c22_0_2401"/>
          <p:cNvSpPr/>
          <p:nvPr/>
        </p:nvSpPr>
        <p:spPr>
          <a:xfrm>
            <a:off x="255117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3" name="Google Shape;3403;g3f883da9c22_0_2401"/>
          <p:cNvSpPr/>
          <p:nvPr/>
        </p:nvSpPr>
        <p:spPr>
          <a:xfrm>
            <a:off x="279806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4" name="Google Shape;3404;g3f883da9c22_0_2401"/>
          <p:cNvSpPr txBox="1"/>
          <p:nvPr/>
        </p:nvSpPr>
        <p:spPr>
          <a:xfrm>
            <a:off x="365760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5" name="Google Shape;3405;g3f883da9c22_0_2401"/>
          <p:cNvSpPr/>
          <p:nvPr/>
        </p:nvSpPr>
        <p:spPr>
          <a:xfrm>
            <a:off x="365760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6" name="Google Shape;3406;g3f883da9c22_0_2401"/>
          <p:cNvSpPr/>
          <p:nvPr/>
        </p:nvSpPr>
        <p:spPr>
          <a:xfrm>
            <a:off x="390448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7" name="Google Shape;3407;g3f883da9c22_0_2401"/>
          <p:cNvSpPr/>
          <p:nvPr/>
        </p:nvSpPr>
        <p:spPr>
          <a:xfrm>
            <a:off x="415137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8" name="Google Shape;3408;g3f883da9c22_0_2401"/>
          <p:cNvSpPr/>
          <p:nvPr/>
        </p:nvSpPr>
        <p:spPr>
          <a:xfrm>
            <a:off x="439826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9" name="Google Shape;3409;g3f883da9c22_0_2401"/>
          <p:cNvSpPr/>
          <p:nvPr/>
        </p:nvSpPr>
        <p:spPr>
          <a:xfrm>
            <a:off x="464515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0" name="Google Shape;3410;g3f883da9c22_0_2401"/>
          <p:cNvSpPr/>
          <p:nvPr/>
        </p:nvSpPr>
        <p:spPr>
          <a:xfrm>
            <a:off x="489204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1" name="Google Shape;3411;g3f883da9c22_0_2401"/>
          <p:cNvSpPr/>
          <p:nvPr/>
        </p:nvSpPr>
        <p:spPr>
          <a:xfrm>
            <a:off x="513892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2" name="Google Shape;3412;g3f883da9c22_0_2401"/>
          <p:cNvSpPr/>
          <p:nvPr/>
        </p:nvSpPr>
        <p:spPr>
          <a:xfrm>
            <a:off x="538581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3" name="Google Shape;3413;g3f883da9c22_0_2401"/>
          <p:cNvSpPr/>
          <p:nvPr/>
        </p:nvSpPr>
        <p:spPr>
          <a:xfrm>
            <a:off x="563270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4" name="Google Shape;3414;g3f883da9c22_0_2401"/>
          <p:cNvSpPr/>
          <p:nvPr/>
        </p:nvSpPr>
        <p:spPr>
          <a:xfrm>
            <a:off x="365760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5" name="Google Shape;3415;g3f883da9c22_0_2401"/>
          <p:cNvSpPr/>
          <p:nvPr/>
        </p:nvSpPr>
        <p:spPr>
          <a:xfrm>
            <a:off x="390448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6" name="Google Shape;3416;g3f883da9c22_0_2401"/>
          <p:cNvSpPr/>
          <p:nvPr/>
        </p:nvSpPr>
        <p:spPr>
          <a:xfrm>
            <a:off x="415137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7" name="Google Shape;3417;g3f883da9c22_0_2401"/>
          <p:cNvSpPr/>
          <p:nvPr/>
        </p:nvSpPr>
        <p:spPr>
          <a:xfrm>
            <a:off x="439826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8" name="Google Shape;3418;g3f883da9c22_0_2401"/>
          <p:cNvSpPr/>
          <p:nvPr/>
        </p:nvSpPr>
        <p:spPr>
          <a:xfrm>
            <a:off x="464515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9" name="Google Shape;3419;g3f883da9c22_0_2401"/>
          <p:cNvSpPr/>
          <p:nvPr/>
        </p:nvSpPr>
        <p:spPr>
          <a:xfrm>
            <a:off x="489204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0" name="Google Shape;3420;g3f883da9c22_0_2401"/>
          <p:cNvSpPr/>
          <p:nvPr/>
        </p:nvSpPr>
        <p:spPr>
          <a:xfrm>
            <a:off x="513892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1" name="Google Shape;3421;g3f883da9c22_0_2401"/>
          <p:cNvSpPr/>
          <p:nvPr/>
        </p:nvSpPr>
        <p:spPr>
          <a:xfrm>
            <a:off x="538581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2" name="Google Shape;3422;g3f883da9c22_0_2401"/>
          <p:cNvSpPr/>
          <p:nvPr/>
        </p:nvSpPr>
        <p:spPr>
          <a:xfrm>
            <a:off x="563270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3" name="Google Shape;3423;g3f883da9c22_0_2401"/>
          <p:cNvSpPr/>
          <p:nvPr/>
        </p:nvSpPr>
        <p:spPr>
          <a:xfrm>
            <a:off x="365760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4" name="Google Shape;3424;g3f883da9c22_0_2401"/>
          <p:cNvSpPr/>
          <p:nvPr/>
        </p:nvSpPr>
        <p:spPr>
          <a:xfrm>
            <a:off x="390448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5" name="Google Shape;3425;g3f883da9c22_0_2401"/>
          <p:cNvSpPr/>
          <p:nvPr/>
        </p:nvSpPr>
        <p:spPr>
          <a:xfrm>
            <a:off x="415137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6" name="Google Shape;3426;g3f883da9c22_0_2401"/>
          <p:cNvSpPr/>
          <p:nvPr/>
        </p:nvSpPr>
        <p:spPr>
          <a:xfrm>
            <a:off x="439826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7" name="Google Shape;3427;g3f883da9c22_0_2401"/>
          <p:cNvSpPr/>
          <p:nvPr/>
        </p:nvSpPr>
        <p:spPr>
          <a:xfrm>
            <a:off x="464515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8" name="Google Shape;3428;g3f883da9c22_0_2401"/>
          <p:cNvSpPr/>
          <p:nvPr/>
        </p:nvSpPr>
        <p:spPr>
          <a:xfrm>
            <a:off x="489204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9" name="Google Shape;3429;g3f883da9c22_0_2401"/>
          <p:cNvSpPr/>
          <p:nvPr/>
        </p:nvSpPr>
        <p:spPr>
          <a:xfrm>
            <a:off x="513892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0" name="Google Shape;3430;g3f883da9c22_0_2401"/>
          <p:cNvSpPr/>
          <p:nvPr/>
        </p:nvSpPr>
        <p:spPr>
          <a:xfrm>
            <a:off x="538581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1" name="Google Shape;3431;g3f883da9c22_0_2401"/>
          <p:cNvSpPr/>
          <p:nvPr/>
        </p:nvSpPr>
        <p:spPr>
          <a:xfrm>
            <a:off x="563270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2" name="Google Shape;3432;g3f883da9c22_0_2401"/>
          <p:cNvSpPr/>
          <p:nvPr/>
        </p:nvSpPr>
        <p:spPr>
          <a:xfrm>
            <a:off x="365760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3" name="Google Shape;3433;g3f883da9c22_0_2401"/>
          <p:cNvSpPr/>
          <p:nvPr/>
        </p:nvSpPr>
        <p:spPr>
          <a:xfrm>
            <a:off x="390448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4" name="Google Shape;3434;g3f883da9c22_0_2401"/>
          <p:cNvSpPr/>
          <p:nvPr/>
        </p:nvSpPr>
        <p:spPr>
          <a:xfrm>
            <a:off x="415137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5" name="Google Shape;3435;g3f883da9c22_0_2401"/>
          <p:cNvSpPr/>
          <p:nvPr/>
        </p:nvSpPr>
        <p:spPr>
          <a:xfrm>
            <a:off x="439826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6" name="Google Shape;3436;g3f883da9c22_0_2401"/>
          <p:cNvSpPr/>
          <p:nvPr/>
        </p:nvSpPr>
        <p:spPr>
          <a:xfrm>
            <a:off x="464515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7" name="Google Shape;3437;g3f883da9c22_0_2401"/>
          <p:cNvSpPr/>
          <p:nvPr/>
        </p:nvSpPr>
        <p:spPr>
          <a:xfrm>
            <a:off x="489204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8" name="Google Shape;3438;g3f883da9c22_0_2401"/>
          <p:cNvSpPr/>
          <p:nvPr/>
        </p:nvSpPr>
        <p:spPr>
          <a:xfrm>
            <a:off x="513892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9" name="Google Shape;3439;g3f883da9c22_0_2401"/>
          <p:cNvSpPr/>
          <p:nvPr/>
        </p:nvSpPr>
        <p:spPr>
          <a:xfrm>
            <a:off x="538581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0" name="Google Shape;3440;g3f883da9c22_0_2401"/>
          <p:cNvSpPr/>
          <p:nvPr/>
        </p:nvSpPr>
        <p:spPr>
          <a:xfrm>
            <a:off x="563270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1" name="Google Shape;3441;g3f883da9c22_0_2401"/>
          <p:cNvSpPr/>
          <p:nvPr/>
        </p:nvSpPr>
        <p:spPr>
          <a:xfrm>
            <a:off x="365760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2" name="Google Shape;3442;g3f883da9c22_0_2401"/>
          <p:cNvSpPr/>
          <p:nvPr/>
        </p:nvSpPr>
        <p:spPr>
          <a:xfrm>
            <a:off x="390448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3" name="Google Shape;3443;g3f883da9c22_0_2401"/>
          <p:cNvSpPr/>
          <p:nvPr/>
        </p:nvSpPr>
        <p:spPr>
          <a:xfrm>
            <a:off x="415137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4" name="Google Shape;3444;g3f883da9c22_0_2401"/>
          <p:cNvSpPr/>
          <p:nvPr/>
        </p:nvSpPr>
        <p:spPr>
          <a:xfrm>
            <a:off x="439826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5" name="Google Shape;3445;g3f883da9c22_0_2401"/>
          <p:cNvSpPr/>
          <p:nvPr/>
        </p:nvSpPr>
        <p:spPr>
          <a:xfrm>
            <a:off x="464515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6" name="Google Shape;3446;g3f883da9c22_0_2401"/>
          <p:cNvSpPr/>
          <p:nvPr/>
        </p:nvSpPr>
        <p:spPr>
          <a:xfrm>
            <a:off x="489204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7" name="Google Shape;3447;g3f883da9c22_0_2401"/>
          <p:cNvSpPr/>
          <p:nvPr/>
        </p:nvSpPr>
        <p:spPr>
          <a:xfrm>
            <a:off x="513892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8" name="Google Shape;3448;g3f883da9c22_0_2401"/>
          <p:cNvSpPr/>
          <p:nvPr/>
        </p:nvSpPr>
        <p:spPr>
          <a:xfrm>
            <a:off x="538581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9" name="Google Shape;3449;g3f883da9c22_0_2401"/>
          <p:cNvSpPr/>
          <p:nvPr/>
        </p:nvSpPr>
        <p:spPr>
          <a:xfrm>
            <a:off x="563270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0" name="Google Shape;3450;g3f883da9c22_0_2401"/>
          <p:cNvSpPr/>
          <p:nvPr/>
        </p:nvSpPr>
        <p:spPr>
          <a:xfrm>
            <a:off x="365760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1" name="Google Shape;3451;g3f883da9c22_0_2401"/>
          <p:cNvSpPr/>
          <p:nvPr/>
        </p:nvSpPr>
        <p:spPr>
          <a:xfrm>
            <a:off x="390448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2" name="Google Shape;3452;g3f883da9c22_0_2401"/>
          <p:cNvSpPr/>
          <p:nvPr/>
        </p:nvSpPr>
        <p:spPr>
          <a:xfrm>
            <a:off x="415137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3" name="Google Shape;3453;g3f883da9c22_0_2401"/>
          <p:cNvSpPr/>
          <p:nvPr/>
        </p:nvSpPr>
        <p:spPr>
          <a:xfrm>
            <a:off x="439826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4" name="Google Shape;3454;g3f883da9c22_0_2401"/>
          <p:cNvSpPr/>
          <p:nvPr/>
        </p:nvSpPr>
        <p:spPr>
          <a:xfrm>
            <a:off x="464515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5" name="Google Shape;3455;g3f883da9c22_0_2401"/>
          <p:cNvSpPr/>
          <p:nvPr/>
        </p:nvSpPr>
        <p:spPr>
          <a:xfrm>
            <a:off x="489204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6" name="Google Shape;3456;g3f883da9c22_0_2401"/>
          <p:cNvSpPr/>
          <p:nvPr/>
        </p:nvSpPr>
        <p:spPr>
          <a:xfrm>
            <a:off x="513892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7" name="Google Shape;3457;g3f883da9c22_0_2401"/>
          <p:cNvSpPr/>
          <p:nvPr/>
        </p:nvSpPr>
        <p:spPr>
          <a:xfrm>
            <a:off x="538581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8" name="Google Shape;3458;g3f883da9c22_0_2401"/>
          <p:cNvSpPr/>
          <p:nvPr/>
        </p:nvSpPr>
        <p:spPr>
          <a:xfrm>
            <a:off x="563270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9" name="Google Shape;3459;g3f883da9c22_0_2401"/>
          <p:cNvSpPr/>
          <p:nvPr/>
        </p:nvSpPr>
        <p:spPr>
          <a:xfrm>
            <a:off x="365760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0" name="Google Shape;3460;g3f883da9c22_0_2401"/>
          <p:cNvSpPr/>
          <p:nvPr/>
        </p:nvSpPr>
        <p:spPr>
          <a:xfrm>
            <a:off x="390448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1" name="Google Shape;3461;g3f883da9c22_0_2401"/>
          <p:cNvSpPr/>
          <p:nvPr/>
        </p:nvSpPr>
        <p:spPr>
          <a:xfrm>
            <a:off x="415137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2" name="Google Shape;3462;g3f883da9c22_0_2401"/>
          <p:cNvSpPr/>
          <p:nvPr/>
        </p:nvSpPr>
        <p:spPr>
          <a:xfrm>
            <a:off x="439826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3" name="Google Shape;3463;g3f883da9c22_0_2401"/>
          <p:cNvSpPr/>
          <p:nvPr/>
        </p:nvSpPr>
        <p:spPr>
          <a:xfrm>
            <a:off x="464515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4" name="Google Shape;3464;g3f883da9c22_0_2401"/>
          <p:cNvSpPr/>
          <p:nvPr/>
        </p:nvSpPr>
        <p:spPr>
          <a:xfrm>
            <a:off x="489204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5" name="Google Shape;3465;g3f883da9c22_0_2401"/>
          <p:cNvSpPr/>
          <p:nvPr/>
        </p:nvSpPr>
        <p:spPr>
          <a:xfrm>
            <a:off x="513892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6" name="Google Shape;3466;g3f883da9c22_0_2401"/>
          <p:cNvSpPr/>
          <p:nvPr/>
        </p:nvSpPr>
        <p:spPr>
          <a:xfrm>
            <a:off x="538581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7" name="Google Shape;3467;g3f883da9c22_0_2401"/>
          <p:cNvSpPr/>
          <p:nvPr/>
        </p:nvSpPr>
        <p:spPr>
          <a:xfrm>
            <a:off x="563270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8" name="Google Shape;3468;g3f883da9c22_0_2401"/>
          <p:cNvSpPr txBox="1"/>
          <p:nvPr/>
        </p:nvSpPr>
        <p:spPr>
          <a:xfrm>
            <a:off x="649224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9" name="Google Shape;3469;g3f883da9c22_0_2401"/>
          <p:cNvSpPr/>
          <p:nvPr/>
        </p:nvSpPr>
        <p:spPr>
          <a:xfrm>
            <a:off x="649224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0" name="Google Shape;3470;g3f883da9c22_0_2401"/>
          <p:cNvSpPr/>
          <p:nvPr/>
        </p:nvSpPr>
        <p:spPr>
          <a:xfrm>
            <a:off x="673912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1" name="Google Shape;3471;g3f883da9c22_0_2401"/>
          <p:cNvSpPr/>
          <p:nvPr/>
        </p:nvSpPr>
        <p:spPr>
          <a:xfrm>
            <a:off x="698601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2" name="Google Shape;3472;g3f883da9c22_0_2401"/>
          <p:cNvSpPr/>
          <p:nvPr/>
        </p:nvSpPr>
        <p:spPr>
          <a:xfrm>
            <a:off x="723290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3" name="Google Shape;3473;g3f883da9c22_0_2401"/>
          <p:cNvSpPr/>
          <p:nvPr/>
        </p:nvSpPr>
        <p:spPr>
          <a:xfrm>
            <a:off x="747979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4" name="Google Shape;3474;g3f883da9c22_0_2401"/>
          <p:cNvSpPr/>
          <p:nvPr/>
        </p:nvSpPr>
        <p:spPr>
          <a:xfrm>
            <a:off x="772668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5" name="Google Shape;3475;g3f883da9c22_0_2401"/>
          <p:cNvSpPr/>
          <p:nvPr/>
        </p:nvSpPr>
        <p:spPr>
          <a:xfrm>
            <a:off x="797356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6" name="Google Shape;3476;g3f883da9c22_0_2401"/>
          <p:cNvSpPr/>
          <p:nvPr/>
        </p:nvSpPr>
        <p:spPr>
          <a:xfrm>
            <a:off x="822045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7" name="Google Shape;3477;g3f883da9c22_0_2401"/>
          <p:cNvSpPr/>
          <p:nvPr/>
        </p:nvSpPr>
        <p:spPr>
          <a:xfrm>
            <a:off x="846734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8" name="Google Shape;3478;g3f883da9c22_0_2401"/>
          <p:cNvSpPr/>
          <p:nvPr/>
        </p:nvSpPr>
        <p:spPr>
          <a:xfrm>
            <a:off x="649224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9" name="Google Shape;3479;g3f883da9c22_0_2401"/>
          <p:cNvSpPr/>
          <p:nvPr/>
        </p:nvSpPr>
        <p:spPr>
          <a:xfrm>
            <a:off x="673912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0" name="Google Shape;3480;g3f883da9c22_0_2401"/>
          <p:cNvSpPr/>
          <p:nvPr/>
        </p:nvSpPr>
        <p:spPr>
          <a:xfrm>
            <a:off x="698601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1" name="Google Shape;3481;g3f883da9c22_0_2401"/>
          <p:cNvSpPr/>
          <p:nvPr/>
        </p:nvSpPr>
        <p:spPr>
          <a:xfrm>
            <a:off x="723290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2" name="Google Shape;3482;g3f883da9c22_0_2401"/>
          <p:cNvSpPr/>
          <p:nvPr/>
        </p:nvSpPr>
        <p:spPr>
          <a:xfrm>
            <a:off x="747979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3" name="Google Shape;3483;g3f883da9c22_0_2401"/>
          <p:cNvSpPr/>
          <p:nvPr/>
        </p:nvSpPr>
        <p:spPr>
          <a:xfrm>
            <a:off x="772668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4" name="Google Shape;3484;g3f883da9c22_0_2401"/>
          <p:cNvSpPr/>
          <p:nvPr/>
        </p:nvSpPr>
        <p:spPr>
          <a:xfrm>
            <a:off x="797356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5" name="Google Shape;3485;g3f883da9c22_0_2401"/>
          <p:cNvSpPr/>
          <p:nvPr/>
        </p:nvSpPr>
        <p:spPr>
          <a:xfrm>
            <a:off x="822045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6" name="Google Shape;3486;g3f883da9c22_0_2401"/>
          <p:cNvSpPr/>
          <p:nvPr/>
        </p:nvSpPr>
        <p:spPr>
          <a:xfrm>
            <a:off x="846734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7" name="Google Shape;3487;g3f883da9c22_0_2401"/>
          <p:cNvSpPr/>
          <p:nvPr/>
        </p:nvSpPr>
        <p:spPr>
          <a:xfrm>
            <a:off x="649224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8" name="Google Shape;3488;g3f883da9c22_0_2401"/>
          <p:cNvSpPr/>
          <p:nvPr/>
        </p:nvSpPr>
        <p:spPr>
          <a:xfrm>
            <a:off x="673912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9" name="Google Shape;3489;g3f883da9c22_0_2401"/>
          <p:cNvSpPr/>
          <p:nvPr/>
        </p:nvSpPr>
        <p:spPr>
          <a:xfrm>
            <a:off x="698601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0" name="Google Shape;3490;g3f883da9c22_0_2401"/>
          <p:cNvSpPr/>
          <p:nvPr/>
        </p:nvSpPr>
        <p:spPr>
          <a:xfrm>
            <a:off x="723290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1" name="Google Shape;3491;g3f883da9c22_0_2401"/>
          <p:cNvSpPr/>
          <p:nvPr/>
        </p:nvSpPr>
        <p:spPr>
          <a:xfrm>
            <a:off x="747979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2" name="Google Shape;3492;g3f883da9c22_0_2401"/>
          <p:cNvSpPr/>
          <p:nvPr/>
        </p:nvSpPr>
        <p:spPr>
          <a:xfrm>
            <a:off x="772668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3" name="Google Shape;3493;g3f883da9c22_0_2401"/>
          <p:cNvSpPr/>
          <p:nvPr/>
        </p:nvSpPr>
        <p:spPr>
          <a:xfrm>
            <a:off x="797356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4" name="Google Shape;3494;g3f883da9c22_0_2401"/>
          <p:cNvSpPr/>
          <p:nvPr/>
        </p:nvSpPr>
        <p:spPr>
          <a:xfrm>
            <a:off x="822045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5" name="Google Shape;3495;g3f883da9c22_0_2401"/>
          <p:cNvSpPr/>
          <p:nvPr/>
        </p:nvSpPr>
        <p:spPr>
          <a:xfrm>
            <a:off x="846734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6" name="Google Shape;3496;g3f883da9c22_0_2401"/>
          <p:cNvSpPr/>
          <p:nvPr/>
        </p:nvSpPr>
        <p:spPr>
          <a:xfrm>
            <a:off x="649224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7" name="Google Shape;3497;g3f883da9c22_0_2401"/>
          <p:cNvSpPr/>
          <p:nvPr/>
        </p:nvSpPr>
        <p:spPr>
          <a:xfrm>
            <a:off x="673912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8" name="Google Shape;3498;g3f883da9c22_0_2401"/>
          <p:cNvSpPr/>
          <p:nvPr/>
        </p:nvSpPr>
        <p:spPr>
          <a:xfrm>
            <a:off x="698601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9" name="Google Shape;3499;g3f883da9c22_0_2401"/>
          <p:cNvSpPr/>
          <p:nvPr/>
        </p:nvSpPr>
        <p:spPr>
          <a:xfrm>
            <a:off x="723290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0" name="Google Shape;3500;g3f883da9c22_0_2401"/>
          <p:cNvSpPr/>
          <p:nvPr/>
        </p:nvSpPr>
        <p:spPr>
          <a:xfrm>
            <a:off x="747979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1" name="Google Shape;3501;g3f883da9c22_0_2401"/>
          <p:cNvSpPr/>
          <p:nvPr/>
        </p:nvSpPr>
        <p:spPr>
          <a:xfrm>
            <a:off x="772668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2" name="Google Shape;3502;g3f883da9c22_0_2401"/>
          <p:cNvSpPr/>
          <p:nvPr/>
        </p:nvSpPr>
        <p:spPr>
          <a:xfrm>
            <a:off x="797356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3" name="Google Shape;3503;g3f883da9c22_0_2401"/>
          <p:cNvSpPr/>
          <p:nvPr/>
        </p:nvSpPr>
        <p:spPr>
          <a:xfrm>
            <a:off x="822045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4" name="Google Shape;3504;g3f883da9c22_0_2401"/>
          <p:cNvSpPr/>
          <p:nvPr/>
        </p:nvSpPr>
        <p:spPr>
          <a:xfrm>
            <a:off x="846734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5" name="Google Shape;3505;g3f883da9c22_0_2401"/>
          <p:cNvSpPr/>
          <p:nvPr/>
        </p:nvSpPr>
        <p:spPr>
          <a:xfrm>
            <a:off x="649224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6" name="Google Shape;3506;g3f883da9c22_0_2401"/>
          <p:cNvSpPr/>
          <p:nvPr/>
        </p:nvSpPr>
        <p:spPr>
          <a:xfrm>
            <a:off x="673912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7" name="Google Shape;3507;g3f883da9c22_0_2401"/>
          <p:cNvSpPr/>
          <p:nvPr/>
        </p:nvSpPr>
        <p:spPr>
          <a:xfrm>
            <a:off x="698601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8" name="Google Shape;3508;g3f883da9c22_0_2401"/>
          <p:cNvSpPr/>
          <p:nvPr/>
        </p:nvSpPr>
        <p:spPr>
          <a:xfrm>
            <a:off x="723290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9" name="Google Shape;3509;g3f883da9c22_0_2401"/>
          <p:cNvSpPr/>
          <p:nvPr/>
        </p:nvSpPr>
        <p:spPr>
          <a:xfrm>
            <a:off x="747979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0" name="Google Shape;3510;g3f883da9c22_0_2401"/>
          <p:cNvSpPr/>
          <p:nvPr/>
        </p:nvSpPr>
        <p:spPr>
          <a:xfrm>
            <a:off x="772668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1" name="Google Shape;3511;g3f883da9c22_0_2401"/>
          <p:cNvSpPr/>
          <p:nvPr/>
        </p:nvSpPr>
        <p:spPr>
          <a:xfrm>
            <a:off x="797356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2" name="Google Shape;3512;g3f883da9c22_0_2401"/>
          <p:cNvSpPr/>
          <p:nvPr/>
        </p:nvSpPr>
        <p:spPr>
          <a:xfrm>
            <a:off x="822045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3" name="Google Shape;3513;g3f883da9c22_0_2401"/>
          <p:cNvSpPr/>
          <p:nvPr/>
        </p:nvSpPr>
        <p:spPr>
          <a:xfrm>
            <a:off x="846734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4" name="Google Shape;3514;g3f883da9c22_0_2401"/>
          <p:cNvSpPr/>
          <p:nvPr/>
        </p:nvSpPr>
        <p:spPr>
          <a:xfrm>
            <a:off x="649224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5" name="Google Shape;3515;g3f883da9c22_0_2401"/>
          <p:cNvSpPr/>
          <p:nvPr/>
        </p:nvSpPr>
        <p:spPr>
          <a:xfrm>
            <a:off x="673912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6" name="Google Shape;3516;g3f883da9c22_0_2401"/>
          <p:cNvSpPr/>
          <p:nvPr/>
        </p:nvSpPr>
        <p:spPr>
          <a:xfrm>
            <a:off x="698601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7" name="Google Shape;3517;g3f883da9c22_0_2401"/>
          <p:cNvSpPr/>
          <p:nvPr/>
        </p:nvSpPr>
        <p:spPr>
          <a:xfrm>
            <a:off x="723290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8" name="Google Shape;3518;g3f883da9c22_0_2401"/>
          <p:cNvSpPr/>
          <p:nvPr/>
        </p:nvSpPr>
        <p:spPr>
          <a:xfrm>
            <a:off x="747979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9" name="Google Shape;3519;g3f883da9c22_0_2401"/>
          <p:cNvSpPr/>
          <p:nvPr/>
        </p:nvSpPr>
        <p:spPr>
          <a:xfrm>
            <a:off x="772668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0" name="Google Shape;3520;g3f883da9c22_0_2401"/>
          <p:cNvSpPr/>
          <p:nvPr/>
        </p:nvSpPr>
        <p:spPr>
          <a:xfrm>
            <a:off x="797356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1" name="Google Shape;3521;g3f883da9c22_0_2401"/>
          <p:cNvSpPr/>
          <p:nvPr/>
        </p:nvSpPr>
        <p:spPr>
          <a:xfrm>
            <a:off x="822045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2" name="Google Shape;3522;g3f883da9c22_0_2401"/>
          <p:cNvSpPr/>
          <p:nvPr/>
        </p:nvSpPr>
        <p:spPr>
          <a:xfrm>
            <a:off x="846734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3" name="Google Shape;3523;g3f883da9c22_0_2401"/>
          <p:cNvSpPr/>
          <p:nvPr/>
        </p:nvSpPr>
        <p:spPr>
          <a:xfrm>
            <a:off x="649224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4" name="Google Shape;3524;g3f883da9c22_0_2401"/>
          <p:cNvSpPr/>
          <p:nvPr/>
        </p:nvSpPr>
        <p:spPr>
          <a:xfrm>
            <a:off x="673912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5" name="Google Shape;3525;g3f883da9c22_0_2401"/>
          <p:cNvSpPr/>
          <p:nvPr/>
        </p:nvSpPr>
        <p:spPr>
          <a:xfrm>
            <a:off x="698601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6" name="Google Shape;3526;g3f883da9c22_0_2401"/>
          <p:cNvSpPr/>
          <p:nvPr/>
        </p:nvSpPr>
        <p:spPr>
          <a:xfrm>
            <a:off x="723290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7" name="Google Shape;3527;g3f883da9c22_0_2401"/>
          <p:cNvSpPr/>
          <p:nvPr/>
        </p:nvSpPr>
        <p:spPr>
          <a:xfrm>
            <a:off x="747979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8" name="Google Shape;3528;g3f883da9c22_0_2401"/>
          <p:cNvSpPr/>
          <p:nvPr/>
        </p:nvSpPr>
        <p:spPr>
          <a:xfrm>
            <a:off x="772668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9" name="Google Shape;3529;g3f883da9c22_0_2401"/>
          <p:cNvSpPr/>
          <p:nvPr/>
        </p:nvSpPr>
        <p:spPr>
          <a:xfrm>
            <a:off x="797356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0" name="Google Shape;3530;g3f883da9c22_0_2401"/>
          <p:cNvSpPr/>
          <p:nvPr/>
        </p:nvSpPr>
        <p:spPr>
          <a:xfrm>
            <a:off x="822045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1" name="Google Shape;3531;g3f883da9c22_0_2401"/>
          <p:cNvSpPr/>
          <p:nvPr/>
        </p:nvSpPr>
        <p:spPr>
          <a:xfrm>
            <a:off x="846734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2" name="Google Shape;3532;g3f883da9c22_0_2401"/>
          <p:cNvSpPr txBox="1"/>
          <p:nvPr/>
        </p:nvSpPr>
        <p:spPr>
          <a:xfrm>
            <a:off x="9326880" y="2011680"/>
            <a:ext cx="222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3" name="Google Shape;3533;g3f883da9c22_0_2401"/>
          <p:cNvSpPr/>
          <p:nvPr/>
        </p:nvSpPr>
        <p:spPr>
          <a:xfrm>
            <a:off x="932688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4" name="Google Shape;3534;g3f883da9c22_0_2401"/>
          <p:cNvSpPr/>
          <p:nvPr/>
        </p:nvSpPr>
        <p:spPr>
          <a:xfrm>
            <a:off x="957376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5" name="Google Shape;3535;g3f883da9c22_0_2401"/>
          <p:cNvSpPr/>
          <p:nvPr/>
        </p:nvSpPr>
        <p:spPr>
          <a:xfrm>
            <a:off x="982065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6" name="Google Shape;3536;g3f883da9c22_0_2401"/>
          <p:cNvSpPr/>
          <p:nvPr/>
        </p:nvSpPr>
        <p:spPr>
          <a:xfrm>
            <a:off x="1006754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7" name="Google Shape;3537;g3f883da9c22_0_2401"/>
          <p:cNvSpPr/>
          <p:nvPr/>
        </p:nvSpPr>
        <p:spPr>
          <a:xfrm>
            <a:off x="10314432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8" name="Google Shape;3538;g3f883da9c22_0_2401"/>
          <p:cNvSpPr/>
          <p:nvPr/>
        </p:nvSpPr>
        <p:spPr>
          <a:xfrm>
            <a:off x="10561320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9" name="Google Shape;3539;g3f883da9c22_0_2401"/>
          <p:cNvSpPr/>
          <p:nvPr/>
        </p:nvSpPr>
        <p:spPr>
          <a:xfrm>
            <a:off x="10808208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0" name="Google Shape;3540;g3f883da9c22_0_2401"/>
          <p:cNvSpPr/>
          <p:nvPr/>
        </p:nvSpPr>
        <p:spPr>
          <a:xfrm>
            <a:off x="11055096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1" name="Google Shape;3541;g3f883da9c22_0_2401"/>
          <p:cNvSpPr/>
          <p:nvPr/>
        </p:nvSpPr>
        <p:spPr>
          <a:xfrm>
            <a:off x="11301984" y="233172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2" name="Google Shape;3542;g3f883da9c22_0_2401"/>
          <p:cNvSpPr/>
          <p:nvPr/>
        </p:nvSpPr>
        <p:spPr>
          <a:xfrm>
            <a:off x="932688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3" name="Google Shape;3543;g3f883da9c22_0_2401"/>
          <p:cNvSpPr/>
          <p:nvPr/>
        </p:nvSpPr>
        <p:spPr>
          <a:xfrm>
            <a:off x="957376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4" name="Google Shape;3544;g3f883da9c22_0_2401"/>
          <p:cNvSpPr/>
          <p:nvPr/>
        </p:nvSpPr>
        <p:spPr>
          <a:xfrm>
            <a:off x="982065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5" name="Google Shape;3545;g3f883da9c22_0_2401"/>
          <p:cNvSpPr/>
          <p:nvPr/>
        </p:nvSpPr>
        <p:spPr>
          <a:xfrm>
            <a:off x="1006754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6" name="Google Shape;3546;g3f883da9c22_0_2401"/>
          <p:cNvSpPr/>
          <p:nvPr/>
        </p:nvSpPr>
        <p:spPr>
          <a:xfrm>
            <a:off x="10314432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7" name="Google Shape;3547;g3f883da9c22_0_2401"/>
          <p:cNvSpPr/>
          <p:nvPr/>
        </p:nvSpPr>
        <p:spPr>
          <a:xfrm>
            <a:off x="10561320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8" name="Google Shape;3548;g3f883da9c22_0_2401"/>
          <p:cNvSpPr/>
          <p:nvPr/>
        </p:nvSpPr>
        <p:spPr>
          <a:xfrm>
            <a:off x="10808208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9" name="Google Shape;3549;g3f883da9c22_0_2401"/>
          <p:cNvSpPr/>
          <p:nvPr/>
        </p:nvSpPr>
        <p:spPr>
          <a:xfrm>
            <a:off x="11055096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0" name="Google Shape;3550;g3f883da9c22_0_2401"/>
          <p:cNvSpPr/>
          <p:nvPr/>
        </p:nvSpPr>
        <p:spPr>
          <a:xfrm>
            <a:off x="11301984" y="257860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1" name="Google Shape;3551;g3f883da9c22_0_2401"/>
          <p:cNvSpPr/>
          <p:nvPr/>
        </p:nvSpPr>
        <p:spPr>
          <a:xfrm>
            <a:off x="932688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2" name="Google Shape;3552;g3f883da9c22_0_2401"/>
          <p:cNvSpPr/>
          <p:nvPr/>
        </p:nvSpPr>
        <p:spPr>
          <a:xfrm>
            <a:off x="957376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3" name="Google Shape;3553;g3f883da9c22_0_2401"/>
          <p:cNvSpPr/>
          <p:nvPr/>
        </p:nvSpPr>
        <p:spPr>
          <a:xfrm>
            <a:off x="982065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4" name="Google Shape;3554;g3f883da9c22_0_2401"/>
          <p:cNvSpPr/>
          <p:nvPr/>
        </p:nvSpPr>
        <p:spPr>
          <a:xfrm>
            <a:off x="1006754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5" name="Google Shape;3555;g3f883da9c22_0_2401"/>
          <p:cNvSpPr/>
          <p:nvPr/>
        </p:nvSpPr>
        <p:spPr>
          <a:xfrm>
            <a:off x="10314432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6" name="Google Shape;3556;g3f883da9c22_0_2401"/>
          <p:cNvSpPr/>
          <p:nvPr/>
        </p:nvSpPr>
        <p:spPr>
          <a:xfrm>
            <a:off x="10561320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7" name="Google Shape;3557;g3f883da9c22_0_2401"/>
          <p:cNvSpPr/>
          <p:nvPr/>
        </p:nvSpPr>
        <p:spPr>
          <a:xfrm>
            <a:off x="10808208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8" name="Google Shape;3558;g3f883da9c22_0_2401"/>
          <p:cNvSpPr/>
          <p:nvPr/>
        </p:nvSpPr>
        <p:spPr>
          <a:xfrm>
            <a:off x="11055096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9" name="Google Shape;3559;g3f883da9c22_0_2401"/>
          <p:cNvSpPr/>
          <p:nvPr/>
        </p:nvSpPr>
        <p:spPr>
          <a:xfrm>
            <a:off x="11301984" y="2825496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0" name="Google Shape;3560;g3f883da9c22_0_2401"/>
          <p:cNvSpPr/>
          <p:nvPr/>
        </p:nvSpPr>
        <p:spPr>
          <a:xfrm>
            <a:off x="932688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1" name="Google Shape;3561;g3f883da9c22_0_2401"/>
          <p:cNvSpPr/>
          <p:nvPr/>
        </p:nvSpPr>
        <p:spPr>
          <a:xfrm>
            <a:off x="957376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2" name="Google Shape;3562;g3f883da9c22_0_2401"/>
          <p:cNvSpPr/>
          <p:nvPr/>
        </p:nvSpPr>
        <p:spPr>
          <a:xfrm>
            <a:off x="982065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3" name="Google Shape;3563;g3f883da9c22_0_2401"/>
          <p:cNvSpPr/>
          <p:nvPr/>
        </p:nvSpPr>
        <p:spPr>
          <a:xfrm>
            <a:off x="1006754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4" name="Google Shape;3564;g3f883da9c22_0_2401"/>
          <p:cNvSpPr/>
          <p:nvPr/>
        </p:nvSpPr>
        <p:spPr>
          <a:xfrm>
            <a:off x="10314432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5" name="Google Shape;3565;g3f883da9c22_0_2401"/>
          <p:cNvSpPr/>
          <p:nvPr/>
        </p:nvSpPr>
        <p:spPr>
          <a:xfrm>
            <a:off x="10561320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6" name="Google Shape;3566;g3f883da9c22_0_2401"/>
          <p:cNvSpPr/>
          <p:nvPr/>
        </p:nvSpPr>
        <p:spPr>
          <a:xfrm>
            <a:off x="10808208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7" name="Google Shape;3567;g3f883da9c22_0_2401"/>
          <p:cNvSpPr/>
          <p:nvPr/>
        </p:nvSpPr>
        <p:spPr>
          <a:xfrm>
            <a:off x="11055096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8" name="Google Shape;3568;g3f883da9c22_0_2401"/>
          <p:cNvSpPr/>
          <p:nvPr/>
        </p:nvSpPr>
        <p:spPr>
          <a:xfrm>
            <a:off x="11301984" y="3072384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9" name="Google Shape;3569;g3f883da9c22_0_2401"/>
          <p:cNvSpPr/>
          <p:nvPr/>
        </p:nvSpPr>
        <p:spPr>
          <a:xfrm>
            <a:off x="932688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0" name="Google Shape;3570;g3f883da9c22_0_2401"/>
          <p:cNvSpPr/>
          <p:nvPr/>
        </p:nvSpPr>
        <p:spPr>
          <a:xfrm>
            <a:off x="957376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1" name="Google Shape;3571;g3f883da9c22_0_2401"/>
          <p:cNvSpPr/>
          <p:nvPr/>
        </p:nvSpPr>
        <p:spPr>
          <a:xfrm>
            <a:off x="982065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2" name="Google Shape;3572;g3f883da9c22_0_2401"/>
          <p:cNvSpPr/>
          <p:nvPr/>
        </p:nvSpPr>
        <p:spPr>
          <a:xfrm>
            <a:off x="1006754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3" name="Google Shape;3573;g3f883da9c22_0_2401"/>
          <p:cNvSpPr/>
          <p:nvPr/>
        </p:nvSpPr>
        <p:spPr>
          <a:xfrm>
            <a:off x="10314432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4" name="Google Shape;3574;g3f883da9c22_0_2401"/>
          <p:cNvSpPr/>
          <p:nvPr/>
        </p:nvSpPr>
        <p:spPr>
          <a:xfrm>
            <a:off x="10561320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5" name="Google Shape;3575;g3f883da9c22_0_2401"/>
          <p:cNvSpPr/>
          <p:nvPr/>
        </p:nvSpPr>
        <p:spPr>
          <a:xfrm>
            <a:off x="10808208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6" name="Google Shape;3576;g3f883da9c22_0_2401"/>
          <p:cNvSpPr/>
          <p:nvPr/>
        </p:nvSpPr>
        <p:spPr>
          <a:xfrm>
            <a:off x="11055096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7" name="Google Shape;3577;g3f883da9c22_0_2401"/>
          <p:cNvSpPr/>
          <p:nvPr/>
        </p:nvSpPr>
        <p:spPr>
          <a:xfrm>
            <a:off x="11301984" y="3319272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8" name="Google Shape;3578;g3f883da9c22_0_2401"/>
          <p:cNvSpPr/>
          <p:nvPr/>
        </p:nvSpPr>
        <p:spPr>
          <a:xfrm>
            <a:off x="932688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9" name="Google Shape;3579;g3f883da9c22_0_2401"/>
          <p:cNvSpPr/>
          <p:nvPr/>
        </p:nvSpPr>
        <p:spPr>
          <a:xfrm>
            <a:off x="957376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0" name="Google Shape;3580;g3f883da9c22_0_2401"/>
          <p:cNvSpPr/>
          <p:nvPr/>
        </p:nvSpPr>
        <p:spPr>
          <a:xfrm>
            <a:off x="982065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1" name="Google Shape;3581;g3f883da9c22_0_2401"/>
          <p:cNvSpPr/>
          <p:nvPr/>
        </p:nvSpPr>
        <p:spPr>
          <a:xfrm>
            <a:off x="1006754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2" name="Google Shape;3582;g3f883da9c22_0_2401"/>
          <p:cNvSpPr/>
          <p:nvPr/>
        </p:nvSpPr>
        <p:spPr>
          <a:xfrm>
            <a:off x="10314432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3" name="Google Shape;3583;g3f883da9c22_0_2401"/>
          <p:cNvSpPr/>
          <p:nvPr/>
        </p:nvSpPr>
        <p:spPr>
          <a:xfrm>
            <a:off x="10561320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4" name="Google Shape;3584;g3f883da9c22_0_2401"/>
          <p:cNvSpPr/>
          <p:nvPr/>
        </p:nvSpPr>
        <p:spPr>
          <a:xfrm>
            <a:off x="10808208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5" name="Google Shape;3585;g3f883da9c22_0_2401"/>
          <p:cNvSpPr/>
          <p:nvPr/>
        </p:nvSpPr>
        <p:spPr>
          <a:xfrm>
            <a:off x="11055096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6" name="Google Shape;3586;g3f883da9c22_0_2401"/>
          <p:cNvSpPr/>
          <p:nvPr/>
        </p:nvSpPr>
        <p:spPr>
          <a:xfrm>
            <a:off x="11301984" y="3566160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7" name="Google Shape;3587;g3f883da9c22_0_2401"/>
          <p:cNvSpPr/>
          <p:nvPr/>
        </p:nvSpPr>
        <p:spPr>
          <a:xfrm>
            <a:off x="932688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8" name="Google Shape;3588;g3f883da9c22_0_2401"/>
          <p:cNvSpPr/>
          <p:nvPr/>
        </p:nvSpPr>
        <p:spPr>
          <a:xfrm>
            <a:off x="957376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9" name="Google Shape;3589;g3f883da9c22_0_2401"/>
          <p:cNvSpPr/>
          <p:nvPr/>
        </p:nvSpPr>
        <p:spPr>
          <a:xfrm>
            <a:off x="982065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0" name="Google Shape;3590;g3f883da9c22_0_2401"/>
          <p:cNvSpPr/>
          <p:nvPr/>
        </p:nvSpPr>
        <p:spPr>
          <a:xfrm>
            <a:off x="1006754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1" name="Google Shape;3591;g3f883da9c22_0_2401"/>
          <p:cNvSpPr/>
          <p:nvPr/>
        </p:nvSpPr>
        <p:spPr>
          <a:xfrm>
            <a:off x="10314432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2" name="Google Shape;3592;g3f883da9c22_0_2401"/>
          <p:cNvSpPr/>
          <p:nvPr/>
        </p:nvSpPr>
        <p:spPr>
          <a:xfrm>
            <a:off x="10561320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3" name="Google Shape;3593;g3f883da9c22_0_2401"/>
          <p:cNvSpPr/>
          <p:nvPr/>
        </p:nvSpPr>
        <p:spPr>
          <a:xfrm>
            <a:off x="10808208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4" name="Google Shape;3594;g3f883da9c22_0_2401"/>
          <p:cNvSpPr/>
          <p:nvPr/>
        </p:nvSpPr>
        <p:spPr>
          <a:xfrm>
            <a:off x="11055096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5" name="Google Shape;3595;g3f883da9c22_0_2401"/>
          <p:cNvSpPr/>
          <p:nvPr/>
        </p:nvSpPr>
        <p:spPr>
          <a:xfrm>
            <a:off x="11301984" y="3813048"/>
            <a:ext cx="246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6" name="Google Shape;3596;g3f883da9c22_0_2401"/>
          <p:cNvSpPr txBox="1"/>
          <p:nvPr/>
        </p:nvSpPr>
        <p:spPr>
          <a:xfrm>
            <a:off x="1371600" y="425196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Conv1 (3×3)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7" name="Google Shape;3597;g3f883da9c22_0_2401"/>
          <p:cNvSpPr/>
          <p:nvPr/>
        </p:nvSpPr>
        <p:spPr>
          <a:xfrm>
            <a:off x="3154680" y="3200400"/>
            <a:ext cx="2925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8" name="Google Shape;3598;g3f883da9c22_0_2401"/>
          <p:cNvSpPr txBox="1"/>
          <p:nvPr/>
        </p:nvSpPr>
        <p:spPr>
          <a:xfrm>
            <a:off x="4206240" y="425196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Conv2 (3×3)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9" name="Google Shape;3599;g3f883da9c22_0_2401"/>
          <p:cNvSpPr/>
          <p:nvPr/>
        </p:nvSpPr>
        <p:spPr>
          <a:xfrm>
            <a:off x="5989320" y="3200400"/>
            <a:ext cx="2925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0" name="Google Shape;3600;g3f883da9c22_0_2401"/>
          <p:cNvSpPr txBox="1"/>
          <p:nvPr/>
        </p:nvSpPr>
        <p:spPr>
          <a:xfrm>
            <a:off x="7040880" y="425196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Conv3 (3×3)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1" name="Google Shape;3601;g3f883da9c22_0_2401"/>
          <p:cNvSpPr/>
          <p:nvPr/>
        </p:nvSpPr>
        <p:spPr>
          <a:xfrm>
            <a:off x="8823960" y="3200400"/>
            <a:ext cx="2925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2" name="Google Shape;3602;g3f883da9c22_0_2401"/>
          <p:cNvSpPr/>
          <p:nvPr/>
        </p:nvSpPr>
        <p:spPr>
          <a:xfrm>
            <a:off x="7232904" y="2825496"/>
            <a:ext cx="740700" cy="740700"/>
          </a:xfrm>
          <a:prstGeom prst="rect">
            <a:avLst/>
          </a:prstGeom>
          <a:noFill/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3" name="Google Shape;3603;g3f883da9c22_0_2401"/>
          <p:cNvSpPr/>
          <p:nvPr/>
        </p:nvSpPr>
        <p:spPr>
          <a:xfrm>
            <a:off x="10314432" y="3072384"/>
            <a:ext cx="246900" cy="246900"/>
          </a:xfrm>
          <a:prstGeom prst="rect">
            <a:avLst/>
          </a:prstGeom>
          <a:noFill/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4" name="Google Shape;3604;g3f883da9c22_0_2401"/>
          <p:cNvSpPr/>
          <p:nvPr/>
        </p:nvSpPr>
        <p:spPr>
          <a:xfrm rot="539195">
            <a:off x="7958994" y="3006933"/>
            <a:ext cx="2369992" cy="7299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5" name="Google Shape;3605;g3f883da9c22_0_2401"/>
          <p:cNvSpPr/>
          <p:nvPr/>
        </p:nvSpPr>
        <p:spPr>
          <a:xfrm rot="-539195">
            <a:off x="7959051" y="3377397"/>
            <a:ext cx="2369992" cy="7299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6" name="Google Shape;3606;g3f883da9c22_0_2401"/>
          <p:cNvSpPr/>
          <p:nvPr/>
        </p:nvSpPr>
        <p:spPr>
          <a:xfrm>
            <a:off x="4151376" y="2578608"/>
            <a:ext cx="740700" cy="740700"/>
          </a:xfrm>
          <a:prstGeom prst="rect">
            <a:avLst/>
          </a:prstGeom>
          <a:noFill/>
          <a:ln cap="flat" cmpd="sng" w="17775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7" name="Google Shape;3607;g3f883da9c22_0_2401"/>
          <p:cNvSpPr/>
          <p:nvPr/>
        </p:nvSpPr>
        <p:spPr>
          <a:xfrm>
            <a:off x="4398264" y="2825496"/>
            <a:ext cx="740700" cy="740700"/>
          </a:xfrm>
          <a:prstGeom prst="rect">
            <a:avLst/>
          </a:prstGeom>
          <a:noFill/>
          <a:ln cap="flat" cmpd="sng" w="17775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8" name="Google Shape;3608;g3f883da9c22_0_2401"/>
          <p:cNvSpPr/>
          <p:nvPr/>
        </p:nvSpPr>
        <p:spPr>
          <a:xfrm>
            <a:off x="4645152" y="3072384"/>
            <a:ext cx="740700" cy="740700"/>
          </a:xfrm>
          <a:prstGeom prst="rect">
            <a:avLst/>
          </a:prstGeom>
          <a:noFill/>
          <a:ln cap="flat" cmpd="sng" w="17775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9" name="Google Shape;3609;g3f883da9c22_0_2401"/>
          <p:cNvSpPr/>
          <p:nvPr/>
        </p:nvSpPr>
        <p:spPr>
          <a:xfrm rot="306211">
            <a:off x="4887112" y="2686102"/>
            <a:ext cx="2499007" cy="722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0" name="Google Shape;3610;g3f883da9c22_0_2401"/>
          <p:cNvSpPr/>
          <p:nvPr/>
        </p:nvSpPr>
        <p:spPr>
          <a:xfrm rot="-705882">
            <a:off x="4865339" y="3056414"/>
            <a:ext cx="2542510" cy="735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1" name="Google Shape;3611;g3f883da9c22_0_2401"/>
          <p:cNvSpPr/>
          <p:nvPr/>
        </p:nvSpPr>
        <p:spPr>
          <a:xfrm rot="306211">
            <a:off x="5134000" y="2932990"/>
            <a:ext cx="2499007" cy="722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2" name="Google Shape;3612;g3f883da9c22_0_2401"/>
          <p:cNvSpPr/>
          <p:nvPr/>
        </p:nvSpPr>
        <p:spPr>
          <a:xfrm rot="-705882">
            <a:off x="5112227" y="3303302"/>
            <a:ext cx="2542510" cy="735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3" name="Google Shape;3613;g3f883da9c22_0_2401"/>
          <p:cNvSpPr/>
          <p:nvPr/>
        </p:nvSpPr>
        <p:spPr>
          <a:xfrm rot="306211">
            <a:off x="5380888" y="3179878"/>
            <a:ext cx="2499007" cy="722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4" name="Google Shape;3614;g3f883da9c22_0_2401"/>
          <p:cNvSpPr/>
          <p:nvPr/>
        </p:nvSpPr>
        <p:spPr>
          <a:xfrm rot="-705882">
            <a:off x="5359115" y="3550190"/>
            <a:ext cx="2542510" cy="7355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5" name="Google Shape;3615;g3f883da9c22_0_2401"/>
          <p:cNvSpPr/>
          <p:nvPr/>
        </p:nvSpPr>
        <p:spPr>
          <a:xfrm>
            <a:off x="4151376" y="2578608"/>
            <a:ext cx="1234500" cy="1234500"/>
          </a:xfrm>
          <a:prstGeom prst="rect">
            <a:avLst/>
          </a:prstGeom>
          <a:noFill/>
          <a:ln cap="flat" cmpd="sng" w="285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6" name="Google Shape;3616;g3f883da9c22_0_2401"/>
          <p:cNvSpPr/>
          <p:nvPr/>
        </p:nvSpPr>
        <p:spPr>
          <a:xfrm>
            <a:off x="1069848" y="2331720"/>
            <a:ext cx="740700" cy="740700"/>
          </a:xfrm>
          <a:prstGeom prst="rect">
            <a:avLst/>
          </a:prstGeom>
          <a:noFill/>
          <a:ln cap="flat" cmpd="sng" w="1777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7" name="Google Shape;3617;g3f883da9c22_0_2401"/>
          <p:cNvSpPr/>
          <p:nvPr/>
        </p:nvSpPr>
        <p:spPr>
          <a:xfrm>
            <a:off x="1563624" y="2825496"/>
            <a:ext cx="740700" cy="740700"/>
          </a:xfrm>
          <a:prstGeom prst="rect">
            <a:avLst/>
          </a:prstGeom>
          <a:noFill/>
          <a:ln cap="flat" cmpd="sng" w="1777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8" name="Google Shape;3618;g3f883da9c22_0_2401"/>
          <p:cNvSpPr/>
          <p:nvPr/>
        </p:nvSpPr>
        <p:spPr>
          <a:xfrm>
            <a:off x="2057400" y="3319272"/>
            <a:ext cx="740700" cy="740700"/>
          </a:xfrm>
          <a:prstGeom prst="rect">
            <a:avLst/>
          </a:prstGeom>
          <a:noFill/>
          <a:ln cap="flat" cmpd="sng" w="1777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9" name="Google Shape;3619;g3f883da9c22_0_2401"/>
          <p:cNvSpPr/>
          <p:nvPr/>
        </p:nvSpPr>
        <p:spPr>
          <a:xfrm rot="306211">
            <a:off x="1805584" y="2439214"/>
            <a:ext cx="2499007" cy="7225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0" name="Google Shape;3620;g3f883da9c22_0_2401"/>
          <p:cNvSpPr/>
          <p:nvPr/>
        </p:nvSpPr>
        <p:spPr>
          <a:xfrm rot="-705882">
            <a:off x="1783811" y="2809526"/>
            <a:ext cx="2542510" cy="7355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1" name="Google Shape;3621;g3f883da9c22_0_2401"/>
          <p:cNvSpPr/>
          <p:nvPr/>
        </p:nvSpPr>
        <p:spPr>
          <a:xfrm rot="306211">
            <a:off x="2299360" y="2932990"/>
            <a:ext cx="2499007" cy="7225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2" name="Google Shape;3622;g3f883da9c22_0_2401"/>
          <p:cNvSpPr/>
          <p:nvPr/>
        </p:nvSpPr>
        <p:spPr>
          <a:xfrm rot="-705882">
            <a:off x="2277587" y="3303302"/>
            <a:ext cx="2542510" cy="7355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3" name="Google Shape;3623;g3f883da9c22_0_2401"/>
          <p:cNvSpPr/>
          <p:nvPr/>
        </p:nvSpPr>
        <p:spPr>
          <a:xfrm rot="306211">
            <a:off x="2793136" y="3426766"/>
            <a:ext cx="2499007" cy="7225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4" name="Google Shape;3624;g3f883da9c22_0_2401"/>
          <p:cNvSpPr/>
          <p:nvPr/>
        </p:nvSpPr>
        <p:spPr>
          <a:xfrm rot="-705882">
            <a:off x="2771363" y="3797078"/>
            <a:ext cx="2542510" cy="7355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5" name="Google Shape;3625;g3f883da9c22_0_2401"/>
          <p:cNvSpPr/>
          <p:nvPr/>
        </p:nvSpPr>
        <p:spPr>
          <a:xfrm>
            <a:off x="1069848" y="2331720"/>
            <a:ext cx="1728300" cy="1728300"/>
          </a:xfrm>
          <a:prstGeom prst="rect">
            <a:avLst/>
          </a:prstGeom>
          <a:noFill/>
          <a:ln cap="flat" cmpd="sng" w="2857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6" name="Google Shape;3626;g3f883da9c22_0_2401"/>
          <p:cNvSpPr/>
          <p:nvPr/>
        </p:nvSpPr>
        <p:spPr>
          <a:xfrm>
            <a:off x="548640" y="4754880"/>
            <a:ext cx="11064300" cy="1005900"/>
          </a:xfrm>
          <a:prstGeom prst="roundRect">
            <a:avLst>
              <a:gd fmla="val 5455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7" name="Google Shape;3627;g3f883da9c22_0_2401"/>
          <p:cNvSpPr txBox="1"/>
          <p:nvPr/>
        </p:nvSpPr>
        <p:spPr>
          <a:xfrm>
            <a:off x="822960" y="4956048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stacked 3 × 3 conv layers see a 7 × 7 region of the input — the same receptive field as a single 7 × 7 conv, with 27C² parameters instead of 49C² and three ReLUs instead of one.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3632" name="Shape 3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3" name="Google Shape;3633;g3f883da9c22_0_2704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THE PRICE OF DEPTH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4" name="Google Shape;3634;g3f883da9c22_0_2704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VGG16 — memory and parameters, layer by layer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5" name="Google Shape;3635;g3f883da9c22_0_2704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6" name="Google Shape;3636;g3f883da9c22_0_2704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7" name="Google Shape;3637;g3f883da9c22_0_2704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8" name="Google Shape;3638;g3f883da9c22_0_2704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9" name="Google Shape;3639;g3f883da9c22_0_2704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0" name="Google Shape;3640;g3f883da9c22_0_2704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1" name="Google Shape;3641;g3f883da9c22_0_2704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2" name="Google Shape;3642;g3f883da9c22_0_2704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3" name="Google Shape;3643;g3f883da9c22_0_2704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4" name="Google Shape;3644;g3f883da9c22_0_2704"/>
          <p:cNvSpPr txBox="1"/>
          <p:nvPr/>
        </p:nvSpPr>
        <p:spPr>
          <a:xfrm>
            <a:off x="6766560" y="1444752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(not counting biases)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5" name="Google Shape;3645;g3f883da9c22_0_2704"/>
          <p:cNvSpPr txBox="1"/>
          <p:nvPr/>
        </p:nvSpPr>
        <p:spPr>
          <a:xfrm>
            <a:off x="548640" y="1664208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INPUT: [224×224×3]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6" name="Google Shape;3646;g3f883da9c22_0_2704"/>
          <p:cNvSpPr txBox="1"/>
          <p:nvPr/>
        </p:nvSpPr>
        <p:spPr>
          <a:xfrm>
            <a:off x="2880360" y="1664208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224*224*3 = 150K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7" name="Google Shape;3647;g3f883da9c22_0_2704"/>
          <p:cNvSpPr txBox="1"/>
          <p:nvPr/>
        </p:nvSpPr>
        <p:spPr>
          <a:xfrm>
            <a:off x="5120640" y="1664208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8" name="Google Shape;3648;g3f883da9c22_0_2704"/>
          <p:cNvSpPr/>
          <p:nvPr/>
        </p:nvSpPr>
        <p:spPr>
          <a:xfrm>
            <a:off x="502920" y="1830629"/>
            <a:ext cx="8138100" cy="169200"/>
          </a:xfrm>
          <a:prstGeom prst="rect">
            <a:avLst/>
          </a:prstGeom>
          <a:solidFill>
            <a:srgbClr val="E3F5F2"/>
          </a:solidFill>
          <a:ln cap="flat" cmpd="sng" w="12700">
            <a:solidFill>
              <a:srgbClr val="E3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9" name="Google Shape;3649;g3f883da9c22_0_2704"/>
          <p:cNvSpPr txBox="1"/>
          <p:nvPr/>
        </p:nvSpPr>
        <p:spPr>
          <a:xfrm>
            <a:off x="548640" y="1839773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CONV3-64: [224×224×64]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0" name="Google Shape;3650;g3f883da9c22_0_2704"/>
          <p:cNvSpPr txBox="1"/>
          <p:nvPr/>
        </p:nvSpPr>
        <p:spPr>
          <a:xfrm>
            <a:off x="2880360" y="1839773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memory: 224*224*64 = 3.2M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1" name="Google Shape;3651;g3f883da9c22_0_2704"/>
          <p:cNvSpPr txBox="1"/>
          <p:nvPr/>
        </p:nvSpPr>
        <p:spPr>
          <a:xfrm>
            <a:off x="5120640" y="1839773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(3*3*3)*64 = 1 728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2" name="Google Shape;3652;g3f883da9c22_0_2704"/>
          <p:cNvSpPr/>
          <p:nvPr/>
        </p:nvSpPr>
        <p:spPr>
          <a:xfrm>
            <a:off x="502920" y="2006194"/>
            <a:ext cx="8138100" cy="169200"/>
          </a:xfrm>
          <a:prstGeom prst="rect">
            <a:avLst/>
          </a:prstGeom>
          <a:solidFill>
            <a:srgbClr val="E3F5F2"/>
          </a:solidFill>
          <a:ln cap="flat" cmpd="sng" w="12700">
            <a:solidFill>
              <a:srgbClr val="E3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3" name="Google Shape;3653;g3f883da9c22_0_2704"/>
          <p:cNvSpPr txBox="1"/>
          <p:nvPr/>
        </p:nvSpPr>
        <p:spPr>
          <a:xfrm>
            <a:off x="548640" y="2015338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CONV3-64: [224×224×64]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4" name="Google Shape;3654;g3f883da9c22_0_2704"/>
          <p:cNvSpPr txBox="1"/>
          <p:nvPr/>
        </p:nvSpPr>
        <p:spPr>
          <a:xfrm>
            <a:off x="2880360" y="2015338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memory: 224*224*64 = 3.2M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5" name="Google Shape;3655;g3f883da9c22_0_2704"/>
          <p:cNvSpPr txBox="1"/>
          <p:nvPr/>
        </p:nvSpPr>
        <p:spPr>
          <a:xfrm>
            <a:off x="5120640" y="2015338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(3*3*64)*64 = 36 864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6" name="Google Shape;3656;g3f883da9c22_0_2704"/>
          <p:cNvSpPr txBox="1"/>
          <p:nvPr/>
        </p:nvSpPr>
        <p:spPr>
          <a:xfrm>
            <a:off x="548640" y="2190902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POOL2: [112×112×64]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7" name="Google Shape;3657;g3f883da9c22_0_2704"/>
          <p:cNvSpPr txBox="1"/>
          <p:nvPr/>
        </p:nvSpPr>
        <p:spPr>
          <a:xfrm>
            <a:off x="2880360" y="2190902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112*112*64 = 800K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8" name="Google Shape;3658;g3f883da9c22_0_2704"/>
          <p:cNvSpPr txBox="1"/>
          <p:nvPr/>
        </p:nvSpPr>
        <p:spPr>
          <a:xfrm>
            <a:off x="5120640" y="2190902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9" name="Google Shape;3659;g3f883da9c22_0_2704"/>
          <p:cNvSpPr/>
          <p:nvPr/>
        </p:nvSpPr>
        <p:spPr>
          <a:xfrm>
            <a:off x="502920" y="2357323"/>
            <a:ext cx="8138100" cy="169200"/>
          </a:xfrm>
          <a:prstGeom prst="rect">
            <a:avLst/>
          </a:prstGeom>
          <a:solidFill>
            <a:srgbClr val="E3F5F2"/>
          </a:solidFill>
          <a:ln cap="flat" cmpd="sng" w="12700">
            <a:solidFill>
              <a:srgbClr val="E3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0" name="Google Shape;3660;g3f883da9c22_0_2704"/>
          <p:cNvSpPr txBox="1"/>
          <p:nvPr/>
        </p:nvSpPr>
        <p:spPr>
          <a:xfrm>
            <a:off x="548640" y="2366467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CONV3-128: [112×112×128]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1" name="Google Shape;3661;g3f883da9c22_0_2704"/>
          <p:cNvSpPr txBox="1"/>
          <p:nvPr/>
        </p:nvSpPr>
        <p:spPr>
          <a:xfrm>
            <a:off x="2880360" y="2366467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memory: 112*112*128 = 1.6M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2" name="Google Shape;3662;g3f883da9c22_0_2704"/>
          <p:cNvSpPr txBox="1"/>
          <p:nvPr/>
        </p:nvSpPr>
        <p:spPr>
          <a:xfrm>
            <a:off x="5120640" y="2366467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(3*3*64)*128 = 73 728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3" name="Google Shape;3663;g3f883da9c22_0_2704"/>
          <p:cNvSpPr/>
          <p:nvPr/>
        </p:nvSpPr>
        <p:spPr>
          <a:xfrm>
            <a:off x="502920" y="2532888"/>
            <a:ext cx="8138100" cy="169200"/>
          </a:xfrm>
          <a:prstGeom prst="rect">
            <a:avLst/>
          </a:prstGeom>
          <a:solidFill>
            <a:srgbClr val="E3F5F2"/>
          </a:solidFill>
          <a:ln cap="flat" cmpd="sng" w="12700">
            <a:solidFill>
              <a:srgbClr val="E3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4" name="Google Shape;3664;g3f883da9c22_0_2704"/>
          <p:cNvSpPr txBox="1"/>
          <p:nvPr/>
        </p:nvSpPr>
        <p:spPr>
          <a:xfrm>
            <a:off x="548640" y="2542032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CONV3-128: [112×112×128]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5" name="Google Shape;3665;g3f883da9c22_0_2704"/>
          <p:cNvSpPr txBox="1"/>
          <p:nvPr/>
        </p:nvSpPr>
        <p:spPr>
          <a:xfrm>
            <a:off x="2880360" y="2542032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memory: 112*112*128 = 1.6M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6" name="Google Shape;3666;g3f883da9c22_0_2704"/>
          <p:cNvSpPr txBox="1"/>
          <p:nvPr/>
        </p:nvSpPr>
        <p:spPr>
          <a:xfrm>
            <a:off x="5120640" y="2542032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(3*3*128)*128 = 147 456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7" name="Google Shape;3667;g3f883da9c22_0_2704"/>
          <p:cNvSpPr txBox="1"/>
          <p:nvPr/>
        </p:nvSpPr>
        <p:spPr>
          <a:xfrm>
            <a:off x="548640" y="2717597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POOL2: [56×56×128]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8" name="Google Shape;3668;g3f883da9c22_0_2704"/>
          <p:cNvSpPr txBox="1"/>
          <p:nvPr/>
        </p:nvSpPr>
        <p:spPr>
          <a:xfrm>
            <a:off x="2880360" y="2717597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56*56*128 = 400K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9" name="Google Shape;3669;g3f883da9c22_0_2704"/>
          <p:cNvSpPr txBox="1"/>
          <p:nvPr/>
        </p:nvSpPr>
        <p:spPr>
          <a:xfrm>
            <a:off x="5120640" y="2717597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0" name="Google Shape;3670;g3f883da9c22_0_2704"/>
          <p:cNvSpPr txBox="1"/>
          <p:nvPr/>
        </p:nvSpPr>
        <p:spPr>
          <a:xfrm>
            <a:off x="548640" y="2893162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CONV3-256: [56×56×256]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1" name="Google Shape;3671;g3f883da9c22_0_2704"/>
          <p:cNvSpPr txBox="1"/>
          <p:nvPr/>
        </p:nvSpPr>
        <p:spPr>
          <a:xfrm>
            <a:off x="2880360" y="2893162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56*56*256 = 800K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2" name="Google Shape;3672;g3f883da9c22_0_2704"/>
          <p:cNvSpPr txBox="1"/>
          <p:nvPr/>
        </p:nvSpPr>
        <p:spPr>
          <a:xfrm>
            <a:off x="5120640" y="2893162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(3*3*128)*256 = 294 912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3" name="Google Shape;3673;g3f883da9c22_0_2704"/>
          <p:cNvSpPr txBox="1"/>
          <p:nvPr/>
        </p:nvSpPr>
        <p:spPr>
          <a:xfrm>
            <a:off x="548640" y="3068726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CONV3-256: [56×56×256]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4" name="Google Shape;3674;g3f883da9c22_0_2704"/>
          <p:cNvSpPr txBox="1"/>
          <p:nvPr/>
        </p:nvSpPr>
        <p:spPr>
          <a:xfrm>
            <a:off x="2880360" y="3068726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56*56*256 = 800K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5" name="Google Shape;3675;g3f883da9c22_0_2704"/>
          <p:cNvSpPr txBox="1"/>
          <p:nvPr/>
        </p:nvSpPr>
        <p:spPr>
          <a:xfrm>
            <a:off x="5120640" y="3068726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(3*3*256)*256 = 589 824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6" name="Google Shape;3676;g3f883da9c22_0_2704"/>
          <p:cNvSpPr txBox="1"/>
          <p:nvPr/>
        </p:nvSpPr>
        <p:spPr>
          <a:xfrm>
            <a:off x="548640" y="3244291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CONV3-256: [56×56×256]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7" name="Google Shape;3677;g3f883da9c22_0_2704"/>
          <p:cNvSpPr txBox="1"/>
          <p:nvPr/>
        </p:nvSpPr>
        <p:spPr>
          <a:xfrm>
            <a:off x="2880360" y="3244291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56*56*256 = 800K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8" name="Google Shape;3678;g3f883da9c22_0_2704"/>
          <p:cNvSpPr txBox="1"/>
          <p:nvPr/>
        </p:nvSpPr>
        <p:spPr>
          <a:xfrm>
            <a:off x="5120640" y="3244291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(3*3*256)*256 = 589 824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9" name="Google Shape;3679;g3f883da9c22_0_2704"/>
          <p:cNvSpPr txBox="1"/>
          <p:nvPr/>
        </p:nvSpPr>
        <p:spPr>
          <a:xfrm>
            <a:off x="548640" y="3419856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POOL2: [28×28×256]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0" name="Google Shape;3680;g3f883da9c22_0_2704"/>
          <p:cNvSpPr txBox="1"/>
          <p:nvPr/>
        </p:nvSpPr>
        <p:spPr>
          <a:xfrm>
            <a:off x="2880360" y="3419856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28*28*256 = 200K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1" name="Google Shape;3681;g3f883da9c22_0_2704"/>
          <p:cNvSpPr txBox="1"/>
          <p:nvPr/>
        </p:nvSpPr>
        <p:spPr>
          <a:xfrm>
            <a:off x="5120640" y="3419856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2" name="Google Shape;3682;g3f883da9c22_0_2704"/>
          <p:cNvSpPr txBox="1"/>
          <p:nvPr/>
        </p:nvSpPr>
        <p:spPr>
          <a:xfrm>
            <a:off x="548640" y="3595421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CONV3-512: [28×28×512]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3" name="Google Shape;3683;g3f883da9c22_0_2704"/>
          <p:cNvSpPr txBox="1"/>
          <p:nvPr/>
        </p:nvSpPr>
        <p:spPr>
          <a:xfrm>
            <a:off x="2880360" y="3595421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28*28*512 = 400K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4" name="Google Shape;3684;g3f883da9c22_0_2704"/>
          <p:cNvSpPr txBox="1"/>
          <p:nvPr/>
        </p:nvSpPr>
        <p:spPr>
          <a:xfrm>
            <a:off x="5120640" y="3595421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(3*3*256)*512 = 1 179 648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5" name="Google Shape;3685;g3f883da9c22_0_2704"/>
          <p:cNvSpPr txBox="1"/>
          <p:nvPr/>
        </p:nvSpPr>
        <p:spPr>
          <a:xfrm>
            <a:off x="548640" y="3770986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CONV3-512: [28×28×512]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6" name="Google Shape;3686;g3f883da9c22_0_2704"/>
          <p:cNvSpPr txBox="1"/>
          <p:nvPr/>
        </p:nvSpPr>
        <p:spPr>
          <a:xfrm>
            <a:off x="2880360" y="3770986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28*28*512 = 400K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7" name="Google Shape;3687;g3f883da9c22_0_2704"/>
          <p:cNvSpPr txBox="1"/>
          <p:nvPr/>
        </p:nvSpPr>
        <p:spPr>
          <a:xfrm>
            <a:off x="5120640" y="3770986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(3*3*512)*512 = 2 359 296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8" name="Google Shape;3688;g3f883da9c22_0_2704"/>
          <p:cNvSpPr txBox="1"/>
          <p:nvPr/>
        </p:nvSpPr>
        <p:spPr>
          <a:xfrm>
            <a:off x="548640" y="3946550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CONV3-512: [28×28×512]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9" name="Google Shape;3689;g3f883da9c22_0_2704"/>
          <p:cNvSpPr txBox="1"/>
          <p:nvPr/>
        </p:nvSpPr>
        <p:spPr>
          <a:xfrm>
            <a:off x="2880360" y="3946550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28*28*512 = 400K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0" name="Google Shape;3690;g3f883da9c22_0_2704"/>
          <p:cNvSpPr txBox="1"/>
          <p:nvPr/>
        </p:nvSpPr>
        <p:spPr>
          <a:xfrm>
            <a:off x="5120640" y="3946550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(3*3*512)*512 = 2 359 296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1" name="Google Shape;3691;g3f883da9c22_0_2704"/>
          <p:cNvSpPr txBox="1"/>
          <p:nvPr/>
        </p:nvSpPr>
        <p:spPr>
          <a:xfrm>
            <a:off x="548640" y="4122115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POOL2: [14×14×512]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2" name="Google Shape;3692;g3f883da9c22_0_2704"/>
          <p:cNvSpPr txBox="1"/>
          <p:nvPr/>
        </p:nvSpPr>
        <p:spPr>
          <a:xfrm>
            <a:off x="2880360" y="4122115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14*14*512 = 100K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3" name="Google Shape;3693;g3f883da9c22_0_2704"/>
          <p:cNvSpPr txBox="1"/>
          <p:nvPr/>
        </p:nvSpPr>
        <p:spPr>
          <a:xfrm>
            <a:off x="5120640" y="4122115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4" name="Google Shape;3694;g3f883da9c22_0_2704"/>
          <p:cNvSpPr txBox="1"/>
          <p:nvPr/>
        </p:nvSpPr>
        <p:spPr>
          <a:xfrm>
            <a:off x="548640" y="4297680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CONV3-512: [14×14×512]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5" name="Google Shape;3695;g3f883da9c22_0_2704"/>
          <p:cNvSpPr txBox="1"/>
          <p:nvPr/>
        </p:nvSpPr>
        <p:spPr>
          <a:xfrm>
            <a:off x="2880360" y="4297680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14*14*512 = 100K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6" name="Google Shape;3696;g3f883da9c22_0_2704"/>
          <p:cNvSpPr txBox="1"/>
          <p:nvPr/>
        </p:nvSpPr>
        <p:spPr>
          <a:xfrm>
            <a:off x="5120640" y="4297680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(3*3*512)*512 = 2 359 296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7" name="Google Shape;3697;g3f883da9c22_0_2704"/>
          <p:cNvSpPr txBox="1"/>
          <p:nvPr/>
        </p:nvSpPr>
        <p:spPr>
          <a:xfrm>
            <a:off x="548640" y="4473245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CONV3-512: [14×14×512]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8" name="Google Shape;3698;g3f883da9c22_0_2704"/>
          <p:cNvSpPr txBox="1"/>
          <p:nvPr/>
        </p:nvSpPr>
        <p:spPr>
          <a:xfrm>
            <a:off x="2880360" y="4473245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14*14*512 = 100K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9" name="Google Shape;3699;g3f883da9c22_0_2704"/>
          <p:cNvSpPr txBox="1"/>
          <p:nvPr/>
        </p:nvSpPr>
        <p:spPr>
          <a:xfrm>
            <a:off x="5120640" y="4473245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(3*3*512)*512 = 2 359 296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0" name="Google Shape;3700;g3f883da9c22_0_2704"/>
          <p:cNvSpPr txBox="1"/>
          <p:nvPr/>
        </p:nvSpPr>
        <p:spPr>
          <a:xfrm>
            <a:off x="548640" y="4648810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CONV3-512: [14×14×512]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1" name="Google Shape;3701;g3f883da9c22_0_2704"/>
          <p:cNvSpPr txBox="1"/>
          <p:nvPr/>
        </p:nvSpPr>
        <p:spPr>
          <a:xfrm>
            <a:off x="2880360" y="4648810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14*14*512 = 100K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2" name="Google Shape;3702;g3f883da9c22_0_2704"/>
          <p:cNvSpPr txBox="1"/>
          <p:nvPr/>
        </p:nvSpPr>
        <p:spPr>
          <a:xfrm>
            <a:off x="5120640" y="4648810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(3*3*512)*512 = 2 359 296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3" name="Google Shape;3703;g3f883da9c22_0_2704"/>
          <p:cNvSpPr txBox="1"/>
          <p:nvPr/>
        </p:nvSpPr>
        <p:spPr>
          <a:xfrm>
            <a:off x="548640" y="4824374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POOL2: [7×7×512]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4" name="Google Shape;3704;g3f883da9c22_0_2704"/>
          <p:cNvSpPr txBox="1"/>
          <p:nvPr/>
        </p:nvSpPr>
        <p:spPr>
          <a:xfrm>
            <a:off x="2880360" y="4824374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7*7*512 = 25K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5" name="Google Shape;3705;g3f883da9c22_0_2704"/>
          <p:cNvSpPr txBox="1"/>
          <p:nvPr/>
        </p:nvSpPr>
        <p:spPr>
          <a:xfrm>
            <a:off x="5120640" y="4824374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params: 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6" name="Google Shape;3706;g3f883da9c22_0_2704"/>
          <p:cNvSpPr/>
          <p:nvPr/>
        </p:nvSpPr>
        <p:spPr>
          <a:xfrm>
            <a:off x="502920" y="4990795"/>
            <a:ext cx="8138100" cy="169200"/>
          </a:xfrm>
          <a:prstGeom prst="rect">
            <a:avLst/>
          </a:prstGeom>
          <a:solidFill>
            <a:srgbClr val="FFF1F0"/>
          </a:solidFill>
          <a:ln cap="flat" cmpd="sng" w="12700">
            <a:solidFill>
              <a:srgbClr val="FFF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7" name="Google Shape;3707;g3f883da9c22_0_2704"/>
          <p:cNvSpPr txBox="1"/>
          <p:nvPr/>
        </p:nvSpPr>
        <p:spPr>
          <a:xfrm>
            <a:off x="548640" y="4999939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FC: [1×1×4096]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8" name="Google Shape;3708;g3f883da9c22_0_2704"/>
          <p:cNvSpPr txBox="1"/>
          <p:nvPr/>
        </p:nvSpPr>
        <p:spPr>
          <a:xfrm>
            <a:off x="2880360" y="4999939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4096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9" name="Google Shape;3709;g3f883da9c22_0_2704"/>
          <p:cNvSpPr txBox="1"/>
          <p:nvPr/>
        </p:nvSpPr>
        <p:spPr>
          <a:xfrm>
            <a:off x="5120640" y="4999939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params: 7*7*512*4096 = 102 760 448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0" name="Google Shape;3710;g3f883da9c22_0_2704"/>
          <p:cNvSpPr/>
          <p:nvPr/>
        </p:nvSpPr>
        <p:spPr>
          <a:xfrm>
            <a:off x="502920" y="5166360"/>
            <a:ext cx="8138100" cy="169200"/>
          </a:xfrm>
          <a:prstGeom prst="rect">
            <a:avLst/>
          </a:prstGeom>
          <a:solidFill>
            <a:srgbClr val="FFF1F0"/>
          </a:solidFill>
          <a:ln cap="flat" cmpd="sng" w="12700">
            <a:solidFill>
              <a:srgbClr val="FFF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1" name="Google Shape;3711;g3f883da9c22_0_2704"/>
          <p:cNvSpPr txBox="1"/>
          <p:nvPr/>
        </p:nvSpPr>
        <p:spPr>
          <a:xfrm>
            <a:off x="548640" y="5175504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FC: [1×1×4096]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2" name="Google Shape;3712;g3f883da9c22_0_2704"/>
          <p:cNvSpPr txBox="1"/>
          <p:nvPr/>
        </p:nvSpPr>
        <p:spPr>
          <a:xfrm>
            <a:off x="2880360" y="5175504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4096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3" name="Google Shape;3713;g3f883da9c22_0_2704"/>
          <p:cNvSpPr txBox="1"/>
          <p:nvPr/>
        </p:nvSpPr>
        <p:spPr>
          <a:xfrm>
            <a:off x="5120640" y="5175504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params: 4096*4096 = 16 777 216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4" name="Google Shape;3714;g3f883da9c22_0_2704"/>
          <p:cNvSpPr/>
          <p:nvPr/>
        </p:nvSpPr>
        <p:spPr>
          <a:xfrm>
            <a:off x="502920" y="5341925"/>
            <a:ext cx="8138100" cy="169200"/>
          </a:xfrm>
          <a:prstGeom prst="rect">
            <a:avLst/>
          </a:prstGeom>
          <a:solidFill>
            <a:srgbClr val="FFF1F0"/>
          </a:solidFill>
          <a:ln cap="flat" cmpd="sng" w="12700">
            <a:solidFill>
              <a:srgbClr val="FFF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5" name="Google Shape;3715;g3f883da9c22_0_2704"/>
          <p:cNvSpPr txBox="1"/>
          <p:nvPr/>
        </p:nvSpPr>
        <p:spPr>
          <a:xfrm>
            <a:off x="548640" y="5351069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FC: [1×1×1000]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6" name="Google Shape;3716;g3f883da9c22_0_2704"/>
          <p:cNvSpPr txBox="1"/>
          <p:nvPr/>
        </p:nvSpPr>
        <p:spPr>
          <a:xfrm>
            <a:off x="2880360" y="5351069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memory: 1000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7" name="Google Shape;3717;g3f883da9c22_0_2704"/>
          <p:cNvSpPr txBox="1"/>
          <p:nvPr/>
        </p:nvSpPr>
        <p:spPr>
          <a:xfrm>
            <a:off x="5120640" y="5351069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params: 4096*1000 = 4 096 000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g3f883da9c22_0_2704"/>
          <p:cNvSpPr/>
          <p:nvPr/>
        </p:nvSpPr>
        <p:spPr>
          <a:xfrm>
            <a:off x="548640" y="5559552"/>
            <a:ext cx="8092500" cy="658500"/>
          </a:xfrm>
          <a:prstGeom prst="roundRect">
            <a:avLst>
              <a:gd fmla="val 8333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9" name="Google Shape;3719;g3f883da9c22_0_2704"/>
          <p:cNvSpPr txBox="1"/>
          <p:nvPr/>
        </p:nvSpPr>
        <p:spPr>
          <a:xfrm>
            <a:off x="777240" y="5650992"/>
            <a:ext cx="7680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memory: 24M × 4 bytes ≈ 96 MB / image  (forward only — about ×2 for the backward pass)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params: 138M parameters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0" name="Google Shape;3720;g3f883da9c22_0_2704"/>
          <p:cNvSpPr/>
          <p:nvPr/>
        </p:nvSpPr>
        <p:spPr>
          <a:xfrm>
            <a:off x="10378440" y="5495544"/>
            <a:ext cx="1188600" cy="128100"/>
          </a:xfrm>
          <a:prstGeom prst="rect">
            <a:avLst/>
          </a:prstGeom>
          <a:solidFill>
            <a:srgbClr val="D8D4E6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1" name="Google Shape;3721;g3f883da9c22_0_2704"/>
          <p:cNvSpPr txBox="1"/>
          <p:nvPr/>
        </p:nvSpPr>
        <p:spPr>
          <a:xfrm>
            <a:off x="10378440" y="5495544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2" name="Google Shape;3722;g3f883da9c22_0_2704"/>
          <p:cNvSpPr/>
          <p:nvPr/>
        </p:nvSpPr>
        <p:spPr>
          <a:xfrm>
            <a:off x="10378440" y="5344668"/>
            <a:ext cx="1188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3" name="Google Shape;3723;g3f883da9c22_0_2704"/>
          <p:cNvSpPr txBox="1"/>
          <p:nvPr/>
        </p:nvSpPr>
        <p:spPr>
          <a:xfrm>
            <a:off x="10378440" y="5344668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64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4" name="Google Shape;3724;g3f883da9c22_0_2704"/>
          <p:cNvSpPr/>
          <p:nvPr/>
        </p:nvSpPr>
        <p:spPr>
          <a:xfrm>
            <a:off x="10378440" y="5193792"/>
            <a:ext cx="1188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5" name="Google Shape;3725;g3f883da9c22_0_2704"/>
          <p:cNvSpPr txBox="1"/>
          <p:nvPr/>
        </p:nvSpPr>
        <p:spPr>
          <a:xfrm>
            <a:off x="10378440" y="5193792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64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6" name="Google Shape;3726;g3f883da9c22_0_2704"/>
          <p:cNvSpPr/>
          <p:nvPr/>
        </p:nvSpPr>
        <p:spPr>
          <a:xfrm>
            <a:off x="10378440" y="5042916"/>
            <a:ext cx="1188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7" name="Google Shape;3727;g3f883da9c22_0_2704"/>
          <p:cNvSpPr txBox="1"/>
          <p:nvPr/>
        </p:nvSpPr>
        <p:spPr>
          <a:xfrm>
            <a:off x="10378440" y="5042916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8" name="Google Shape;3728;g3f883da9c22_0_2704"/>
          <p:cNvSpPr/>
          <p:nvPr/>
        </p:nvSpPr>
        <p:spPr>
          <a:xfrm>
            <a:off x="10378440" y="4892040"/>
            <a:ext cx="1188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9" name="Google Shape;3729;g3f883da9c22_0_2704"/>
          <p:cNvSpPr txBox="1"/>
          <p:nvPr/>
        </p:nvSpPr>
        <p:spPr>
          <a:xfrm>
            <a:off x="10378440" y="4892040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128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0" name="Google Shape;3730;g3f883da9c22_0_2704"/>
          <p:cNvSpPr/>
          <p:nvPr/>
        </p:nvSpPr>
        <p:spPr>
          <a:xfrm>
            <a:off x="10378440" y="4741164"/>
            <a:ext cx="1188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1" name="Google Shape;3731;g3f883da9c22_0_2704"/>
          <p:cNvSpPr txBox="1"/>
          <p:nvPr/>
        </p:nvSpPr>
        <p:spPr>
          <a:xfrm>
            <a:off x="10378440" y="4741164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128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2" name="Google Shape;3732;g3f883da9c22_0_2704"/>
          <p:cNvSpPr/>
          <p:nvPr/>
        </p:nvSpPr>
        <p:spPr>
          <a:xfrm>
            <a:off x="10378440" y="4590288"/>
            <a:ext cx="1188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3" name="Google Shape;3733;g3f883da9c22_0_2704"/>
          <p:cNvSpPr txBox="1"/>
          <p:nvPr/>
        </p:nvSpPr>
        <p:spPr>
          <a:xfrm>
            <a:off x="10378440" y="4590288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4" name="Google Shape;3734;g3f883da9c22_0_2704"/>
          <p:cNvSpPr/>
          <p:nvPr/>
        </p:nvSpPr>
        <p:spPr>
          <a:xfrm>
            <a:off x="10378440" y="4439412"/>
            <a:ext cx="1188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5" name="Google Shape;3735;g3f883da9c22_0_2704"/>
          <p:cNvSpPr txBox="1"/>
          <p:nvPr/>
        </p:nvSpPr>
        <p:spPr>
          <a:xfrm>
            <a:off x="10378440" y="4439412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6" name="Google Shape;3736;g3f883da9c22_0_2704"/>
          <p:cNvSpPr/>
          <p:nvPr/>
        </p:nvSpPr>
        <p:spPr>
          <a:xfrm>
            <a:off x="10378440" y="4288536"/>
            <a:ext cx="1188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7" name="Google Shape;3737;g3f883da9c22_0_2704"/>
          <p:cNvSpPr txBox="1"/>
          <p:nvPr/>
        </p:nvSpPr>
        <p:spPr>
          <a:xfrm>
            <a:off x="10378440" y="4288536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8" name="Google Shape;3738;g3f883da9c22_0_2704"/>
          <p:cNvSpPr/>
          <p:nvPr/>
        </p:nvSpPr>
        <p:spPr>
          <a:xfrm>
            <a:off x="10378440" y="4137660"/>
            <a:ext cx="1188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9" name="Google Shape;3739;g3f883da9c22_0_2704"/>
          <p:cNvSpPr txBox="1"/>
          <p:nvPr/>
        </p:nvSpPr>
        <p:spPr>
          <a:xfrm>
            <a:off x="10378440" y="4137660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0" name="Google Shape;3740;g3f883da9c22_0_2704"/>
          <p:cNvSpPr/>
          <p:nvPr/>
        </p:nvSpPr>
        <p:spPr>
          <a:xfrm>
            <a:off x="10378440" y="3986784"/>
            <a:ext cx="1188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1" name="Google Shape;3741;g3f883da9c22_0_2704"/>
          <p:cNvSpPr txBox="1"/>
          <p:nvPr/>
        </p:nvSpPr>
        <p:spPr>
          <a:xfrm>
            <a:off x="10378440" y="3986784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2" name="Google Shape;3742;g3f883da9c22_0_2704"/>
          <p:cNvSpPr/>
          <p:nvPr/>
        </p:nvSpPr>
        <p:spPr>
          <a:xfrm>
            <a:off x="10378440" y="3835908"/>
            <a:ext cx="1188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3" name="Google Shape;3743;g3f883da9c22_0_2704"/>
          <p:cNvSpPr txBox="1"/>
          <p:nvPr/>
        </p:nvSpPr>
        <p:spPr>
          <a:xfrm>
            <a:off x="10378440" y="3835908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4" name="Google Shape;3744;g3f883da9c22_0_2704"/>
          <p:cNvSpPr/>
          <p:nvPr/>
        </p:nvSpPr>
        <p:spPr>
          <a:xfrm>
            <a:off x="10378440" y="3685032"/>
            <a:ext cx="1188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5" name="Google Shape;3745;g3f883da9c22_0_2704"/>
          <p:cNvSpPr txBox="1"/>
          <p:nvPr/>
        </p:nvSpPr>
        <p:spPr>
          <a:xfrm>
            <a:off x="10378440" y="3685032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6" name="Google Shape;3746;g3f883da9c22_0_2704"/>
          <p:cNvSpPr/>
          <p:nvPr/>
        </p:nvSpPr>
        <p:spPr>
          <a:xfrm>
            <a:off x="10378440" y="3534156"/>
            <a:ext cx="1188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7" name="Google Shape;3747;g3f883da9c22_0_2704"/>
          <p:cNvSpPr txBox="1"/>
          <p:nvPr/>
        </p:nvSpPr>
        <p:spPr>
          <a:xfrm>
            <a:off x="10378440" y="3534156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8" name="Google Shape;3748;g3f883da9c22_0_2704"/>
          <p:cNvSpPr/>
          <p:nvPr/>
        </p:nvSpPr>
        <p:spPr>
          <a:xfrm>
            <a:off x="10378440" y="3383280"/>
            <a:ext cx="1188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9" name="Google Shape;3749;g3f883da9c22_0_2704"/>
          <p:cNvSpPr txBox="1"/>
          <p:nvPr/>
        </p:nvSpPr>
        <p:spPr>
          <a:xfrm>
            <a:off x="10378440" y="3383280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0" name="Google Shape;3750;g3f883da9c22_0_2704"/>
          <p:cNvSpPr/>
          <p:nvPr/>
        </p:nvSpPr>
        <p:spPr>
          <a:xfrm>
            <a:off x="10378440" y="3232404"/>
            <a:ext cx="1188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1" name="Google Shape;3751;g3f883da9c22_0_2704"/>
          <p:cNvSpPr txBox="1"/>
          <p:nvPr/>
        </p:nvSpPr>
        <p:spPr>
          <a:xfrm>
            <a:off x="10378440" y="3232404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2" name="Google Shape;3752;g3f883da9c22_0_2704"/>
          <p:cNvSpPr/>
          <p:nvPr/>
        </p:nvSpPr>
        <p:spPr>
          <a:xfrm>
            <a:off x="10378440" y="3081528"/>
            <a:ext cx="1188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3" name="Google Shape;3753;g3f883da9c22_0_2704"/>
          <p:cNvSpPr txBox="1"/>
          <p:nvPr/>
        </p:nvSpPr>
        <p:spPr>
          <a:xfrm>
            <a:off x="10378440" y="3081528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4" name="Google Shape;3754;g3f883da9c22_0_2704"/>
          <p:cNvSpPr/>
          <p:nvPr/>
        </p:nvSpPr>
        <p:spPr>
          <a:xfrm>
            <a:off x="10378440" y="2930652"/>
            <a:ext cx="1188600" cy="1281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5" name="Google Shape;3755;g3f883da9c22_0_2704"/>
          <p:cNvSpPr txBox="1"/>
          <p:nvPr/>
        </p:nvSpPr>
        <p:spPr>
          <a:xfrm>
            <a:off x="10378440" y="2930652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6" name="Google Shape;3756;g3f883da9c22_0_2704"/>
          <p:cNvSpPr/>
          <p:nvPr/>
        </p:nvSpPr>
        <p:spPr>
          <a:xfrm>
            <a:off x="10378440" y="2779776"/>
            <a:ext cx="1188600" cy="1281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7" name="Google Shape;3757;g3f883da9c22_0_2704"/>
          <p:cNvSpPr txBox="1"/>
          <p:nvPr/>
        </p:nvSpPr>
        <p:spPr>
          <a:xfrm>
            <a:off x="10378440" y="2779776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8" name="Google Shape;3758;g3f883da9c22_0_2704"/>
          <p:cNvSpPr/>
          <p:nvPr/>
        </p:nvSpPr>
        <p:spPr>
          <a:xfrm>
            <a:off x="10378440" y="2628900"/>
            <a:ext cx="1188600" cy="128100"/>
          </a:xfrm>
          <a:prstGeom prst="rect">
            <a:avLst/>
          </a:prstGeom>
          <a:solidFill>
            <a:srgbClr val="CDEBDF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9" name="Google Shape;3759;g3f883da9c22_0_2704"/>
          <p:cNvSpPr txBox="1"/>
          <p:nvPr/>
        </p:nvSpPr>
        <p:spPr>
          <a:xfrm>
            <a:off x="10378440" y="2628900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 4096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0" name="Google Shape;3760;g3f883da9c22_0_2704"/>
          <p:cNvSpPr/>
          <p:nvPr/>
        </p:nvSpPr>
        <p:spPr>
          <a:xfrm>
            <a:off x="10378440" y="2478024"/>
            <a:ext cx="1188600" cy="128100"/>
          </a:xfrm>
          <a:prstGeom prst="rect">
            <a:avLst/>
          </a:prstGeom>
          <a:solidFill>
            <a:srgbClr val="CDEBDF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1" name="Google Shape;3761;g3f883da9c22_0_2704"/>
          <p:cNvSpPr txBox="1"/>
          <p:nvPr/>
        </p:nvSpPr>
        <p:spPr>
          <a:xfrm>
            <a:off x="10378440" y="2478024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 4096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2" name="Google Shape;3762;g3f883da9c22_0_2704"/>
          <p:cNvSpPr/>
          <p:nvPr/>
        </p:nvSpPr>
        <p:spPr>
          <a:xfrm>
            <a:off x="10378440" y="2327148"/>
            <a:ext cx="1188600" cy="128100"/>
          </a:xfrm>
          <a:prstGeom prst="rect">
            <a:avLst/>
          </a:prstGeom>
          <a:solidFill>
            <a:srgbClr val="CDEBDF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3" name="Google Shape;3763;g3f883da9c22_0_2704"/>
          <p:cNvSpPr txBox="1"/>
          <p:nvPr/>
        </p:nvSpPr>
        <p:spPr>
          <a:xfrm>
            <a:off x="10378440" y="2327148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 1000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4" name="Google Shape;3764;g3f883da9c22_0_2704"/>
          <p:cNvSpPr/>
          <p:nvPr/>
        </p:nvSpPr>
        <p:spPr>
          <a:xfrm>
            <a:off x="10378440" y="2176272"/>
            <a:ext cx="1188600" cy="128100"/>
          </a:xfrm>
          <a:prstGeom prst="rect">
            <a:avLst/>
          </a:prstGeom>
          <a:solidFill>
            <a:srgbClr val="FBD5D3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5" name="Google Shape;3765;g3f883da9c22_0_2704"/>
          <p:cNvSpPr txBox="1"/>
          <p:nvPr/>
        </p:nvSpPr>
        <p:spPr>
          <a:xfrm>
            <a:off x="10378440" y="2176272"/>
            <a:ext cx="1188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550"/>
              <a:buFont typeface="Calibri"/>
              <a:buNone/>
            </a:pPr>
            <a:r>
              <a:rPr b="0" i="0" lang="en-US" sz="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6" name="Google Shape;3766;g3f883da9c22_0_2704"/>
          <p:cNvSpPr txBox="1"/>
          <p:nvPr/>
        </p:nvSpPr>
        <p:spPr>
          <a:xfrm>
            <a:off x="10104120" y="5715000"/>
            <a:ext cx="1737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VGG16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7" name="Google Shape;3767;g3f883da9c22_0_2704"/>
          <p:cNvSpPr/>
          <p:nvPr/>
        </p:nvSpPr>
        <p:spPr>
          <a:xfrm>
            <a:off x="8778240" y="1572768"/>
            <a:ext cx="1481400" cy="868800"/>
          </a:xfrm>
          <a:prstGeom prst="roundRect">
            <a:avLst>
              <a:gd fmla="val 6316" name="adj"/>
            </a:avLst>
          </a:prstGeom>
          <a:solidFill>
            <a:srgbClr val="E3F5F2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8" name="Google Shape;3768;g3f883da9c22_0_2704"/>
          <p:cNvSpPr txBox="1"/>
          <p:nvPr/>
        </p:nvSpPr>
        <p:spPr>
          <a:xfrm>
            <a:off x="8915400" y="1691640"/>
            <a:ext cx="1234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Most memory sits in the early conv layers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9" name="Google Shape;3769;g3f883da9c22_0_2704"/>
          <p:cNvSpPr/>
          <p:nvPr/>
        </p:nvSpPr>
        <p:spPr>
          <a:xfrm>
            <a:off x="8778240" y="4206240"/>
            <a:ext cx="1481400" cy="868800"/>
          </a:xfrm>
          <a:prstGeom prst="roundRect">
            <a:avLst>
              <a:gd fmla="val 6316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0" name="Google Shape;3770;g3f883da9c22_0_2704"/>
          <p:cNvSpPr txBox="1"/>
          <p:nvPr/>
        </p:nvSpPr>
        <p:spPr>
          <a:xfrm>
            <a:off x="8915400" y="4325112"/>
            <a:ext cx="1234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Most parameters sit in the late FC layers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3775" name="Shape 3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6" name="Google Shape;3776;g3f883da9c22_0_2846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VGG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7" name="Google Shape;3777;g3f883da9c22_0_2846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VGG — practical notes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8" name="Google Shape;3778;g3f883da9c22_0_2846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9" name="Google Shape;3779;g3f883da9c22_0_2846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0" name="Google Shape;3780;g3f883da9c22_0_2846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1" name="Google Shape;3781;g3f883da9c22_0_2846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2" name="Google Shape;3782;g3f883da9c22_0_2846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3" name="Google Shape;3783;g3f883da9c22_0_2846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4" name="Google Shape;3784;g3f883da9c22_0_2846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5" name="Google Shape;3785;g3f883da9c22_0_2846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6" name="Google Shape;3786;g3f883da9c22_0_2846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7" name="Google Shape;3787;g3f883da9c22_0_2846"/>
          <p:cNvSpPr/>
          <p:nvPr/>
        </p:nvSpPr>
        <p:spPr>
          <a:xfrm>
            <a:off x="548640" y="1645920"/>
            <a:ext cx="5349300" cy="18288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8" name="Google Shape;3788;g3f883da9c22_0_2846"/>
          <p:cNvSpPr/>
          <p:nvPr/>
        </p:nvSpPr>
        <p:spPr>
          <a:xfrm>
            <a:off x="822960" y="1938528"/>
            <a:ext cx="237600" cy="2376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9" name="Google Shape;3789;g3f883da9c22_0_2846"/>
          <p:cNvSpPr txBox="1"/>
          <p:nvPr/>
        </p:nvSpPr>
        <p:spPr>
          <a:xfrm>
            <a:off x="822960" y="2331720"/>
            <a:ext cx="480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Similar training procedure to Krizhevsky 2012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0" name="Google Shape;3790;g3f883da9c22_0_2846"/>
          <p:cNvSpPr txBox="1"/>
          <p:nvPr/>
        </p:nvSpPr>
        <p:spPr>
          <a:xfrm>
            <a:off x="822960" y="2834640"/>
            <a:ext cx="480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SGD with momentum, weight decay, dropout in the FC layers, heavy augmentation.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1" name="Google Shape;3791;g3f883da9c22_0_2846"/>
          <p:cNvSpPr/>
          <p:nvPr/>
        </p:nvSpPr>
        <p:spPr>
          <a:xfrm>
            <a:off x="6172200" y="1645920"/>
            <a:ext cx="5349300" cy="18288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2" name="Google Shape;3792;g3f883da9c22_0_2846"/>
          <p:cNvSpPr/>
          <p:nvPr/>
        </p:nvSpPr>
        <p:spPr>
          <a:xfrm>
            <a:off x="6446520" y="1938528"/>
            <a:ext cx="237600" cy="237600"/>
          </a:xfrm>
          <a:prstGeom prst="rect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3" name="Google Shape;3793;g3f883da9c22_0_2846"/>
          <p:cNvSpPr txBox="1"/>
          <p:nvPr/>
        </p:nvSpPr>
        <p:spPr>
          <a:xfrm>
            <a:off x="6446520" y="2331720"/>
            <a:ext cx="480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No local response normalisation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4" name="Google Shape;3794;g3f883da9c22_0_2846"/>
          <p:cNvSpPr txBox="1"/>
          <p:nvPr/>
        </p:nvSpPr>
        <p:spPr>
          <a:xfrm>
            <a:off x="6446520" y="2834640"/>
            <a:ext cx="480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LRN was dropped: it added computation and memory without improving accuracy.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5" name="Google Shape;3795;g3f883da9c22_0_2846"/>
          <p:cNvSpPr/>
          <p:nvPr/>
        </p:nvSpPr>
        <p:spPr>
          <a:xfrm>
            <a:off x="548640" y="3794760"/>
            <a:ext cx="5349300" cy="18288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6" name="Google Shape;3796;g3f883da9c22_0_2846"/>
          <p:cNvSpPr/>
          <p:nvPr/>
        </p:nvSpPr>
        <p:spPr>
          <a:xfrm>
            <a:off x="822960" y="4087368"/>
            <a:ext cx="237600" cy="237600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7" name="Google Shape;3797;g3f883da9c22_0_2846"/>
          <p:cNvSpPr txBox="1"/>
          <p:nvPr/>
        </p:nvSpPr>
        <p:spPr>
          <a:xfrm>
            <a:off x="822960" y="4480560"/>
            <a:ext cx="480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VGG16 or VGG19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8" name="Google Shape;3798;g3f883da9c22_0_2846"/>
          <p:cNvSpPr txBox="1"/>
          <p:nvPr/>
        </p:nvSpPr>
        <p:spPr>
          <a:xfrm>
            <a:off x="822960" y="4983480"/>
            <a:ext cx="480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VGG19 is only slightly better and costs more memory — VGG16 is the usual choice.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9" name="Google Shape;3799;g3f883da9c22_0_2846"/>
          <p:cNvSpPr/>
          <p:nvPr/>
        </p:nvSpPr>
        <p:spPr>
          <a:xfrm>
            <a:off x="6172200" y="3794760"/>
            <a:ext cx="5349300" cy="18288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0" name="Google Shape;3800;g3f883da9c22_0_2846"/>
          <p:cNvSpPr/>
          <p:nvPr/>
        </p:nvSpPr>
        <p:spPr>
          <a:xfrm>
            <a:off x="6446520" y="4087368"/>
            <a:ext cx="237600" cy="237600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1" name="Google Shape;3801;g3f883da9c22_0_2846"/>
          <p:cNvSpPr txBox="1"/>
          <p:nvPr/>
        </p:nvSpPr>
        <p:spPr>
          <a:xfrm>
            <a:off x="6446520" y="4480560"/>
            <a:ext cx="480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FC7 features generalise well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2" name="Google Shape;3802;g3f883da9c22_0_2846"/>
          <p:cNvSpPr txBox="1"/>
          <p:nvPr/>
        </p:nvSpPr>
        <p:spPr>
          <a:xfrm>
            <a:off x="6446520" y="4983480"/>
            <a:ext cx="480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penultimate layer transfers to other tasks remarkably well, which made VGG the default feature extractor for years.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3807" name="Shape 3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8" name="Google Shape;3808;g3f883da9c22_0_2877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DEPTH WITH EFFICIENCY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9" name="Google Shape;3809;g3f883da9c22_0_2877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GoogLeNet  ·  Szegedy et al., 2014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0" name="Google Shape;3810;g3f883da9c22_0_2877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1" name="Google Shape;3811;g3f883da9c22_0_2877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2" name="Google Shape;3812;g3f883da9c22_0_2877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3" name="Google Shape;3813;g3f883da9c22_0_2877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4" name="Google Shape;3814;g3f883da9c22_0_2877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5" name="Google Shape;3815;g3f883da9c22_0_2877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6" name="Google Shape;3816;g3f883da9c22_0_2877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7" name="Google Shape;3817;g3f883da9c22_0_2877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8" name="Google Shape;3818;g3f883da9c22_0_2877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9" name="Google Shape;3819;g3f883da9c22_0_2877"/>
          <p:cNvSpPr txBox="1"/>
          <p:nvPr/>
        </p:nvSpPr>
        <p:spPr>
          <a:xfrm>
            <a:off x="548640" y="1600200"/>
            <a:ext cx="41148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50"/>
              <a:buFont typeface="Calibri"/>
              <a:buChar char="•"/>
            </a:pPr>
            <a:r>
              <a:rPr b="1" i="0" lang="en-US" sz="14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Deeper network with computational efficiency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22 layers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Only 5 M parameters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12 times less than AlexNet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27 times less than VGG-16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Avoids expensive fully connected layers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0" name="Google Shape;3820;g3f883da9c22_0_2877"/>
          <p:cNvSpPr/>
          <p:nvPr/>
        </p:nvSpPr>
        <p:spPr>
          <a:xfrm>
            <a:off x="548640" y="4754880"/>
            <a:ext cx="4114800" cy="1051500"/>
          </a:xfrm>
          <a:prstGeom prst="roundRect">
            <a:avLst>
              <a:gd fmla="val 5217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1" name="Google Shape;3821;g3f883da9c22_0_2877"/>
          <p:cNvSpPr txBox="1"/>
          <p:nvPr/>
        </p:nvSpPr>
        <p:spPr>
          <a:xfrm>
            <a:off x="804672" y="4937760"/>
            <a:ext cx="365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Basic idea: design a good local network topology — a network within a network — and stack these modules on top of each other.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2" name="Google Shape;3822;g3f883da9c22_0_2877"/>
          <p:cNvSpPr/>
          <p:nvPr/>
        </p:nvSpPr>
        <p:spPr>
          <a:xfrm>
            <a:off x="4937760" y="1463040"/>
            <a:ext cx="667500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3" name="Google Shape;3823;g3f883da9c22_0_2877"/>
          <p:cNvSpPr/>
          <p:nvPr/>
        </p:nvSpPr>
        <p:spPr>
          <a:xfrm>
            <a:off x="7658100" y="4937760"/>
            <a:ext cx="1234500" cy="420600"/>
          </a:xfrm>
          <a:prstGeom prst="roundRect">
            <a:avLst>
              <a:gd fmla="val 10870" name="adj"/>
            </a:avLst>
          </a:prstGeom>
          <a:solidFill>
            <a:srgbClr val="D9F0EC"/>
          </a:solidFill>
          <a:ln cap="flat" cmpd="sng" w="12700">
            <a:solidFill>
              <a:srgbClr val="D9F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Previous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4" name="Google Shape;3824;g3f883da9c22_0_2877"/>
          <p:cNvSpPr/>
          <p:nvPr/>
        </p:nvSpPr>
        <p:spPr>
          <a:xfrm>
            <a:off x="5600700" y="3749040"/>
            <a:ext cx="1234500" cy="420600"/>
          </a:xfrm>
          <a:prstGeom prst="roundRect">
            <a:avLst>
              <a:gd fmla="val 1087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× 1 conv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5" name="Google Shape;3825;g3f883da9c22_0_2877"/>
          <p:cNvSpPr/>
          <p:nvPr/>
        </p:nvSpPr>
        <p:spPr>
          <a:xfrm rot="-9395350">
            <a:off x="6242200" y="4577800"/>
            <a:ext cx="1648288" cy="10085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6" name="Google Shape;3826;g3f883da9c22_0_2877"/>
          <p:cNvSpPr/>
          <p:nvPr/>
        </p:nvSpPr>
        <p:spPr>
          <a:xfrm rot="-3996576">
            <a:off x="6222934" y="4184970"/>
            <a:ext cx="82369" cy="100647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7" name="Google Shape;3827;g3f883da9c22_0_2877"/>
          <p:cNvSpPr/>
          <p:nvPr/>
        </p:nvSpPr>
        <p:spPr>
          <a:xfrm rot="-1486249">
            <a:off x="6141229" y="3367376"/>
            <a:ext cx="1666867" cy="9932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8" name="Google Shape;3828;g3f883da9c22_0_2877"/>
          <p:cNvSpPr/>
          <p:nvPr/>
        </p:nvSpPr>
        <p:spPr>
          <a:xfrm rot="3912616">
            <a:off x="7735958" y="2951817"/>
            <a:ext cx="82282" cy="100532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9" name="Google Shape;3829;g3f883da9c22_0_2877"/>
          <p:cNvSpPr/>
          <p:nvPr/>
        </p:nvSpPr>
        <p:spPr>
          <a:xfrm>
            <a:off x="6972300" y="3749040"/>
            <a:ext cx="1234500" cy="420600"/>
          </a:xfrm>
          <a:prstGeom prst="roundRect">
            <a:avLst>
              <a:gd fmla="val 1087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3 conv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0" name="Google Shape;3830;g3f883da9c22_0_2877"/>
          <p:cNvSpPr/>
          <p:nvPr/>
        </p:nvSpPr>
        <p:spPr>
          <a:xfrm rot="-7655492">
            <a:off x="7499398" y="4597705"/>
            <a:ext cx="776522" cy="1008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1" name="Google Shape;3831;g3f883da9c22_0_2877"/>
          <p:cNvSpPr/>
          <p:nvPr/>
        </p:nvSpPr>
        <p:spPr>
          <a:xfrm rot="-2254881">
            <a:off x="7579140" y="4204959"/>
            <a:ext cx="82146" cy="100749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2" name="Google Shape;3832;g3f883da9c22_0_2877"/>
          <p:cNvSpPr/>
          <p:nvPr/>
        </p:nvSpPr>
        <p:spPr>
          <a:xfrm rot="-3249455">
            <a:off x="7421008" y="3387073"/>
            <a:ext cx="813071" cy="1008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3" name="Google Shape;3833;g3f883da9c22_0_2877"/>
          <p:cNvSpPr/>
          <p:nvPr/>
        </p:nvSpPr>
        <p:spPr>
          <a:xfrm rot="2157034">
            <a:off x="8053851" y="2971513"/>
            <a:ext cx="82271" cy="100578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4" name="Google Shape;3834;g3f883da9c22_0_2877"/>
          <p:cNvSpPr/>
          <p:nvPr/>
        </p:nvSpPr>
        <p:spPr>
          <a:xfrm>
            <a:off x="8343900" y="3749040"/>
            <a:ext cx="1234500" cy="420600"/>
          </a:xfrm>
          <a:prstGeom prst="roundRect">
            <a:avLst>
              <a:gd fmla="val 1087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× 5 conv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5" name="Google Shape;3835;g3f883da9c22_0_2877"/>
          <p:cNvSpPr/>
          <p:nvPr/>
        </p:nvSpPr>
        <p:spPr>
          <a:xfrm rot="-3144508">
            <a:off x="8274850" y="4597570"/>
            <a:ext cx="776522" cy="1008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6" name="Google Shape;3836;g3f883da9c22_0_2877"/>
          <p:cNvSpPr/>
          <p:nvPr/>
        </p:nvSpPr>
        <p:spPr>
          <a:xfrm rot="2254881">
            <a:off x="8889240" y="4204861"/>
            <a:ext cx="82146" cy="100749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7" name="Google Shape;3837;g3f883da9c22_0_2877"/>
          <p:cNvSpPr/>
          <p:nvPr/>
        </p:nvSpPr>
        <p:spPr>
          <a:xfrm rot="-7550545">
            <a:off x="8316508" y="3386962"/>
            <a:ext cx="813071" cy="1008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8" name="Google Shape;3838;g3f883da9c22_0_2877"/>
          <p:cNvSpPr/>
          <p:nvPr/>
        </p:nvSpPr>
        <p:spPr>
          <a:xfrm rot="-2157034">
            <a:off x="8414402" y="2971397"/>
            <a:ext cx="82271" cy="100578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9" name="Google Shape;3839;g3f883da9c22_0_2877"/>
          <p:cNvSpPr/>
          <p:nvPr/>
        </p:nvSpPr>
        <p:spPr>
          <a:xfrm>
            <a:off x="9715500" y="3749040"/>
            <a:ext cx="1234500" cy="420600"/>
          </a:xfrm>
          <a:prstGeom prst="roundRect">
            <a:avLst>
              <a:gd fmla="val 10870" name="adj"/>
            </a:avLst>
          </a:prstGeom>
          <a:solidFill>
            <a:srgbClr val="F0736F"/>
          </a:solidFill>
          <a:ln cap="flat" cmpd="sng" w="12700">
            <a:solidFill>
              <a:srgbClr val="F073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3 max pool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0" name="Google Shape;3840;g3f883da9c22_0_2877"/>
          <p:cNvSpPr/>
          <p:nvPr/>
        </p:nvSpPr>
        <p:spPr>
          <a:xfrm rot="-1404650">
            <a:off x="8660055" y="4577871"/>
            <a:ext cx="1648288" cy="10085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1" name="Google Shape;3841;g3f883da9c22_0_2877"/>
          <p:cNvSpPr/>
          <p:nvPr/>
        </p:nvSpPr>
        <p:spPr>
          <a:xfrm rot="3996576">
            <a:off x="10245333" y="4185051"/>
            <a:ext cx="82369" cy="100647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2" name="Google Shape;3842;g3f883da9c22_0_2877"/>
          <p:cNvSpPr/>
          <p:nvPr/>
        </p:nvSpPr>
        <p:spPr>
          <a:xfrm rot="-9313751">
            <a:off x="8742530" y="3367508"/>
            <a:ext cx="1666867" cy="9932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3" name="Google Shape;3843;g3f883da9c22_0_2877"/>
          <p:cNvSpPr/>
          <p:nvPr/>
        </p:nvSpPr>
        <p:spPr>
          <a:xfrm rot="-3912616">
            <a:off x="8732413" y="2951838"/>
            <a:ext cx="82282" cy="100532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4" name="Google Shape;3844;g3f883da9c22_0_2877"/>
          <p:cNvSpPr/>
          <p:nvPr/>
        </p:nvSpPr>
        <p:spPr>
          <a:xfrm>
            <a:off x="7520940" y="2514600"/>
            <a:ext cx="1508700" cy="420600"/>
          </a:xfrm>
          <a:prstGeom prst="roundRect">
            <a:avLst>
              <a:gd fmla="val 10870" name="adj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 concatenation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5" name="Google Shape;3845;g3f883da9c22_0_2877"/>
          <p:cNvSpPr txBox="1"/>
          <p:nvPr/>
        </p:nvSpPr>
        <p:spPr>
          <a:xfrm>
            <a:off x="5852160" y="5440680"/>
            <a:ext cx="4846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The inception 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6" name="Google Shape;3846;g3f883da9c22_0_2877"/>
          <p:cNvSpPr txBox="1"/>
          <p:nvPr/>
        </p:nvSpPr>
        <p:spPr>
          <a:xfrm>
            <a:off x="5852160" y="2194560"/>
            <a:ext cx="4846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stacked 9 times to build the full network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3851" name="Shape 3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2" name="Google Shape;3852;g3f883da9c22_0_2920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INCEPTION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3" name="Google Shape;3853;g3f883da9c22_0_2920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GoogLeNet — the naive inception module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4" name="Google Shape;3854;g3f883da9c22_0_2920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5" name="Google Shape;3855;g3f883da9c22_0_2920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6" name="Google Shape;3856;g3f883da9c22_0_2920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7" name="Google Shape;3857;g3f883da9c22_0_2920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8" name="Google Shape;3858;g3f883da9c22_0_2920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9" name="Google Shape;3859;g3f883da9c22_0_2920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0" name="Google Shape;3860;g3f883da9c22_0_2920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1" name="Google Shape;3861;g3f883da9c22_0_2920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2" name="Google Shape;3862;g3f883da9c22_0_2920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3" name="Google Shape;3863;g3f883da9c22_0_2920"/>
          <p:cNvSpPr txBox="1"/>
          <p:nvPr/>
        </p:nvSpPr>
        <p:spPr>
          <a:xfrm>
            <a:off x="548640" y="1600200"/>
            <a:ext cx="42063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Apply parallel filter operations on the input from the previous layer: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multiple receptive field sizes for convolution (1 × 1, 3 × 3, 5 × 5)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 pooling operation (3 × 3)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Concatenate all filter outputs together channel-wise.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Let the network choose which receptive field size is useful at each depth, instead of committing to one.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4" name="Google Shape;3864;g3f883da9c22_0_2920"/>
          <p:cNvSpPr/>
          <p:nvPr/>
        </p:nvSpPr>
        <p:spPr>
          <a:xfrm>
            <a:off x="5029200" y="1463040"/>
            <a:ext cx="658380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5" name="Google Shape;3865;g3f883da9c22_0_2920"/>
          <p:cNvSpPr/>
          <p:nvPr/>
        </p:nvSpPr>
        <p:spPr>
          <a:xfrm>
            <a:off x="7703820" y="4937760"/>
            <a:ext cx="1234500" cy="438900"/>
          </a:xfrm>
          <a:prstGeom prst="roundRect">
            <a:avLst>
              <a:gd fmla="val 10417" name="adj"/>
            </a:avLst>
          </a:prstGeom>
          <a:solidFill>
            <a:srgbClr val="D9F0EC"/>
          </a:solidFill>
          <a:ln cap="flat" cmpd="sng" w="12700">
            <a:solidFill>
              <a:srgbClr val="D9F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Previous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6" name="Google Shape;3866;g3f883da9c22_0_2920"/>
          <p:cNvSpPr/>
          <p:nvPr/>
        </p:nvSpPr>
        <p:spPr>
          <a:xfrm>
            <a:off x="5646420" y="3703320"/>
            <a:ext cx="1234500" cy="438900"/>
          </a:xfrm>
          <a:prstGeom prst="roundRect">
            <a:avLst>
              <a:gd fmla="val 10417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× 1 conv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7" name="Google Shape;3867;g3f883da9c22_0_2920"/>
          <p:cNvSpPr/>
          <p:nvPr/>
        </p:nvSpPr>
        <p:spPr>
          <a:xfrm rot="-9346222">
            <a:off x="6282159" y="4564661"/>
            <a:ext cx="1659378" cy="10204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8" name="Google Shape;3868;g3f883da9c22_0_2920"/>
          <p:cNvSpPr/>
          <p:nvPr/>
        </p:nvSpPr>
        <p:spPr>
          <a:xfrm rot="-3940622">
            <a:off x="6268447" y="4158321"/>
            <a:ext cx="82306" cy="100704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9" name="Google Shape;3869;g3f883da9c22_0_2920"/>
          <p:cNvSpPr/>
          <p:nvPr/>
        </p:nvSpPr>
        <p:spPr>
          <a:xfrm rot="-1613452">
            <a:off x="6171776" y="3286721"/>
            <a:ext cx="1698679" cy="10062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0" name="Google Shape;3870;g3f883da9c22_0_2920"/>
          <p:cNvSpPr/>
          <p:nvPr/>
        </p:nvSpPr>
        <p:spPr>
          <a:xfrm rot="3789300">
            <a:off x="7782362" y="2834610"/>
            <a:ext cx="82378" cy="100625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1" name="Google Shape;3871;g3f883da9c22_0_2920"/>
          <p:cNvSpPr/>
          <p:nvPr/>
        </p:nvSpPr>
        <p:spPr>
          <a:xfrm>
            <a:off x="7018020" y="3703320"/>
            <a:ext cx="1234500" cy="438900"/>
          </a:xfrm>
          <a:prstGeom prst="roundRect">
            <a:avLst>
              <a:gd fmla="val 10417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3 conv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2" name="Google Shape;3872;g3f883da9c22_0_2920"/>
          <p:cNvSpPr/>
          <p:nvPr/>
        </p:nvSpPr>
        <p:spPr>
          <a:xfrm rot="-7592039">
            <a:off x="7533446" y="4584581"/>
            <a:ext cx="798254" cy="1008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3" name="Google Shape;3873;g3f883da9c22_0_2920"/>
          <p:cNvSpPr/>
          <p:nvPr/>
        </p:nvSpPr>
        <p:spPr>
          <a:xfrm rot="-2192105">
            <a:off x="7624101" y="4178059"/>
            <a:ext cx="82141" cy="100561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4" name="Google Shape;3874;g3f883da9c22_0_2920"/>
          <p:cNvSpPr/>
          <p:nvPr/>
        </p:nvSpPr>
        <p:spPr>
          <a:xfrm rot="-3401193">
            <a:off x="7438377" y="3305883"/>
            <a:ext cx="873422" cy="9986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5" name="Google Shape;3875;g3f883da9c22_0_2920"/>
          <p:cNvSpPr/>
          <p:nvPr/>
        </p:nvSpPr>
        <p:spPr>
          <a:xfrm rot="2004024">
            <a:off x="8101383" y="2853863"/>
            <a:ext cx="82291" cy="100514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6" name="Google Shape;3876;g3f883da9c22_0_2920"/>
          <p:cNvSpPr/>
          <p:nvPr/>
        </p:nvSpPr>
        <p:spPr>
          <a:xfrm>
            <a:off x="8389620" y="3703320"/>
            <a:ext cx="1234500" cy="438900"/>
          </a:xfrm>
          <a:prstGeom prst="roundRect">
            <a:avLst>
              <a:gd fmla="val 10417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× 5 conv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7" name="Google Shape;3877;g3f883da9c22_0_2920"/>
          <p:cNvSpPr/>
          <p:nvPr/>
        </p:nvSpPr>
        <p:spPr>
          <a:xfrm rot="-3207961">
            <a:off x="8310398" y="4584595"/>
            <a:ext cx="798254" cy="1008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8" name="Google Shape;3878;g3f883da9c22_0_2920"/>
          <p:cNvSpPr/>
          <p:nvPr/>
        </p:nvSpPr>
        <p:spPr>
          <a:xfrm rot="2192105">
            <a:off x="8935701" y="4177984"/>
            <a:ext cx="82141" cy="100561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9" name="Google Shape;3879;g3f883da9c22_0_2920"/>
          <p:cNvSpPr/>
          <p:nvPr/>
        </p:nvSpPr>
        <p:spPr>
          <a:xfrm rot="-7398807">
            <a:off x="8330277" y="3306007"/>
            <a:ext cx="873422" cy="9986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0" name="Google Shape;3880;g3f883da9c22_0_2920"/>
          <p:cNvSpPr/>
          <p:nvPr/>
        </p:nvSpPr>
        <p:spPr>
          <a:xfrm rot="-2004024">
            <a:off x="8458336" y="2853766"/>
            <a:ext cx="82291" cy="100514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1" name="Google Shape;3881;g3f883da9c22_0_2920"/>
          <p:cNvSpPr/>
          <p:nvPr/>
        </p:nvSpPr>
        <p:spPr>
          <a:xfrm>
            <a:off x="9761220" y="3703320"/>
            <a:ext cx="1234500" cy="438900"/>
          </a:xfrm>
          <a:prstGeom prst="roundRect">
            <a:avLst>
              <a:gd fmla="val 10417" name="adj"/>
            </a:avLst>
          </a:prstGeom>
          <a:solidFill>
            <a:srgbClr val="F0736F"/>
          </a:solidFill>
          <a:ln cap="flat" cmpd="sng" w="12700">
            <a:solidFill>
              <a:srgbClr val="F073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3 max pool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2" name="Google Shape;3882;g3f883da9c22_0_2920"/>
          <p:cNvSpPr/>
          <p:nvPr/>
        </p:nvSpPr>
        <p:spPr>
          <a:xfrm rot="-1453778">
            <a:off x="8700615" y="4564790"/>
            <a:ext cx="1659378" cy="10204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3" name="Google Shape;3883;g3f883da9c22_0_2920"/>
          <p:cNvSpPr/>
          <p:nvPr/>
        </p:nvSpPr>
        <p:spPr>
          <a:xfrm rot="3940622">
            <a:off x="10291447" y="4158278"/>
            <a:ext cx="82306" cy="100704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4" name="Google Shape;3884;g3f883da9c22_0_2920"/>
          <p:cNvSpPr/>
          <p:nvPr/>
        </p:nvSpPr>
        <p:spPr>
          <a:xfrm rot="-9186548">
            <a:off x="8771576" y="3286692"/>
            <a:ext cx="1698679" cy="10062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5" name="Google Shape;3885;g3f883da9c22_0_2920"/>
          <p:cNvSpPr/>
          <p:nvPr/>
        </p:nvSpPr>
        <p:spPr>
          <a:xfrm rot="-3789300">
            <a:off x="8777318" y="2834508"/>
            <a:ext cx="82378" cy="100625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6" name="Google Shape;3886;g3f883da9c22_0_2920"/>
          <p:cNvSpPr/>
          <p:nvPr/>
        </p:nvSpPr>
        <p:spPr>
          <a:xfrm>
            <a:off x="7566660" y="2377440"/>
            <a:ext cx="1508700" cy="438900"/>
          </a:xfrm>
          <a:prstGeom prst="roundRect">
            <a:avLst>
              <a:gd fmla="val 10417" name="adj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 concatenation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3891" name="Shape 3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" name="Google Shape;3892;g3f883da9c22_0_2959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INCEPTION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3" name="Google Shape;3893;g3f883da9c22_0_2959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Example — what is the output size in this case?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4" name="Google Shape;3894;g3f883da9c22_0_2959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5" name="Google Shape;3895;g3f883da9c22_0_2959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6" name="Google Shape;3896;g3f883da9c22_0_2959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7" name="Google Shape;3897;g3f883da9c22_0_2959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8" name="Google Shape;3898;g3f883da9c22_0_2959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9" name="Google Shape;3899;g3f883da9c22_0_2959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0" name="Google Shape;3900;g3f883da9c22_0_2959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1" name="Google Shape;3901;g3f883da9c22_0_2959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2" name="Google Shape;3902;g3f883da9c22_0_2959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3" name="Google Shape;3903;g3f883da9c22_0_2959"/>
          <p:cNvSpPr/>
          <p:nvPr/>
        </p:nvSpPr>
        <p:spPr>
          <a:xfrm>
            <a:off x="1463040" y="1463040"/>
            <a:ext cx="923550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4" name="Google Shape;3904;g3f883da9c22_0_2959"/>
          <p:cNvSpPr/>
          <p:nvPr/>
        </p:nvSpPr>
        <p:spPr>
          <a:xfrm>
            <a:off x="5349240" y="4892040"/>
            <a:ext cx="1463100" cy="658500"/>
          </a:xfrm>
          <a:prstGeom prst="roundRect">
            <a:avLst>
              <a:gd fmla="val 6944" name="adj"/>
            </a:avLst>
          </a:prstGeom>
          <a:solidFill>
            <a:srgbClr val="D9F0EC"/>
          </a:solidFill>
          <a:ln cap="flat" cmpd="sng" w="12700">
            <a:solidFill>
              <a:srgbClr val="D9F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Previous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5" name="Google Shape;3905;g3f883da9c22_0_2959"/>
          <p:cNvSpPr/>
          <p:nvPr/>
        </p:nvSpPr>
        <p:spPr>
          <a:xfrm>
            <a:off x="2606040" y="3383280"/>
            <a:ext cx="1463100" cy="658500"/>
          </a:xfrm>
          <a:prstGeom prst="roundRect">
            <a:avLst>
              <a:gd fmla="val 6944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× 1 conv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4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46B"/>
                </a:solidFill>
                <a:latin typeface="Calibri"/>
                <a:ea typeface="Calibri"/>
                <a:cs typeface="Calibri"/>
                <a:sym typeface="Calibri"/>
              </a:rPr>
              <a:t>128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6" name="Google Shape;3906;g3f883da9c22_0_2959"/>
          <p:cNvSpPr/>
          <p:nvPr/>
        </p:nvSpPr>
        <p:spPr>
          <a:xfrm rot="-9602309">
            <a:off x="3366730" y="4488060"/>
            <a:ext cx="2175818" cy="10151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7" name="Google Shape;3907;g3f883da9c22_0_2959"/>
          <p:cNvSpPr/>
          <p:nvPr/>
        </p:nvSpPr>
        <p:spPr>
          <a:xfrm rot="-4198874">
            <a:off x="3343673" y="4054195"/>
            <a:ext cx="82377" cy="100498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8" name="Google Shape;3908;g3f883da9c22_0_2959"/>
          <p:cNvSpPr/>
          <p:nvPr/>
        </p:nvSpPr>
        <p:spPr>
          <a:xfrm rot="-863054">
            <a:off x="3304462" y="3088929"/>
            <a:ext cx="2108498" cy="9895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9" name="Google Shape;3909;g3f883da9c22_0_2959"/>
          <p:cNvSpPr/>
          <p:nvPr/>
        </p:nvSpPr>
        <p:spPr>
          <a:xfrm rot="4539604">
            <a:off x="5387303" y="2769384"/>
            <a:ext cx="82366" cy="100629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0" name="Google Shape;3910;g3f883da9c22_0_2959"/>
          <p:cNvSpPr/>
          <p:nvPr/>
        </p:nvSpPr>
        <p:spPr>
          <a:xfrm>
            <a:off x="4434840" y="3383280"/>
            <a:ext cx="1463100" cy="658500"/>
          </a:xfrm>
          <a:prstGeom prst="roundRect">
            <a:avLst>
              <a:gd fmla="val 6944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3 conv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4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46B"/>
                </a:solidFill>
                <a:latin typeface="Calibri"/>
                <a:ea typeface="Calibri"/>
                <a:cs typeface="Calibri"/>
                <a:sym typeface="Calibri"/>
              </a:rPr>
              <a:t>192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1" name="Google Shape;3911;g3f883da9c22_0_2959"/>
          <p:cNvSpPr/>
          <p:nvPr/>
        </p:nvSpPr>
        <p:spPr>
          <a:xfrm rot="-7952485">
            <a:off x="5079780" y="4507863"/>
            <a:ext cx="954412" cy="10191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2" name="Google Shape;3912;g3f883da9c22_0_2959"/>
          <p:cNvSpPr/>
          <p:nvPr/>
        </p:nvSpPr>
        <p:spPr>
          <a:xfrm rot="-2549085">
            <a:off x="5159305" y="4074169"/>
            <a:ext cx="82174" cy="100640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3" name="Google Shape;3913;g3f883da9c22_0_2959"/>
          <p:cNvSpPr/>
          <p:nvPr/>
        </p:nvSpPr>
        <p:spPr>
          <a:xfrm rot="-2253486">
            <a:off x="5083465" y="3107271"/>
            <a:ext cx="799258" cy="1008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4" name="Google Shape;3914;g3f883da9c22_0_2959"/>
          <p:cNvSpPr/>
          <p:nvPr/>
        </p:nvSpPr>
        <p:spPr>
          <a:xfrm rot="3145119">
            <a:off x="5798580" y="2787461"/>
            <a:ext cx="82146" cy="100566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5" name="Google Shape;3915;g3f883da9c22_0_2959"/>
          <p:cNvSpPr/>
          <p:nvPr/>
        </p:nvSpPr>
        <p:spPr>
          <a:xfrm>
            <a:off x="6263640" y="3383280"/>
            <a:ext cx="1463100" cy="658500"/>
          </a:xfrm>
          <a:prstGeom prst="roundRect">
            <a:avLst>
              <a:gd fmla="val 6944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× 5 conv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4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46B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6" name="Google Shape;3916;g3f883da9c22_0_2959"/>
          <p:cNvSpPr/>
          <p:nvPr/>
        </p:nvSpPr>
        <p:spPr>
          <a:xfrm rot="-2847515">
            <a:off x="6127417" y="4507962"/>
            <a:ext cx="954412" cy="10191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7" name="Google Shape;3917;g3f883da9c22_0_2959"/>
          <p:cNvSpPr/>
          <p:nvPr/>
        </p:nvSpPr>
        <p:spPr>
          <a:xfrm rot="2549085">
            <a:off x="6920006" y="4074027"/>
            <a:ext cx="82174" cy="100640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8" name="Google Shape;3918;g3f883da9c22_0_2959"/>
          <p:cNvSpPr/>
          <p:nvPr/>
        </p:nvSpPr>
        <p:spPr>
          <a:xfrm rot="-8546514">
            <a:off x="6278665" y="3107144"/>
            <a:ext cx="799258" cy="1008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9" name="Google Shape;3919;g3f883da9c22_0_2959"/>
          <p:cNvSpPr/>
          <p:nvPr/>
        </p:nvSpPr>
        <p:spPr>
          <a:xfrm rot="-3145119">
            <a:off x="6280717" y="2787590"/>
            <a:ext cx="82146" cy="100566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0" name="Google Shape;3920;g3f883da9c22_0_2959"/>
          <p:cNvSpPr/>
          <p:nvPr/>
        </p:nvSpPr>
        <p:spPr>
          <a:xfrm>
            <a:off x="8092440" y="3383280"/>
            <a:ext cx="1463100" cy="658500"/>
          </a:xfrm>
          <a:prstGeom prst="roundRect">
            <a:avLst>
              <a:gd fmla="val 6944" name="adj"/>
            </a:avLst>
          </a:prstGeom>
          <a:solidFill>
            <a:srgbClr val="F0736F"/>
          </a:solidFill>
          <a:ln cap="flat" cmpd="sng" w="12700">
            <a:solidFill>
              <a:srgbClr val="F073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3 max pool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1" name="Google Shape;3921;g3f883da9c22_0_2959"/>
          <p:cNvSpPr/>
          <p:nvPr/>
        </p:nvSpPr>
        <p:spPr>
          <a:xfrm rot="-1197691">
            <a:off x="6618838" y="4488206"/>
            <a:ext cx="2175818" cy="10151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2" name="Google Shape;3922;g3f883da9c22_0_2959"/>
          <p:cNvSpPr/>
          <p:nvPr/>
        </p:nvSpPr>
        <p:spPr>
          <a:xfrm rot="4198874">
            <a:off x="8735573" y="4054244"/>
            <a:ext cx="82377" cy="100498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3" name="Google Shape;3923;g3f883da9c22_0_2959"/>
          <p:cNvSpPr/>
          <p:nvPr/>
        </p:nvSpPr>
        <p:spPr>
          <a:xfrm rot="-9936946">
            <a:off x="6748462" y="3089072"/>
            <a:ext cx="2108498" cy="9895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4" name="Google Shape;3924;g3f883da9c22_0_2959"/>
          <p:cNvSpPr/>
          <p:nvPr/>
        </p:nvSpPr>
        <p:spPr>
          <a:xfrm rot="-4539604">
            <a:off x="6691811" y="2769302"/>
            <a:ext cx="82366" cy="100629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5" name="Google Shape;3925;g3f883da9c22_0_2959"/>
          <p:cNvSpPr/>
          <p:nvPr/>
        </p:nvSpPr>
        <p:spPr>
          <a:xfrm>
            <a:off x="5212080" y="2103120"/>
            <a:ext cx="1737300" cy="658500"/>
          </a:xfrm>
          <a:prstGeom prst="roundRect">
            <a:avLst>
              <a:gd fmla="val 6944" name="adj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 concatenation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6" name="Google Shape;3926;g3f883da9c22_0_2959"/>
          <p:cNvSpPr txBox="1"/>
          <p:nvPr/>
        </p:nvSpPr>
        <p:spPr>
          <a:xfrm>
            <a:off x="6949440" y="498348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28 × 28 × 256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7" name="Google Shape;3927;g3f883da9c22_0_2959"/>
          <p:cNvSpPr txBox="1"/>
          <p:nvPr/>
        </p:nvSpPr>
        <p:spPr>
          <a:xfrm>
            <a:off x="548640" y="5989320"/>
            <a:ext cx="1106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Each convolution uses padding so the spatial size is preserved. Work out the output of every branch, then the concatenated result.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3932" name="Shape 3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3" name="Google Shape;3933;g3f883da9c22_0_2999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INCEPTION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4" name="Google Shape;3934;g3f883da9c22_0_2999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Example — what is the problem here?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5" name="Google Shape;3935;g3f883da9c22_0_2999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6" name="Google Shape;3936;g3f883da9c22_0_2999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7" name="Google Shape;3937;g3f883da9c22_0_2999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8" name="Google Shape;3938;g3f883da9c22_0_2999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9" name="Google Shape;3939;g3f883da9c22_0_2999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0" name="Google Shape;3940;g3f883da9c22_0_2999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1" name="Google Shape;3941;g3f883da9c22_0_2999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2" name="Google Shape;3942;g3f883da9c22_0_2999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3" name="Google Shape;3943;g3f883da9c22_0_2999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4" name="Google Shape;3944;g3f883da9c22_0_2999"/>
          <p:cNvSpPr/>
          <p:nvPr/>
        </p:nvSpPr>
        <p:spPr>
          <a:xfrm>
            <a:off x="1463040" y="1691640"/>
            <a:ext cx="9235500" cy="4114800"/>
          </a:xfrm>
          <a:prstGeom prst="roundRect">
            <a:avLst>
              <a:gd fmla="val 1333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5" name="Google Shape;3945;g3f883da9c22_0_2999"/>
          <p:cNvSpPr/>
          <p:nvPr/>
        </p:nvSpPr>
        <p:spPr>
          <a:xfrm>
            <a:off x="5349240" y="4983480"/>
            <a:ext cx="1463100" cy="658500"/>
          </a:xfrm>
          <a:prstGeom prst="roundRect">
            <a:avLst>
              <a:gd fmla="val 6944" name="adj"/>
            </a:avLst>
          </a:prstGeom>
          <a:solidFill>
            <a:srgbClr val="D9F0EC"/>
          </a:solidFill>
          <a:ln cap="flat" cmpd="sng" w="12700">
            <a:solidFill>
              <a:srgbClr val="D9F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Previous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6" name="Google Shape;3946;g3f883da9c22_0_2999"/>
          <p:cNvSpPr/>
          <p:nvPr/>
        </p:nvSpPr>
        <p:spPr>
          <a:xfrm>
            <a:off x="2606040" y="3520440"/>
            <a:ext cx="1463100" cy="658500"/>
          </a:xfrm>
          <a:prstGeom prst="roundRect">
            <a:avLst>
              <a:gd fmla="val 6944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× 1 conv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4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46B"/>
                </a:solidFill>
                <a:latin typeface="Calibri"/>
                <a:ea typeface="Calibri"/>
                <a:cs typeface="Calibri"/>
                <a:sym typeface="Calibri"/>
              </a:rPr>
              <a:t>128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7" name="Google Shape;3947;g3f883da9c22_0_2999"/>
          <p:cNvSpPr/>
          <p:nvPr/>
        </p:nvSpPr>
        <p:spPr>
          <a:xfrm rot="-9667488">
            <a:off x="3374684" y="4601431"/>
            <a:ext cx="2160690" cy="10151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8" name="Google Shape;3948;g3f883da9c22_0_2999"/>
          <p:cNvSpPr/>
          <p:nvPr/>
        </p:nvSpPr>
        <p:spPr>
          <a:xfrm rot="-4266212">
            <a:off x="3343927" y="4190429"/>
            <a:ext cx="82443" cy="100468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9" name="Google Shape;3949;g3f883da9c22_0_2999"/>
          <p:cNvSpPr/>
          <p:nvPr/>
        </p:nvSpPr>
        <p:spPr>
          <a:xfrm rot="-723753">
            <a:off x="3314516" y="3269880"/>
            <a:ext cx="2087287" cy="1012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0" name="Google Shape;3950;g3f883da9c22_0_2999"/>
          <p:cNvSpPr/>
          <p:nvPr/>
        </p:nvSpPr>
        <p:spPr>
          <a:xfrm rot="4679572">
            <a:off x="5386908" y="2995960"/>
            <a:ext cx="82198" cy="100616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1" name="Google Shape;3951;g3f883da9c22_0_2999"/>
          <p:cNvSpPr txBox="1"/>
          <p:nvPr/>
        </p:nvSpPr>
        <p:spPr>
          <a:xfrm>
            <a:off x="2560320" y="3209544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28×28×128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2" name="Google Shape;3952;g3f883da9c22_0_2999"/>
          <p:cNvSpPr/>
          <p:nvPr/>
        </p:nvSpPr>
        <p:spPr>
          <a:xfrm>
            <a:off x="4434840" y="3520440"/>
            <a:ext cx="1463100" cy="658500"/>
          </a:xfrm>
          <a:prstGeom prst="roundRect">
            <a:avLst>
              <a:gd fmla="val 6944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3 conv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4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46B"/>
                </a:solidFill>
                <a:latin typeface="Calibri"/>
                <a:ea typeface="Calibri"/>
                <a:cs typeface="Calibri"/>
                <a:sym typeface="Calibri"/>
              </a:rPr>
              <a:t>192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3" name="Google Shape;3953;g3f883da9c22_0_2999"/>
          <p:cNvSpPr/>
          <p:nvPr/>
        </p:nvSpPr>
        <p:spPr>
          <a:xfrm rot="-8056446">
            <a:off x="5097672" y="4621422"/>
            <a:ext cx="920939" cy="9972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4" name="Google Shape;3954;g3f883da9c22_0_2999"/>
          <p:cNvSpPr/>
          <p:nvPr/>
        </p:nvSpPr>
        <p:spPr>
          <a:xfrm rot="-2664561">
            <a:off x="5160242" y="4210174"/>
            <a:ext cx="82312" cy="100559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5" name="Google Shape;3955;g3f883da9c22_0_2999"/>
          <p:cNvSpPr/>
          <p:nvPr/>
        </p:nvSpPr>
        <p:spPr>
          <a:xfrm rot="-1959714">
            <a:off x="5107320" y="3286531"/>
            <a:ext cx="746553" cy="9986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6" name="Google Shape;3956;g3f883da9c22_0_2999"/>
          <p:cNvSpPr/>
          <p:nvPr/>
        </p:nvSpPr>
        <p:spPr>
          <a:xfrm rot="3441157">
            <a:off x="5796134" y="3012703"/>
            <a:ext cx="82303" cy="100527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7" name="Google Shape;3957;g3f883da9c22_0_2999"/>
          <p:cNvSpPr txBox="1"/>
          <p:nvPr/>
        </p:nvSpPr>
        <p:spPr>
          <a:xfrm>
            <a:off x="4389120" y="3209544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28×28×192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8" name="Google Shape;3958;g3f883da9c22_0_2999"/>
          <p:cNvSpPr/>
          <p:nvPr/>
        </p:nvSpPr>
        <p:spPr>
          <a:xfrm>
            <a:off x="6263640" y="3520440"/>
            <a:ext cx="1463100" cy="658500"/>
          </a:xfrm>
          <a:prstGeom prst="roundRect">
            <a:avLst>
              <a:gd fmla="val 6944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× 5 conv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4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46B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9" name="Google Shape;3959;g3f883da9c22_0_2999"/>
          <p:cNvSpPr/>
          <p:nvPr/>
        </p:nvSpPr>
        <p:spPr>
          <a:xfrm rot="-2743554">
            <a:off x="6142907" y="4621301"/>
            <a:ext cx="920939" cy="9972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0" name="Google Shape;3960;g3f883da9c22_0_2999"/>
          <p:cNvSpPr/>
          <p:nvPr/>
        </p:nvSpPr>
        <p:spPr>
          <a:xfrm rot="2664561">
            <a:off x="6918842" y="4210323"/>
            <a:ext cx="82312" cy="100559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1" name="Google Shape;3961;g3f883da9c22_0_2999"/>
          <p:cNvSpPr/>
          <p:nvPr/>
        </p:nvSpPr>
        <p:spPr>
          <a:xfrm rot="-8840286">
            <a:off x="6307620" y="3286599"/>
            <a:ext cx="746553" cy="9986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2" name="Google Shape;3962;g3f883da9c22_0_2999"/>
          <p:cNvSpPr/>
          <p:nvPr/>
        </p:nvSpPr>
        <p:spPr>
          <a:xfrm rot="-3441157">
            <a:off x="6283070" y="3012686"/>
            <a:ext cx="82303" cy="100527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3" name="Google Shape;3963;g3f883da9c22_0_2999"/>
          <p:cNvSpPr txBox="1"/>
          <p:nvPr/>
        </p:nvSpPr>
        <p:spPr>
          <a:xfrm>
            <a:off x="6217920" y="3209544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28×28×96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4" name="Google Shape;3964;g3f883da9c22_0_2999"/>
          <p:cNvSpPr/>
          <p:nvPr/>
        </p:nvSpPr>
        <p:spPr>
          <a:xfrm>
            <a:off x="8092440" y="3520440"/>
            <a:ext cx="1463100" cy="658500"/>
          </a:xfrm>
          <a:prstGeom prst="roundRect">
            <a:avLst>
              <a:gd fmla="val 6944" name="adj"/>
            </a:avLst>
          </a:prstGeom>
          <a:solidFill>
            <a:srgbClr val="F0736F"/>
          </a:solidFill>
          <a:ln cap="flat" cmpd="sng" w="12700">
            <a:solidFill>
              <a:srgbClr val="F073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3 max pool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5" name="Google Shape;3965;g3f883da9c22_0_2999"/>
          <p:cNvSpPr/>
          <p:nvPr/>
        </p:nvSpPr>
        <p:spPr>
          <a:xfrm rot="-1132512">
            <a:off x="6626193" y="4601513"/>
            <a:ext cx="2160690" cy="10151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6" name="Google Shape;3966;g3f883da9c22_0_2999"/>
          <p:cNvSpPr/>
          <p:nvPr/>
        </p:nvSpPr>
        <p:spPr>
          <a:xfrm rot="4266212">
            <a:off x="8735227" y="4190558"/>
            <a:ext cx="82443" cy="100468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7" name="Google Shape;3967;g3f883da9c22_0_2999"/>
          <p:cNvSpPr/>
          <p:nvPr/>
        </p:nvSpPr>
        <p:spPr>
          <a:xfrm rot="-10076247">
            <a:off x="6759715" y="3269816"/>
            <a:ext cx="2087287" cy="1012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8" name="Google Shape;3968;g3f883da9c22_0_2999"/>
          <p:cNvSpPr/>
          <p:nvPr/>
        </p:nvSpPr>
        <p:spPr>
          <a:xfrm rot="-4679572">
            <a:off x="6692317" y="2996040"/>
            <a:ext cx="82198" cy="100616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9" name="Google Shape;3969;g3f883da9c22_0_2999"/>
          <p:cNvSpPr txBox="1"/>
          <p:nvPr/>
        </p:nvSpPr>
        <p:spPr>
          <a:xfrm>
            <a:off x="8046720" y="3209544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28×28×256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0" name="Google Shape;3970;g3f883da9c22_0_2999"/>
          <p:cNvSpPr/>
          <p:nvPr/>
        </p:nvSpPr>
        <p:spPr>
          <a:xfrm>
            <a:off x="5212080" y="2331720"/>
            <a:ext cx="1737300" cy="658500"/>
          </a:xfrm>
          <a:prstGeom prst="roundRect">
            <a:avLst>
              <a:gd fmla="val 6944" name="adj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 concatenation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1" name="Google Shape;3971;g3f883da9c22_0_2999"/>
          <p:cNvSpPr txBox="1"/>
          <p:nvPr/>
        </p:nvSpPr>
        <p:spPr>
          <a:xfrm>
            <a:off x="6949440" y="502920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28 × 28 × 256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2" name="Google Shape;3972;g3f883da9c22_0_2999"/>
          <p:cNvSpPr txBox="1"/>
          <p:nvPr/>
        </p:nvSpPr>
        <p:spPr>
          <a:xfrm>
            <a:off x="2743200" y="1965960"/>
            <a:ext cx="66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28 × 28 × (128 + 192 + 96 + 256)  =  28 × 28 × 672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3" name="Google Shape;3973;g3f883da9c22_0_2999"/>
          <p:cNvSpPr/>
          <p:nvPr/>
        </p:nvSpPr>
        <p:spPr>
          <a:xfrm>
            <a:off x="548640" y="5943600"/>
            <a:ext cx="11064300" cy="384000"/>
          </a:xfrm>
          <a:prstGeom prst="roundRect">
            <a:avLst>
              <a:gd fmla="val 14286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4" name="Google Shape;3974;g3f883da9c22_0_2999"/>
          <p:cNvSpPr txBox="1"/>
          <p:nvPr/>
        </p:nvSpPr>
        <p:spPr>
          <a:xfrm>
            <a:off x="822960" y="6016752"/>
            <a:ext cx="1051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The pooling branch preserves the input depth, so the concatenated depth is always larger than the input depth.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3979" name="Shape 3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0" name="Google Shape;3980;g3f883da9c22_0_3045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COMPUTATIONAL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1" name="Google Shape;3981;g3f883da9c22_0_3045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Problems with the naive inception module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2" name="Google Shape;3982;g3f883da9c22_0_3045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3" name="Google Shape;3983;g3f883da9c22_0_3045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4" name="Google Shape;3984;g3f883da9c22_0_3045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5" name="Google Shape;3985;g3f883da9c22_0_3045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6" name="Google Shape;3986;g3f883da9c22_0_3045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7" name="Google Shape;3987;g3f883da9c22_0_3045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8" name="Google Shape;3988;g3f883da9c22_0_3045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9" name="Google Shape;3989;g3f883da9c22_0_3045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0" name="Google Shape;3990;g3f883da9c22_0_3045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1" name="Google Shape;3991;g3f883da9c22_0_3045"/>
          <p:cNvSpPr/>
          <p:nvPr/>
        </p:nvSpPr>
        <p:spPr>
          <a:xfrm>
            <a:off x="548640" y="1463040"/>
            <a:ext cx="6035100" cy="30174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2" name="Google Shape;3992;g3f883da9c22_0_3045"/>
          <p:cNvSpPr txBox="1"/>
          <p:nvPr/>
        </p:nvSpPr>
        <p:spPr>
          <a:xfrm>
            <a:off x="822960" y="1691640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Computationally expensive — conv ops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3" name="Google Shape;3993;g3f883da9c22_0_3045"/>
          <p:cNvSpPr/>
          <p:nvPr/>
        </p:nvSpPr>
        <p:spPr>
          <a:xfrm>
            <a:off x="822960" y="2194560"/>
            <a:ext cx="5486400" cy="457200"/>
          </a:xfrm>
          <a:prstGeom prst="roundRect">
            <a:avLst>
              <a:gd fmla="val 12000" name="adj"/>
            </a:avLst>
          </a:prstGeom>
          <a:solidFill>
            <a:srgbClr val="F7F6FB"/>
          </a:solidFill>
          <a:ln cap="flat" cmpd="sng" w="12700">
            <a:solidFill>
              <a:srgbClr val="F7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4" name="Google Shape;3994;g3f883da9c22_0_3045"/>
          <p:cNvSpPr txBox="1"/>
          <p:nvPr/>
        </p:nvSpPr>
        <p:spPr>
          <a:xfrm>
            <a:off x="1005840" y="2313432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[1 × 1 conv, 128]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5" name="Google Shape;3995;g3f883da9c22_0_3045"/>
          <p:cNvSpPr txBox="1"/>
          <p:nvPr/>
        </p:nvSpPr>
        <p:spPr>
          <a:xfrm>
            <a:off x="2834640" y="2313432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28 × 28 × 128 × 1 × 1 × 256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6" name="Google Shape;3996;g3f883da9c22_0_3045"/>
          <p:cNvSpPr/>
          <p:nvPr/>
        </p:nvSpPr>
        <p:spPr>
          <a:xfrm>
            <a:off x="822960" y="2761488"/>
            <a:ext cx="5486400" cy="457200"/>
          </a:xfrm>
          <a:prstGeom prst="roundRect">
            <a:avLst>
              <a:gd fmla="val 12000" name="adj"/>
            </a:avLst>
          </a:prstGeom>
          <a:solidFill>
            <a:srgbClr val="F7F6FB"/>
          </a:solidFill>
          <a:ln cap="flat" cmpd="sng" w="12700">
            <a:solidFill>
              <a:srgbClr val="F7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7" name="Google Shape;3997;g3f883da9c22_0_3045"/>
          <p:cNvSpPr txBox="1"/>
          <p:nvPr/>
        </p:nvSpPr>
        <p:spPr>
          <a:xfrm>
            <a:off x="1005840" y="2880360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[3 × 3 conv, 192]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8" name="Google Shape;3998;g3f883da9c22_0_3045"/>
          <p:cNvSpPr txBox="1"/>
          <p:nvPr/>
        </p:nvSpPr>
        <p:spPr>
          <a:xfrm>
            <a:off x="2834640" y="2880360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28 × 28 × 192 × 3 × 3 × 256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9" name="Google Shape;3999;g3f883da9c22_0_3045"/>
          <p:cNvSpPr/>
          <p:nvPr/>
        </p:nvSpPr>
        <p:spPr>
          <a:xfrm>
            <a:off x="822960" y="3328416"/>
            <a:ext cx="5486400" cy="457200"/>
          </a:xfrm>
          <a:prstGeom prst="roundRect">
            <a:avLst>
              <a:gd fmla="val 12000" name="adj"/>
            </a:avLst>
          </a:prstGeom>
          <a:solidFill>
            <a:srgbClr val="F7F6FB"/>
          </a:solidFill>
          <a:ln cap="flat" cmpd="sng" w="12700">
            <a:solidFill>
              <a:srgbClr val="F7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0" name="Google Shape;4000;g3f883da9c22_0_3045"/>
          <p:cNvSpPr txBox="1"/>
          <p:nvPr/>
        </p:nvSpPr>
        <p:spPr>
          <a:xfrm>
            <a:off x="1005840" y="3447288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[5 × 5 conv, 96]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1" name="Google Shape;4001;g3f883da9c22_0_3045"/>
          <p:cNvSpPr txBox="1"/>
          <p:nvPr/>
        </p:nvSpPr>
        <p:spPr>
          <a:xfrm>
            <a:off x="2834640" y="3447288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28 × 28 × 96 × 5 × 5 × 256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2" name="Google Shape;4002;g3f883da9c22_0_3045"/>
          <p:cNvSpPr txBox="1"/>
          <p:nvPr/>
        </p:nvSpPr>
        <p:spPr>
          <a:xfrm>
            <a:off x="822960" y="3913632"/>
            <a:ext cx="548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5E5B"/>
                </a:solidFill>
                <a:latin typeface="Cambria"/>
                <a:ea typeface="Cambria"/>
                <a:cs typeface="Cambria"/>
                <a:sym typeface="Cambria"/>
              </a:rPr>
              <a:t>Total:  854 M ops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3" name="Google Shape;4003;g3f883da9c22_0_3045"/>
          <p:cNvSpPr/>
          <p:nvPr/>
        </p:nvSpPr>
        <p:spPr>
          <a:xfrm>
            <a:off x="6858000" y="1463040"/>
            <a:ext cx="4755000" cy="173730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4" name="Google Shape;4004;g3f883da9c22_0_3045"/>
          <p:cNvSpPr txBox="1"/>
          <p:nvPr/>
        </p:nvSpPr>
        <p:spPr>
          <a:xfrm>
            <a:off x="7132320" y="1691640"/>
            <a:ext cx="420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Depth can only grow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5" name="Google Shape;4005;g3f883da9c22_0_3045"/>
          <p:cNvSpPr txBox="1"/>
          <p:nvPr/>
        </p:nvSpPr>
        <p:spPr>
          <a:xfrm>
            <a:off x="7132320" y="2103120"/>
            <a:ext cx="420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pooling layer also preserves feature depth, which means the total depth after concatenation can only grow at every layer.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6" name="Google Shape;4006;g3f883da9c22_0_3045"/>
          <p:cNvSpPr/>
          <p:nvPr/>
        </p:nvSpPr>
        <p:spPr>
          <a:xfrm>
            <a:off x="6858000" y="3474720"/>
            <a:ext cx="4755000" cy="1005900"/>
          </a:xfrm>
          <a:prstGeom prst="roundRect">
            <a:avLst>
              <a:gd fmla="val 5455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7" name="Google Shape;4007;g3f883da9c22_0_3045"/>
          <p:cNvSpPr txBox="1"/>
          <p:nvPr/>
        </p:nvSpPr>
        <p:spPr>
          <a:xfrm>
            <a:off x="7132320" y="3703320"/>
            <a:ext cx="420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5E5B"/>
                </a:solidFill>
                <a:latin typeface="Cambria"/>
                <a:ea typeface="Cambria"/>
                <a:cs typeface="Cambria"/>
                <a:sym typeface="Cambria"/>
              </a:rPr>
              <a:t>How can we solve this problem?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8" name="Google Shape;4008;g3f883da9c22_0_3045"/>
          <p:cNvSpPr txBox="1"/>
          <p:nvPr/>
        </p:nvSpPr>
        <p:spPr>
          <a:xfrm>
            <a:off x="548640" y="4754880"/>
            <a:ext cx="11064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Nearly a billion operations inside a single module — and GoogLeNet stacks nine of them.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We need a way to cut the channel dimension without throwing away spatial resolution.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013" name="Shape 4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" name="Google Shape;4014;g3f883da9c22_0_3078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DIMENSIONALITY REDUCTION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5" name="Google Shape;4015;g3f883da9c22_0_3078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GoogLeNet — solution: 1 × 1 convolutions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6" name="Google Shape;4016;g3f883da9c22_0_3078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7" name="Google Shape;4017;g3f883da9c22_0_3078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8" name="Google Shape;4018;g3f883da9c22_0_3078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9" name="Google Shape;4019;g3f883da9c22_0_3078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0" name="Google Shape;4020;g3f883da9c22_0_3078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1" name="Google Shape;4021;g3f883da9c22_0_3078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2" name="Google Shape;4022;g3f883da9c22_0_3078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3" name="Google Shape;4023;g3f883da9c22_0_3078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4" name="Google Shape;4024;g3f883da9c22_0_3078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5" name="Google Shape;4025;g3f883da9c22_0_3078"/>
          <p:cNvSpPr txBox="1"/>
          <p:nvPr/>
        </p:nvSpPr>
        <p:spPr>
          <a:xfrm>
            <a:off x="548640" y="1481328"/>
            <a:ext cx="1106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Use 1 × 1 convolutions to reduce the feature channel size.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A355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Projects depth to a lower dimension (a combination of feature maps) while preserving the spatial dimensions.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6" name="Google Shape;4026;g3f883da9c22_0_30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050" y="2350008"/>
            <a:ext cx="10841426" cy="3700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031" name="Shape 4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2" name="Google Shape;4032;g3f883da9c22_0_3095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INCEPTION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3" name="Google Shape;4033;g3f883da9c22_0_3095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Inception module with dimensionality reduction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4" name="Google Shape;4034;g3f883da9c22_0_3095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5" name="Google Shape;4035;g3f883da9c22_0_3095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6" name="Google Shape;4036;g3f883da9c22_0_3095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7" name="Google Shape;4037;g3f883da9c22_0_3095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8" name="Google Shape;4038;g3f883da9c22_0_3095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9" name="Google Shape;4039;g3f883da9c22_0_3095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0" name="Google Shape;4040;g3f883da9c22_0_3095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1" name="Google Shape;4041;g3f883da9c22_0_3095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2" name="Google Shape;4042;g3f883da9c22_0_3095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3" name="Google Shape;4043;g3f883da9c22_0_3095"/>
          <p:cNvSpPr/>
          <p:nvPr/>
        </p:nvSpPr>
        <p:spPr>
          <a:xfrm>
            <a:off x="548640" y="1463040"/>
            <a:ext cx="539490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4" name="Google Shape;4044;g3f883da9c22_0_3095"/>
          <p:cNvSpPr txBox="1"/>
          <p:nvPr/>
        </p:nvSpPr>
        <p:spPr>
          <a:xfrm>
            <a:off x="731520" y="1627632"/>
            <a:ext cx="5029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Naive inception module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5" name="Google Shape;4045;g3f883da9c22_0_3095"/>
          <p:cNvSpPr/>
          <p:nvPr/>
        </p:nvSpPr>
        <p:spPr>
          <a:xfrm>
            <a:off x="2720340" y="4892040"/>
            <a:ext cx="1051500" cy="402300"/>
          </a:xfrm>
          <a:prstGeom prst="roundRect">
            <a:avLst>
              <a:gd fmla="val 11364" name="adj"/>
            </a:avLst>
          </a:prstGeom>
          <a:solidFill>
            <a:srgbClr val="D9F0EC"/>
          </a:solidFill>
          <a:ln cap="flat" cmpd="sng" w="12700">
            <a:solidFill>
              <a:srgbClr val="D9F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Previous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6" name="Google Shape;4046;g3f883da9c22_0_3095"/>
          <p:cNvSpPr/>
          <p:nvPr/>
        </p:nvSpPr>
        <p:spPr>
          <a:xfrm>
            <a:off x="937260" y="3703320"/>
            <a:ext cx="1051500" cy="402300"/>
          </a:xfrm>
          <a:prstGeom prst="roundRect">
            <a:avLst>
              <a:gd fmla="val 11364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× 1 conv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7" name="Google Shape;4047;g3f883da9c22_0_3095"/>
          <p:cNvSpPr/>
          <p:nvPr/>
        </p:nvSpPr>
        <p:spPr>
          <a:xfrm rot="-9171405">
            <a:off x="1471866" y="4525952"/>
            <a:ext cx="1462463" cy="10062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8" name="Google Shape;4048;g3f883da9c22_0_3095"/>
          <p:cNvSpPr/>
          <p:nvPr/>
        </p:nvSpPr>
        <p:spPr>
          <a:xfrm rot="-3772450">
            <a:off x="1466591" y="4124093"/>
            <a:ext cx="82247" cy="100495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9" name="Google Shape;4049;g3f883da9c22_0_3095"/>
          <p:cNvSpPr/>
          <p:nvPr/>
        </p:nvSpPr>
        <p:spPr>
          <a:xfrm rot="-1802867">
            <a:off x="1361860" y="3293743"/>
            <a:ext cx="1506224" cy="10085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0" name="Google Shape;4050;g3f883da9c22_0_3095"/>
          <p:cNvSpPr/>
          <p:nvPr/>
        </p:nvSpPr>
        <p:spPr>
          <a:xfrm rot="3598173">
            <a:off x="2769224" y="2846078"/>
            <a:ext cx="82124" cy="100544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1" name="Google Shape;4051;g3f883da9c22_0_3095"/>
          <p:cNvSpPr/>
          <p:nvPr/>
        </p:nvSpPr>
        <p:spPr>
          <a:xfrm>
            <a:off x="2125980" y="3703320"/>
            <a:ext cx="1051500" cy="402300"/>
          </a:xfrm>
          <a:prstGeom prst="roundRect">
            <a:avLst>
              <a:gd fmla="val 11364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3 conv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2" name="Google Shape;4052;g3f883da9c22_0_3095"/>
          <p:cNvSpPr/>
          <p:nvPr/>
        </p:nvSpPr>
        <p:spPr>
          <a:xfrm rot="-7382124">
            <a:off x="2535865" y="4545256"/>
            <a:ext cx="750059" cy="9986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3" name="Google Shape;4053;g3f883da9c22_0_3095"/>
          <p:cNvSpPr/>
          <p:nvPr/>
        </p:nvSpPr>
        <p:spPr>
          <a:xfrm rot="-1986681">
            <a:off x="2638022" y="4143151"/>
            <a:ext cx="82377" cy="100601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4" name="Google Shape;4054;g3f883da9c22_0_3095"/>
          <p:cNvSpPr/>
          <p:nvPr/>
        </p:nvSpPr>
        <p:spPr>
          <a:xfrm rot="-3603259">
            <a:off x="2444372" y="3312085"/>
            <a:ext cx="828160" cy="10085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5" name="Google Shape;4055;g3f883da9c22_0_3095"/>
          <p:cNvSpPr/>
          <p:nvPr/>
        </p:nvSpPr>
        <p:spPr>
          <a:xfrm rot="1795562">
            <a:off x="3049164" y="2864547"/>
            <a:ext cx="82384" cy="100654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6" name="Google Shape;4056;g3f883da9c22_0_3095"/>
          <p:cNvSpPr/>
          <p:nvPr/>
        </p:nvSpPr>
        <p:spPr>
          <a:xfrm>
            <a:off x="3314700" y="3703320"/>
            <a:ext cx="1051500" cy="402300"/>
          </a:xfrm>
          <a:prstGeom prst="roundRect">
            <a:avLst>
              <a:gd fmla="val 11364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× 5 conv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7" name="Google Shape;4057;g3f883da9c22_0_3095"/>
          <p:cNvSpPr/>
          <p:nvPr/>
        </p:nvSpPr>
        <p:spPr>
          <a:xfrm rot="-3417876">
            <a:off x="3206283" y="4545174"/>
            <a:ext cx="750059" cy="9986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8" name="Google Shape;4058;g3f883da9c22_0_3095"/>
          <p:cNvSpPr/>
          <p:nvPr/>
        </p:nvSpPr>
        <p:spPr>
          <a:xfrm rot="1986681">
            <a:off x="3771841" y="4143300"/>
            <a:ext cx="82377" cy="100601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9" name="Google Shape;4059;g3f883da9c22_0_3095"/>
          <p:cNvSpPr/>
          <p:nvPr/>
        </p:nvSpPr>
        <p:spPr>
          <a:xfrm rot="-7196741">
            <a:off x="3219692" y="3312006"/>
            <a:ext cx="828160" cy="10085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0" name="Google Shape;4060;g3f883da9c22_0_3095"/>
          <p:cNvSpPr/>
          <p:nvPr/>
        </p:nvSpPr>
        <p:spPr>
          <a:xfrm rot="-1795562">
            <a:off x="3360784" y="2864530"/>
            <a:ext cx="82384" cy="100654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1" name="Google Shape;4061;g3f883da9c22_0_3095"/>
          <p:cNvSpPr/>
          <p:nvPr/>
        </p:nvSpPr>
        <p:spPr>
          <a:xfrm>
            <a:off x="4503420" y="3703320"/>
            <a:ext cx="1051500" cy="402300"/>
          </a:xfrm>
          <a:prstGeom prst="roundRect">
            <a:avLst>
              <a:gd fmla="val 11364" name="adj"/>
            </a:avLst>
          </a:prstGeom>
          <a:solidFill>
            <a:srgbClr val="F0736F"/>
          </a:solidFill>
          <a:ln cap="flat" cmpd="sng" w="12700">
            <a:solidFill>
              <a:srgbClr val="F073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3 max pool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2" name="Google Shape;4062;g3f883da9c22_0_3095"/>
          <p:cNvSpPr/>
          <p:nvPr/>
        </p:nvSpPr>
        <p:spPr>
          <a:xfrm rot="-1628595">
            <a:off x="3557821" y="4526002"/>
            <a:ext cx="1462463" cy="10062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3" name="Google Shape;4063;g3f883da9c22_0_3095"/>
          <p:cNvSpPr/>
          <p:nvPr/>
        </p:nvSpPr>
        <p:spPr>
          <a:xfrm rot="3772450">
            <a:off x="4943350" y="4124064"/>
            <a:ext cx="82247" cy="100495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4" name="Google Shape;4064;g3f883da9c22_0_3095"/>
          <p:cNvSpPr/>
          <p:nvPr/>
        </p:nvSpPr>
        <p:spPr>
          <a:xfrm rot="-8997133">
            <a:off x="3624220" y="3293749"/>
            <a:ext cx="1506224" cy="10085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5" name="Google Shape;4065;g3f883da9c22_0_3095"/>
          <p:cNvSpPr/>
          <p:nvPr/>
        </p:nvSpPr>
        <p:spPr>
          <a:xfrm rot="-3598173">
            <a:off x="3640779" y="2846211"/>
            <a:ext cx="82124" cy="100544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6" name="Google Shape;4066;g3f883da9c22_0_3095"/>
          <p:cNvSpPr/>
          <p:nvPr/>
        </p:nvSpPr>
        <p:spPr>
          <a:xfrm>
            <a:off x="2583180" y="2423160"/>
            <a:ext cx="1326000" cy="402300"/>
          </a:xfrm>
          <a:prstGeom prst="roundRect">
            <a:avLst>
              <a:gd fmla="val 11364" name="adj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 concatenation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7" name="Google Shape;4067;g3f883da9c22_0_3095"/>
          <p:cNvSpPr/>
          <p:nvPr/>
        </p:nvSpPr>
        <p:spPr>
          <a:xfrm>
            <a:off x="6217920" y="1463040"/>
            <a:ext cx="5394900" cy="4343400"/>
          </a:xfrm>
          <a:prstGeom prst="roundRect">
            <a:avLst>
              <a:gd fmla="val 1263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8" name="Google Shape;4068;g3f883da9c22_0_3095"/>
          <p:cNvSpPr txBox="1"/>
          <p:nvPr/>
        </p:nvSpPr>
        <p:spPr>
          <a:xfrm>
            <a:off x="6400800" y="1627632"/>
            <a:ext cx="5029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With dimensionality reduction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9" name="Google Shape;4069;g3f883da9c22_0_3095"/>
          <p:cNvSpPr/>
          <p:nvPr/>
        </p:nvSpPr>
        <p:spPr>
          <a:xfrm>
            <a:off x="8389620" y="5074920"/>
            <a:ext cx="1051500" cy="384000"/>
          </a:xfrm>
          <a:prstGeom prst="roundRect">
            <a:avLst>
              <a:gd fmla="val 11905" name="adj"/>
            </a:avLst>
          </a:prstGeom>
          <a:solidFill>
            <a:srgbClr val="D9F0EC"/>
          </a:solidFill>
          <a:ln cap="flat" cmpd="sng" w="12700">
            <a:solidFill>
              <a:srgbClr val="D9F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Previous layer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0" name="Google Shape;4070;g3f883da9c22_0_3095"/>
          <p:cNvSpPr/>
          <p:nvPr/>
        </p:nvSpPr>
        <p:spPr>
          <a:xfrm>
            <a:off x="7749540" y="4069080"/>
            <a:ext cx="1051500" cy="384000"/>
          </a:xfrm>
          <a:prstGeom prst="roundRect">
            <a:avLst>
              <a:gd fmla="val 11905" name="adj"/>
            </a:avLst>
          </a:prstGeom>
          <a:solidFill>
            <a:srgbClr val="F8DFB4"/>
          </a:solidFill>
          <a:ln cap="flat" cmpd="sng" w="12700">
            <a:solidFill>
              <a:srgbClr val="F8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 × 1 conv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1" name="Google Shape;4071;g3f883da9c22_0_3095"/>
          <p:cNvSpPr/>
          <p:nvPr/>
        </p:nvSpPr>
        <p:spPr>
          <a:xfrm>
            <a:off x="9029700" y="4069080"/>
            <a:ext cx="1051500" cy="384000"/>
          </a:xfrm>
          <a:prstGeom prst="roundRect">
            <a:avLst>
              <a:gd fmla="val 11905" name="adj"/>
            </a:avLst>
          </a:prstGeom>
          <a:solidFill>
            <a:srgbClr val="F8DFB4"/>
          </a:solidFill>
          <a:ln cap="flat" cmpd="sng" w="12700">
            <a:solidFill>
              <a:srgbClr val="F8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 × 1 conv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2" name="Google Shape;4072;g3f883da9c22_0_3095"/>
          <p:cNvSpPr/>
          <p:nvPr/>
        </p:nvSpPr>
        <p:spPr>
          <a:xfrm>
            <a:off x="10309860" y="4069080"/>
            <a:ext cx="1051500" cy="384000"/>
          </a:xfrm>
          <a:prstGeom prst="roundRect">
            <a:avLst>
              <a:gd fmla="val 11905" name="adj"/>
            </a:avLst>
          </a:prstGeom>
          <a:solidFill>
            <a:srgbClr val="F0736F"/>
          </a:solidFill>
          <a:ln cap="flat" cmpd="sng" w="12700">
            <a:solidFill>
              <a:srgbClr val="F073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3 max pool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3" name="Google Shape;4073;g3f883da9c22_0_3095"/>
          <p:cNvSpPr/>
          <p:nvPr/>
        </p:nvSpPr>
        <p:spPr>
          <a:xfrm>
            <a:off x="6469380" y="3108960"/>
            <a:ext cx="1051500" cy="384000"/>
          </a:xfrm>
          <a:prstGeom prst="roundRect">
            <a:avLst>
              <a:gd fmla="val 11905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× 1 conv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4" name="Google Shape;4074;g3f883da9c22_0_3095"/>
          <p:cNvSpPr/>
          <p:nvPr/>
        </p:nvSpPr>
        <p:spPr>
          <a:xfrm>
            <a:off x="7749540" y="3108960"/>
            <a:ext cx="1051500" cy="384000"/>
          </a:xfrm>
          <a:prstGeom prst="roundRect">
            <a:avLst>
              <a:gd fmla="val 11905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3 conv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5" name="Google Shape;4075;g3f883da9c22_0_3095"/>
          <p:cNvSpPr/>
          <p:nvPr/>
        </p:nvSpPr>
        <p:spPr>
          <a:xfrm>
            <a:off x="9029700" y="3108960"/>
            <a:ext cx="1051500" cy="384000"/>
          </a:xfrm>
          <a:prstGeom prst="roundRect">
            <a:avLst>
              <a:gd fmla="val 11905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× 5 conv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6" name="Google Shape;4076;g3f883da9c22_0_3095"/>
          <p:cNvSpPr/>
          <p:nvPr/>
        </p:nvSpPr>
        <p:spPr>
          <a:xfrm>
            <a:off x="10309860" y="3108960"/>
            <a:ext cx="1051500" cy="384000"/>
          </a:xfrm>
          <a:prstGeom prst="roundRect">
            <a:avLst>
              <a:gd fmla="val 11905" name="adj"/>
            </a:avLst>
          </a:prstGeom>
          <a:solidFill>
            <a:srgbClr val="F8DFB4"/>
          </a:solidFill>
          <a:ln cap="flat" cmpd="sng" w="12700">
            <a:solidFill>
              <a:srgbClr val="F8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 × 1 conv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7" name="Google Shape;4077;g3f883da9c22_0_3095"/>
          <p:cNvSpPr/>
          <p:nvPr/>
        </p:nvSpPr>
        <p:spPr>
          <a:xfrm rot="-7938448">
            <a:off x="8230668" y="4802294"/>
            <a:ext cx="650266" cy="9343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8" name="Google Shape;4078;g3f883da9c22_0_3095"/>
          <p:cNvSpPr/>
          <p:nvPr/>
        </p:nvSpPr>
        <p:spPr>
          <a:xfrm rot="-2531067">
            <a:off x="8267260" y="4486996"/>
            <a:ext cx="77734" cy="91315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9" name="Google Shape;4079;g3f883da9c22_0_3095"/>
          <p:cNvSpPr/>
          <p:nvPr/>
        </p:nvSpPr>
        <p:spPr>
          <a:xfrm rot="-5400000">
            <a:off x="8069448" y="3831348"/>
            <a:ext cx="411600" cy="90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0" name="Google Shape;4080;g3f883da9c22_0_3095"/>
          <p:cNvSpPr/>
          <p:nvPr/>
        </p:nvSpPr>
        <p:spPr>
          <a:xfrm>
            <a:off x="8236458" y="3538728"/>
            <a:ext cx="77700" cy="91500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1" name="Google Shape;4081;g3f883da9c22_0_3095"/>
          <p:cNvSpPr/>
          <p:nvPr/>
        </p:nvSpPr>
        <p:spPr>
          <a:xfrm rot="-2861552">
            <a:off x="8950003" y="4802439"/>
            <a:ext cx="650266" cy="9343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2" name="Google Shape;4082;g3f883da9c22_0_3095"/>
          <p:cNvSpPr/>
          <p:nvPr/>
        </p:nvSpPr>
        <p:spPr>
          <a:xfrm rot="2531067">
            <a:off x="9485921" y="4486885"/>
            <a:ext cx="77734" cy="91315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3" name="Google Shape;4083;g3f883da9c22_0_3095"/>
          <p:cNvSpPr/>
          <p:nvPr/>
        </p:nvSpPr>
        <p:spPr>
          <a:xfrm rot="-5400000">
            <a:off x="9349608" y="3831348"/>
            <a:ext cx="411600" cy="90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4" name="Google Shape;4084;g3f883da9c22_0_3095"/>
          <p:cNvSpPr/>
          <p:nvPr/>
        </p:nvSpPr>
        <p:spPr>
          <a:xfrm>
            <a:off x="9516618" y="3538728"/>
            <a:ext cx="77700" cy="91500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5" name="Google Shape;4085;g3f883da9c22_0_3095"/>
          <p:cNvSpPr/>
          <p:nvPr/>
        </p:nvSpPr>
        <p:spPr>
          <a:xfrm rot="-1207191">
            <a:off x="9291903" y="4784343"/>
            <a:ext cx="1503554" cy="9203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6" name="Google Shape;4086;g3f883da9c22_0_3095"/>
          <p:cNvSpPr/>
          <p:nvPr/>
        </p:nvSpPr>
        <p:spPr>
          <a:xfrm rot="4193069">
            <a:off x="10753905" y="4468857"/>
            <a:ext cx="77636" cy="91400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7" name="Google Shape;4087;g3f883da9c22_0_3095"/>
          <p:cNvSpPr/>
          <p:nvPr/>
        </p:nvSpPr>
        <p:spPr>
          <a:xfrm rot="-5400000">
            <a:off x="10629768" y="3831348"/>
            <a:ext cx="411600" cy="90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8" name="Google Shape;4088;g3f883da9c22_0_3095"/>
          <p:cNvSpPr/>
          <p:nvPr/>
        </p:nvSpPr>
        <p:spPr>
          <a:xfrm>
            <a:off x="10796778" y="3538728"/>
            <a:ext cx="77700" cy="91500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9" name="Google Shape;4089;g3f883da9c22_0_3095"/>
          <p:cNvSpPr/>
          <p:nvPr/>
        </p:nvSpPr>
        <p:spPr>
          <a:xfrm rot="-8087455">
            <a:off x="6759016" y="4321047"/>
            <a:ext cx="2034572" cy="9124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0" name="Google Shape;4090;g3f883da9c22_0_3095"/>
          <p:cNvSpPr/>
          <p:nvPr/>
        </p:nvSpPr>
        <p:spPr>
          <a:xfrm rot="-2690633">
            <a:off x="6988504" y="3525343"/>
            <a:ext cx="77853" cy="91429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1" name="Google Shape;4091;g3f883da9c22_0_3095"/>
          <p:cNvSpPr/>
          <p:nvPr/>
        </p:nvSpPr>
        <p:spPr>
          <a:xfrm rot="-1113327">
            <a:off x="6956513" y="2840092"/>
            <a:ext cx="1488582" cy="9203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2" name="Google Shape;4092;g3f883da9c22_0_3095"/>
          <p:cNvSpPr/>
          <p:nvPr/>
        </p:nvSpPr>
        <p:spPr>
          <a:xfrm rot="4293903">
            <a:off x="8410631" y="2547491"/>
            <a:ext cx="77792" cy="91453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3" name="Google Shape;4093;g3f883da9c22_0_3095"/>
          <p:cNvSpPr/>
          <p:nvPr/>
        </p:nvSpPr>
        <p:spPr>
          <a:xfrm rot="-2712999">
            <a:off x="8184177" y="2857895"/>
            <a:ext cx="617096" cy="9124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4" name="Google Shape;4094;g3f883da9c22_0_3095"/>
          <p:cNvSpPr/>
          <p:nvPr/>
        </p:nvSpPr>
        <p:spPr>
          <a:xfrm rot="2690633">
            <a:off x="8703427" y="2565365"/>
            <a:ext cx="77853" cy="91429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5" name="Google Shape;4095;g3f883da9c22_0_3095"/>
          <p:cNvSpPr/>
          <p:nvPr/>
        </p:nvSpPr>
        <p:spPr>
          <a:xfrm rot="-8087001">
            <a:off x="9029637" y="2858037"/>
            <a:ext cx="617096" cy="9124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6" name="Google Shape;4096;g3f883da9c22_0_3095"/>
          <p:cNvSpPr/>
          <p:nvPr/>
        </p:nvSpPr>
        <p:spPr>
          <a:xfrm rot="-2690633">
            <a:off x="9049561" y="2565223"/>
            <a:ext cx="77853" cy="91429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7" name="Google Shape;4097;g3f883da9c22_0_3095"/>
          <p:cNvSpPr/>
          <p:nvPr/>
        </p:nvSpPr>
        <p:spPr>
          <a:xfrm rot="-9686673">
            <a:off x="9385794" y="2840061"/>
            <a:ext cx="1488582" cy="9203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8" name="Google Shape;4098;g3f883da9c22_0_3095"/>
          <p:cNvSpPr/>
          <p:nvPr/>
        </p:nvSpPr>
        <p:spPr>
          <a:xfrm rot="-4293903">
            <a:off x="9342237" y="2547372"/>
            <a:ext cx="77792" cy="91453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9" name="Google Shape;4099;g3f883da9c22_0_3095"/>
          <p:cNvSpPr/>
          <p:nvPr/>
        </p:nvSpPr>
        <p:spPr>
          <a:xfrm>
            <a:off x="8252460" y="2148840"/>
            <a:ext cx="1326000" cy="384000"/>
          </a:xfrm>
          <a:prstGeom prst="roundRect">
            <a:avLst>
              <a:gd fmla="val 11905" name="adj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 concatenation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0" name="Google Shape;4100;g3f883da9c22_0_3095"/>
          <p:cNvSpPr/>
          <p:nvPr/>
        </p:nvSpPr>
        <p:spPr>
          <a:xfrm>
            <a:off x="548640" y="5943600"/>
            <a:ext cx="11064300" cy="384000"/>
          </a:xfrm>
          <a:prstGeom prst="roundRect">
            <a:avLst>
              <a:gd fmla="val 14286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1" name="Google Shape;4101;g3f883da9c22_0_3095"/>
          <p:cNvSpPr txBox="1"/>
          <p:nvPr/>
        </p:nvSpPr>
        <p:spPr>
          <a:xfrm>
            <a:off x="822960" y="6016752"/>
            <a:ext cx="1051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× 1 bottlenecks go before the expensive 3 × 3 and 5 × 5 branches, and after the pooling branch.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106" name="Shape 4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Google Shape;4107;g3f883da9c22_0_3169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INCEPTION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8" name="Google Shape;4108;g3f883da9c22_0_3169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Back to the example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9" name="Google Shape;4109;g3f883da9c22_0_3169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0" name="Google Shape;4110;g3f883da9c22_0_3169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1" name="Google Shape;4111;g3f883da9c22_0_3169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2" name="Google Shape;4112;g3f883da9c22_0_3169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3" name="Google Shape;4113;g3f883da9c22_0_3169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4" name="Google Shape;4114;g3f883da9c22_0_3169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5" name="Google Shape;4115;g3f883da9c22_0_3169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6" name="Google Shape;4116;g3f883da9c22_0_3169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7" name="Google Shape;4117;g3f883da9c22_0_3169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8" name="Google Shape;4118;g3f883da9c22_0_3169"/>
          <p:cNvSpPr/>
          <p:nvPr/>
        </p:nvSpPr>
        <p:spPr>
          <a:xfrm>
            <a:off x="1280160" y="1783080"/>
            <a:ext cx="9601200" cy="4023300"/>
          </a:xfrm>
          <a:prstGeom prst="roundRect">
            <a:avLst>
              <a:gd fmla="val 1364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9" name="Google Shape;4119;g3f883da9c22_0_3169"/>
          <p:cNvSpPr/>
          <p:nvPr/>
        </p:nvSpPr>
        <p:spPr>
          <a:xfrm>
            <a:off x="5394960" y="5029200"/>
            <a:ext cx="1371600" cy="457200"/>
          </a:xfrm>
          <a:prstGeom prst="roundRect">
            <a:avLst>
              <a:gd fmla="val 10000" name="adj"/>
            </a:avLst>
          </a:prstGeom>
          <a:solidFill>
            <a:srgbClr val="D9F0EC"/>
          </a:solidFill>
          <a:ln cap="flat" cmpd="sng" w="12700">
            <a:solidFill>
              <a:srgbClr val="D9F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Previous layer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0" name="Google Shape;4120;g3f883da9c22_0_3169"/>
          <p:cNvSpPr/>
          <p:nvPr/>
        </p:nvSpPr>
        <p:spPr>
          <a:xfrm>
            <a:off x="4754880" y="4069080"/>
            <a:ext cx="1371600" cy="457200"/>
          </a:xfrm>
          <a:prstGeom prst="roundRect">
            <a:avLst>
              <a:gd fmla="val 10000" name="adj"/>
            </a:avLst>
          </a:prstGeom>
          <a:solidFill>
            <a:srgbClr val="F8DFB4"/>
          </a:solidFill>
          <a:ln cap="flat" cmpd="sng" w="12700">
            <a:solidFill>
              <a:srgbClr val="F8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 × 1 conv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1" name="Google Shape;4121;g3f883da9c22_0_3169"/>
          <p:cNvSpPr/>
          <p:nvPr/>
        </p:nvSpPr>
        <p:spPr>
          <a:xfrm>
            <a:off x="6035040" y="4069080"/>
            <a:ext cx="1371600" cy="457200"/>
          </a:xfrm>
          <a:prstGeom prst="roundRect">
            <a:avLst>
              <a:gd fmla="val 10000" name="adj"/>
            </a:avLst>
          </a:prstGeom>
          <a:solidFill>
            <a:srgbClr val="F8DFB4"/>
          </a:solidFill>
          <a:ln cap="flat" cmpd="sng" w="12700">
            <a:solidFill>
              <a:srgbClr val="F8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 × 1 conv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2" name="Google Shape;4122;g3f883da9c22_0_3169"/>
          <p:cNvSpPr/>
          <p:nvPr/>
        </p:nvSpPr>
        <p:spPr>
          <a:xfrm>
            <a:off x="7315200" y="4069080"/>
            <a:ext cx="1371600" cy="457200"/>
          </a:xfrm>
          <a:prstGeom prst="roundRect">
            <a:avLst>
              <a:gd fmla="val 10000" name="adj"/>
            </a:avLst>
          </a:prstGeom>
          <a:solidFill>
            <a:srgbClr val="F0736F"/>
          </a:solidFill>
          <a:ln cap="flat" cmpd="sng" w="12700">
            <a:solidFill>
              <a:srgbClr val="F073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3 max pool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3" name="Google Shape;4123;g3f883da9c22_0_3169"/>
          <p:cNvSpPr/>
          <p:nvPr/>
        </p:nvSpPr>
        <p:spPr>
          <a:xfrm>
            <a:off x="3474720" y="3063240"/>
            <a:ext cx="1371600" cy="457200"/>
          </a:xfrm>
          <a:prstGeom prst="roundRect">
            <a:avLst>
              <a:gd fmla="val 1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× 1 conv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4" name="Google Shape;4124;g3f883da9c22_0_3169"/>
          <p:cNvSpPr/>
          <p:nvPr/>
        </p:nvSpPr>
        <p:spPr>
          <a:xfrm>
            <a:off x="4754880" y="3063240"/>
            <a:ext cx="1371600" cy="457200"/>
          </a:xfrm>
          <a:prstGeom prst="roundRect">
            <a:avLst>
              <a:gd fmla="val 1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3 conv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5" name="Google Shape;4125;g3f883da9c22_0_3169"/>
          <p:cNvSpPr/>
          <p:nvPr/>
        </p:nvSpPr>
        <p:spPr>
          <a:xfrm>
            <a:off x="6035040" y="3063240"/>
            <a:ext cx="1371600" cy="457200"/>
          </a:xfrm>
          <a:prstGeom prst="roundRect">
            <a:avLst>
              <a:gd fmla="val 1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× 5 conv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6" name="Google Shape;4126;g3f883da9c22_0_3169"/>
          <p:cNvSpPr/>
          <p:nvPr/>
        </p:nvSpPr>
        <p:spPr>
          <a:xfrm>
            <a:off x="7315200" y="3063240"/>
            <a:ext cx="1371600" cy="457200"/>
          </a:xfrm>
          <a:prstGeom prst="roundRect">
            <a:avLst>
              <a:gd fmla="val 10000" name="adj"/>
            </a:avLst>
          </a:prstGeom>
          <a:solidFill>
            <a:srgbClr val="F8DFB4"/>
          </a:solidFill>
          <a:ln cap="flat" cmpd="sng" w="12700">
            <a:solidFill>
              <a:srgbClr val="F8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 × 1 conv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7" name="Google Shape;4127;g3f883da9c22_0_3169"/>
          <p:cNvSpPr/>
          <p:nvPr/>
        </p:nvSpPr>
        <p:spPr>
          <a:xfrm rot="-8356035">
            <a:off x="5441345" y="4812111"/>
            <a:ext cx="567329" cy="9144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8" name="Google Shape;4128;g3f883da9c22_0_3169"/>
          <p:cNvSpPr/>
          <p:nvPr/>
        </p:nvSpPr>
        <p:spPr>
          <a:xfrm rot="-2953837">
            <a:off x="5436507" y="4556168"/>
            <a:ext cx="77640" cy="91469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9" name="Google Shape;4129;g3f883da9c22_0_3169"/>
          <p:cNvSpPr/>
          <p:nvPr/>
        </p:nvSpPr>
        <p:spPr>
          <a:xfrm rot="-5400000">
            <a:off x="5248608" y="3845148"/>
            <a:ext cx="384000" cy="90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0" name="Google Shape;4130;g3f883da9c22_0_3169"/>
          <p:cNvSpPr/>
          <p:nvPr/>
        </p:nvSpPr>
        <p:spPr>
          <a:xfrm>
            <a:off x="5401818" y="3566160"/>
            <a:ext cx="77700" cy="91500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1" name="Google Shape;4131;g3f883da9c22_0_3169"/>
          <p:cNvSpPr/>
          <p:nvPr/>
        </p:nvSpPr>
        <p:spPr>
          <a:xfrm rot="-2443965">
            <a:off x="6152881" y="4812081"/>
            <a:ext cx="567329" cy="9144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2" name="Google Shape;4132;g3f883da9c22_0_3169"/>
          <p:cNvSpPr/>
          <p:nvPr/>
        </p:nvSpPr>
        <p:spPr>
          <a:xfrm rot="2953837">
            <a:off x="6647367" y="4556062"/>
            <a:ext cx="77640" cy="91469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3" name="Google Shape;4133;g3f883da9c22_0_3169"/>
          <p:cNvSpPr/>
          <p:nvPr/>
        </p:nvSpPr>
        <p:spPr>
          <a:xfrm rot="-5400000">
            <a:off x="6528768" y="3845148"/>
            <a:ext cx="384000" cy="90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4" name="Google Shape;4134;g3f883da9c22_0_3169"/>
          <p:cNvSpPr/>
          <p:nvPr/>
        </p:nvSpPr>
        <p:spPr>
          <a:xfrm>
            <a:off x="6681978" y="3566160"/>
            <a:ext cx="77700" cy="91500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5" name="Google Shape;4135;g3f883da9c22_0_3169"/>
          <p:cNvSpPr/>
          <p:nvPr/>
        </p:nvSpPr>
        <p:spPr>
          <a:xfrm rot="-960201">
            <a:off x="6474729" y="4795011"/>
            <a:ext cx="1466847" cy="9025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6" name="Google Shape;4136;g3f883da9c22_0_3169"/>
          <p:cNvSpPr/>
          <p:nvPr/>
        </p:nvSpPr>
        <p:spPr>
          <a:xfrm rot="4445100">
            <a:off x="7918143" y="4538875"/>
            <a:ext cx="77677" cy="91441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7" name="Google Shape;4137;g3f883da9c22_0_3169"/>
          <p:cNvSpPr/>
          <p:nvPr/>
        </p:nvSpPr>
        <p:spPr>
          <a:xfrm rot="-5400000">
            <a:off x="7808928" y="3845148"/>
            <a:ext cx="384000" cy="90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8" name="Google Shape;4138;g3f883da9c22_0_3169"/>
          <p:cNvSpPr/>
          <p:nvPr/>
        </p:nvSpPr>
        <p:spPr>
          <a:xfrm>
            <a:off x="7962138" y="3566160"/>
            <a:ext cx="77700" cy="91500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9" name="Google Shape;4139;g3f883da9c22_0_3169"/>
          <p:cNvSpPr/>
          <p:nvPr/>
        </p:nvSpPr>
        <p:spPr>
          <a:xfrm rot="-8173179">
            <a:off x="3950721" y="4311107"/>
            <a:ext cx="1983247" cy="9124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0" name="Google Shape;4140;g3f883da9c22_0_3169"/>
          <p:cNvSpPr/>
          <p:nvPr/>
        </p:nvSpPr>
        <p:spPr>
          <a:xfrm rot="-2775130">
            <a:off x="4154650" y="3552092"/>
            <a:ext cx="77659" cy="91449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1" name="Google Shape;4141;g3f883da9c22_0_3169"/>
          <p:cNvSpPr/>
          <p:nvPr/>
        </p:nvSpPr>
        <p:spPr>
          <a:xfrm rot="-862637">
            <a:off x="4137806" y="2850622"/>
            <a:ext cx="1454657" cy="9315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2" name="Google Shape;4142;g3f883da9c22_0_3169"/>
          <p:cNvSpPr/>
          <p:nvPr/>
        </p:nvSpPr>
        <p:spPr>
          <a:xfrm rot="4541731">
            <a:off x="5575150" y="2617471"/>
            <a:ext cx="77709" cy="91390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3" name="Google Shape;4143;g3f883da9c22_0_3169"/>
          <p:cNvSpPr/>
          <p:nvPr/>
        </p:nvSpPr>
        <p:spPr>
          <a:xfrm rot="-2253181">
            <a:off x="5384954" y="2867093"/>
            <a:ext cx="538478" cy="9183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4" name="Google Shape;4144;g3f883da9c22_0_3169"/>
          <p:cNvSpPr/>
          <p:nvPr/>
        </p:nvSpPr>
        <p:spPr>
          <a:xfrm rot="3142645">
            <a:off x="5864825" y="2633824"/>
            <a:ext cx="77647" cy="91566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5" name="Google Shape;4145;g3f883da9c22_0_3169"/>
          <p:cNvSpPr/>
          <p:nvPr/>
        </p:nvSpPr>
        <p:spPr>
          <a:xfrm rot="-8546819">
            <a:off x="6238214" y="2867140"/>
            <a:ext cx="538478" cy="9183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6" name="Google Shape;4146;g3f883da9c22_0_3169"/>
          <p:cNvSpPr/>
          <p:nvPr/>
        </p:nvSpPr>
        <p:spPr>
          <a:xfrm rot="-3142645">
            <a:off x="6219059" y="2633930"/>
            <a:ext cx="77647" cy="91566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7" name="Google Shape;4147;g3f883da9c22_0_3169"/>
          <p:cNvSpPr/>
          <p:nvPr/>
        </p:nvSpPr>
        <p:spPr>
          <a:xfrm rot="-9937363">
            <a:off x="6569186" y="2850480"/>
            <a:ext cx="1454657" cy="9315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8" name="Google Shape;4148;g3f883da9c22_0_3169"/>
          <p:cNvSpPr/>
          <p:nvPr/>
        </p:nvSpPr>
        <p:spPr>
          <a:xfrm rot="-4541731">
            <a:off x="6508556" y="2617460"/>
            <a:ext cx="77709" cy="91390"/>
          </a:xfrm>
          <a:prstGeom prst="triangle">
            <a:avLst>
              <a:gd fmla="val 50000" name="adj"/>
            </a:avLst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9" name="Google Shape;4149;g3f883da9c22_0_3169"/>
          <p:cNvSpPr/>
          <p:nvPr/>
        </p:nvSpPr>
        <p:spPr>
          <a:xfrm>
            <a:off x="5257800" y="2148840"/>
            <a:ext cx="1645800" cy="457200"/>
          </a:xfrm>
          <a:prstGeom prst="roundRect">
            <a:avLst>
              <a:gd fmla="val 10000" name="adj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 concatenation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0" name="Google Shape;4150;g3f883da9c22_0_3169"/>
          <p:cNvSpPr txBox="1"/>
          <p:nvPr/>
        </p:nvSpPr>
        <p:spPr>
          <a:xfrm>
            <a:off x="3383280" y="2752344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28×28×128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1" name="Google Shape;4151;g3f883da9c22_0_3169"/>
          <p:cNvSpPr txBox="1"/>
          <p:nvPr/>
        </p:nvSpPr>
        <p:spPr>
          <a:xfrm>
            <a:off x="4663440" y="2752344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28×28×192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2" name="Google Shape;4152;g3f883da9c22_0_3169"/>
          <p:cNvSpPr txBox="1"/>
          <p:nvPr/>
        </p:nvSpPr>
        <p:spPr>
          <a:xfrm>
            <a:off x="5943600" y="2752344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28×28×96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3" name="Google Shape;4153;g3f883da9c22_0_3169"/>
          <p:cNvSpPr txBox="1"/>
          <p:nvPr/>
        </p:nvSpPr>
        <p:spPr>
          <a:xfrm>
            <a:off x="7223760" y="2752344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28×28×64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4" name="Google Shape;4154;g3f883da9c22_0_3169"/>
          <p:cNvSpPr txBox="1"/>
          <p:nvPr/>
        </p:nvSpPr>
        <p:spPr>
          <a:xfrm>
            <a:off x="6903720" y="51206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28 × 28 × 256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5" name="Google Shape;4155;g3f883da9c22_0_3169"/>
          <p:cNvSpPr txBox="1"/>
          <p:nvPr/>
        </p:nvSpPr>
        <p:spPr>
          <a:xfrm>
            <a:off x="2743200" y="1481328"/>
            <a:ext cx="66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28 × 28 × (128 + 192 + 96 + 64)  =  28 × 28 × 480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6" name="Google Shape;4156;g3f883da9c22_0_3169"/>
          <p:cNvSpPr txBox="1"/>
          <p:nvPr/>
        </p:nvSpPr>
        <p:spPr>
          <a:xfrm>
            <a:off x="1280160" y="5925312"/>
            <a:ext cx="9601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672 channels before, 480 after — and the module is now cheaper to compute too.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161" name="Shape 4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2" name="Google Shape;4162;g3f883da9c22_0_3223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COMPUTATIONAL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3" name="Google Shape;4163;g3f883da9c22_0_3223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The same module, now 358 M ops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4" name="Google Shape;4164;g3f883da9c22_0_3223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5" name="Google Shape;4165;g3f883da9c22_0_3223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6" name="Google Shape;4166;g3f883da9c22_0_3223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7" name="Google Shape;4167;g3f883da9c22_0_3223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8" name="Google Shape;4168;g3f883da9c22_0_3223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9" name="Google Shape;4169;g3f883da9c22_0_3223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0" name="Google Shape;4170;g3f883da9c22_0_3223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1" name="Google Shape;4171;g3f883da9c22_0_3223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2" name="Google Shape;4172;g3f883da9c22_0_3223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3" name="Google Shape;4173;g3f883da9c22_0_3223"/>
          <p:cNvSpPr/>
          <p:nvPr/>
        </p:nvSpPr>
        <p:spPr>
          <a:xfrm>
            <a:off x="548640" y="1463040"/>
            <a:ext cx="6400800" cy="365760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4" name="Google Shape;4174;g3f883da9c22_0_3223"/>
          <p:cNvSpPr txBox="1"/>
          <p:nvPr/>
        </p:nvSpPr>
        <p:spPr>
          <a:xfrm>
            <a:off x="822960" y="1691640"/>
            <a:ext cx="5852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Conv ops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5" name="Google Shape;4175;g3f883da9c22_0_3223"/>
          <p:cNvSpPr/>
          <p:nvPr/>
        </p:nvSpPr>
        <p:spPr>
          <a:xfrm>
            <a:off x="822960" y="2148840"/>
            <a:ext cx="5852100" cy="384000"/>
          </a:xfrm>
          <a:prstGeom prst="roundRect">
            <a:avLst>
              <a:gd fmla="val 14286" name="adj"/>
            </a:avLst>
          </a:prstGeom>
          <a:solidFill>
            <a:srgbClr val="FFF7E8"/>
          </a:solidFill>
          <a:ln cap="flat" cmpd="sng" w="12700">
            <a:solidFill>
              <a:srgbClr val="FFF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6" name="Google Shape;4176;g3f883da9c22_0_3223"/>
          <p:cNvSpPr txBox="1"/>
          <p:nvPr/>
        </p:nvSpPr>
        <p:spPr>
          <a:xfrm>
            <a:off x="1005840" y="2240280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[1 × 1 conv, 64]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7" name="Google Shape;4177;g3f883da9c22_0_3223"/>
          <p:cNvSpPr txBox="1"/>
          <p:nvPr/>
        </p:nvSpPr>
        <p:spPr>
          <a:xfrm>
            <a:off x="2834640" y="2240280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28 × 28 × 64 × 1 × 1 × 256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8" name="Google Shape;4178;g3f883da9c22_0_3223"/>
          <p:cNvSpPr/>
          <p:nvPr/>
        </p:nvSpPr>
        <p:spPr>
          <a:xfrm>
            <a:off x="822960" y="2606040"/>
            <a:ext cx="5852100" cy="384000"/>
          </a:xfrm>
          <a:prstGeom prst="roundRect">
            <a:avLst>
              <a:gd fmla="val 14286" name="adj"/>
            </a:avLst>
          </a:prstGeom>
          <a:solidFill>
            <a:srgbClr val="FFF7E8"/>
          </a:solidFill>
          <a:ln cap="flat" cmpd="sng" w="12700">
            <a:solidFill>
              <a:srgbClr val="FFF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9" name="Google Shape;4179;g3f883da9c22_0_3223"/>
          <p:cNvSpPr txBox="1"/>
          <p:nvPr/>
        </p:nvSpPr>
        <p:spPr>
          <a:xfrm>
            <a:off x="1005840" y="2697480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[1 × 1 conv, 64]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0" name="Google Shape;4180;g3f883da9c22_0_3223"/>
          <p:cNvSpPr txBox="1"/>
          <p:nvPr/>
        </p:nvSpPr>
        <p:spPr>
          <a:xfrm>
            <a:off x="2834640" y="2697480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28 × 28 × 64 × 1 × 1 × 256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1" name="Google Shape;4181;g3f883da9c22_0_3223"/>
          <p:cNvSpPr/>
          <p:nvPr/>
        </p:nvSpPr>
        <p:spPr>
          <a:xfrm>
            <a:off x="822960" y="3063240"/>
            <a:ext cx="5852100" cy="384000"/>
          </a:xfrm>
          <a:prstGeom prst="roundRect">
            <a:avLst>
              <a:gd fmla="val 14286" name="adj"/>
            </a:avLst>
          </a:prstGeom>
          <a:solidFill>
            <a:srgbClr val="F7F6FB"/>
          </a:solidFill>
          <a:ln cap="flat" cmpd="sng" w="12700">
            <a:solidFill>
              <a:srgbClr val="F7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2" name="Google Shape;4182;g3f883da9c22_0_3223"/>
          <p:cNvSpPr txBox="1"/>
          <p:nvPr/>
        </p:nvSpPr>
        <p:spPr>
          <a:xfrm>
            <a:off x="1005840" y="3154680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[1 × 1 conv, 128]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3" name="Google Shape;4183;g3f883da9c22_0_3223"/>
          <p:cNvSpPr txBox="1"/>
          <p:nvPr/>
        </p:nvSpPr>
        <p:spPr>
          <a:xfrm>
            <a:off x="2834640" y="3154680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28 × 28 × 128 × 1 × 1 × 256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4" name="Google Shape;4184;g3f883da9c22_0_3223"/>
          <p:cNvSpPr/>
          <p:nvPr/>
        </p:nvSpPr>
        <p:spPr>
          <a:xfrm>
            <a:off x="822960" y="3520440"/>
            <a:ext cx="5852100" cy="384000"/>
          </a:xfrm>
          <a:prstGeom prst="roundRect">
            <a:avLst>
              <a:gd fmla="val 14286" name="adj"/>
            </a:avLst>
          </a:prstGeom>
          <a:solidFill>
            <a:srgbClr val="F7F6FB"/>
          </a:solidFill>
          <a:ln cap="flat" cmpd="sng" w="12700">
            <a:solidFill>
              <a:srgbClr val="F7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5" name="Google Shape;4185;g3f883da9c22_0_3223"/>
          <p:cNvSpPr txBox="1"/>
          <p:nvPr/>
        </p:nvSpPr>
        <p:spPr>
          <a:xfrm>
            <a:off x="1005840" y="3611880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[3 × 3 conv, 192]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6" name="Google Shape;4186;g3f883da9c22_0_3223"/>
          <p:cNvSpPr txBox="1"/>
          <p:nvPr/>
        </p:nvSpPr>
        <p:spPr>
          <a:xfrm>
            <a:off x="2834640" y="3611880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28 × 28 × 192 × 3 × 3 × 64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7" name="Google Shape;4187;g3f883da9c22_0_3223"/>
          <p:cNvSpPr/>
          <p:nvPr/>
        </p:nvSpPr>
        <p:spPr>
          <a:xfrm>
            <a:off x="822960" y="3977640"/>
            <a:ext cx="5852100" cy="384000"/>
          </a:xfrm>
          <a:prstGeom prst="roundRect">
            <a:avLst>
              <a:gd fmla="val 14286" name="adj"/>
            </a:avLst>
          </a:prstGeom>
          <a:solidFill>
            <a:srgbClr val="F7F6FB"/>
          </a:solidFill>
          <a:ln cap="flat" cmpd="sng" w="12700">
            <a:solidFill>
              <a:srgbClr val="F7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8" name="Google Shape;4188;g3f883da9c22_0_3223"/>
          <p:cNvSpPr txBox="1"/>
          <p:nvPr/>
        </p:nvSpPr>
        <p:spPr>
          <a:xfrm>
            <a:off x="1005840" y="4069080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[5 × 5 conv, 96]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9" name="Google Shape;4189;g3f883da9c22_0_3223"/>
          <p:cNvSpPr txBox="1"/>
          <p:nvPr/>
        </p:nvSpPr>
        <p:spPr>
          <a:xfrm>
            <a:off x="2834640" y="4069080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28 × 28 × 96 × 5 × 5 × 64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0" name="Google Shape;4190;g3f883da9c22_0_3223"/>
          <p:cNvSpPr/>
          <p:nvPr/>
        </p:nvSpPr>
        <p:spPr>
          <a:xfrm>
            <a:off x="822960" y="4434840"/>
            <a:ext cx="5852100" cy="384000"/>
          </a:xfrm>
          <a:prstGeom prst="roundRect">
            <a:avLst>
              <a:gd fmla="val 14286" name="adj"/>
            </a:avLst>
          </a:prstGeom>
          <a:solidFill>
            <a:srgbClr val="FFF7E8"/>
          </a:solidFill>
          <a:ln cap="flat" cmpd="sng" w="12700">
            <a:solidFill>
              <a:srgbClr val="FFF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1" name="Google Shape;4191;g3f883da9c22_0_3223"/>
          <p:cNvSpPr txBox="1"/>
          <p:nvPr/>
        </p:nvSpPr>
        <p:spPr>
          <a:xfrm>
            <a:off x="1005840" y="4526280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[1 × 1 conv, 64]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2" name="Google Shape;4192;g3f883da9c22_0_3223"/>
          <p:cNvSpPr txBox="1"/>
          <p:nvPr/>
        </p:nvSpPr>
        <p:spPr>
          <a:xfrm>
            <a:off x="2834640" y="4526280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28 × 28 × 64 × 1 × 1 × 256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3" name="Google Shape;4193;g3f883da9c22_0_3223"/>
          <p:cNvSpPr/>
          <p:nvPr/>
        </p:nvSpPr>
        <p:spPr>
          <a:xfrm>
            <a:off x="7223760" y="1463040"/>
            <a:ext cx="4389000" cy="1737300"/>
          </a:xfrm>
          <a:prstGeom prst="roundRect">
            <a:avLst>
              <a:gd fmla="val 3158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4" name="Google Shape;4194;g3f883da9c22_0_3223"/>
          <p:cNvSpPr txBox="1"/>
          <p:nvPr/>
        </p:nvSpPr>
        <p:spPr>
          <a:xfrm>
            <a:off x="7498080" y="1737360"/>
            <a:ext cx="384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A594"/>
                </a:solidFill>
                <a:latin typeface="Cambria"/>
                <a:ea typeface="Cambria"/>
                <a:cs typeface="Cambria"/>
                <a:sym typeface="Cambria"/>
              </a:rPr>
              <a:t>358 M ops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5" name="Google Shape;4195;g3f883da9c22_0_3223"/>
          <p:cNvSpPr txBox="1"/>
          <p:nvPr/>
        </p:nvSpPr>
        <p:spPr>
          <a:xfrm>
            <a:off x="7498080" y="2377440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BEE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6BEE6"/>
                </a:solidFill>
                <a:latin typeface="Calibri"/>
                <a:ea typeface="Calibri"/>
                <a:cs typeface="Calibri"/>
                <a:sym typeface="Calibri"/>
              </a:rPr>
              <a:t>compare to 854 M ops for the naive module — a 58 % reduction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6" name="Google Shape;4196;g3f883da9c22_0_3223"/>
          <p:cNvSpPr/>
          <p:nvPr/>
        </p:nvSpPr>
        <p:spPr>
          <a:xfrm>
            <a:off x="7223760" y="3429000"/>
            <a:ext cx="4389000" cy="169170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7" name="Google Shape;4197;g3f883da9c22_0_3223"/>
          <p:cNvSpPr txBox="1"/>
          <p:nvPr/>
        </p:nvSpPr>
        <p:spPr>
          <a:xfrm>
            <a:off x="7498080" y="3611880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Where the saving comes from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8" name="Google Shape;4198;g3f883da9c22_0_3223"/>
          <p:cNvSpPr txBox="1"/>
          <p:nvPr/>
        </p:nvSpPr>
        <p:spPr>
          <a:xfrm>
            <a:off x="7498080" y="3977640"/>
            <a:ext cx="3840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3 × 3 and 5 × 5 convolutions now run over 64 channels instead of 256 — four times less work in exactly the branches that cost the most.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203" name="Shape 4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4" name="Google Shape;4204;g3f883da9c22_0_3264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PUTTING IT TOGETHER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5" name="Google Shape;4205;g3f883da9c22_0_3264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The full GoogLeNet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6" name="Google Shape;4206;g3f883da9c22_0_3264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7" name="Google Shape;4207;g3f883da9c22_0_3264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8" name="Google Shape;4208;g3f883da9c22_0_3264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9" name="Google Shape;4209;g3f883da9c22_0_3264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0" name="Google Shape;4210;g3f883da9c22_0_3264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1" name="Google Shape;4211;g3f883da9c22_0_3264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2" name="Google Shape;4212;g3f883da9c22_0_3264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3" name="Google Shape;4213;g3f883da9c22_0_3264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4" name="Google Shape;4214;g3f883da9c22_0_3264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5" name="Google Shape;4215;g3f883da9c22_0_3264"/>
          <p:cNvSpPr txBox="1"/>
          <p:nvPr/>
        </p:nvSpPr>
        <p:spPr>
          <a:xfrm>
            <a:off x="548640" y="4937760"/>
            <a:ext cx="11064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Stem network, then nine stacked inception modules, then a classifier head — 22 weight layers in total.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Two auxiliary softmax heads branch off the middle of the network during training and are discarded at inference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A355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No expensive fully connected stack: global average pooling collapses the final feature map before a single FC 1000 layer.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6" name="Google Shape;4216;g3f883da9c22_0_32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432550"/>
            <a:ext cx="10789898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221" name="Shape 4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2" name="Google Shape;4222;g3f883da9c22_0_3281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DEGRADATION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3" name="Google Shape;4223;g3f883da9c22_0_3281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ResNet  ·  He et al., 2015 — intuition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4" name="Google Shape;4224;g3f883da9c22_0_3281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5" name="Google Shape;4225;g3f883da9c22_0_3281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6" name="Google Shape;4226;g3f883da9c22_0_3281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7" name="Google Shape;4227;g3f883da9c22_0_3281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8" name="Google Shape;4228;g3f883da9c22_0_3281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9" name="Google Shape;4229;g3f883da9c22_0_3281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0" name="Google Shape;4230;g3f883da9c22_0_3281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1" name="Google Shape;4231;g3f883da9c22_0_3281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2" name="Google Shape;4232;g3f883da9c22_0_3281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3" name="Google Shape;4233;g3f883da9c22_0_3281"/>
          <p:cNvSpPr txBox="1"/>
          <p:nvPr/>
        </p:nvSpPr>
        <p:spPr>
          <a:xfrm>
            <a:off x="548640" y="1554480"/>
            <a:ext cx="45720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Is learning better networks as easy as stacking more layers?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What happens if you keep stacking layers on a “plain” network?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deeper network has higher training error, and thus higher test error.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12A594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Fact: deep models have more representation power (more parameters) than shallower models.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FF5E5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Hypothesis: the problem is an optimisation problem — deeper models are harder to optimise.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4" name="Google Shape;4234;g3f883da9c22_0_3281"/>
          <p:cNvSpPr/>
          <p:nvPr/>
        </p:nvSpPr>
        <p:spPr>
          <a:xfrm>
            <a:off x="5303520" y="1554480"/>
            <a:ext cx="3108900" cy="3566100"/>
          </a:xfrm>
          <a:prstGeom prst="roundRect">
            <a:avLst>
              <a:gd fmla="val 1765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5" name="Google Shape;4235;g3f883da9c22_0_32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0680" y="1828800"/>
            <a:ext cx="2834700" cy="31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6" name="Google Shape;4236;g3f883da9c22_0_3281"/>
          <p:cNvSpPr/>
          <p:nvPr/>
        </p:nvSpPr>
        <p:spPr>
          <a:xfrm>
            <a:off x="8503920" y="1554480"/>
            <a:ext cx="3108900" cy="3566100"/>
          </a:xfrm>
          <a:prstGeom prst="roundRect">
            <a:avLst>
              <a:gd fmla="val 1765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7" name="Google Shape;4237;g3f883da9c22_0_32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41080" y="1828800"/>
            <a:ext cx="2834700" cy="31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242" name="Shape 4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3" name="Google Shape;4243;g3f883da9c22_0_3301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THE RESIDUAL BLOCK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4" name="Google Shape;4244;g3f883da9c22_0_3301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ResNet — intuition (cont.)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5" name="Google Shape;4245;g3f883da9c22_0_3301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6" name="Google Shape;4246;g3f883da9c22_0_3301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7" name="Google Shape;4247;g3f883da9c22_0_3301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8" name="Google Shape;4248;g3f883da9c22_0_3301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9" name="Google Shape;4249;g3f883da9c22_0_3301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0" name="Google Shape;4250;g3f883da9c22_0_3301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1" name="Google Shape;4251;g3f883da9c22_0_3301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2" name="Google Shape;4252;g3f883da9c22_0_3301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3" name="Google Shape;4253;g3f883da9c22_0_3301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4" name="Google Shape;4254;g3f883da9c22_0_3301"/>
          <p:cNvSpPr txBox="1"/>
          <p:nvPr/>
        </p:nvSpPr>
        <p:spPr>
          <a:xfrm>
            <a:off x="548640" y="1463040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Basic idea: what should the deeper model learn to be at least as good as the shallower model?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5" name="Google Shape;4255;g3f883da9c22_0_3301"/>
          <p:cNvSpPr/>
          <p:nvPr/>
        </p:nvSpPr>
        <p:spPr>
          <a:xfrm>
            <a:off x="548640" y="2011680"/>
            <a:ext cx="3200400" cy="3749100"/>
          </a:xfrm>
          <a:prstGeom prst="roundRect">
            <a:avLst>
              <a:gd fmla="val 1714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6" name="Google Shape;4256;g3f883da9c22_0_3301"/>
          <p:cNvSpPr txBox="1"/>
          <p:nvPr/>
        </p:nvSpPr>
        <p:spPr>
          <a:xfrm>
            <a:off x="1371600" y="2331720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H(x)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7" name="Google Shape;4257;g3f883da9c22_0_3301"/>
          <p:cNvSpPr/>
          <p:nvPr/>
        </p:nvSpPr>
        <p:spPr>
          <a:xfrm>
            <a:off x="1371600" y="2926080"/>
            <a:ext cx="1554600" cy="457200"/>
          </a:xfrm>
          <a:prstGeom prst="roundRect">
            <a:avLst>
              <a:gd fmla="val 10000" name="adj"/>
            </a:avLst>
          </a:prstGeom>
          <a:solidFill>
            <a:srgbClr val="F8DFB4"/>
          </a:solidFill>
          <a:ln cap="flat" cmpd="sng" w="12700">
            <a:solidFill>
              <a:srgbClr val="F8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conv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8" name="Google Shape;4258;g3f883da9c22_0_3301"/>
          <p:cNvSpPr txBox="1"/>
          <p:nvPr/>
        </p:nvSpPr>
        <p:spPr>
          <a:xfrm>
            <a:off x="1371600" y="3456425"/>
            <a:ext cx="1005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relu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9" name="Google Shape;4259;g3f883da9c22_0_3301"/>
          <p:cNvSpPr/>
          <p:nvPr/>
        </p:nvSpPr>
        <p:spPr>
          <a:xfrm>
            <a:off x="1371600" y="3749040"/>
            <a:ext cx="1554600" cy="457200"/>
          </a:xfrm>
          <a:prstGeom prst="roundRect">
            <a:avLst>
              <a:gd fmla="val 10000" name="adj"/>
            </a:avLst>
          </a:prstGeom>
          <a:solidFill>
            <a:srgbClr val="F8DFB4"/>
          </a:solidFill>
          <a:ln cap="flat" cmpd="sng" w="12700">
            <a:solidFill>
              <a:srgbClr val="F8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conv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0" name="Google Shape;4260;g3f883da9c22_0_3301"/>
          <p:cNvSpPr/>
          <p:nvPr/>
        </p:nvSpPr>
        <p:spPr>
          <a:xfrm>
            <a:off x="1371600" y="4617720"/>
            <a:ext cx="1554600" cy="411600"/>
          </a:xfrm>
          <a:prstGeom prst="roundRect">
            <a:avLst>
              <a:gd fmla="val 11111" name="adj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1" name="Google Shape;4261;g3f883da9c22_0_3301"/>
          <p:cNvSpPr/>
          <p:nvPr/>
        </p:nvSpPr>
        <p:spPr>
          <a:xfrm rot="-5400000">
            <a:off x="2039104" y="4474939"/>
            <a:ext cx="219600" cy="11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2" name="Google Shape;4262;g3f883da9c22_0_3301"/>
          <p:cNvSpPr/>
          <p:nvPr/>
        </p:nvSpPr>
        <p:spPr>
          <a:xfrm>
            <a:off x="2103120" y="4261104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3" name="Google Shape;4263;g3f883da9c22_0_3301"/>
          <p:cNvSpPr/>
          <p:nvPr/>
        </p:nvSpPr>
        <p:spPr>
          <a:xfrm rot="-5400000">
            <a:off x="2066554" y="3624564"/>
            <a:ext cx="164700" cy="11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4" name="Google Shape;4264;g3f883da9c22_0_3301"/>
          <p:cNvSpPr/>
          <p:nvPr/>
        </p:nvSpPr>
        <p:spPr>
          <a:xfrm>
            <a:off x="2103120" y="3438144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5" name="Google Shape;4265;g3f883da9c22_0_3301"/>
          <p:cNvSpPr/>
          <p:nvPr/>
        </p:nvSpPr>
        <p:spPr>
          <a:xfrm rot="-5400000">
            <a:off x="2112304" y="2847355"/>
            <a:ext cx="73200" cy="11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6" name="Google Shape;4266;g3f883da9c22_0_3301"/>
          <p:cNvSpPr/>
          <p:nvPr/>
        </p:nvSpPr>
        <p:spPr>
          <a:xfrm>
            <a:off x="2107692" y="2724912"/>
            <a:ext cx="82200" cy="915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7" name="Google Shape;4267;g3f883da9c22_0_3301"/>
          <p:cNvSpPr txBox="1"/>
          <p:nvPr/>
        </p:nvSpPr>
        <p:spPr>
          <a:xfrm>
            <a:off x="822960" y="5166360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“Plain” layers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8" name="Google Shape;4268;g3f883da9c22_0_3301"/>
          <p:cNvSpPr/>
          <p:nvPr/>
        </p:nvSpPr>
        <p:spPr>
          <a:xfrm>
            <a:off x="3931920" y="2011680"/>
            <a:ext cx="3931800" cy="3749100"/>
          </a:xfrm>
          <a:prstGeom prst="roundRect">
            <a:avLst>
              <a:gd fmla="val 1463" name="adj"/>
            </a:avLst>
          </a:prstGeom>
          <a:solidFill>
            <a:srgbClr val="FFFFFF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9" name="Google Shape;4269;g3f883da9c22_0_3301"/>
          <p:cNvSpPr txBox="1"/>
          <p:nvPr/>
        </p:nvSpPr>
        <p:spPr>
          <a:xfrm>
            <a:off x="4846320" y="2121408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relu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0" name="Google Shape;4270;g3f883da9c22_0_3301"/>
          <p:cNvSpPr/>
          <p:nvPr/>
        </p:nvSpPr>
        <p:spPr>
          <a:xfrm>
            <a:off x="5394960" y="2395728"/>
            <a:ext cx="457200" cy="457200"/>
          </a:xfrm>
          <a:prstGeom prst="ellipse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1" name="Google Shape;4271;g3f883da9c22_0_3301"/>
          <p:cNvSpPr txBox="1"/>
          <p:nvPr/>
        </p:nvSpPr>
        <p:spPr>
          <a:xfrm>
            <a:off x="5394960" y="23957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2" name="Google Shape;4272;g3f883da9c22_0_3301"/>
          <p:cNvSpPr txBox="1"/>
          <p:nvPr/>
        </p:nvSpPr>
        <p:spPr>
          <a:xfrm>
            <a:off x="3957259" y="2487168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H(x) = F(x) + 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3" name="Google Shape;4273;g3f883da9c22_0_3301"/>
          <p:cNvSpPr/>
          <p:nvPr/>
        </p:nvSpPr>
        <p:spPr>
          <a:xfrm>
            <a:off x="4846320" y="3063240"/>
            <a:ext cx="1554600" cy="457200"/>
          </a:xfrm>
          <a:prstGeom prst="roundRect">
            <a:avLst>
              <a:gd fmla="val 10000" name="adj"/>
            </a:avLst>
          </a:prstGeom>
          <a:solidFill>
            <a:srgbClr val="F8DFB4"/>
          </a:solidFill>
          <a:ln cap="flat" cmpd="sng" w="12700">
            <a:solidFill>
              <a:srgbClr val="F8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conv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4" name="Google Shape;4274;g3f883da9c22_0_3301"/>
          <p:cNvSpPr txBox="1"/>
          <p:nvPr/>
        </p:nvSpPr>
        <p:spPr>
          <a:xfrm>
            <a:off x="5029172" y="3593525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relu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5" name="Google Shape;4275;g3f883da9c22_0_3301"/>
          <p:cNvSpPr/>
          <p:nvPr/>
        </p:nvSpPr>
        <p:spPr>
          <a:xfrm>
            <a:off x="4846320" y="3886200"/>
            <a:ext cx="1554600" cy="457200"/>
          </a:xfrm>
          <a:prstGeom prst="roundRect">
            <a:avLst>
              <a:gd fmla="val 10000" name="adj"/>
            </a:avLst>
          </a:prstGeom>
          <a:solidFill>
            <a:srgbClr val="F8DFB4"/>
          </a:solidFill>
          <a:ln cap="flat" cmpd="sng" w="12700">
            <a:solidFill>
              <a:srgbClr val="F8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conv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6" name="Google Shape;4276;g3f883da9c22_0_3301"/>
          <p:cNvSpPr/>
          <p:nvPr/>
        </p:nvSpPr>
        <p:spPr>
          <a:xfrm>
            <a:off x="4846320" y="4709160"/>
            <a:ext cx="1554600" cy="411600"/>
          </a:xfrm>
          <a:prstGeom prst="roundRect">
            <a:avLst>
              <a:gd fmla="val 11111" name="adj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7" name="Google Shape;4277;g3f883da9c22_0_3301"/>
          <p:cNvSpPr txBox="1"/>
          <p:nvPr/>
        </p:nvSpPr>
        <p:spPr>
          <a:xfrm>
            <a:off x="4023360" y="3611880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F(x)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8" name="Google Shape;4278;g3f883da9c22_0_3301"/>
          <p:cNvSpPr/>
          <p:nvPr/>
        </p:nvSpPr>
        <p:spPr>
          <a:xfrm rot="-5400000">
            <a:off x="5536774" y="4589329"/>
            <a:ext cx="173700" cy="11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9" name="Google Shape;4279;g3f883da9c22_0_3301"/>
          <p:cNvSpPr/>
          <p:nvPr/>
        </p:nvSpPr>
        <p:spPr>
          <a:xfrm>
            <a:off x="5577840" y="4398264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0" name="Google Shape;4280;g3f883da9c22_0_3301"/>
          <p:cNvSpPr/>
          <p:nvPr/>
        </p:nvSpPr>
        <p:spPr>
          <a:xfrm rot="-5400000">
            <a:off x="5541274" y="3761725"/>
            <a:ext cx="164700" cy="11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1" name="Google Shape;4281;g3f883da9c22_0_3301"/>
          <p:cNvSpPr/>
          <p:nvPr/>
        </p:nvSpPr>
        <p:spPr>
          <a:xfrm>
            <a:off x="5577840" y="3575304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2" name="Google Shape;4282;g3f883da9c22_0_3301"/>
          <p:cNvSpPr/>
          <p:nvPr/>
        </p:nvSpPr>
        <p:spPr>
          <a:xfrm rot="-5400000">
            <a:off x="5609974" y="3007465"/>
            <a:ext cx="27300" cy="11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3" name="Google Shape;4283;g3f883da9c22_0_3301"/>
          <p:cNvSpPr/>
          <p:nvPr/>
        </p:nvSpPr>
        <p:spPr>
          <a:xfrm>
            <a:off x="5582412" y="2907792"/>
            <a:ext cx="82200" cy="915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4" name="Google Shape;4284;g3f883da9c22_0_3301"/>
          <p:cNvSpPr/>
          <p:nvPr/>
        </p:nvSpPr>
        <p:spPr>
          <a:xfrm rot="-5400000">
            <a:off x="5614474" y="2362741"/>
            <a:ext cx="18300" cy="11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5" name="Google Shape;4285;g3f883da9c22_0_3301"/>
          <p:cNvSpPr/>
          <p:nvPr/>
        </p:nvSpPr>
        <p:spPr>
          <a:xfrm>
            <a:off x="5582412" y="2267712"/>
            <a:ext cx="82200" cy="915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6" name="Google Shape;4286;g3f883da9c22_0_3301"/>
          <p:cNvSpPr/>
          <p:nvPr/>
        </p:nvSpPr>
        <p:spPr>
          <a:xfrm>
            <a:off x="6903720" y="2624328"/>
            <a:ext cx="27300" cy="22860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7" name="Google Shape;4287;g3f883da9c22_0_3301"/>
          <p:cNvSpPr/>
          <p:nvPr/>
        </p:nvSpPr>
        <p:spPr>
          <a:xfrm>
            <a:off x="5852160" y="4901184"/>
            <a:ext cx="1060800" cy="273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8" name="Google Shape;4288;g3f883da9c22_0_3301"/>
          <p:cNvSpPr/>
          <p:nvPr/>
        </p:nvSpPr>
        <p:spPr>
          <a:xfrm rot="10800000">
            <a:off x="6007464" y="2618715"/>
            <a:ext cx="905400" cy="11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9" name="Google Shape;4289;g3f883da9c22_0_3301"/>
          <p:cNvSpPr/>
          <p:nvPr/>
        </p:nvSpPr>
        <p:spPr>
          <a:xfrm rot="-5400000">
            <a:off x="5907030" y="2569398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0" name="Google Shape;4290;g3f883da9c22_0_3301"/>
          <p:cNvSpPr txBox="1"/>
          <p:nvPr/>
        </p:nvSpPr>
        <p:spPr>
          <a:xfrm>
            <a:off x="6949440" y="3566160"/>
            <a:ext cx="82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identity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1" name="Google Shape;4291;g3f883da9c22_0_3301"/>
          <p:cNvSpPr txBox="1"/>
          <p:nvPr/>
        </p:nvSpPr>
        <p:spPr>
          <a:xfrm>
            <a:off x="4206240" y="5257800"/>
            <a:ext cx="3383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Residual block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2" name="Google Shape;4292;g3f883da9c22_0_3301"/>
          <p:cNvSpPr/>
          <p:nvPr/>
        </p:nvSpPr>
        <p:spPr>
          <a:xfrm>
            <a:off x="8138160" y="2011680"/>
            <a:ext cx="3474600" cy="1737300"/>
          </a:xfrm>
          <a:prstGeom prst="roundRect">
            <a:avLst>
              <a:gd fmla="val 3158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3" name="Google Shape;4293;g3f883da9c22_0_3301"/>
          <p:cNvSpPr txBox="1"/>
          <p:nvPr/>
        </p:nvSpPr>
        <p:spPr>
          <a:xfrm>
            <a:off x="8412480" y="2240280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Identity mapping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4" name="Google Shape;4294;g3f883da9c22_0_3301"/>
          <p:cNvSpPr txBox="1"/>
          <p:nvPr/>
        </p:nvSpPr>
        <p:spPr>
          <a:xfrm>
            <a:off x="8412480" y="260604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H(x) = x   if   F(x) = 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5" name="Google Shape;4295;g3f883da9c22_0_3301"/>
          <p:cNvSpPr txBox="1"/>
          <p:nvPr/>
        </p:nvSpPr>
        <p:spPr>
          <a:xfrm>
            <a:off x="8412480" y="3035808"/>
            <a:ext cx="292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Doing nothing becomes the easiest thing for the block to learn, so extra depth can never hurt.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6" name="Google Shape;4296;g3f883da9c22_0_3301"/>
          <p:cNvSpPr/>
          <p:nvPr/>
        </p:nvSpPr>
        <p:spPr>
          <a:xfrm>
            <a:off x="8138160" y="3977640"/>
            <a:ext cx="3474600" cy="1783200"/>
          </a:xfrm>
          <a:prstGeom prst="roundRect">
            <a:avLst>
              <a:gd fmla="val 3077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7" name="Google Shape;4297;g3f883da9c22_0_3301"/>
          <p:cNvSpPr txBox="1"/>
          <p:nvPr/>
        </p:nvSpPr>
        <p:spPr>
          <a:xfrm>
            <a:off x="8412480" y="4187952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8" name="Google Shape;4298;g3f883da9c22_0_3301"/>
          <p:cNvSpPr txBox="1"/>
          <p:nvPr/>
        </p:nvSpPr>
        <p:spPr>
          <a:xfrm>
            <a:off x="8412480" y="452628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F(x) = H(x) − 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9" name="Google Shape;4299;g3f883da9c22_0_3301"/>
          <p:cNvSpPr txBox="1"/>
          <p:nvPr/>
        </p:nvSpPr>
        <p:spPr>
          <a:xfrm>
            <a:off x="8412480" y="4956048"/>
            <a:ext cx="292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BEE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6BEE6"/>
                </a:solidFill>
                <a:latin typeface="Calibri"/>
                <a:ea typeface="Calibri"/>
                <a:cs typeface="Calibri"/>
                <a:sym typeface="Calibri"/>
              </a:rPr>
              <a:t>Use the layers to fit the residual F(x) instead of fitting the desired mapping H(x) directly.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304" name="Shape 4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5" name="Google Shape;4305;g3f883da9c22_0_3362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RESNET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6" name="Google Shape;4306;g3f883da9c22_0_3362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The full ResNet architecture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7" name="Google Shape;4307;g3f883da9c22_0_3362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8" name="Google Shape;4308;g3f883da9c22_0_3362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9" name="Google Shape;4309;g3f883da9c22_0_3362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0" name="Google Shape;4310;g3f883da9c22_0_3362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1" name="Google Shape;4311;g3f883da9c22_0_3362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2" name="Google Shape;4312;g3f883da9c22_0_3362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3" name="Google Shape;4313;g3f883da9c22_0_3362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4" name="Google Shape;4314;g3f883da9c22_0_3362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5" name="Google Shape;4315;g3f883da9c22_0_3362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6" name="Google Shape;4316;g3f883da9c22_0_3362"/>
          <p:cNvSpPr txBox="1"/>
          <p:nvPr/>
        </p:nvSpPr>
        <p:spPr>
          <a:xfrm>
            <a:off x="548640" y="155448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1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Stack residual blocks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Every residual block has two 3 × 3 conv layers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Periodically double the number of filters and downsample spatially using stride 2 (divide by 2 in each dimension)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Additional conv layer at the beginning (stem)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No FC layers at the end — only FC 1000 to output the classes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Total depths of 18, 34, 50, 101 and 152 layers for ImageNet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7" name="Google Shape;4317;g3f883da9c22_0_3362"/>
          <p:cNvSpPr/>
          <p:nvPr/>
        </p:nvSpPr>
        <p:spPr>
          <a:xfrm>
            <a:off x="548640" y="5029200"/>
            <a:ext cx="5486400" cy="822900"/>
          </a:xfrm>
          <a:prstGeom prst="roundRect">
            <a:avLst>
              <a:gd fmla="val 6667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8" name="Google Shape;4318;g3f883da9c22_0_3362"/>
          <p:cNvSpPr txBox="1"/>
          <p:nvPr/>
        </p:nvSpPr>
        <p:spPr>
          <a:xfrm>
            <a:off x="804672" y="523036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Batch normalisation after every conv layer  ·  Xavier/He initialisation  ·  no dropout used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9" name="Google Shape;4319;g3f883da9c22_0_3362"/>
          <p:cNvSpPr/>
          <p:nvPr/>
        </p:nvSpPr>
        <p:spPr>
          <a:xfrm>
            <a:off x="6400800" y="1463040"/>
            <a:ext cx="5212200" cy="4389000"/>
          </a:xfrm>
          <a:prstGeom prst="roundRect">
            <a:avLst>
              <a:gd fmla="val 125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0" name="Google Shape;4320;g3f883da9c22_0_3362"/>
          <p:cNvSpPr/>
          <p:nvPr/>
        </p:nvSpPr>
        <p:spPr>
          <a:xfrm>
            <a:off x="7680960" y="5527548"/>
            <a:ext cx="1737300" cy="96000"/>
          </a:xfrm>
          <a:prstGeom prst="rect">
            <a:avLst/>
          </a:prstGeom>
          <a:solidFill>
            <a:srgbClr val="D8D4E6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1" name="Google Shape;4321;g3f883da9c22_0_3362"/>
          <p:cNvSpPr txBox="1"/>
          <p:nvPr/>
        </p:nvSpPr>
        <p:spPr>
          <a:xfrm>
            <a:off x="7680960" y="5527548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2" name="Google Shape;4322;g3f883da9c22_0_3362"/>
          <p:cNvSpPr/>
          <p:nvPr/>
        </p:nvSpPr>
        <p:spPr>
          <a:xfrm>
            <a:off x="7680960" y="5416906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3" name="Google Shape;4323;g3f883da9c22_0_3362"/>
          <p:cNvSpPr txBox="1"/>
          <p:nvPr/>
        </p:nvSpPr>
        <p:spPr>
          <a:xfrm>
            <a:off x="7680960" y="5416906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7×7 conv, 64, /2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4" name="Google Shape;4324;g3f883da9c22_0_3362"/>
          <p:cNvSpPr/>
          <p:nvPr/>
        </p:nvSpPr>
        <p:spPr>
          <a:xfrm>
            <a:off x="7680960" y="5306263"/>
            <a:ext cx="1737300" cy="960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5" name="Google Shape;4325;g3f883da9c22_0_3362"/>
          <p:cNvSpPr txBox="1"/>
          <p:nvPr/>
        </p:nvSpPr>
        <p:spPr>
          <a:xfrm>
            <a:off x="7680960" y="5306263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6" name="Google Shape;4326;g3f883da9c22_0_3362"/>
          <p:cNvSpPr/>
          <p:nvPr/>
        </p:nvSpPr>
        <p:spPr>
          <a:xfrm>
            <a:off x="7680960" y="5195621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7" name="Google Shape;4327;g3f883da9c22_0_3362"/>
          <p:cNvSpPr txBox="1"/>
          <p:nvPr/>
        </p:nvSpPr>
        <p:spPr>
          <a:xfrm>
            <a:off x="7680960" y="5195621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64, /2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8" name="Google Shape;4328;g3f883da9c22_0_3362"/>
          <p:cNvSpPr/>
          <p:nvPr/>
        </p:nvSpPr>
        <p:spPr>
          <a:xfrm>
            <a:off x="7680960" y="5084978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9" name="Google Shape;4329;g3f883da9c22_0_3362"/>
          <p:cNvSpPr txBox="1"/>
          <p:nvPr/>
        </p:nvSpPr>
        <p:spPr>
          <a:xfrm>
            <a:off x="7680960" y="5084978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64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0" name="Google Shape;4330;g3f883da9c22_0_3362"/>
          <p:cNvSpPr/>
          <p:nvPr/>
        </p:nvSpPr>
        <p:spPr>
          <a:xfrm>
            <a:off x="7680960" y="4974336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1" name="Google Shape;4331;g3f883da9c22_0_3362"/>
          <p:cNvSpPr txBox="1"/>
          <p:nvPr/>
        </p:nvSpPr>
        <p:spPr>
          <a:xfrm>
            <a:off x="7680960" y="4974336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64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2" name="Google Shape;4332;g3f883da9c22_0_3362"/>
          <p:cNvSpPr/>
          <p:nvPr/>
        </p:nvSpPr>
        <p:spPr>
          <a:xfrm>
            <a:off x="7680960" y="4863694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3" name="Google Shape;4333;g3f883da9c22_0_3362"/>
          <p:cNvSpPr txBox="1"/>
          <p:nvPr/>
        </p:nvSpPr>
        <p:spPr>
          <a:xfrm>
            <a:off x="7680960" y="4863694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64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4" name="Google Shape;4334;g3f883da9c22_0_3362"/>
          <p:cNvSpPr/>
          <p:nvPr/>
        </p:nvSpPr>
        <p:spPr>
          <a:xfrm>
            <a:off x="7680960" y="4753051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5" name="Google Shape;4335;g3f883da9c22_0_3362"/>
          <p:cNvSpPr txBox="1"/>
          <p:nvPr/>
        </p:nvSpPr>
        <p:spPr>
          <a:xfrm>
            <a:off x="7680960" y="4753051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64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6" name="Google Shape;4336;g3f883da9c22_0_3362"/>
          <p:cNvSpPr/>
          <p:nvPr/>
        </p:nvSpPr>
        <p:spPr>
          <a:xfrm>
            <a:off x="7680960" y="4642409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7" name="Google Shape;4337;g3f883da9c22_0_3362"/>
          <p:cNvSpPr txBox="1"/>
          <p:nvPr/>
        </p:nvSpPr>
        <p:spPr>
          <a:xfrm>
            <a:off x="7680960" y="4642409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64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8" name="Google Shape;4338;g3f883da9c22_0_3362"/>
          <p:cNvSpPr/>
          <p:nvPr/>
        </p:nvSpPr>
        <p:spPr>
          <a:xfrm>
            <a:off x="7680960" y="4531766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9" name="Google Shape;4339;g3f883da9c22_0_3362"/>
          <p:cNvSpPr txBox="1"/>
          <p:nvPr/>
        </p:nvSpPr>
        <p:spPr>
          <a:xfrm>
            <a:off x="7680960" y="4531766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128, /2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0" name="Google Shape;4340;g3f883da9c22_0_3362"/>
          <p:cNvSpPr/>
          <p:nvPr/>
        </p:nvSpPr>
        <p:spPr>
          <a:xfrm>
            <a:off x="7680960" y="4421124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1" name="Google Shape;4341;g3f883da9c22_0_3362"/>
          <p:cNvSpPr txBox="1"/>
          <p:nvPr/>
        </p:nvSpPr>
        <p:spPr>
          <a:xfrm>
            <a:off x="7680960" y="4421124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128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2" name="Google Shape;4342;g3f883da9c22_0_3362"/>
          <p:cNvSpPr/>
          <p:nvPr/>
        </p:nvSpPr>
        <p:spPr>
          <a:xfrm>
            <a:off x="7680960" y="4310482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3" name="Google Shape;4343;g3f883da9c22_0_3362"/>
          <p:cNvSpPr txBox="1"/>
          <p:nvPr/>
        </p:nvSpPr>
        <p:spPr>
          <a:xfrm>
            <a:off x="7680960" y="4310482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128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4" name="Google Shape;4344;g3f883da9c22_0_3362"/>
          <p:cNvSpPr/>
          <p:nvPr/>
        </p:nvSpPr>
        <p:spPr>
          <a:xfrm>
            <a:off x="7680960" y="4199839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5" name="Google Shape;4345;g3f883da9c22_0_3362"/>
          <p:cNvSpPr txBox="1"/>
          <p:nvPr/>
        </p:nvSpPr>
        <p:spPr>
          <a:xfrm>
            <a:off x="7680960" y="4199839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128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6" name="Google Shape;4346;g3f883da9c22_0_3362"/>
          <p:cNvSpPr/>
          <p:nvPr/>
        </p:nvSpPr>
        <p:spPr>
          <a:xfrm>
            <a:off x="7680960" y="4089197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7" name="Google Shape;4347;g3f883da9c22_0_3362"/>
          <p:cNvSpPr txBox="1"/>
          <p:nvPr/>
        </p:nvSpPr>
        <p:spPr>
          <a:xfrm>
            <a:off x="7680960" y="4089197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128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8" name="Google Shape;4348;g3f883da9c22_0_3362"/>
          <p:cNvSpPr/>
          <p:nvPr/>
        </p:nvSpPr>
        <p:spPr>
          <a:xfrm>
            <a:off x="7680960" y="3978554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9" name="Google Shape;4349;g3f883da9c22_0_3362"/>
          <p:cNvSpPr txBox="1"/>
          <p:nvPr/>
        </p:nvSpPr>
        <p:spPr>
          <a:xfrm>
            <a:off x="7680960" y="3978554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128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0" name="Google Shape;4350;g3f883da9c22_0_3362"/>
          <p:cNvSpPr/>
          <p:nvPr/>
        </p:nvSpPr>
        <p:spPr>
          <a:xfrm>
            <a:off x="7680960" y="3867912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1" name="Google Shape;4351;g3f883da9c22_0_3362"/>
          <p:cNvSpPr txBox="1"/>
          <p:nvPr/>
        </p:nvSpPr>
        <p:spPr>
          <a:xfrm>
            <a:off x="7680960" y="3867912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128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2" name="Google Shape;4352;g3f883da9c22_0_3362"/>
          <p:cNvSpPr/>
          <p:nvPr/>
        </p:nvSpPr>
        <p:spPr>
          <a:xfrm>
            <a:off x="7680960" y="3757270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3" name="Google Shape;4353;g3f883da9c22_0_3362"/>
          <p:cNvSpPr txBox="1"/>
          <p:nvPr/>
        </p:nvSpPr>
        <p:spPr>
          <a:xfrm>
            <a:off x="7680960" y="3757270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128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4" name="Google Shape;4354;g3f883da9c22_0_3362"/>
          <p:cNvSpPr/>
          <p:nvPr/>
        </p:nvSpPr>
        <p:spPr>
          <a:xfrm>
            <a:off x="7680960" y="3646627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5" name="Google Shape;4355;g3f883da9c22_0_3362"/>
          <p:cNvSpPr txBox="1"/>
          <p:nvPr/>
        </p:nvSpPr>
        <p:spPr>
          <a:xfrm>
            <a:off x="7680960" y="3646627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256, /2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6" name="Google Shape;4356;g3f883da9c22_0_3362"/>
          <p:cNvSpPr/>
          <p:nvPr/>
        </p:nvSpPr>
        <p:spPr>
          <a:xfrm>
            <a:off x="7680960" y="3535985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7" name="Google Shape;4357;g3f883da9c22_0_3362"/>
          <p:cNvSpPr txBox="1"/>
          <p:nvPr/>
        </p:nvSpPr>
        <p:spPr>
          <a:xfrm>
            <a:off x="7680960" y="3535985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8" name="Google Shape;4358;g3f883da9c22_0_3362"/>
          <p:cNvSpPr/>
          <p:nvPr/>
        </p:nvSpPr>
        <p:spPr>
          <a:xfrm>
            <a:off x="7680960" y="3425342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9" name="Google Shape;4359;g3f883da9c22_0_3362"/>
          <p:cNvSpPr txBox="1"/>
          <p:nvPr/>
        </p:nvSpPr>
        <p:spPr>
          <a:xfrm>
            <a:off x="7680960" y="3425342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0" name="Google Shape;4360;g3f883da9c22_0_3362"/>
          <p:cNvSpPr/>
          <p:nvPr/>
        </p:nvSpPr>
        <p:spPr>
          <a:xfrm>
            <a:off x="7680960" y="3314700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1" name="Google Shape;4361;g3f883da9c22_0_3362"/>
          <p:cNvSpPr txBox="1"/>
          <p:nvPr/>
        </p:nvSpPr>
        <p:spPr>
          <a:xfrm>
            <a:off x="7680960" y="3314700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2" name="Google Shape;4362;g3f883da9c22_0_3362"/>
          <p:cNvSpPr/>
          <p:nvPr/>
        </p:nvSpPr>
        <p:spPr>
          <a:xfrm>
            <a:off x="7680960" y="3204058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3" name="Google Shape;4363;g3f883da9c22_0_3362"/>
          <p:cNvSpPr txBox="1"/>
          <p:nvPr/>
        </p:nvSpPr>
        <p:spPr>
          <a:xfrm>
            <a:off x="7680960" y="3204058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4" name="Google Shape;4364;g3f883da9c22_0_3362"/>
          <p:cNvSpPr/>
          <p:nvPr/>
        </p:nvSpPr>
        <p:spPr>
          <a:xfrm>
            <a:off x="7680960" y="3093415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5" name="Google Shape;4365;g3f883da9c22_0_3362"/>
          <p:cNvSpPr txBox="1"/>
          <p:nvPr/>
        </p:nvSpPr>
        <p:spPr>
          <a:xfrm>
            <a:off x="7680960" y="3093415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256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6" name="Google Shape;4366;g3f883da9c22_0_3362"/>
          <p:cNvSpPr/>
          <p:nvPr/>
        </p:nvSpPr>
        <p:spPr>
          <a:xfrm>
            <a:off x="7680960" y="2982773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7" name="Google Shape;4367;g3f883da9c22_0_3362"/>
          <p:cNvSpPr txBox="1"/>
          <p:nvPr/>
        </p:nvSpPr>
        <p:spPr>
          <a:xfrm>
            <a:off x="7680960" y="2982773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512, /2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8" name="Google Shape;4368;g3f883da9c22_0_3362"/>
          <p:cNvSpPr/>
          <p:nvPr/>
        </p:nvSpPr>
        <p:spPr>
          <a:xfrm>
            <a:off x="7680960" y="2872130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9" name="Google Shape;4369;g3f883da9c22_0_3362"/>
          <p:cNvSpPr txBox="1"/>
          <p:nvPr/>
        </p:nvSpPr>
        <p:spPr>
          <a:xfrm>
            <a:off x="7680960" y="2872130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0" name="Google Shape;4370;g3f883da9c22_0_3362"/>
          <p:cNvSpPr/>
          <p:nvPr/>
        </p:nvSpPr>
        <p:spPr>
          <a:xfrm>
            <a:off x="7680960" y="2761488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1" name="Google Shape;4371;g3f883da9c22_0_3362"/>
          <p:cNvSpPr txBox="1"/>
          <p:nvPr/>
        </p:nvSpPr>
        <p:spPr>
          <a:xfrm>
            <a:off x="7680960" y="2761488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2" name="Google Shape;4372;g3f883da9c22_0_3362"/>
          <p:cNvSpPr/>
          <p:nvPr/>
        </p:nvSpPr>
        <p:spPr>
          <a:xfrm>
            <a:off x="7680960" y="2650846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3" name="Google Shape;4373;g3f883da9c22_0_3362"/>
          <p:cNvSpPr txBox="1"/>
          <p:nvPr/>
        </p:nvSpPr>
        <p:spPr>
          <a:xfrm>
            <a:off x="7680960" y="2650846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4" name="Google Shape;4374;g3f883da9c22_0_3362"/>
          <p:cNvSpPr/>
          <p:nvPr/>
        </p:nvSpPr>
        <p:spPr>
          <a:xfrm>
            <a:off x="7680960" y="2540203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5" name="Google Shape;4375;g3f883da9c22_0_3362"/>
          <p:cNvSpPr txBox="1"/>
          <p:nvPr/>
        </p:nvSpPr>
        <p:spPr>
          <a:xfrm>
            <a:off x="7680960" y="2540203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6" name="Google Shape;4376;g3f883da9c22_0_3362"/>
          <p:cNvSpPr/>
          <p:nvPr/>
        </p:nvSpPr>
        <p:spPr>
          <a:xfrm>
            <a:off x="7680960" y="2429561"/>
            <a:ext cx="1737300" cy="96000"/>
          </a:xfrm>
          <a:prstGeom prst="rect">
            <a:avLst/>
          </a:prstGeom>
          <a:solidFill>
            <a:srgbClr val="F8DFB4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7" name="Google Shape;4377;g3f883da9c22_0_3362"/>
          <p:cNvSpPr txBox="1"/>
          <p:nvPr/>
        </p:nvSpPr>
        <p:spPr>
          <a:xfrm>
            <a:off x="7680960" y="2429561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3×3 conv, 512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8" name="Google Shape;4378;g3f883da9c22_0_3362"/>
          <p:cNvSpPr/>
          <p:nvPr/>
        </p:nvSpPr>
        <p:spPr>
          <a:xfrm>
            <a:off x="7680960" y="2318918"/>
            <a:ext cx="1737300" cy="96000"/>
          </a:xfrm>
          <a:prstGeom prst="rect">
            <a:avLst/>
          </a:prstGeom>
          <a:solidFill>
            <a:srgbClr val="CFE0F7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9" name="Google Shape;4379;g3f883da9c22_0_3362"/>
          <p:cNvSpPr txBox="1"/>
          <p:nvPr/>
        </p:nvSpPr>
        <p:spPr>
          <a:xfrm>
            <a:off x="7680960" y="2318918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0" name="Google Shape;4380;g3f883da9c22_0_3362"/>
          <p:cNvSpPr/>
          <p:nvPr/>
        </p:nvSpPr>
        <p:spPr>
          <a:xfrm>
            <a:off x="7680960" y="2208276"/>
            <a:ext cx="1737300" cy="96000"/>
          </a:xfrm>
          <a:prstGeom prst="rect">
            <a:avLst/>
          </a:prstGeom>
          <a:solidFill>
            <a:srgbClr val="CDEBDF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1" name="Google Shape;4381;g3f883da9c22_0_3362"/>
          <p:cNvSpPr txBox="1"/>
          <p:nvPr/>
        </p:nvSpPr>
        <p:spPr>
          <a:xfrm>
            <a:off x="7680960" y="2208276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 1000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2" name="Google Shape;4382;g3f883da9c22_0_3362"/>
          <p:cNvSpPr/>
          <p:nvPr/>
        </p:nvSpPr>
        <p:spPr>
          <a:xfrm>
            <a:off x="7680960" y="2097634"/>
            <a:ext cx="1737300" cy="96000"/>
          </a:xfrm>
          <a:prstGeom prst="rect">
            <a:avLst/>
          </a:prstGeom>
          <a:solidFill>
            <a:srgbClr val="FBD5D3"/>
          </a:solidFill>
          <a:ln cap="flat" cmpd="sng" w="9525">
            <a:solidFill>
              <a:srgbClr val="B9B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3" name="Google Shape;4383;g3f883da9c22_0_3362"/>
          <p:cNvSpPr txBox="1"/>
          <p:nvPr/>
        </p:nvSpPr>
        <p:spPr>
          <a:xfrm>
            <a:off x="7680960" y="2097634"/>
            <a:ext cx="1737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450"/>
              <a:buFont typeface="Calibri"/>
              <a:buNone/>
            </a:pPr>
            <a:r>
              <a:rPr b="0" i="0" lang="en-US" sz="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4" name="Google Shape;4384;g3f883da9c22_0_3362"/>
          <p:cNvSpPr/>
          <p:nvPr/>
        </p:nvSpPr>
        <p:spPr>
          <a:xfrm>
            <a:off x="9646920" y="5084064"/>
            <a:ext cx="18300" cy="2076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5" name="Google Shape;4385;g3f883da9c22_0_3362"/>
          <p:cNvSpPr/>
          <p:nvPr/>
        </p:nvSpPr>
        <p:spPr>
          <a:xfrm>
            <a:off x="9464040" y="5291633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6" name="Google Shape;4386;g3f883da9c22_0_3362"/>
          <p:cNvSpPr/>
          <p:nvPr/>
        </p:nvSpPr>
        <p:spPr>
          <a:xfrm>
            <a:off x="9464040" y="5084064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7" name="Google Shape;4387;g3f883da9c22_0_3362"/>
          <p:cNvSpPr/>
          <p:nvPr/>
        </p:nvSpPr>
        <p:spPr>
          <a:xfrm>
            <a:off x="9646920" y="4862779"/>
            <a:ext cx="18300" cy="2076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8" name="Google Shape;4388;g3f883da9c22_0_3362"/>
          <p:cNvSpPr/>
          <p:nvPr/>
        </p:nvSpPr>
        <p:spPr>
          <a:xfrm>
            <a:off x="9464040" y="5070348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9" name="Google Shape;4389;g3f883da9c22_0_3362"/>
          <p:cNvSpPr/>
          <p:nvPr/>
        </p:nvSpPr>
        <p:spPr>
          <a:xfrm>
            <a:off x="9464040" y="4862779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0" name="Google Shape;4390;g3f883da9c22_0_3362"/>
          <p:cNvSpPr/>
          <p:nvPr/>
        </p:nvSpPr>
        <p:spPr>
          <a:xfrm>
            <a:off x="9646920" y="4641494"/>
            <a:ext cx="18300" cy="2076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1" name="Google Shape;4391;g3f883da9c22_0_3362"/>
          <p:cNvSpPr/>
          <p:nvPr/>
        </p:nvSpPr>
        <p:spPr>
          <a:xfrm>
            <a:off x="9464040" y="4849063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2" name="Google Shape;4392;g3f883da9c22_0_3362"/>
          <p:cNvSpPr/>
          <p:nvPr/>
        </p:nvSpPr>
        <p:spPr>
          <a:xfrm>
            <a:off x="9464040" y="4641494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3" name="Google Shape;4393;g3f883da9c22_0_3362"/>
          <p:cNvSpPr/>
          <p:nvPr/>
        </p:nvSpPr>
        <p:spPr>
          <a:xfrm>
            <a:off x="9646920" y="4420210"/>
            <a:ext cx="18300" cy="2076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4" name="Google Shape;4394;g3f883da9c22_0_3362"/>
          <p:cNvSpPr/>
          <p:nvPr/>
        </p:nvSpPr>
        <p:spPr>
          <a:xfrm>
            <a:off x="9464040" y="4627778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5" name="Google Shape;4395;g3f883da9c22_0_3362"/>
          <p:cNvSpPr/>
          <p:nvPr/>
        </p:nvSpPr>
        <p:spPr>
          <a:xfrm>
            <a:off x="9464040" y="4420210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6" name="Google Shape;4396;g3f883da9c22_0_3362"/>
          <p:cNvSpPr/>
          <p:nvPr/>
        </p:nvSpPr>
        <p:spPr>
          <a:xfrm>
            <a:off x="9646920" y="4198925"/>
            <a:ext cx="18300" cy="2076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7" name="Google Shape;4397;g3f883da9c22_0_3362"/>
          <p:cNvSpPr/>
          <p:nvPr/>
        </p:nvSpPr>
        <p:spPr>
          <a:xfrm>
            <a:off x="9464040" y="4406494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8" name="Google Shape;4398;g3f883da9c22_0_3362"/>
          <p:cNvSpPr/>
          <p:nvPr/>
        </p:nvSpPr>
        <p:spPr>
          <a:xfrm>
            <a:off x="9464040" y="4198925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9" name="Google Shape;4399;g3f883da9c22_0_3362"/>
          <p:cNvSpPr/>
          <p:nvPr/>
        </p:nvSpPr>
        <p:spPr>
          <a:xfrm>
            <a:off x="9646920" y="3977640"/>
            <a:ext cx="18300" cy="2076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0" name="Google Shape;4400;g3f883da9c22_0_3362"/>
          <p:cNvSpPr/>
          <p:nvPr/>
        </p:nvSpPr>
        <p:spPr>
          <a:xfrm>
            <a:off x="9464040" y="4185209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1" name="Google Shape;4401;g3f883da9c22_0_3362"/>
          <p:cNvSpPr/>
          <p:nvPr/>
        </p:nvSpPr>
        <p:spPr>
          <a:xfrm>
            <a:off x="9464040" y="3977640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2" name="Google Shape;4402;g3f883da9c22_0_3362"/>
          <p:cNvSpPr/>
          <p:nvPr/>
        </p:nvSpPr>
        <p:spPr>
          <a:xfrm>
            <a:off x="9646920" y="3756355"/>
            <a:ext cx="18300" cy="2076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3" name="Google Shape;4403;g3f883da9c22_0_3362"/>
          <p:cNvSpPr/>
          <p:nvPr/>
        </p:nvSpPr>
        <p:spPr>
          <a:xfrm>
            <a:off x="9464040" y="3963924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4" name="Google Shape;4404;g3f883da9c22_0_3362"/>
          <p:cNvSpPr/>
          <p:nvPr/>
        </p:nvSpPr>
        <p:spPr>
          <a:xfrm>
            <a:off x="9464040" y="3756355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5" name="Google Shape;4405;g3f883da9c22_0_3362"/>
          <p:cNvSpPr/>
          <p:nvPr/>
        </p:nvSpPr>
        <p:spPr>
          <a:xfrm>
            <a:off x="9646920" y="3535070"/>
            <a:ext cx="18300" cy="2076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6" name="Google Shape;4406;g3f883da9c22_0_3362"/>
          <p:cNvSpPr/>
          <p:nvPr/>
        </p:nvSpPr>
        <p:spPr>
          <a:xfrm>
            <a:off x="9464040" y="3742639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7" name="Google Shape;4407;g3f883da9c22_0_3362"/>
          <p:cNvSpPr/>
          <p:nvPr/>
        </p:nvSpPr>
        <p:spPr>
          <a:xfrm>
            <a:off x="9464040" y="3535070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8" name="Google Shape;4408;g3f883da9c22_0_3362"/>
          <p:cNvSpPr/>
          <p:nvPr/>
        </p:nvSpPr>
        <p:spPr>
          <a:xfrm>
            <a:off x="9646920" y="3313786"/>
            <a:ext cx="18300" cy="2076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9" name="Google Shape;4409;g3f883da9c22_0_3362"/>
          <p:cNvSpPr/>
          <p:nvPr/>
        </p:nvSpPr>
        <p:spPr>
          <a:xfrm>
            <a:off x="9464040" y="3521354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0" name="Google Shape;4410;g3f883da9c22_0_3362"/>
          <p:cNvSpPr/>
          <p:nvPr/>
        </p:nvSpPr>
        <p:spPr>
          <a:xfrm>
            <a:off x="9464040" y="3313786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1" name="Google Shape;4411;g3f883da9c22_0_3362"/>
          <p:cNvSpPr/>
          <p:nvPr/>
        </p:nvSpPr>
        <p:spPr>
          <a:xfrm>
            <a:off x="9646920" y="3092501"/>
            <a:ext cx="18300" cy="2076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2" name="Google Shape;4412;g3f883da9c22_0_3362"/>
          <p:cNvSpPr/>
          <p:nvPr/>
        </p:nvSpPr>
        <p:spPr>
          <a:xfrm>
            <a:off x="9464040" y="3300070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3" name="Google Shape;4413;g3f883da9c22_0_3362"/>
          <p:cNvSpPr/>
          <p:nvPr/>
        </p:nvSpPr>
        <p:spPr>
          <a:xfrm>
            <a:off x="9464040" y="3092501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4" name="Google Shape;4414;g3f883da9c22_0_3362"/>
          <p:cNvSpPr/>
          <p:nvPr/>
        </p:nvSpPr>
        <p:spPr>
          <a:xfrm>
            <a:off x="9646920" y="2871216"/>
            <a:ext cx="18300" cy="2076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5" name="Google Shape;4415;g3f883da9c22_0_3362"/>
          <p:cNvSpPr/>
          <p:nvPr/>
        </p:nvSpPr>
        <p:spPr>
          <a:xfrm>
            <a:off x="9464040" y="3078785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6" name="Google Shape;4416;g3f883da9c22_0_3362"/>
          <p:cNvSpPr/>
          <p:nvPr/>
        </p:nvSpPr>
        <p:spPr>
          <a:xfrm>
            <a:off x="9464040" y="2871216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7" name="Google Shape;4417;g3f883da9c22_0_3362"/>
          <p:cNvSpPr/>
          <p:nvPr/>
        </p:nvSpPr>
        <p:spPr>
          <a:xfrm>
            <a:off x="9646920" y="2649931"/>
            <a:ext cx="18300" cy="2076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8" name="Google Shape;4418;g3f883da9c22_0_3362"/>
          <p:cNvSpPr/>
          <p:nvPr/>
        </p:nvSpPr>
        <p:spPr>
          <a:xfrm>
            <a:off x="9464040" y="2857500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9" name="Google Shape;4419;g3f883da9c22_0_3362"/>
          <p:cNvSpPr/>
          <p:nvPr/>
        </p:nvSpPr>
        <p:spPr>
          <a:xfrm>
            <a:off x="9464040" y="2649931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0" name="Google Shape;4420;g3f883da9c22_0_3362"/>
          <p:cNvSpPr/>
          <p:nvPr/>
        </p:nvSpPr>
        <p:spPr>
          <a:xfrm>
            <a:off x="9646920" y="2428646"/>
            <a:ext cx="18300" cy="2076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1" name="Google Shape;4421;g3f883da9c22_0_3362"/>
          <p:cNvSpPr/>
          <p:nvPr/>
        </p:nvSpPr>
        <p:spPr>
          <a:xfrm>
            <a:off x="9464040" y="2636215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2" name="Google Shape;4422;g3f883da9c22_0_3362"/>
          <p:cNvSpPr/>
          <p:nvPr/>
        </p:nvSpPr>
        <p:spPr>
          <a:xfrm>
            <a:off x="9464040" y="2428646"/>
            <a:ext cx="183000" cy="183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3" name="Google Shape;4423;g3f883da9c22_0_3362"/>
          <p:cNvSpPr txBox="1"/>
          <p:nvPr/>
        </p:nvSpPr>
        <p:spPr>
          <a:xfrm>
            <a:off x="9829800" y="3566160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residual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connections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4" name="Google Shape;4424;g3f883da9c22_0_3362"/>
          <p:cNvSpPr txBox="1"/>
          <p:nvPr/>
        </p:nvSpPr>
        <p:spPr>
          <a:xfrm>
            <a:off x="6949440" y="5623560"/>
            <a:ext cx="310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ResNet-34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429" name="Shape 4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0" name="Google Shape;4430;g3f883da9c22_0_3486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RESNET-50 AND DEEPER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1" name="Google Shape;4431;g3f883da9c22_0_3486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ResNet — the bottleneck block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2" name="Google Shape;4432;g3f883da9c22_0_3486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3" name="Google Shape;4433;g3f883da9c22_0_3486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4" name="Google Shape;4434;g3f883da9c22_0_3486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5" name="Google Shape;4435;g3f883da9c22_0_3486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6" name="Google Shape;4436;g3f883da9c22_0_3486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7" name="Google Shape;4437;g3f883da9c22_0_3486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8" name="Google Shape;4438;g3f883da9c22_0_3486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9" name="Google Shape;4439;g3f883da9c22_0_3486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0" name="Google Shape;4440;g3f883da9c22_0_3486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1" name="Google Shape;4441;g3f883da9c22_0_3486"/>
          <p:cNvSpPr txBox="1"/>
          <p:nvPr/>
        </p:nvSpPr>
        <p:spPr>
          <a:xfrm>
            <a:off x="548640" y="1600200"/>
            <a:ext cx="51207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Total depths of 18, 34, 50, 101 and 152 layers for ImageNet.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For deeper networks (ResNet-50+), use a “bottleneck” layer to improve efficiency — the same trick as GoogLeNet.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 1 × 1 conv projects 256 channels down to 64, the 3 × 3 conv does its work cheaply, and a second 1 × 1 conv projects back up.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Batch normalisation and a ReLU follow each of the first two convolutions.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2" name="Google Shape;4442;g3f883da9c22_0_3486"/>
          <p:cNvSpPr/>
          <p:nvPr/>
        </p:nvSpPr>
        <p:spPr>
          <a:xfrm>
            <a:off x="6035040" y="1463040"/>
            <a:ext cx="5577900" cy="4389000"/>
          </a:xfrm>
          <a:prstGeom prst="roundRect">
            <a:avLst>
              <a:gd fmla="val 125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3" name="Google Shape;4443;g3f883da9c22_0_3486"/>
          <p:cNvSpPr txBox="1"/>
          <p:nvPr/>
        </p:nvSpPr>
        <p:spPr>
          <a:xfrm>
            <a:off x="7680960" y="1691640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28 × 28 × 256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4" name="Google Shape;4444;g3f883da9c22_0_3486"/>
          <p:cNvSpPr/>
          <p:nvPr/>
        </p:nvSpPr>
        <p:spPr>
          <a:xfrm>
            <a:off x="8686800" y="3063240"/>
            <a:ext cx="1737300" cy="457200"/>
          </a:xfrm>
          <a:prstGeom prst="roundRect">
            <a:avLst>
              <a:gd fmla="val 10000" name="adj"/>
            </a:avLst>
          </a:prstGeom>
          <a:solidFill>
            <a:srgbClr val="F8DFB4"/>
          </a:solidFill>
          <a:ln cap="flat" cmpd="sng" w="12700">
            <a:solidFill>
              <a:srgbClr val="F8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 × 1 conv, 256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5" name="Google Shape;4445;g3f883da9c22_0_3486"/>
          <p:cNvSpPr txBox="1"/>
          <p:nvPr/>
        </p:nvSpPr>
        <p:spPr>
          <a:xfrm>
            <a:off x="6217920" y="3108960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1F5E"/>
                </a:solidFill>
                <a:latin typeface="Calibri"/>
                <a:ea typeface="Calibri"/>
                <a:cs typeface="Calibri"/>
                <a:sym typeface="Calibri"/>
              </a:rPr>
              <a:t>1 × 1 conv with 256 filters,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1F5E"/>
                </a:solidFill>
                <a:latin typeface="Calibri"/>
                <a:ea typeface="Calibri"/>
                <a:cs typeface="Calibri"/>
                <a:sym typeface="Calibri"/>
              </a:rPr>
              <a:t>projecting back up to 28 × 28 × 256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6" name="Google Shape;4446;g3f883da9c22_0_3486"/>
          <p:cNvSpPr txBox="1"/>
          <p:nvPr/>
        </p:nvSpPr>
        <p:spPr>
          <a:xfrm>
            <a:off x="10469880" y="2862072"/>
            <a:ext cx="82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BN, relu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7" name="Google Shape;4447;g3f883da9c22_0_3486"/>
          <p:cNvSpPr/>
          <p:nvPr/>
        </p:nvSpPr>
        <p:spPr>
          <a:xfrm>
            <a:off x="8686800" y="3840480"/>
            <a:ext cx="1737300" cy="457200"/>
          </a:xfrm>
          <a:prstGeom prst="roundRect">
            <a:avLst>
              <a:gd fmla="val 10000" name="adj"/>
            </a:avLst>
          </a:prstGeom>
          <a:solidFill>
            <a:srgbClr val="F8DFB4"/>
          </a:solidFill>
          <a:ln cap="flat" cmpd="sng" w="12700">
            <a:solidFill>
              <a:srgbClr val="F8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3 × 3 conv, 64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8" name="Google Shape;4448;g3f883da9c22_0_3486"/>
          <p:cNvSpPr txBox="1"/>
          <p:nvPr/>
        </p:nvSpPr>
        <p:spPr>
          <a:xfrm>
            <a:off x="6217920" y="3886200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1F5E"/>
                </a:solidFill>
                <a:latin typeface="Calibri"/>
                <a:ea typeface="Calibri"/>
                <a:cs typeface="Calibri"/>
                <a:sym typeface="Calibri"/>
              </a:rPr>
              <a:t>3 × 3 conv operates over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1F5E"/>
                </a:solidFill>
                <a:latin typeface="Calibri"/>
                <a:ea typeface="Calibri"/>
                <a:cs typeface="Calibri"/>
                <a:sym typeface="Calibri"/>
              </a:rPr>
              <a:t>only 64 feature maps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9" name="Google Shape;4449;g3f883da9c22_0_3486"/>
          <p:cNvSpPr txBox="1"/>
          <p:nvPr/>
        </p:nvSpPr>
        <p:spPr>
          <a:xfrm>
            <a:off x="10469880" y="3639312"/>
            <a:ext cx="82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BN, relu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0" name="Google Shape;4450;g3f883da9c22_0_3486"/>
          <p:cNvSpPr/>
          <p:nvPr/>
        </p:nvSpPr>
        <p:spPr>
          <a:xfrm rot="-5400000">
            <a:off x="9477844" y="3729799"/>
            <a:ext cx="155400" cy="11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1" name="Google Shape;4451;g3f883da9c22_0_3486"/>
          <p:cNvSpPr/>
          <p:nvPr/>
        </p:nvSpPr>
        <p:spPr>
          <a:xfrm>
            <a:off x="9509760" y="3547872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2" name="Google Shape;4452;g3f883da9c22_0_3486"/>
          <p:cNvSpPr/>
          <p:nvPr/>
        </p:nvSpPr>
        <p:spPr>
          <a:xfrm>
            <a:off x="8686800" y="4617720"/>
            <a:ext cx="1737300" cy="457200"/>
          </a:xfrm>
          <a:prstGeom prst="roundRect">
            <a:avLst>
              <a:gd fmla="val 10000" name="adj"/>
            </a:avLst>
          </a:prstGeom>
          <a:solidFill>
            <a:srgbClr val="F8DFB4"/>
          </a:solidFill>
          <a:ln cap="flat" cmpd="sng" w="12700">
            <a:solidFill>
              <a:srgbClr val="F8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1 × 1 conv, 64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3" name="Google Shape;4453;g3f883da9c22_0_3486"/>
          <p:cNvSpPr txBox="1"/>
          <p:nvPr/>
        </p:nvSpPr>
        <p:spPr>
          <a:xfrm>
            <a:off x="6217920" y="4663440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1F5E"/>
                </a:solidFill>
                <a:latin typeface="Calibri"/>
                <a:ea typeface="Calibri"/>
                <a:cs typeface="Calibri"/>
                <a:sym typeface="Calibri"/>
              </a:rPr>
              <a:t>1 × 1 conv, 64 filters, 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1F5E"/>
                </a:solidFill>
                <a:latin typeface="Calibri"/>
                <a:ea typeface="Calibri"/>
                <a:cs typeface="Calibri"/>
                <a:sym typeface="Calibri"/>
              </a:rPr>
              <a:t>project to 28 × 28 × 64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4" name="Google Shape;4454;g3f883da9c22_0_3486"/>
          <p:cNvSpPr/>
          <p:nvPr/>
        </p:nvSpPr>
        <p:spPr>
          <a:xfrm rot="-5400000">
            <a:off x="9477844" y="4507039"/>
            <a:ext cx="155400" cy="11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5" name="Google Shape;4455;g3f883da9c22_0_3486"/>
          <p:cNvSpPr/>
          <p:nvPr/>
        </p:nvSpPr>
        <p:spPr>
          <a:xfrm>
            <a:off x="9509760" y="4325112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6" name="Google Shape;4456;g3f883da9c22_0_3486"/>
          <p:cNvSpPr/>
          <p:nvPr/>
        </p:nvSpPr>
        <p:spPr>
          <a:xfrm rot="5400000">
            <a:off x="9509667" y="5069401"/>
            <a:ext cx="91500" cy="11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7" name="Google Shape;4457;g3f883da9c22_0_3486"/>
          <p:cNvSpPr/>
          <p:nvPr/>
        </p:nvSpPr>
        <p:spPr>
          <a:xfrm>
            <a:off x="9345168" y="2395728"/>
            <a:ext cx="420600" cy="420600"/>
          </a:xfrm>
          <a:prstGeom prst="ellipse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8" name="Google Shape;4458;g3f883da9c22_0_3486"/>
          <p:cNvSpPr txBox="1"/>
          <p:nvPr/>
        </p:nvSpPr>
        <p:spPr>
          <a:xfrm>
            <a:off x="9345168" y="2395728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9" name="Google Shape;4459;g3f883da9c22_0_3486"/>
          <p:cNvSpPr/>
          <p:nvPr/>
        </p:nvSpPr>
        <p:spPr>
          <a:xfrm rot="-5400000">
            <a:off x="9514444" y="2989159"/>
            <a:ext cx="82200" cy="11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0" name="Google Shape;4460;g3f883da9c22_0_3486"/>
          <p:cNvSpPr/>
          <p:nvPr/>
        </p:nvSpPr>
        <p:spPr>
          <a:xfrm>
            <a:off x="9514332" y="2852928"/>
            <a:ext cx="82200" cy="1005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1" name="Google Shape;4461;g3f883da9c22_0_3486"/>
          <p:cNvSpPr/>
          <p:nvPr/>
        </p:nvSpPr>
        <p:spPr>
          <a:xfrm>
            <a:off x="10881360" y="2606040"/>
            <a:ext cx="27300" cy="26976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2" name="Google Shape;4462;g3f883da9c22_0_3486"/>
          <p:cNvSpPr/>
          <p:nvPr/>
        </p:nvSpPr>
        <p:spPr>
          <a:xfrm>
            <a:off x="9601200" y="5285232"/>
            <a:ext cx="1298400" cy="273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3" name="Google Shape;4463;g3f883da9c22_0_3486"/>
          <p:cNvSpPr/>
          <p:nvPr/>
        </p:nvSpPr>
        <p:spPr>
          <a:xfrm rot="10800000">
            <a:off x="9912204" y="2600427"/>
            <a:ext cx="978300" cy="111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4" name="Google Shape;4464;g3f883da9c22_0_3486"/>
          <p:cNvSpPr/>
          <p:nvPr/>
        </p:nvSpPr>
        <p:spPr>
          <a:xfrm rot="-5400000">
            <a:off x="9811518" y="2551110"/>
            <a:ext cx="91500" cy="109800"/>
          </a:xfrm>
          <a:prstGeom prst="triangle">
            <a:avLst>
              <a:gd fmla="val 50000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5" name="Google Shape;4465;g3f883da9c22_0_3486"/>
          <p:cNvSpPr txBox="1"/>
          <p:nvPr/>
        </p:nvSpPr>
        <p:spPr>
          <a:xfrm>
            <a:off x="7680960" y="5230368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28 × 28 × 256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470" name="Shape 4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1" name="Google Shape;4471;g3f883da9c22_0_3526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ACCURACY, OPERATIONS AND SIZE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2" name="Google Shape;4472;g3f883da9c22_0_3526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Comparing the architectures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3" name="Google Shape;4473;g3f883da9c22_0_3526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4" name="Google Shape;4474;g3f883da9c22_0_3526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5" name="Google Shape;4475;g3f883da9c22_0_3526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6" name="Google Shape;4476;g3f883da9c22_0_3526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7" name="Google Shape;4477;g3f883da9c22_0_3526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8" name="Google Shape;4478;g3f883da9c22_0_3526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9" name="Google Shape;4479;g3f883da9c22_0_3526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0" name="Google Shape;4480;g3f883da9c22_0_3526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1" name="Google Shape;4481;g3f883da9c22_0_3526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82" name="Google Shape;4482;g3f883da9c22_0_35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5669400" cy="39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3" name="Google Shape;4483;g3f883da9c22_0_3526"/>
          <p:cNvSpPr/>
          <p:nvPr/>
        </p:nvSpPr>
        <p:spPr>
          <a:xfrm>
            <a:off x="6492240" y="1554480"/>
            <a:ext cx="5120700" cy="3931800"/>
          </a:xfrm>
          <a:prstGeom prst="roundRect">
            <a:avLst>
              <a:gd fmla="val 1395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4" name="Google Shape;4484;g3f883da9c22_0_3526"/>
          <p:cNvSpPr/>
          <p:nvPr/>
        </p:nvSpPr>
        <p:spPr>
          <a:xfrm>
            <a:off x="7086600" y="4709160"/>
            <a:ext cx="4251900" cy="5400"/>
          </a:xfrm>
          <a:prstGeom prst="rect">
            <a:avLst/>
          </a:prstGeom>
          <a:solidFill>
            <a:srgbClr val="EFEBF9"/>
          </a:solidFill>
          <a:ln cap="flat" cmpd="sng" w="12700">
            <a:solidFill>
              <a:srgbClr val="EFE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5" name="Google Shape;4485;g3f883da9c22_0_3526"/>
          <p:cNvSpPr txBox="1"/>
          <p:nvPr/>
        </p:nvSpPr>
        <p:spPr>
          <a:xfrm>
            <a:off x="6656832" y="4626864"/>
            <a:ext cx="38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6" name="Google Shape;4486;g3f883da9c22_0_3526"/>
          <p:cNvSpPr/>
          <p:nvPr/>
        </p:nvSpPr>
        <p:spPr>
          <a:xfrm>
            <a:off x="7086600" y="4316254"/>
            <a:ext cx="4251900" cy="5400"/>
          </a:xfrm>
          <a:prstGeom prst="rect">
            <a:avLst/>
          </a:prstGeom>
          <a:solidFill>
            <a:srgbClr val="EFEBF9"/>
          </a:solidFill>
          <a:ln cap="flat" cmpd="sng" w="12700">
            <a:solidFill>
              <a:srgbClr val="EFE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7" name="Google Shape;4487;g3f883da9c22_0_3526"/>
          <p:cNvSpPr txBox="1"/>
          <p:nvPr/>
        </p:nvSpPr>
        <p:spPr>
          <a:xfrm>
            <a:off x="6656832" y="4233958"/>
            <a:ext cx="38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8" name="Google Shape;4488;g3f883da9c22_0_3526"/>
          <p:cNvSpPr/>
          <p:nvPr/>
        </p:nvSpPr>
        <p:spPr>
          <a:xfrm>
            <a:off x="7086600" y="3923348"/>
            <a:ext cx="4251900" cy="5400"/>
          </a:xfrm>
          <a:prstGeom prst="rect">
            <a:avLst/>
          </a:prstGeom>
          <a:solidFill>
            <a:srgbClr val="EFEBF9"/>
          </a:solidFill>
          <a:ln cap="flat" cmpd="sng" w="12700">
            <a:solidFill>
              <a:srgbClr val="EFE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9" name="Google Shape;4489;g3f883da9c22_0_3526"/>
          <p:cNvSpPr txBox="1"/>
          <p:nvPr/>
        </p:nvSpPr>
        <p:spPr>
          <a:xfrm>
            <a:off x="6656832" y="3841052"/>
            <a:ext cx="38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0" name="Google Shape;4490;g3f883da9c22_0_3526"/>
          <p:cNvSpPr/>
          <p:nvPr/>
        </p:nvSpPr>
        <p:spPr>
          <a:xfrm>
            <a:off x="7086600" y="3530441"/>
            <a:ext cx="4251900" cy="5400"/>
          </a:xfrm>
          <a:prstGeom prst="rect">
            <a:avLst/>
          </a:prstGeom>
          <a:solidFill>
            <a:srgbClr val="EFEBF9"/>
          </a:solidFill>
          <a:ln cap="flat" cmpd="sng" w="12700">
            <a:solidFill>
              <a:srgbClr val="EFE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1" name="Google Shape;4491;g3f883da9c22_0_3526"/>
          <p:cNvSpPr txBox="1"/>
          <p:nvPr/>
        </p:nvSpPr>
        <p:spPr>
          <a:xfrm>
            <a:off x="6656832" y="3448145"/>
            <a:ext cx="38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65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2" name="Google Shape;4492;g3f883da9c22_0_3526"/>
          <p:cNvSpPr/>
          <p:nvPr/>
        </p:nvSpPr>
        <p:spPr>
          <a:xfrm>
            <a:off x="7086600" y="3137535"/>
            <a:ext cx="4251900" cy="5400"/>
          </a:xfrm>
          <a:prstGeom prst="rect">
            <a:avLst/>
          </a:prstGeom>
          <a:solidFill>
            <a:srgbClr val="EFEBF9"/>
          </a:solidFill>
          <a:ln cap="flat" cmpd="sng" w="12700">
            <a:solidFill>
              <a:srgbClr val="EFE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3" name="Google Shape;4493;g3f883da9c22_0_3526"/>
          <p:cNvSpPr txBox="1"/>
          <p:nvPr/>
        </p:nvSpPr>
        <p:spPr>
          <a:xfrm>
            <a:off x="6656832" y="3055239"/>
            <a:ext cx="38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4" name="Google Shape;4494;g3f883da9c22_0_3526"/>
          <p:cNvSpPr/>
          <p:nvPr/>
        </p:nvSpPr>
        <p:spPr>
          <a:xfrm>
            <a:off x="7086600" y="2744629"/>
            <a:ext cx="4251900" cy="5400"/>
          </a:xfrm>
          <a:prstGeom prst="rect">
            <a:avLst/>
          </a:prstGeom>
          <a:solidFill>
            <a:srgbClr val="EFEBF9"/>
          </a:solidFill>
          <a:ln cap="flat" cmpd="sng" w="12700">
            <a:solidFill>
              <a:srgbClr val="EFE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5" name="Google Shape;4495;g3f883da9c22_0_3526"/>
          <p:cNvSpPr txBox="1"/>
          <p:nvPr/>
        </p:nvSpPr>
        <p:spPr>
          <a:xfrm>
            <a:off x="6656832" y="2662333"/>
            <a:ext cx="38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75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6" name="Google Shape;4496;g3f883da9c22_0_3526"/>
          <p:cNvSpPr/>
          <p:nvPr/>
        </p:nvSpPr>
        <p:spPr>
          <a:xfrm>
            <a:off x="7086600" y="2351723"/>
            <a:ext cx="4251900" cy="5400"/>
          </a:xfrm>
          <a:prstGeom prst="rect">
            <a:avLst/>
          </a:prstGeom>
          <a:solidFill>
            <a:srgbClr val="EFEBF9"/>
          </a:solidFill>
          <a:ln cap="flat" cmpd="sng" w="12700">
            <a:solidFill>
              <a:srgbClr val="EFE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7" name="Google Shape;4497;g3f883da9c22_0_3526"/>
          <p:cNvSpPr txBox="1"/>
          <p:nvPr/>
        </p:nvSpPr>
        <p:spPr>
          <a:xfrm>
            <a:off x="6656832" y="2269427"/>
            <a:ext cx="38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8" name="Google Shape;4498;g3f883da9c22_0_3526"/>
          <p:cNvSpPr/>
          <p:nvPr/>
        </p:nvSpPr>
        <p:spPr>
          <a:xfrm>
            <a:off x="6878640" y="3872407"/>
            <a:ext cx="557700" cy="557700"/>
          </a:xfrm>
          <a:prstGeom prst="ellipse">
            <a:avLst/>
          </a:prstGeom>
          <a:solidFill>
            <a:srgbClr val="E8930C">
              <a:alpha val="74900"/>
            </a:srgbClr>
          </a:solidFill>
          <a:ln cap="flat" cmpd="sng" w="9525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9" name="Google Shape;4499;g3f883da9c22_0_3526"/>
          <p:cNvSpPr/>
          <p:nvPr/>
        </p:nvSpPr>
        <p:spPr>
          <a:xfrm>
            <a:off x="7176268" y="3585982"/>
            <a:ext cx="266100" cy="266100"/>
          </a:xfrm>
          <a:prstGeom prst="ellipse">
            <a:avLst/>
          </a:prstGeom>
          <a:solidFill>
            <a:srgbClr val="FF5E5B">
              <a:alpha val="74900"/>
            </a:srgbClr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0" name="Google Shape;4500;g3f883da9c22_0_3526"/>
          <p:cNvSpPr/>
          <p:nvPr/>
        </p:nvSpPr>
        <p:spPr>
          <a:xfrm>
            <a:off x="7120871" y="3111982"/>
            <a:ext cx="255300" cy="255300"/>
          </a:xfrm>
          <a:prstGeom prst="ellipse">
            <a:avLst/>
          </a:prstGeom>
          <a:solidFill>
            <a:srgbClr val="2E1F5E">
              <a:alpha val="74900"/>
            </a:srgbClr>
          </a:solidFill>
          <a:ln cap="flat" cmpd="sng" w="9525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1" name="Google Shape;4501;g3f883da9c22_0_3526"/>
          <p:cNvSpPr/>
          <p:nvPr/>
        </p:nvSpPr>
        <p:spPr>
          <a:xfrm>
            <a:off x="7117172" y="3017313"/>
            <a:ext cx="303300" cy="303300"/>
          </a:xfrm>
          <a:prstGeom prst="ellipse">
            <a:avLst/>
          </a:prstGeom>
          <a:solidFill>
            <a:srgbClr val="8B5CF6">
              <a:alpha val="74900"/>
            </a:srgbClr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2" name="Google Shape;4502;g3f883da9c22_0_3526"/>
          <p:cNvSpPr/>
          <p:nvPr/>
        </p:nvSpPr>
        <p:spPr>
          <a:xfrm>
            <a:off x="7273640" y="2682821"/>
            <a:ext cx="375000" cy="375000"/>
          </a:xfrm>
          <a:prstGeom prst="ellipse">
            <a:avLst/>
          </a:prstGeom>
          <a:solidFill>
            <a:srgbClr val="C24C86">
              <a:alpha val="74900"/>
            </a:srgbClr>
          </a:solidFill>
          <a:ln cap="flat" cmpd="sng" w="9525">
            <a:solidFill>
              <a:srgbClr val="C24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3" name="Google Shape;4503;g3f883da9c22_0_3526"/>
          <p:cNvSpPr/>
          <p:nvPr/>
        </p:nvSpPr>
        <p:spPr>
          <a:xfrm>
            <a:off x="7281931" y="2466554"/>
            <a:ext cx="399000" cy="399000"/>
          </a:xfrm>
          <a:prstGeom prst="ellipse">
            <a:avLst/>
          </a:prstGeom>
          <a:solidFill>
            <a:srgbClr val="D93F87">
              <a:alpha val="74900"/>
            </a:srgbClr>
          </a:solidFill>
          <a:ln cap="flat" cmpd="sng" w="9525">
            <a:solidFill>
              <a:srgbClr val="D9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4" name="Google Shape;4504;g3f883da9c22_0_3526"/>
          <p:cNvSpPr/>
          <p:nvPr/>
        </p:nvSpPr>
        <p:spPr>
          <a:xfrm>
            <a:off x="7609423" y="2309454"/>
            <a:ext cx="493200" cy="493200"/>
          </a:xfrm>
          <a:prstGeom prst="ellipse">
            <a:avLst/>
          </a:prstGeom>
          <a:solidFill>
            <a:srgbClr val="E86FA8">
              <a:alpha val="74900"/>
            </a:srgbClr>
          </a:solidFill>
          <a:ln cap="flat" cmpd="sng" w="9525">
            <a:solidFill>
              <a:srgbClr val="E86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5" name="Google Shape;4505;g3f883da9c22_0_3526"/>
          <p:cNvSpPr/>
          <p:nvPr/>
        </p:nvSpPr>
        <p:spPr>
          <a:xfrm>
            <a:off x="7953635" y="2247656"/>
            <a:ext cx="553800" cy="553800"/>
          </a:xfrm>
          <a:prstGeom prst="ellipse">
            <a:avLst/>
          </a:prstGeom>
          <a:solidFill>
            <a:srgbClr val="F2A0C4">
              <a:alpha val="74900"/>
            </a:srgbClr>
          </a:solidFill>
          <a:ln cap="flat" cmpd="sng" w="9525">
            <a:solidFill>
              <a:srgbClr val="F2A0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6" name="Google Shape;4506;g3f883da9c22_0_3526"/>
          <p:cNvSpPr/>
          <p:nvPr/>
        </p:nvSpPr>
        <p:spPr>
          <a:xfrm>
            <a:off x="7470012" y="2268096"/>
            <a:ext cx="387300" cy="387300"/>
          </a:xfrm>
          <a:prstGeom prst="ellipse">
            <a:avLst/>
          </a:prstGeom>
          <a:solidFill>
            <a:srgbClr val="5BB8E8">
              <a:alpha val="74900"/>
            </a:srgbClr>
          </a:solidFill>
          <a:ln cap="flat" cmpd="sng" w="9525">
            <a:solidFill>
              <a:srgbClr val="5BB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7" name="Google Shape;4507;g3f883da9c22_0_3526"/>
          <p:cNvSpPr/>
          <p:nvPr/>
        </p:nvSpPr>
        <p:spPr>
          <a:xfrm>
            <a:off x="8059278" y="2093838"/>
            <a:ext cx="484200" cy="484200"/>
          </a:xfrm>
          <a:prstGeom prst="ellipse">
            <a:avLst/>
          </a:prstGeom>
          <a:solidFill>
            <a:srgbClr val="A8D8F0">
              <a:alpha val="74900"/>
            </a:srgbClr>
          </a:solidFill>
          <a:ln cap="flat" cmpd="sng" w="9525">
            <a:solidFill>
              <a:srgbClr val="A8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8" name="Google Shape;4508;g3f883da9c22_0_3526"/>
          <p:cNvSpPr/>
          <p:nvPr/>
        </p:nvSpPr>
        <p:spPr>
          <a:xfrm>
            <a:off x="8261747" y="2696358"/>
            <a:ext cx="788100" cy="788100"/>
          </a:xfrm>
          <a:prstGeom prst="ellipse">
            <a:avLst/>
          </a:prstGeom>
          <a:solidFill>
            <a:srgbClr val="1E7B4F">
              <a:alpha val="74900"/>
            </a:srgbClr>
          </a:solidFill>
          <a:ln cap="flat" cmpd="sng" w="9525">
            <a:solidFill>
              <a:srgbClr val="1E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9" name="Google Shape;4509;g3f883da9c22_0_3526"/>
          <p:cNvSpPr/>
          <p:nvPr/>
        </p:nvSpPr>
        <p:spPr>
          <a:xfrm>
            <a:off x="8669426" y="2665390"/>
            <a:ext cx="802800" cy="802800"/>
          </a:xfrm>
          <a:prstGeom prst="ellipse">
            <a:avLst/>
          </a:prstGeom>
          <a:solidFill>
            <a:srgbClr val="2E9D63">
              <a:alpha val="74900"/>
            </a:srgbClr>
          </a:solidFill>
          <a:ln cap="flat" cmpd="sng" w="9525">
            <a:solidFill>
              <a:srgbClr val="2E9D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0" name="Google Shape;4510;g3f883da9c22_0_3526"/>
          <p:cNvSpPr txBox="1"/>
          <p:nvPr/>
        </p:nvSpPr>
        <p:spPr>
          <a:xfrm>
            <a:off x="6608826" y="4452985"/>
            <a:ext cx="109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AlexNet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1" name="Google Shape;4511;g3f883da9c22_0_3526"/>
          <p:cNvSpPr txBox="1"/>
          <p:nvPr/>
        </p:nvSpPr>
        <p:spPr>
          <a:xfrm>
            <a:off x="6193754" y="3655028"/>
            <a:ext cx="109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BN-NIN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2" name="Google Shape;4512;g3f883da9c22_0_3526"/>
          <p:cNvSpPr txBox="1"/>
          <p:nvPr/>
        </p:nvSpPr>
        <p:spPr>
          <a:xfrm>
            <a:off x="6078147" y="3139107"/>
            <a:ext cx="109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GoogLeNet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3" name="Google Shape;4513;g3f883da9c22_0_3526"/>
          <p:cNvSpPr txBox="1"/>
          <p:nvPr/>
        </p:nvSpPr>
        <p:spPr>
          <a:xfrm>
            <a:off x="7287115" y="3141536"/>
            <a:ext cx="109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ResNet-18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4" name="Google Shape;4514;g3f883da9c22_0_3526"/>
          <p:cNvSpPr txBox="1"/>
          <p:nvPr/>
        </p:nvSpPr>
        <p:spPr>
          <a:xfrm>
            <a:off x="6866817" y="2477167"/>
            <a:ext cx="109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ResNet-34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5" name="Google Shape;4515;g3f883da9c22_0_3526"/>
          <p:cNvSpPr txBox="1"/>
          <p:nvPr/>
        </p:nvSpPr>
        <p:spPr>
          <a:xfrm>
            <a:off x="7499713" y="2675192"/>
            <a:ext cx="109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ResNet-50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6" name="Google Shape;4516;g3f883da9c22_0_3526"/>
          <p:cNvSpPr txBox="1"/>
          <p:nvPr/>
        </p:nvSpPr>
        <p:spPr>
          <a:xfrm>
            <a:off x="7353082" y="2144554"/>
            <a:ext cx="109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ResNet-101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7" name="Google Shape;4517;g3f883da9c22_0_3526"/>
          <p:cNvSpPr txBox="1"/>
          <p:nvPr/>
        </p:nvSpPr>
        <p:spPr>
          <a:xfrm>
            <a:off x="8001980" y="2058257"/>
            <a:ext cx="109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ResNet-152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8" name="Google Shape;4518;g3f883da9c22_0_3526"/>
          <p:cNvSpPr txBox="1"/>
          <p:nvPr/>
        </p:nvSpPr>
        <p:spPr>
          <a:xfrm>
            <a:off x="6493220" y="2233136"/>
            <a:ext cx="109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Inception-v3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9" name="Google Shape;4519;g3f883da9c22_0_3526"/>
          <p:cNvSpPr txBox="1"/>
          <p:nvPr/>
        </p:nvSpPr>
        <p:spPr>
          <a:xfrm>
            <a:off x="7752806" y="1796510"/>
            <a:ext cx="109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Inception-v4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0" name="Google Shape;4520;g3f883da9c22_0_3526"/>
          <p:cNvSpPr txBox="1"/>
          <p:nvPr/>
        </p:nvSpPr>
        <p:spPr>
          <a:xfrm>
            <a:off x="8061416" y="2505170"/>
            <a:ext cx="109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VGG-16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1" name="Google Shape;4521;g3f883da9c22_0_3526"/>
          <p:cNvSpPr txBox="1"/>
          <p:nvPr/>
        </p:nvSpPr>
        <p:spPr>
          <a:xfrm>
            <a:off x="8842248" y="2435876"/>
            <a:ext cx="109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VGG-19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2" name="Google Shape;4522;g3f883da9c22_0_3526"/>
          <p:cNvSpPr/>
          <p:nvPr/>
        </p:nvSpPr>
        <p:spPr>
          <a:xfrm>
            <a:off x="7086600" y="4709160"/>
            <a:ext cx="4251900" cy="72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3" name="Google Shape;4523;g3f883da9c22_0_3526"/>
          <p:cNvSpPr txBox="1"/>
          <p:nvPr/>
        </p:nvSpPr>
        <p:spPr>
          <a:xfrm>
            <a:off x="6858000" y="4764024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4" name="Google Shape;4524;g3f883da9c22_0_3526"/>
          <p:cNvSpPr txBox="1"/>
          <p:nvPr/>
        </p:nvSpPr>
        <p:spPr>
          <a:xfrm>
            <a:off x="7870371" y="4764024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5" name="Google Shape;4525;g3f883da9c22_0_3526"/>
          <p:cNvSpPr txBox="1"/>
          <p:nvPr/>
        </p:nvSpPr>
        <p:spPr>
          <a:xfrm>
            <a:off x="8882743" y="4764024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6" name="Google Shape;4526;g3f883da9c22_0_3526"/>
          <p:cNvSpPr txBox="1"/>
          <p:nvPr/>
        </p:nvSpPr>
        <p:spPr>
          <a:xfrm>
            <a:off x="9895114" y="4764024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7" name="Google Shape;4527;g3f883da9c22_0_3526"/>
          <p:cNvSpPr txBox="1"/>
          <p:nvPr/>
        </p:nvSpPr>
        <p:spPr>
          <a:xfrm>
            <a:off x="10907486" y="4764024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8" name="Google Shape;4528;g3f883da9c22_0_3526"/>
          <p:cNvSpPr txBox="1"/>
          <p:nvPr/>
        </p:nvSpPr>
        <p:spPr>
          <a:xfrm>
            <a:off x="7086600" y="4965192"/>
            <a:ext cx="4251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Operations [G-Ops]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9" name="Google Shape;4529;g3f883da9c22_0_3526"/>
          <p:cNvSpPr txBox="1"/>
          <p:nvPr/>
        </p:nvSpPr>
        <p:spPr>
          <a:xfrm>
            <a:off x="6675120" y="5138928"/>
            <a:ext cx="4755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bubble area ≈ number of parameters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0" name="Google Shape;4530;g3f883da9c22_0_3526"/>
          <p:cNvSpPr txBox="1"/>
          <p:nvPr/>
        </p:nvSpPr>
        <p:spPr>
          <a:xfrm>
            <a:off x="548640" y="5669280"/>
            <a:ext cx="1106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Paper: An Analysis of Deep Neural Network Models for Practical Applications, 2017 (Canziani et al.)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535" name="Shape 4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" name="Google Shape;4536;g3f883da9c22_0_3590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PRACTICAL CNNS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7" name="Google Shape;4537;g3f883da9c22_0_3590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Transfer learning: you rarely train from scratch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8" name="Google Shape;4538;g3f883da9c22_0_3590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9" name="Google Shape;4539;g3f883da9c22_0_3590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0" name="Google Shape;4540;g3f883da9c22_0_3590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1" name="Google Shape;4541;g3f883da9c22_0_3590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2" name="Google Shape;4542;g3f883da9c22_0_3590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3" name="Google Shape;4543;g3f883da9c22_0_3590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4" name="Google Shape;4544;g3f883da9c22_0_3590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5" name="Google Shape;4545;g3f883da9c22_0_3590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6" name="Google Shape;4546;g3f883da9c22_0_3590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7" name="Google Shape;4547;g3f883da9c22_0_3590"/>
          <p:cNvSpPr txBox="1"/>
          <p:nvPr/>
        </p:nvSpPr>
        <p:spPr>
          <a:xfrm>
            <a:off x="548640" y="1463040"/>
            <a:ext cx="1106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Take a network trained on a large dataset such as ImageNet, then reuse its learned representation on your own — usually much smaller — dataset. Early layers learn generic edges and textures that transfer almost everywhere.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8" name="Google Shape;4548;g3f883da9c22_0_3590"/>
          <p:cNvSpPr/>
          <p:nvPr/>
        </p:nvSpPr>
        <p:spPr>
          <a:xfrm>
            <a:off x="548640" y="2148840"/>
            <a:ext cx="2606100" cy="2286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9" name="Google Shape;4549;g3f883da9c22_0_3590"/>
          <p:cNvSpPr/>
          <p:nvPr/>
        </p:nvSpPr>
        <p:spPr>
          <a:xfrm>
            <a:off x="777240" y="2377440"/>
            <a:ext cx="274200" cy="274200"/>
          </a:xfrm>
          <a:prstGeom prst="rect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0" name="Google Shape;4550;g3f883da9c22_0_3590"/>
          <p:cNvSpPr txBox="1"/>
          <p:nvPr/>
        </p:nvSpPr>
        <p:spPr>
          <a:xfrm>
            <a:off x="777240" y="2788920"/>
            <a:ext cx="2148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Small dataset,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similar domain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1" name="Google Shape;4551;g3f883da9c22_0_3590"/>
          <p:cNvSpPr txBox="1"/>
          <p:nvPr/>
        </p:nvSpPr>
        <p:spPr>
          <a:xfrm>
            <a:off x="777240" y="3474720"/>
            <a:ext cx="2148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Freeze the whole convolutional base and train only a new classifier head. The pretrained features are already right.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2" name="Google Shape;4552;g3f883da9c22_0_3590"/>
          <p:cNvSpPr/>
          <p:nvPr/>
        </p:nvSpPr>
        <p:spPr>
          <a:xfrm>
            <a:off x="3383280" y="2148840"/>
            <a:ext cx="2606100" cy="2286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3" name="Google Shape;4553;g3f883da9c22_0_3590"/>
          <p:cNvSpPr/>
          <p:nvPr/>
        </p:nvSpPr>
        <p:spPr>
          <a:xfrm>
            <a:off x="3611880" y="2377440"/>
            <a:ext cx="274200" cy="274200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4" name="Google Shape;4554;g3f883da9c22_0_3590"/>
          <p:cNvSpPr txBox="1"/>
          <p:nvPr/>
        </p:nvSpPr>
        <p:spPr>
          <a:xfrm>
            <a:off x="3611880" y="2788920"/>
            <a:ext cx="2148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Small dataset,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different domain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5" name="Google Shape;4555;g3f883da9c22_0_3590"/>
          <p:cNvSpPr txBox="1"/>
          <p:nvPr/>
        </p:nvSpPr>
        <p:spPr>
          <a:xfrm>
            <a:off x="3611880" y="3474720"/>
            <a:ext cx="2148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Freeze the early layers, retrain the later blocks. Low-level features transfer, high-level ones do not.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6" name="Google Shape;4556;g3f883da9c22_0_3590"/>
          <p:cNvSpPr/>
          <p:nvPr/>
        </p:nvSpPr>
        <p:spPr>
          <a:xfrm>
            <a:off x="6217920" y="2148840"/>
            <a:ext cx="2606100" cy="2286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7" name="Google Shape;4557;g3f883da9c22_0_3590"/>
          <p:cNvSpPr/>
          <p:nvPr/>
        </p:nvSpPr>
        <p:spPr>
          <a:xfrm>
            <a:off x="6446520" y="2377440"/>
            <a:ext cx="274200" cy="274200"/>
          </a:xfrm>
          <a:prstGeom prst="rect">
            <a:avLst/>
          </a:prstGeom>
          <a:solidFill>
            <a:srgbClr val="6E4BB8"/>
          </a:solidFill>
          <a:ln cap="flat" cmpd="sng" w="12700">
            <a:solidFill>
              <a:srgbClr val="6E4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8" name="Google Shape;4558;g3f883da9c22_0_3590"/>
          <p:cNvSpPr txBox="1"/>
          <p:nvPr/>
        </p:nvSpPr>
        <p:spPr>
          <a:xfrm>
            <a:off x="6446520" y="2788920"/>
            <a:ext cx="2148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Large dataset,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similar domain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9" name="Google Shape;4559;g3f883da9c22_0_3590"/>
          <p:cNvSpPr txBox="1"/>
          <p:nvPr/>
        </p:nvSpPr>
        <p:spPr>
          <a:xfrm>
            <a:off x="6446520" y="3474720"/>
            <a:ext cx="2148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Fine-tune the whole network with a small learning rate, using the pretrained weights as a very good initialisation.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0" name="Google Shape;4560;g3f883da9c22_0_3590"/>
          <p:cNvSpPr/>
          <p:nvPr/>
        </p:nvSpPr>
        <p:spPr>
          <a:xfrm>
            <a:off x="9052560" y="2148840"/>
            <a:ext cx="2606100" cy="2286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1" name="Google Shape;4561;g3f883da9c22_0_3590"/>
          <p:cNvSpPr/>
          <p:nvPr/>
        </p:nvSpPr>
        <p:spPr>
          <a:xfrm>
            <a:off x="9281160" y="2377440"/>
            <a:ext cx="274200" cy="274200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2" name="Google Shape;4562;g3f883da9c22_0_3590"/>
          <p:cNvSpPr txBox="1"/>
          <p:nvPr/>
        </p:nvSpPr>
        <p:spPr>
          <a:xfrm>
            <a:off x="9281160" y="2788920"/>
            <a:ext cx="2148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Large dataset,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different domain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3" name="Google Shape;4563;g3f883da9c22_0_3590"/>
          <p:cNvSpPr txBox="1"/>
          <p:nvPr/>
        </p:nvSpPr>
        <p:spPr>
          <a:xfrm>
            <a:off x="9281160" y="3474720"/>
            <a:ext cx="2148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Fine-tune everything, or consider training from scratch if the domain is genuinely far away.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4" name="Google Shape;4564;g3f883da9c22_0_3590"/>
          <p:cNvSpPr/>
          <p:nvPr/>
        </p:nvSpPr>
        <p:spPr>
          <a:xfrm>
            <a:off x="548640" y="4663440"/>
            <a:ext cx="5486400" cy="1143000"/>
          </a:xfrm>
          <a:prstGeom prst="roundRect">
            <a:avLst>
              <a:gd fmla="val 4800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5" name="Google Shape;4565;g3f883da9c22_0_3590"/>
          <p:cNvSpPr txBox="1"/>
          <p:nvPr/>
        </p:nvSpPr>
        <p:spPr>
          <a:xfrm>
            <a:off x="822960" y="4846320"/>
            <a:ext cx="493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Practical recipe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6" name="Google Shape;4566;g3f883da9c22_0_3590"/>
          <p:cNvSpPr txBox="1"/>
          <p:nvPr/>
        </p:nvSpPr>
        <p:spPr>
          <a:xfrm>
            <a:off x="822960" y="5166360"/>
            <a:ext cx="493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Replace the final classifier · freeze the base · train the head · unfreeze the top blocks · fine-tune at a 10× smaller learning rate.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7" name="Google Shape;4567;g3f883da9c22_0_3590"/>
          <p:cNvSpPr/>
          <p:nvPr/>
        </p:nvSpPr>
        <p:spPr>
          <a:xfrm>
            <a:off x="6217920" y="4663440"/>
            <a:ext cx="5394900" cy="1143000"/>
          </a:xfrm>
          <a:prstGeom prst="roundRect">
            <a:avLst>
              <a:gd fmla="val 4800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8" name="Google Shape;4568;g3f883da9c22_0_3590"/>
          <p:cNvSpPr txBox="1"/>
          <p:nvPr/>
        </p:nvSpPr>
        <p:spPr>
          <a:xfrm>
            <a:off x="6492240" y="4846320"/>
            <a:ext cx="484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Course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9" name="Google Shape;4569;g3f883da9c22_0_3590"/>
          <p:cNvSpPr txBox="1"/>
          <p:nvPr/>
        </p:nvSpPr>
        <p:spPr>
          <a:xfrm>
            <a:off x="6492240" y="5138928"/>
            <a:ext cx="484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Find a dataset of interest (under ~10k images) · check the TensorFlow model garden (github.com/tensorflow/models) for a pretrained model that learns a similar representation · transfer learn to your dataset.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035"/>
        </a:solidFill>
      </p:bgPr>
    </p:bg>
    <p:spTree>
      <p:nvGrpSpPr>
        <p:cNvPr id="4574" name="Shape 4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5" name="Google Shape;4575;g3f883da9c22_0_362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B1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6" name="Google Shape;4576;g3f883da9c22_0_3628"/>
          <p:cNvSpPr txBox="1"/>
          <p:nvPr/>
        </p:nvSpPr>
        <p:spPr>
          <a:xfrm>
            <a:off x="777240" y="1417320"/>
            <a:ext cx="29262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13000"/>
              <a:buFont typeface="Cambria"/>
              <a:buNone/>
            </a:pPr>
            <a:r>
              <a:rPr b="1" i="0" lang="en-US" sz="13000" u="none" cap="none" strike="noStrike">
                <a:solidFill>
                  <a:srgbClr val="2E1F5E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7" name="Google Shape;4577;g3f883da9c22_0_3628"/>
          <p:cNvSpPr txBox="1"/>
          <p:nvPr/>
        </p:nvSpPr>
        <p:spPr>
          <a:xfrm>
            <a:off x="822960" y="3246120"/>
            <a:ext cx="6035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Beyond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classification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8" name="Google Shape;4578;g3f883da9c22_0_3628"/>
          <p:cNvSpPr/>
          <p:nvPr/>
        </p:nvSpPr>
        <p:spPr>
          <a:xfrm>
            <a:off x="7360920" y="1883664"/>
            <a:ext cx="237600" cy="237600"/>
          </a:xfrm>
          <a:prstGeom prst="ellipse">
            <a:avLst/>
          </a:prstGeom>
          <a:solidFill>
            <a:srgbClr val="FF5E5B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9" name="Google Shape;4579;g3f883da9c22_0_3628"/>
          <p:cNvSpPr txBox="1"/>
          <p:nvPr/>
        </p:nvSpPr>
        <p:spPr>
          <a:xfrm>
            <a:off x="7818120" y="1810512"/>
            <a:ext cx="3840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Object detection: what is where, with boxes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0" name="Google Shape;4580;g3f883da9c22_0_3628"/>
          <p:cNvSpPr/>
          <p:nvPr/>
        </p:nvSpPr>
        <p:spPr>
          <a:xfrm>
            <a:off x="7360920" y="2843784"/>
            <a:ext cx="237600" cy="237600"/>
          </a:xfrm>
          <a:prstGeom prst="ellipse">
            <a:avLst/>
          </a:prstGeom>
          <a:solidFill>
            <a:srgbClr val="12A594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1" name="Google Shape;4581;g3f883da9c22_0_3628"/>
          <p:cNvSpPr txBox="1"/>
          <p:nvPr/>
        </p:nvSpPr>
        <p:spPr>
          <a:xfrm>
            <a:off x="7818120" y="2770632"/>
            <a:ext cx="3840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Semantic segmentation: a class for every pixel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2" name="Google Shape;4582;g3f883da9c22_0_3628"/>
          <p:cNvSpPr/>
          <p:nvPr/>
        </p:nvSpPr>
        <p:spPr>
          <a:xfrm>
            <a:off x="7360920" y="3803904"/>
            <a:ext cx="237600" cy="237600"/>
          </a:xfrm>
          <a:prstGeom prst="ellipse">
            <a:avLst/>
          </a:prstGeom>
          <a:solidFill>
            <a:srgbClr val="E8930C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3" name="Google Shape;4583;g3f883da9c22_0_3628"/>
          <p:cNvSpPr txBox="1"/>
          <p:nvPr/>
        </p:nvSpPr>
        <p:spPr>
          <a:xfrm>
            <a:off x="7818120" y="3730752"/>
            <a:ext cx="3840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C8E8"/>
                </a:solidFill>
                <a:latin typeface="Calibri"/>
                <a:ea typeface="Calibri"/>
                <a:cs typeface="Calibri"/>
                <a:sym typeface="Calibri"/>
              </a:rPr>
              <a:t>Instance segmentation: pixels, grouped per object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4" name="Google Shape;4584;g3f883da9c22_0_3628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5" name="Google Shape;4585;g3f883da9c22_0_3628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6" name="Google Shape;4586;g3f883da9c22_0_3628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7" name="Google Shape;4587;g3f883da9c22_0_3628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8" name="Google Shape;4588;g3f883da9c22_0_3628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9" name="Google Shape;4589;g3f883da9c22_0_3628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0" name="Google Shape;4590;g3f883da9c22_0_3628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1" name="Google Shape;4591;g3f883da9c22_0_3628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2" name="Google Shape;4592;g3f883da9c22_0_3628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597" name="Shape 4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8" name="Google Shape;4598;g3f883da9c22_0_3650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TASK LANDSCAPE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9" name="Google Shape;4599;g3f883da9c22_0_3650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The core computer-vision tasks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0" name="Google Shape;4600;g3f883da9c22_0_3650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1" name="Google Shape;4601;g3f883da9c22_0_3650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2" name="Google Shape;4602;g3f883da9c22_0_3650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3" name="Google Shape;4603;g3f883da9c22_0_3650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4" name="Google Shape;4604;g3f883da9c22_0_3650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5" name="Google Shape;4605;g3f883da9c22_0_3650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6" name="Google Shape;4606;g3f883da9c22_0_3650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7" name="Google Shape;4607;g3f883da9c22_0_3650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8" name="Google Shape;4608;g3f883da9c22_0_3650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9" name="Google Shape;4609;g3f883da9c22_0_3650"/>
          <p:cNvSpPr txBox="1"/>
          <p:nvPr/>
        </p:nvSpPr>
        <p:spPr>
          <a:xfrm>
            <a:off x="548640" y="1444752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Every task below runs on the same convolutional backbone. What changes is the output head — and therefore the loss.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0" name="Google Shape;4610;g3f883da9c22_0_3650"/>
          <p:cNvSpPr/>
          <p:nvPr/>
        </p:nvSpPr>
        <p:spPr>
          <a:xfrm>
            <a:off x="548640" y="1965960"/>
            <a:ext cx="2066400" cy="3840600"/>
          </a:xfrm>
          <a:prstGeom prst="roundRect">
            <a:avLst>
              <a:gd fmla="val 2655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1" name="Google Shape;4611;g3f883da9c22_0_3650"/>
          <p:cNvSpPr txBox="1"/>
          <p:nvPr/>
        </p:nvSpPr>
        <p:spPr>
          <a:xfrm>
            <a:off x="731520" y="2194560"/>
            <a:ext cx="1700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2" name="Google Shape;4612;g3f883da9c22_0_3650"/>
          <p:cNvSpPr/>
          <p:nvPr/>
        </p:nvSpPr>
        <p:spPr>
          <a:xfrm>
            <a:off x="804672" y="2926080"/>
            <a:ext cx="1554600" cy="1234500"/>
          </a:xfrm>
          <a:prstGeom prst="rect">
            <a:avLst/>
          </a:prstGeom>
          <a:solidFill>
            <a:srgbClr val="F7F6FB"/>
          </a:solidFill>
          <a:ln cap="flat" cmpd="sng" w="12700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3" name="Google Shape;4613;g3f883da9c22_0_3650"/>
          <p:cNvSpPr/>
          <p:nvPr/>
        </p:nvSpPr>
        <p:spPr>
          <a:xfrm>
            <a:off x="987552" y="3337560"/>
            <a:ext cx="502800" cy="567000"/>
          </a:xfrm>
          <a:prstGeom prst="ellipse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4" name="Google Shape;4614;g3f883da9c22_0_3650"/>
          <p:cNvSpPr/>
          <p:nvPr/>
        </p:nvSpPr>
        <p:spPr>
          <a:xfrm>
            <a:off x="1673352" y="3429000"/>
            <a:ext cx="457200" cy="475500"/>
          </a:xfrm>
          <a:prstGeom prst="ellipse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5" name="Google Shape;4615;g3f883da9c22_0_3650"/>
          <p:cNvSpPr txBox="1"/>
          <p:nvPr/>
        </p:nvSpPr>
        <p:spPr>
          <a:xfrm>
            <a:off x="731520" y="4279392"/>
            <a:ext cx="170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1F5E"/>
                </a:solidFill>
                <a:latin typeface="Calibri"/>
                <a:ea typeface="Calibri"/>
                <a:cs typeface="Calibri"/>
                <a:sym typeface="Calibri"/>
              </a:rPr>
              <a:t>CAT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6" name="Google Shape;4616;g3f883da9c22_0_3650"/>
          <p:cNvSpPr txBox="1"/>
          <p:nvPr/>
        </p:nvSpPr>
        <p:spPr>
          <a:xfrm>
            <a:off x="731520" y="4617720"/>
            <a:ext cx="1700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One label for the whole image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7" name="Google Shape;4617;g3f883da9c22_0_3650"/>
          <p:cNvSpPr/>
          <p:nvPr/>
        </p:nvSpPr>
        <p:spPr>
          <a:xfrm>
            <a:off x="2798064" y="1965960"/>
            <a:ext cx="2066400" cy="3840600"/>
          </a:xfrm>
          <a:prstGeom prst="roundRect">
            <a:avLst>
              <a:gd fmla="val 2655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8" name="Google Shape;4618;g3f883da9c22_0_3650"/>
          <p:cNvSpPr txBox="1"/>
          <p:nvPr/>
        </p:nvSpPr>
        <p:spPr>
          <a:xfrm>
            <a:off x="2980944" y="2194560"/>
            <a:ext cx="1700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+ localisation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9" name="Google Shape;4619;g3f883da9c22_0_3650"/>
          <p:cNvSpPr/>
          <p:nvPr/>
        </p:nvSpPr>
        <p:spPr>
          <a:xfrm>
            <a:off x="3054096" y="2926080"/>
            <a:ext cx="1554600" cy="1234500"/>
          </a:xfrm>
          <a:prstGeom prst="rect">
            <a:avLst/>
          </a:prstGeom>
          <a:solidFill>
            <a:srgbClr val="F7F6FB"/>
          </a:solidFill>
          <a:ln cap="flat" cmpd="sng" w="12700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0" name="Google Shape;4620;g3f883da9c22_0_3650"/>
          <p:cNvSpPr/>
          <p:nvPr/>
        </p:nvSpPr>
        <p:spPr>
          <a:xfrm>
            <a:off x="3236976" y="3337560"/>
            <a:ext cx="502800" cy="567000"/>
          </a:xfrm>
          <a:prstGeom prst="ellipse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1" name="Google Shape;4621;g3f883da9c22_0_3650"/>
          <p:cNvSpPr/>
          <p:nvPr/>
        </p:nvSpPr>
        <p:spPr>
          <a:xfrm>
            <a:off x="3922776" y="3429000"/>
            <a:ext cx="457200" cy="475500"/>
          </a:xfrm>
          <a:prstGeom prst="ellipse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2" name="Google Shape;4622;g3f883da9c22_0_3650"/>
          <p:cNvSpPr/>
          <p:nvPr/>
        </p:nvSpPr>
        <p:spPr>
          <a:xfrm>
            <a:off x="3182112" y="3282696"/>
            <a:ext cx="612600" cy="676800"/>
          </a:xfrm>
          <a:prstGeom prst="rect">
            <a:avLst/>
          </a:prstGeom>
          <a:noFill/>
          <a:ln cap="flat" cmpd="sng" w="22225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3" name="Google Shape;4623;g3f883da9c22_0_3650"/>
          <p:cNvSpPr txBox="1"/>
          <p:nvPr/>
        </p:nvSpPr>
        <p:spPr>
          <a:xfrm>
            <a:off x="2980944" y="4279392"/>
            <a:ext cx="170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30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930C"/>
                </a:solidFill>
                <a:latin typeface="Calibri"/>
                <a:ea typeface="Calibri"/>
                <a:cs typeface="Calibri"/>
                <a:sym typeface="Calibri"/>
              </a:rPr>
              <a:t>CAT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4" name="Google Shape;4624;g3f883da9c22_0_3650"/>
          <p:cNvSpPr txBox="1"/>
          <p:nvPr/>
        </p:nvSpPr>
        <p:spPr>
          <a:xfrm>
            <a:off x="2980944" y="4617720"/>
            <a:ext cx="1700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One label and one bounding box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5" name="Google Shape;4625;g3f883da9c22_0_3650"/>
          <p:cNvSpPr/>
          <p:nvPr/>
        </p:nvSpPr>
        <p:spPr>
          <a:xfrm>
            <a:off x="5047488" y="1965960"/>
            <a:ext cx="2066400" cy="3840600"/>
          </a:xfrm>
          <a:prstGeom prst="roundRect">
            <a:avLst>
              <a:gd fmla="val 2655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6" name="Google Shape;4626;g3f883da9c22_0_3650"/>
          <p:cNvSpPr txBox="1"/>
          <p:nvPr/>
        </p:nvSpPr>
        <p:spPr>
          <a:xfrm>
            <a:off x="5230368" y="2194560"/>
            <a:ext cx="1700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Object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7" name="Google Shape;4627;g3f883da9c22_0_3650"/>
          <p:cNvSpPr/>
          <p:nvPr/>
        </p:nvSpPr>
        <p:spPr>
          <a:xfrm>
            <a:off x="5303520" y="2926080"/>
            <a:ext cx="1554600" cy="1234500"/>
          </a:xfrm>
          <a:prstGeom prst="rect">
            <a:avLst/>
          </a:prstGeom>
          <a:solidFill>
            <a:srgbClr val="F7F6FB"/>
          </a:solidFill>
          <a:ln cap="flat" cmpd="sng" w="12700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8" name="Google Shape;4628;g3f883da9c22_0_3650"/>
          <p:cNvSpPr/>
          <p:nvPr/>
        </p:nvSpPr>
        <p:spPr>
          <a:xfrm>
            <a:off x="5486400" y="3337560"/>
            <a:ext cx="502800" cy="567000"/>
          </a:xfrm>
          <a:prstGeom prst="ellipse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9" name="Google Shape;4629;g3f883da9c22_0_3650"/>
          <p:cNvSpPr/>
          <p:nvPr/>
        </p:nvSpPr>
        <p:spPr>
          <a:xfrm>
            <a:off x="6172200" y="3429000"/>
            <a:ext cx="457200" cy="475500"/>
          </a:xfrm>
          <a:prstGeom prst="ellipse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0" name="Google Shape;4630;g3f883da9c22_0_3650"/>
          <p:cNvSpPr/>
          <p:nvPr/>
        </p:nvSpPr>
        <p:spPr>
          <a:xfrm>
            <a:off x="5431536" y="3282696"/>
            <a:ext cx="612600" cy="676800"/>
          </a:xfrm>
          <a:prstGeom prst="rect">
            <a:avLst/>
          </a:prstGeom>
          <a:noFill/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1" name="Google Shape;4631;g3f883da9c22_0_3650"/>
          <p:cNvSpPr/>
          <p:nvPr/>
        </p:nvSpPr>
        <p:spPr>
          <a:xfrm>
            <a:off x="6117336" y="3374136"/>
            <a:ext cx="567000" cy="585300"/>
          </a:xfrm>
          <a:prstGeom prst="rect">
            <a:avLst/>
          </a:prstGeom>
          <a:noFill/>
          <a:ln cap="flat" cmpd="sng" w="22225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2" name="Google Shape;4632;g3f883da9c22_0_3650"/>
          <p:cNvSpPr txBox="1"/>
          <p:nvPr/>
        </p:nvSpPr>
        <p:spPr>
          <a:xfrm>
            <a:off x="5230368" y="4279392"/>
            <a:ext cx="170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CAT, DOG, DOG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3" name="Google Shape;4633;g3f883da9c22_0_3650"/>
          <p:cNvSpPr txBox="1"/>
          <p:nvPr/>
        </p:nvSpPr>
        <p:spPr>
          <a:xfrm>
            <a:off x="5230368" y="4617720"/>
            <a:ext cx="1700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Many objects, each with a box and a label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4" name="Google Shape;4634;g3f883da9c22_0_3650"/>
          <p:cNvSpPr/>
          <p:nvPr/>
        </p:nvSpPr>
        <p:spPr>
          <a:xfrm>
            <a:off x="7296912" y="1965960"/>
            <a:ext cx="2066400" cy="3840600"/>
          </a:xfrm>
          <a:prstGeom prst="roundRect">
            <a:avLst>
              <a:gd fmla="val 2655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5" name="Google Shape;4635;g3f883da9c22_0_3650"/>
          <p:cNvSpPr txBox="1"/>
          <p:nvPr/>
        </p:nvSpPr>
        <p:spPr>
          <a:xfrm>
            <a:off x="7479792" y="2194560"/>
            <a:ext cx="1700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Semantic segmentation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6" name="Google Shape;4636;g3f883da9c22_0_3650"/>
          <p:cNvSpPr/>
          <p:nvPr/>
        </p:nvSpPr>
        <p:spPr>
          <a:xfrm>
            <a:off x="7552944" y="2926080"/>
            <a:ext cx="1554600" cy="1234500"/>
          </a:xfrm>
          <a:prstGeom prst="rect">
            <a:avLst/>
          </a:prstGeom>
          <a:solidFill>
            <a:srgbClr val="DFF1FA"/>
          </a:solidFill>
          <a:ln cap="flat" cmpd="sng" w="12700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7" name="Google Shape;4637;g3f883da9c22_0_3650"/>
          <p:cNvSpPr/>
          <p:nvPr/>
        </p:nvSpPr>
        <p:spPr>
          <a:xfrm>
            <a:off x="7552944" y="3691433"/>
            <a:ext cx="1554600" cy="469200"/>
          </a:xfrm>
          <a:prstGeom prst="rect">
            <a:avLst/>
          </a:prstGeom>
          <a:solidFill>
            <a:srgbClr val="CFE8CB"/>
          </a:solidFill>
          <a:ln cap="flat" cmpd="sng" w="12700">
            <a:solidFill>
              <a:srgbClr val="CFE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8" name="Google Shape;4638;g3f883da9c22_0_3650"/>
          <p:cNvSpPr/>
          <p:nvPr/>
        </p:nvSpPr>
        <p:spPr>
          <a:xfrm>
            <a:off x="7735824" y="3337560"/>
            <a:ext cx="502800" cy="567000"/>
          </a:xfrm>
          <a:prstGeom prst="ellipse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9" name="Google Shape;4639;g3f883da9c22_0_3650"/>
          <p:cNvSpPr/>
          <p:nvPr/>
        </p:nvSpPr>
        <p:spPr>
          <a:xfrm>
            <a:off x="8421624" y="3429000"/>
            <a:ext cx="457200" cy="475500"/>
          </a:xfrm>
          <a:prstGeom prst="ellipse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0" name="Google Shape;4640;g3f883da9c22_0_3650"/>
          <p:cNvSpPr txBox="1"/>
          <p:nvPr/>
        </p:nvSpPr>
        <p:spPr>
          <a:xfrm>
            <a:off x="7479792" y="4279392"/>
            <a:ext cx="170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CAT, GRASS, SKY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1" name="Google Shape;4641;g3f883da9c22_0_3650"/>
          <p:cNvSpPr txBox="1"/>
          <p:nvPr/>
        </p:nvSpPr>
        <p:spPr>
          <a:xfrm>
            <a:off x="7479792" y="4617720"/>
            <a:ext cx="1700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 class for every pixel — no object identity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2" name="Google Shape;4642;g3f883da9c22_0_3650"/>
          <p:cNvSpPr/>
          <p:nvPr/>
        </p:nvSpPr>
        <p:spPr>
          <a:xfrm>
            <a:off x="9546336" y="1965960"/>
            <a:ext cx="2066400" cy="3840600"/>
          </a:xfrm>
          <a:prstGeom prst="roundRect">
            <a:avLst>
              <a:gd fmla="val 2655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3" name="Google Shape;4643;g3f883da9c22_0_3650"/>
          <p:cNvSpPr txBox="1"/>
          <p:nvPr/>
        </p:nvSpPr>
        <p:spPr>
          <a:xfrm>
            <a:off x="9729216" y="2194560"/>
            <a:ext cx="1700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Instance segmentation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4" name="Google Shape;4644;g3f883da9c22_0_3650"/>
          <p:cNvSpPr/>
          <p:nvPr/>
        </p:nvSpPr>
        <p:spPr>
          <a:xfrm>
            <a:off x="9802368" y="2926080"/>
            <a:ext cx="1554600" cy="1234500"/>
          </a:xfrm>
          <a:prstGeom prst="rect">
            <a:avLst/>
          </a:prstGeom>
          <a:solidFill>
            <a:srgbClr val="DFF1FA"/>
          </a:solidFill>
          <a:ln cap="flat" cmpd="sng" w="12700">
            <a:solidFill>
              <a:srgbClr val="C9C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5" name="Google Shape;4645;g3f883da9c22_0_3650"/>
          <p:cNvSpPr/>
          <p:nvPr/>
        </p:nvSpPr>
        <p:spPr>
          <a:xfrm>
            <a:off x="9802368" y="3691433"/>
            <a:ext cx="1554600" cy="469200"/>
          </a:xfrm>
          <a:prstGeom prst="rect">
            <a:avLst/>
          </a:prstGeom>
          <a:solidFill>
            <a:srgbClr val="CFE8CB"/>
          </a:solidFill>
          <a:ln cap="flat" cmpd="sng" w="12700">
            <a:solidFill>
              <a:srgbClr val="CFE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6" name="Google Shape;4646;g3f883da9c22_0_3650"/>
          <p:cNvSpPr/>
          <p:nvPr/>
        </p:nvSpPr>
        <p:spPr>
          <a:xfrm>
            <a:off x="9985248" y="3337560"/>
            <a:ext cx="502800" cy="567000"/>
          </a:xfrm>
          <a:prstGeom prst="ellipse">
            <a:avLst/>
          </a:prstGeom>
          <a:solidFill>
            <a:srgbClr val="6E4BB8"/>
          </a:solidFill>
          <a:ln cap="flat" cmpd="sng" w="12700">
            <a:solidFill>
              <a:srgbClr val="6E4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7" name="Google Shape;4647;g3f883da9c22_0_3650"/>
          <p:cNvSpPr/>
          <p:nvPr/>
        </p:nvSpPr>
        <p:spPr>
          <a:xfrm>
            <a:off x="10671048" y="3429000"/>
            <a:ext cx="457200" cy="475500"/>
          </a:xfrm>
          <a:prstGeom prst="ellipse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8" name="Google Shape;4648;g3f883da9c22_0_3650"/>
          <p:cNvSpPr txBox="1"/>
          <p:nvPr/>
        </p:nvSpPr>
        <p:spPr>
          <a:xfrm>
            <a:off x="9729216" y="4279392"/>
            <a:ext cx="170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4B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4BB8"/>
                </a:solidFill>
                <a:latin typeface="Calibri"/>
                <a:ea typeface="Calibri"/>
                <a:cs typeface="Calibri"/>
                <a:sym typeface="Calibri"/>
              </a:rPr>
              <a:t>CAT, DOG 1, DOG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9" name="Google Shape;4649;g3f883da9c22_0_3650"/>
          <p:cNvSpPr txBox="1"/>
          <p:nvPr/>
        </p:nvSpPr>
        <p:spPr>
          <a:xfrm>
            <a:off x="9729216" y="4617720"/>
            <a:ext cx="1700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Per-pixel labels, separated per object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0" name="Google Shape;4650;g3f883da9c22_0_3650"/>
          <p:cNvSpPr/>
          <p:nvPr/>
        </p:nvSpPr>
        <p:spPr>
          <a:xfrm>
            <a:off x="548640" y="6035040"/>
            <a:ext cx="11064300" cy="18300"/>
          </a:xfrm>
          <a:prstGeom prst="roundRect">
            <a:avLst>
              <a:gd fmla="val 300000" name="adj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655" name="Shape 4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6" name="Google Shape;4656;g3f883da9c22_0_3707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7" name="Google Shape;4657;g3f883da9c22_0_3707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Object detection: what makes it hard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8" name="Google Shape;4658;g3f883da9c22_0_3707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9" name="Google Shape;4659;g3f883da9c22_0_3707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0" name="Google Shape;4660;g3f883da9c22_0_3707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1" name="Google Shape;4661;g3f883da9c22_0_3707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2" name="Google Shape;4662;g3f883da9c22_0_3707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3" name="Google Shape;4663;g3f883da9c22_0_3707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4" name="Google Shape;4664;g3f883da9c22_0_3707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5" name="Google Shape;4665;g3f883da9c22_0_3707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6" name="Google Shape;4666;g3f883da9c22_0_3707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7" name="Google Shape;4667;g3f883da9c22_0_3707"/>
          <p:cNvSpPr txBox="1"/>
          <p:nvPr/>
        </p:nvSpPr>
        <p:spPr>
          <a:xfrm>
            <a:off x="548640" y="1508760"/>
            <a:ext cx="56694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 variable number of outputs. A classifier always emits one vector; a detector must emit anywhere from zero to hundreds of boxes.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Two losses at once: classify each object and regress four box coordinates.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Huge scale variation — the same class can occupy 20 pixels or 2 000.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Extreme class imbalance: almost every candidate region is background.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Many applications need real-time inference on video.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8" name="Google Shape;4668;g3f883da9c22_0_3707"/>
          <p:cNvSpPr/>
          <p:nvPr/>
        </p:nvSpPr>
        <p:spPr>
          <a:xfrm>
            <a:off x="548640" y="4709160"/>
            <a:ext cx="5669400" cy="1051500"/>
          </a:xfrm>
          <a:prstGeom prst="roundRect">
            <a:avLst>
              <a:gd fmla="val 5217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9" name="Google Shape;4669;g3f883da9c22_0_3707"/>
          <p:cNvSpPr txBox="1"/>
          <p:nvPr/>
        </p:nvSpPr>
        <p:spPr>
          <a:xfrm>
            <a:off x="822960" y="4892040"/>
            <a:ext cx="5120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Two ingredients almost every detector uses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0" name="Google Shape;4670;g3f883da9c22_0_3707"/>
          <p:cNvSpPr txBox="1"/>
          <p:nvPr/>
        </p:nvSpPr>
        <p:spPr>
          <a:xfrm>
            <a:off x="822960" y="5212080"/>
            <a:ext cx="5120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Anchor boxes — a fixed set of reference shapes at every location.   Non-maximum suppression (NMS) — collapse overlapping duplicate predictions.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1" name="Google Shape;4671;g3f883da9c22_0_3707"/>
          <p:cNvSpPr/>
          <p:nvPr/>
        </p:nvSpPr>
        <p:spPr>
          <a:xfrm>
            <a:off x="6583680" y="1463040"/>
            <a:ext cx="5029200" cy="2286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2" name="Google Shape;4672;g3f883da9c22_0_3707"/>
          <p:cNvSpPr txBox="1"/>
          <p:nvPr/>
        </p:nvSpPr>
        <p:spPr>
          <a:xfrm>
            <a:off x="6858000" y="1691640"/>
            <a:ext cx="448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Intersection over Union (IoU)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3" name="Google Shape;4673;g3f883da9c22_0_3707"/>
          <p:cNvSpPr/>
          <p:nvPr/>
        </p:nvSpPr>
        <p:spPr>
          <a:xfrm>
            <a:off x="6949440" y="2194560"/>
            <a:ext cx="1371600" cy="1051500"/>
          </a:xfrm>
          <a:prstGeom prst="rect">
            <a:avLst/>
          </a:prstGeom>
          <a:solidFill>
            <a:srgbClr val="12A594">
              <a:alpha val="40000"/>
            </a:srgbClr>
          </a:solidFill>
          <a:ln cap="flat" cmpd="sng" w="22225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4" name="Google Shape;4674;g3f883da9c22_0_3707"/>
          <p:cNvSpPr/>
          <p:nvPr/>
        </p:nvSpPr>
        <p:spPr>
          <a:xfrm>
            <a:off x="7680960" y="2514600"/>
            <a:ext cx="1371600" cy="1051500"/>
          </a:xfrm>
          <a:prstGeom prst="rect">
            <a:avLst/>
          </a:prstGeom>
          <a:solidFill>
            <a:srgbClr val="FF5E5B">
              <a:alpha val="40000"/>
            </a:srgbClr>
          </a:solidFill>
          <a:ln cap="flat" cmpd="sng" w="222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5" name="Google Shape;4675;g3f883da9c22_0_3707"/>
          <p:cNvSpPr txBox="1"/>
          <p:nvPr/>
        </p:nvSpPr>
        <p:spPr>
          <a:xfrm>
            <a:off x="6675120" y="1965960"/>
            <a:ext cx="128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6" name="Google Shape;4676;g3f883da9c22_0_3707"/>
          <p:cNvSpPr txBox="1"/>
          <p:nvPr/>
        </p:nvSpPr>
        <p:spPr>
          <a:xfrm>
            <a:off x="8229600" y="3566160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7" name="Google Shape;4677;g3f883da9c22_0_3707"/>
          <p:cNvSpPr txBox="1"/>
          <p:nvPr/>
        </p:nvSpPr>
        <p:spPr>
          <a:xfrm>
            <a:off x="9326880" y="2286000"/>
            <a:ext cx="21030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IoU  =  area of overlap  /  area of union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 prediction usually counts as correct at IoU ≥ 0.5.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8" name="Google Shape;4678;g3f883da9c22_0_3707"/>
          <p:cNvSpPr/>
          <p:nvPr/>
        </p:nvSpPr>
        <p:spPr>
          <a:xfrm>
            <a:off x="6583680" y="3977640"/>
            <a:ext cx="5029200" cy="1783200"/>
          </a:xfrm>
          <a:prstGeom prst="roundRect">
            <a:avLst>
              <a:gd fmla="val 3077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9" name="Google Shape;4679;g3f883da9c22_0_3707"/>
          <p:cNvSpPr txBox="1"/>
          <p:nvPr/>
        </p:nvSpPr>
        <p:spPr>
          <a:xfrm>
            <a:off x="6858000" y="4160520"/>
            <a:ext cx="448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The reporting metric: mAP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0" name="Google Shape;4680;g3f883da9c22_0_3707"/>
          <p:cNvSpPr txBox="1"/>
          <p:nvPr/>
        </p:nvSpPr>
        <p:spPr>
          <a:xfrm>
            <a:off x="6858000" y="4526280"/>
            <a:ext cx="4480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Average precision (AP) is the area under the precision–recall curve for one class. Mean AP averages it over all classes.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COCO reports mAP@[.5 : .95] — averaged over ten IoU thresholds — which is much stricter than the older mAP@0.5.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685" name="Shape 4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6" name="Google Shape;4686;g3f883da9c22_0_3736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DETECTION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7" name="Google Shape;4687;g3f883da9c22_0_3736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Two-stage detectors: the R-CNN family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8" name="Google Shape;4688;g3f883da9c22_0_3736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9" name="Google Shape;4689;g3f883da9c22_0_3736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0" name="Google Shape;4690;g3f883da9c22_0_3736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1" name="Google Shape;4691;g3f883da9c22_0_3736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2" name="Google Shape;4692;g3f883da9c22_0_3736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3" name="Google Shape;4693;g3f883da9c22_0_3736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4" name="Google Shape;4694;g3f883da9c22_0_3736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5" name="Google Shape;4695;g3f883da9c22_0_3736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6" name="Google Shape;4696;g3f883da9c22_0_3736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7" name="Google Shape;4697;g3f883da9c22_0_3736"/>
          <p:cNvSpPr txBox="1"/>
          <p:nvPr/>
        </p:nvSpPr>
        <p:spPr>
          <a:xfrm>
            <a:off x="548640" y="1444752"/>
            <a:ext cx="1106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Stage 1 proposes regions that might contain an object. Stage 2 classifies each proposal and refines its box. Accurate, historically slower.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8" name="Google Shape;4698;g3f883da9c22_0_3736"/>
          <p:cNvSpPr/>
          <p:nvPr/>
        </p:nvSpPr>
        <p:spPr>
          <a:xfrm>
            <a:off x="548640" y="2011680"/>
            <a:ext cx="3520500" cy="2880300"/>
          </a:xfrm>
          <a:prstGeom prst="roundRect">
            <a:avLst>
              <a:gd fmla="val 1905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9" name="Google Shape;4699;g3f883da9c22_0_3736"/>
          <p:cNvSpPr txBox="1"/>
          <p:nvPr/>
        </p:nvSpPr>
        <p:spPr>
          <a:xfrm>
            <a:off x="822960" y="2240280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R-CNN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0" name="Google Shape;4700;g3f883da9c22_0_3736"/>
          <p:cNvSpPr txBox="1"/>
          <p:nvPr/>
        </p:nvSpPr>
        <p:spPr>
          <a:xfrm>
            <a:off x="3108960" y="2304288"/>
            <a:ext cx="777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2014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1" name="Google Shape;4701;g3f883da9c22_0_3736"/>
          <p:cNvSpPr txBox="1"/>
          <p:nvPr/>
        </p:nvSpPr>
        <p:spPr>
          <a:xfrm>
            <a:off x="822960" y="2743200"/>
            <a:ext cx="2971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Selective search proposes ~2 000 regions; each is warped and pushed through a CNN separately, then an SVM classifies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2" name="Google Shape;4702;g3f883da9c22_0_3736"/>
          <p:cNvSpPr/>
          <p:nvPr/>
        </p:nvSpPr>
        <p:spPr>
          <a:xfrm>
            <a:off x="822960" y="4023360"/>
            <a:ext cx="2971800" cy="13800"/>
          </a:xfrm>
          <a:prstGeom prst="rect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3" name="Google Shape;4703;g3f883da9c22_0_3736"/>
          <p:cNvSpPr txBox="1"/>
          <p:nvPr/>
        </p:nvSpPr>
        <p:spPr>
          <a:xfrm>
            <a:off x="822960" y="4160520"/>
            <a:ext cx="297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Painfully slow — about 47 s per image at test time, and training is a multi-stage pipeline.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4" name="Google Shape;4704;g3f883da9c22_0_3736"/>
          <p:cNvSpPr/>
          <p:nvPr/>
        </p:nvSpPr>
        <p:spPr>
          <a:xfrm>
            <a:off x="4160520" y="3337560"/>
            <a:ext cx="2559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5" name="Google Shape;4705;g3f883da9c22_0_3736"/>
          <p:cNvSpPr/>
          <p:nvPr/>
        </p:nvSpPr>
        <p:spPr>
          <a:xfrm>
            <a:off x="4343400" y="2011680"/>
            <a:ext cx="3520500" cy="2880300"/>
          </a:xfrm>
          <a:prstGeom prst="roundRect">
            <a:avLst>
              <a:gd fmla="val 1905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6" name="Google Shape;4706;g3f883da9c22_0_3736"/>
          <p:cNvSpPr txBox="1"/>
          <p:nvPr/>
        </p:nvSpPr>
        <p:spPr>
          <a:xfrm>
            <a:off x="4617720" y="2240280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Fast R-CNN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7" name="Google Shape;4707;g3f883da9c22_0_3736"/>
          <p:cNvSpPr txBox="1"/>
          <p:nvPr/>
        </p:nvSpPr>
        <p:spPr>
          <a:xfrm>
            <a:off x="6903720" y="2304288"/>
            <a:ext cx="777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930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930C"/>
                </a:solidFill>
                <a:latin typeface="Calibri"/>
                <a:ea typeface="Calibri"/>
                <a:cs typeface="Calibri"/>
                <a:sym typeface="Calibri"/>
              </a:rPr>
              <a:t>2015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8" name="Google Shape;4708;g3f883da9c22_0_3736"/>
          <p:cNvSpPr txBox="1"/>
          <p:nvPr/>
        </p:nvSpPr>
        <p:spPr>
          <a:xfrm>
            <a:off x="4617720" y="2743200"/>
            <a:ext cx="2971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Run the CNN once over the whole image, then crop features per proposal with RoI pooling. One network, one multi-task loss.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9" name="Google Shape;4709;g3f883da9c22_0_3736"/>
          <p:cNvSpPr/>
          <p:nvPr/>
        </p:nvSpPr>
        <p:spPr>
          <a:xfrm>
            <a:off x="4617720" y="4023360"/>
            <a:ext cx="2971800" cy="13800"/>
          </a:xfrm>
          <a:prstGeom prst="rect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0" name="Google Shape;4710;g3f883da9c22_0_3736"/>
          <p:cNvSpPr txBox="1"/>
          <p:nvPr/>
        </p:nvSpPr>
        <p:spPr>
          <a:xfrm>
            <a:off x="4617720" y="4160520"/>
            <a:ext cx="297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~25 × faster to train. Region proposal is now the bottleneck.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1" name="Google Shape;4711;g3f883da9c22_0_3736"/>
          <p:cNvSpPr/>
          <p:nvPr/>
        </p:nvSpPr>
        <p:spPr>
          <a:xfrm>
            <a:off x="7955280" y="3337560"/>
            <a:ext cx="2559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2" name="Google Shape;4712;g3f883da9c22_0_3736"/>
          <p:cNvSpPr/>
          <p:nvPr/>
        </p:nvSpPr>
        <p:spPr>
          <a:xfrm>
            <a:off x="8138160" y="2011680"/>
            <a:ext cx="3520500" cy="2880300"/>
          </a:xfrm>
          <a:prstGeom prst="roundRect">
            <a:avLst>
              <a:gd fmla="val 1905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3" name="Google Shape;4713;g3f883da9c22_0_3736"/>
          <p:cNvSpPr txBox="1"/>
          <p:nvPr/>
        </p:nvSpPr>
        <p:spPr>
          <a:xfrm>
            <a:off x="8412480" y="2240280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Faster R-CNN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4" name="Google Shape;4714;g3f883da9c22_0_3736"/>
          <p:cNvSpPr txBox="1"/>
          <p:nvPr/>
        </p:nvSpPr>
        <p:spPr>
          <a:xfrm>
            <a:off x="10698480" y="2304288"/>
            <a:ext cx="777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2015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5" name="Google Shape;4715;g3f883da9c22_0_3736"/>
          <p:cNvSpPr txBox="1"/>
          <p:nvPr/>
        </p:nvSpPr>
        <p:spPr>
          <a:xfrm>
            <a:off x="8412480" y="2743200"/>
            <a:ext cx="2971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Replace selective search with a Region Proposal Network that shares the backbone's features. Fully end-to-end.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6" name="Google Shape;4716;g3f883da9c22_0_3736"/>
          <p:cNvSpPr/>
          <p:nvPr/>
        </p:nvSpPr>
        <p:spPr>
          <a:xfrm>
            <a:off x="8412480" y="4023360"/>
            <a:ext cx="2971800" cy="13800"/>
          </a:xfrm>
          <a:prstGeom prst="rect">
            <a:avLst/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7" name="Google Shape;4717;g3f883da9c22_0_3736"/>
          <p:cNvSpPr txBox="1"/>
          <p:nvPr/>
        </p:nvSpPr>
        <p:spPr>
          <a:xfrm>
            <a:off x="8412480" y="4160520"/>
            <a:ext cx="297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~5–7 fps and the accuracy standard for years. The base of Mask R-CNN.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8" name="Google Shape;4718;g3f883da9c22_0_3736"/>
          <p:cNvSpPr/>
          <p:nvPr/>
        </p:nvSpPr>
        <p:spPr>
          <a:xfrm>
            <a:off x="548640" y="5120640"/>
            <a:ext cx="11064300" cy="685800"/>
          </a:xfrm>
          <a:prstGeom prst="roundRect">
            <a:avLst>
              <a:gd fmla="val 8000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9" name="Google Shape;4719;g3f883da9c22_0_3736"/>
          <p:cNvSpPr txBox="1"/>
          <p:nvPr/>
        </p:nvSpPr>
        <p:spPr>
          <a:xfrm>
            <a:off x="822960" y="528523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Pyramid Network (FPN, 2017) — a top-down pathway with lateral connections that gives every scale a semantically strong feature map. It plugs into Faster R-CNN and most one-stage detectors alike, and is still standard practice.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724" name="Shape 4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5" name="Google Shape;4725;g3f883da9c22_0_3774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DETECTION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6" name="Google Shape;4726;g3f883da9c22_0_3774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One-stage detectors: detection as regression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7" name="Google Shape;4727;g3f883da9c22_0_3774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8" name="Google Shape;4728;g3f883da9c22_0_3774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9" name="Google Shape;4729;g3f883da9c22_0_3774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0" name="Google Shape;4730;g3f883da9c22_0_3774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1" name="Google Shape;4731;g3f883da9c22_0_3774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2" name="Google Shape;4732;g3f883da9c22_0_3774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3" name="Google Shape;4733;g3f883da9c22_0_3774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4" name="Google Shape;4734;g3f883da9c22_0_3774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5" name="Google Shape;4735;g3f883da9c22_0_3774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6" name="Google Shape;4736;g3f883da9c22_0_3774"/>
          <p:cNvSpPr txBox="1"/>
          <p:nvPr/>
        </p:nvSpPr>
        <p:spPr>
          <a:xfrm>
            <a:off x="548640" y="1444752"/>
            <a:ext cx="1106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No proposal step. Predict class scores and box offsets directly from a dense grid of locations, in a single forward pass.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7" name="Google Shape;4737;g3f883da9c22_0_3774"/>
          <p:cNvSpPr/>
          <p:nvPr/>
        </p:nvSpPr>
        <p:spPr>
          <a:xfrm>
            <a:off x="548640" y="2011680"/>
            <a:ext cx="5349300" cy="146310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8" name="Google Shape;4738;g3f883da9c22_0_3774"/>
          <p:cNvSpPr/>
          <p:nvPr/>
        </p:nvSpPr>
        <p:spPr>
          <a:xfrm>
            <a:off x="822960" y="2286000"/>
            <a:ext cx="201300" cy="201300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9" name="Google Shape;4739;g3f883da9c22_0_3774"/>
          <p:cNvSpPr txBox="1"/>
          <p:nvPr/>
        </p:nvSpPr>
        <p:spPr>
          <a:xfrm>
            <a:off x="1152144" y="2231136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YOLO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0" name="Google Shape;4740;g3f883da9c22_0_3774"/>
          <p:cNvSpPr txBox="1"/>
          <p:nvPr/>
        </p:nvSpPr>
        <p:spPr>
          <a:xfrm>
            <a:off x="3200400" y="2304288"/>
            <a:ext cx="242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You Only Look Once, 2016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1" name="Google Shape;4741;g3f883da9c22_0_3774"/>
          <p:cNvSpPr txBox="1"/>
          <p:nvPr/>
        </p:nvSpPr>
        <p:spPr>
          <a:xfrm>
            <a:off x="822960" y="2743200"/>
            <a:ext cx="480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Divide the image into an S × S grid; each cell predicts boxes, confidences and class probabilities in one pass.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2" name="Google Shape;4742;g3f883da9c22_0_3774"/>
          <p:cNvSpPr/>
          <p:nvPr/>
        </p:nvSpPr>
        <p:spPr>
          <a:xfrm>
            <a:off x="6172200" y="2011680"/>
            <a:ext cx="5349300" cy="146310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3" name="Google Shape;4743;g3f883da9c22_0_3774"/>
          <p:cNvSpPr/>
          <p:nvPr/>
        </p:nvSpPr>
        <p:spPr>
          <a:xfrm>
            <a:off x="6446520" y="2286000"/>
            <a:ext cx="201300" cy="201300"/>
          </a:xfrm>
          <a:prstGeom prst="rect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4" name="Google Shape;4744;g3f883da9c22_0_3774"/>
          <p:cNvSpPr txBox="1"/>
          <p:nvPr/>
        </p:nvSpPr>
        <p:spPr>
          <a:xfrm>
            <a:off x="6775704" y="2231136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SSD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5" name="Google Shape;4745;g3f883da9c22_0_3774"/>
          <p:cNvSpPr txBox="1"/>
          <p:nvPr/>
        </p:nvSpPr>
        <p:spPr>
          <a:xfrm>
            <a:off x="8823960" y="2304288"/>
            <a:ext cx="242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Single Shot Detector, 2016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6" name="Google Shape;4746;g3f883da9c22_0_3774"/>
          <p:cNvSpPr txBox="1"/>
          <p:nvPr/>
        </p:nvSpPr>
        <p:spPr>
          <a:xfrm>
            <a:off x="6446520" y="2743200"/>
            <a:ext cx="480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Predict from several feature maps at different resolutions, using default boxes of several aspect ratios per location.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7" name="Google Shape;4747;g3f883da9c22_0_3774"/>
          <p:cNvSpPr/>
          <p:nvPr/>
        </p:nvSpPr>
        <p:spPr>
          <a:xfrm>
            <a:off x="548640" y="3703320"/>
            <a:ext cx="5349300" cy="146310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8" name="Google Shape;4748;g3f883da9c22_0_3774"/>
          <p:cNvSpPr/>
          <p:nvPr/>
        </p:nvSpPr>
        <p:spPr>
          <a:xfrm>
            <a:off x="822960" y="3977640"/>
            <a:ext cx="201300" cy="201300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9" name="Google Shape;4749;g3f883da9c22_0_3774"/>
          <p:cNvSpPr txBox="1"/>
          <p:nvPr/>
        </p:nvSpPr>
        <p:spPr>
          <a:xfrm>
            <a:off x="1152144" y="3922776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RetinaNet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0" name="Google Shape;4750;g3f883da9c22_0_3774"/>
          <p:cNvSpPr txBox="1"/>
          <p:nvPr/>
        </p:nvSpPr>
        <p:spPr>
          <a:xfrm>
            <a:off x="3200400" y="3995928"/>
            <a:ext cx="242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930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930C"/>
                </a:solidFill>
                <a:latin typeface="Calibri"/>
                <a:ea typeface="Calibri"/>
                <a:cs typeface="Calibri"/>
                <a:sym typeface="Calibri"/>
              </a:rPr>
              <a:t>2017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1" name="Google Shape;4751;g3f883da9c22_0_3774"/>
          <p:cNvSpPr txBox="1"/>
          <p:nvPr/>
        </p:nvSpPr>
        <p:spPr>
          <a:xfrm>
            <a:off x="822960" y="4434840"/>
            <a:ext cx="480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One-stage accuracy had lagged because of background imbalance. Focal loss down-weights easy negatives and closes the gap.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2" name="Google Shape;4752;g3f883da9c22_0_3774"/>
          <p:cNvSpPr/>
          <p:nvPr/>
        </p:nvSpPr>
        <p:spPr>
          <a:xfrm>
            <a:off x="6172200" y="3703320"/>
            <a:ext cx="5349300" cy="146310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3" name="Google Shape;4753;g3f883da9c22_0_3774"/>
          <p:cNvSpPr/>
          <p:nvPr/>
        </p:nvSpPr>
        <p:spPr>
          <a:xfrm>
            <a:off x="6446520" y="3977640"/>
            <a:ext cx="201300" cy="201300"/>
          </a:xfrm>
          <a:prstGeom prst="rect">
            <a:avLst/>
          </a:prstGeom>
          <a:solidFill>
            <a:srgbClr val="6E4BB8"/>
          </a:solidFill>
          <a:ln cap="flat" cmpd="sng" w="12700">
            <a:solidFill>
              <a:srgbClr val="6E4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4" name="Google Shape;4754;g3f883da9c22_0_3774"/>
          <p:cNvSpPr txBox="1"/>
          <p:nvPr/>
        </p:nvSpPr>
        <p:spPr>
          <a:xfrm>
            <a:off x="6775704" y="3922776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Anchor-free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5" name="Google Shape;4755;g3f883da9c22_0_3774"/>
          <p:cNvSpPr txBox="1"/>
          <p:nvPr/>
        </p:nvSpPr>
        <p:spPr>
          <a:xfrm>
            <a:off x="8823960" y="3995928"/>
            <a:ext cx="242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4B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4BB8"/>
                </a:solidFill>
                <a:latin typeface="Calibri"/>
                <a:ea typeface="Calibri"/>
                <a:cs typeface="Calibri"/>
                <a:sym typeface="Calibri"/>
              </a:rPr>
              <a:t>FCOS, CenterNet, 2019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6" name="Google Shape;4756;g3f883da9c22_0_3774"/>
          <p:cNvSpPr txBox="1"/>
          <p:nvPr/>
        </p:nvSpPr>
        <p:spPr>
          <a:xfrm>
            <a:off x="6446520" y="4434840"/>
            <a:ext cx="480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Drop anchor boxes entirely: predict object centres and distances to the box edges. Fewer hyper-parameters to tune.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7" name="Google Shape;4757;g3f883da9c22_0_3774"/>
          <p:cNvSpPr/>
          <p:nvPr/>
        </p:nvSpPr>
        <p:spPr>
          <a:xfrm>
            <a:off x="548640" y="5285232"/>
            <a:ext cx="11064300" cy="914400"/>
          </a:xfrm>
          <a:prstGeom prst="roundRect">
            <a:avLst>
              <a:gd fmla="val 6000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8" name="Google Shape;4758;g3f883da9c22_0_3774"/>
          <p:cNvSpPr txBox="1"/>
          <p:nvPr/>
        </p:nvSpPr>
        <p:spPr>
          <a:xfrm>
            <a:off x="822960" y="5559552"/>
            <a:ext cx="448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The YOLO line keeps evolving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9" name="Google Shape;4759;g3f883da9c22_0_3774"/>
          <p:cNvSpPr txBox="1"/>
          <p:nvPr/>
        </p:nvSpPr>
        <p:spPr>
          <a:xfrm>
            <a:off x="5394960" y="5449824"/>
            <a:ext cx="5943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BEE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6BEE6"/>
                </a:solidFill>
                <a:latin typeface="Calibri"/>
                <a:ea typeface="Calibri"/>
                <a:cs typeface="Calibri"/>
                <a:sym typeface="Calibri"/>
              </a:rPr>
              <a:t>v3 (multi-scale) → v4/v5 (engineering and training tricks) → v7/v8 (anchor-free, decoupled heads) → v9–v12. Real-time, easy to train on custom data, and the usual first thing to try in production.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764" name="Shape 4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5" name="Google Shape;4765;g3f883da9c22_0_3813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DETECTION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6" name="Google Shape;4766;g3f883da9c22_0_3813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The transformer era of detection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7" name="Google Shape;4767;g3f883da9c22_0_3813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8" name="Google Shape;4768;g3f883da9c22_0_3813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9" name="Google Shape;4769;g3f883da9c22_0_3813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0" name="Google Shape;4770;g3f883da9c22_0_3813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1" name="Google Shape;4771;g3f883da9c22_0_3813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2" name="Google Shape;4772;g3f883da9c22_0_3813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3" name="Google Shape;4773;g3f883da9c22_0_3813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4" name="Google Shape;4774;g3f883da9c22_0_3813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5" name="Google Shape;4775;g3f883da9c22_0_3813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6" name="Google Shape;4776;g3f883da9c22_0_3813"/>
          <p:cNvSpPr/>
          <p:nvPr/>
        </p:nvSpPr>
        <p:spPr>
          <a:xfrm>
            <a:off x="548640" y="1463040"/>
            <a:ext cx="5486400" cy="2377500"/>
          </a:xfrm>
          <a:prstGeom prst="roundRect">
            <a:avLst>
              <a:gd fmla="val 2308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7" name="Google Shape;4777;g3f883da9c22_0_3813"/>
          <p:cNvSpPr txBox="1"/>
          <p:nvPr/>
        </p:nvSpPr>
        <p:spPr>
          <a:xfrm>
            <a:off x="822960" y="1691640"/>
            <a:ext cx="493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DETR  ·  Detection Transformer, 2020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8" name="Google Shape;4778;g3f883da9c22_0_3813"/>
          <p:cNvSpPr txBox="1"/>
          <p:nvPr/>
        </p:nvSpPr>
        <p:spPr>
          <a:xfrm>
            <a:off x="822960" y="2103120"/>
            <a:ext cx="49377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BEE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6BEE6"/>
                </a:solidFill>
                <a:latin typeface="Calibri"/>
                <a:ea typeface="Calibri"/>
                <a:cs typeface="Calibri"/>
                <a:sym typeface="Calibri"/>
              </a:rPr>
              <a:t>Treats detection as direct set prediction. A CNN backbone feeds a transformer encoder–decoder, and a fixed set of learned object queries each emit one box and one class.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BEE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6BEE6"/>
                </a:solidFill>
                <a:latin typeface="Calibri"/>
                <a:ea typeface="Calibri"/>
                <a:cs typeface="Calibri"/>
                <a:sym typeface="Calibri"/>
              </a:rPr>
              <a:t>A bipartite matching loss assigns predictions to ground truth, so no anchor boxes and no NMS are needed at all.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9" name="Google Shape;4779;g3f883da9c22_0_3813"/>
          <p:cNvSpPr/>
          <p:nvPr/>
        </p:nvSpPr>
        <p:spPr>
          <a:xfrm>
            <a:off x="6309360" y="1463040"/>
            <a:ext cx="5303400" cy="960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0" name="Google Shape;4780;g3f883da9c22_0_3813"/>
          <p:cNvSpPr/>
          <p:nvPr/>
        </p:nvSpPr>
        <p:spPr>
          <a:xfrm>
            <a:off x="6537960" y="1691640"/>
            <a:ext cx="164700" cy="164700"/>
          </a:xfrm>
          <a:prstGeom prst="rect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1" name="Google Shape;4781;g3f883da9c22_0_3813"/>
          <p:cNvSpPr txBox="1"/>
          <p:nvPr/>
        </p:nvSpPr>
        <p:spPr>
          <a:xfrm>
            <a:off x="6812280" y="1636776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Deformable DETR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2" name="Google Shape;4782;g3f883da9c22_0_3813"/>
          <p:cNvSpPr txBox="1"/>
          <p:nvPr/>
        </p:nvSpPr>
        <p:spPr>
          <a:xfrm>
            <a:off x="6537960" y="1965960"/>
            <a:ext cx="4846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Attends to a sparse set of sampled points instead of the full feature map — fixes DETR's slow convergence and weak small-object performance.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3" name="Google Shape;4783;g3f883da9c22_0_3813"/>
          <p:cNvSpPr/>
          <p:nvPr/>
        </p:nvSpPr>
        <p:spPr>
          <a:xfrm>
            <a:off x="6309360" y="2578608"/>
            <a:ext cx="5303400" cy="960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4" name="Google Shape;4784;g3f883da9c22_0_3813"/>
          <p:cNvSpPr/>
          <p:nvPr/>
        </p:nvSpPr>
        <p:spPr>
          <a:xfrm>
            <a:off x="6537960" y="2807208"/>
            <a:ext cx="164700" cy="164700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5" name="Google Shape;4785;g3f883da9c22_0_3813"/>
          <p:cNvSpPr txBox="1"/>
          <p:nvPr/>
        </p:nvSpPr>
        <p:spPr>
          <a:xfrm>
            <a:off x="6812280" y="2752344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DINO / DINO-DETR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6" name="Google Shape;4786;g3f883da9c22_0_3813"/>
          <p:cNvSpPr txBox="1"/>
          <p:nvPr/>
        </p:nvSpPr>
        <p:spPr>
          <a:xfrm>
            <a:off x="6537960" y="3081528"/>
            <a:ext cx="4846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Improved denoising training and query selection; pushed DETR-style models to the top of the COCO leaderboard.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7" name="Google Shape;4787;g3f883da9c22_0_3813"/>
          <p:cNvSpPr/>
          <p:nvPr/>
        </p:nvSpPr>
        <p:spPr>
          <a:xfrm>
            <a:off x="6309360" y="3694176"/>
            <a:ext cx="5303400" cy="960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8" name="Google Shape;4788;g3f883da9c22_0_3813"/>
          <p:cNvSpPr/>
          <p:nvPr/>
        </p:nvSpPr>
        <p:spPr>
          <a:xfrm>
            <a:off x="6537960" y="3922776"/>
            <a:ext cx="164700" cy="164700"/>
          </a:xfrm>
          <a:prstGeom prst="rect">
            <a:avLst/>
          </a:prstGeom>
          <a:solidFill>
            <a:srgbClr val="6E4BB8"/>
          </a:solidFill>
          <a:ln cap="flat" cmpd="sng" w="12700">
            <a:solidFill>
              <a:srgbClr val="6E4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9" name="Google Shape;4789;g3f883da9c22_0_3813"/>
          <p:cNvSpPr txBox="1"/>
          <p:nvPr/>
        </p:nvSpPr>
        <p:spPr>
          <a:xfrm>
            <a:off x="6812280" y="3867912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RT-DETR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0" name="Google Shape;4790;g3f883da9c22_0_3813"/>
          <p:cNvSpPr txBox="1"/>
          <p:nvPr/>
        </p:nvSpPr>
        <p:spPr>
          <a:xfrm>
            <a:off x="6537960" y="4197096"/>
            <a:ext cx="4846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 real-time DETR variant that finally matches YOLO speed without needing NMS post-processing.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1" name="Google Shape;4791;g3f883da9c22_0_3813"/>
          <p:cNvSpPr/>
          <p:nvPr/>
        </p:nvSpPr>
        <p:spPr>
          <a:xfrm>
            <a:off x="6309360" y="4809744"/>
            <a:ext cx="5303400" cy="960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2" name="Google Shape;4792;g3f883da9c22_0_3813"/>
          <p:cNvSpPr/>
          <p:nvPr/>
        </p:nvSpPr>
        <p:spPr>
          <a:xfrm>
            <a:off x="6537960" y="5038344"/>
            <a:ext cx="164700" cy="164700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3" name="Google Shape;4793;g3f883da9c22_0_3813"/>
          <p:cNvSpPr txBox="1"/>
          <p:nvPr/>
        </p:nvSpPr>
        <p:spPr>
          <a:xfrm>
            <a:off x="6812280" y="4983480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Open-vocabulary detection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4" name="Google Shape;4794;g3f883da9c22_0_3813"/>
          <p:cNvSpPr txBox="1"/>
          <p:nvPr/>
        </p:nvSpPr>
        <p:spPr>
          <a:xfrm>
            <a:off x="6537960" y="5312664"/>
            <a:ext cx="4846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Grounding DINO, OWL-ViT and similar models detect classes described in free text, with no retraining for new categories.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5" name="Google Shape;4795;g3f883da9c22_0_3813"/>
          <p:cNvSpPr/>
          <p:nvPr/>
        </p:nvSpPr>
        <p:spPr>
          <a:xfrm>
            <a:off x="548640" y="4114800"/>
            <a:ext cx="5486400" cy="1691700"/>
          </a:xfrm>
          <a:prstGeom prst="roundRect">
            <a:avLst>
              <a:gd fmla="val 3243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6" name="Google Shape;4796;g3f883da9c22_0_3813"/>
          <p:cNvSpPr txBox="1"/>
          <p:nvPr/>
        </p:nvSpPr>
        <p:spPr>
          <a:xfrm>
            <a:off x="822960" y="4315968"/>
            <a:ext cx="493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Which family should you pick?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7" name="Google Shape;4797;g3f883da9c22_0_3813"/>
          <p:cNvSpPr txBox="1"/>
          <p:nvPr/>
        </p:nvSpPr>
        <p:spPr>
          <a:xfrm>
            <a:off x="822960" y="4709160"/>
            <a:ext cx="4937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Real-time video or edge device  →  a YOLO variant.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Maximum accuracy, offline batch  →  DETR-family or Faster R-CNN with FPN.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Novel classes with few labels  →  an open-vocabulary model.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802" name="Shape 4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3" name="Google Shape;4803;g3f883da9c22_0_3850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4" name="Google Shape;4804;g3f883da9c22_0_3850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Semantic segmentation: a label for every pixel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5" name="Google Shape;4805;g3f883da9c22_0_3850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6" name="Google Shape;4806;g3f883da9c22_0_3850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7" name="Google Shape;4807;g3f883da9c22_0_3850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8" name="Google Shape;4808;g3f883da9c22_0_3850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9" name="Google Shape;4809;g3f883da9c22_0_3850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0" name="Google Shape;4810;g3f883da9c22_0_3850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1" name="Google Shape;4811;g3f883da9c22_0_3850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2" name="Google Shape;4812;g3f883da9c22_0_3850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3" name="Google Shape;4813;g3f883da9c22_0_3850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4" name="Google Shape;4814;g3f883da9c22_0_3850"/>
          <p:cNvSpPr txBox="1"/>
          <p:nvPr/>
        </p:nvSpPr>
        <p:spPr>
          <a:xfrm>
            <a:off x="548640" y="1508760"/>
            <a:ext cx="60351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Assign each pixel a class. All cats share one label — the task does not distinguish instances.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naive approach, classifying a small patch around every pixel with a sliding window, is hopelessly expensive and ignores shared computation.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Fully Convolutional Network (FCN, 2015) replaced the dense layers with 1 × 1 convolutions, so the network outputs a full-resolution class map in one pass.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Downsampling with pooling and strided convolutions, then upsampling with transposed convolutions or interpolation, gives the encoder–decoder shape used everywhere since.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Skip connections carry fine spatial detail from the encoder across to the decoder, recovering the boundaries that pooling destroyed.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5" name="Google Shape;4815;g3f883da9c22_0_3850"/>
          <p:cNvSpPr/>
          <p:nvPr/>
        </p:nvSpPr>
        <p:spPr>
          <a:xfrm>
            <a:off x="6949440" y="1463040"/>
            <a:ext cx="4663500" cy="30174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6" name="Google Shape;4816;g3f883da9c22_0_3850"/>
          <p:cNvSpPr txBox="1"/>
          <p:nvPr/>
        </p:nvSpPr>
        <p:spPr>
          <a:xfrm>
            <a:off x="7223760" y="1664208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The encoder–decoder shape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7" name="Google Shape;4817;g3f883da9c22_0_3850"/>
          <p:cNvSpPr/>
          <p:nvPr/>
        </p:nvSpPr>
        <p:spPr>
          <a:xfrm>
            <a:off x="7360920" y="2560320"/>
            <a:ext cx="502800" cy="13716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8" name="Google Shape;4818;g3f883da9c22_0_3850"/>
          <p:cNvSpPr/>
          <p:nvPr/>
        </p:nvSpPr>
        <p:spPr>
          <a:xfrm>
            <a:off x="8001000" y="2743200"/>
            <a:ext cx="365700" cy="10059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9" name="Google Shape;4819;g3f883da9c22_0_3850"/>
          <p:cNvSpPr/>
          <p:nvPr/>
        </p:nvSpPr>
        <p:spPr>
          <a:xfrm>
            <a:off x="8641080" y="2903220"/>
            <a:ext cx="255900" cy="685800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0" name="Google Shape;4820;g3f883da9c22_0_3850"/>
          <p:cNvSpPr/>
          <p:nvPr/>
        </p:nvSpPr>
        <p:spPr>
          <a:xfrm>
            <a:off x="9281160" y="2743200"/>
            <a:ext cx="365700" cy="1005900"/>
          </a:xfrm>
          <a:prstGeom prst="rect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1" name="Google Shape;4821;g3f883da9c22_0_3850"/>
          <p:cNvSpPr/>
          <p:nvPr/>
        </p:nvSpPr>
        <p:spPr>
          <a:xfrm>
            <a:off x="9921240" y="2560320"/>
            <a:ext cx="502800" cy="1371600"/>
          </a:xfrm>
          <a:prstGeom prst="rect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2" name="Google Shape;4822;g3f883da9c22_0_3850"/>
          <p:cNvSpPr/>
          <p:nvPr/>
        </p:nvSpPr>
        <p:spPr>
          <a:xfrm>
            <a:off x="7607808" y="2377440"/>
            <a:ext cx="2560200" cy="27300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3" name="Google Shape;4823;g3f883da9c22_0_3850"/>
          <p:cNvSpPr txBox="1"/>
          <p:nvPr/>
        </p:nvSpPr>
        <p:spPr>
          <a:xfrm>
            <a:off x="7863840" y="2084832"/>
            <a:ext cx="2103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30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930C"/>
                </a:solidFill>
                <a:latin typeface="Calibri"/>
                <a:ea typeface="Calibri"/>
                <a:cs typeface="Calibri"/>
                <a:sym typeface="Calibri"/>
              </a:rPr>
              <a:t>skip connection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4" name="Google Shape;4824;g3f883da9c22_0_3850"/>
          <p:cNvSpPr txBox="1"/>
          <p:nvPr/>
        </p:nvSpPr>
        <p:spPr>
          <a:xfrm>
            <a:off x="7086600" y="4069080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encoder · downsample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5" name="Google Shape;4825;g3f883da9c22_0_3850"/>
          <p:cNvSpPr txBox="1"/>
          <p:nvPr/>
        </p:nvSpPr>
        <p:spPr>
          <a:xfrm>
            <a:off x="9235440" y="4069080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decoder · upsample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6" name="Google Shape;4826;g3f883da9c22_0_3850"/>
          <p:cNvSpPr/>
          <p:nvPr/>
        </p:nvSpPr>
        <p:spPr>
          <a:xfrm>
            <a:off x="6949440" y="4617720"/>
            <a:ext cx="4663500" cy="1188600"/>
          </a:xfrm>
          <a:prstGeom prst="roundRect">
            <a:avLst>
              <a:gd fmla="val 4615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7" name="Google Shape;4827;g3f883da9c22_0_3850"/>
          <p:cNvSpPr txBox="1"/>
          <p:nvPr/>
        </p:nvSpPr>
        <p:spPr>
          <a:xfrm>
            <a:off x="7223760" y="4800600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8" name="Google Shape;4828;g3f883da9c22_0_3850"/>
          <p:cNvSpPr txBox="1"/>
          <p:nvPr/>
        </p:nvSpPr>
        <p:spPr>
          <a:xfrm>
            <a:off x="7223760" y="5120640"/>
            <a:ext cx="4114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 IoU over classes (the headline number) · pixel accuracy · Dice / F1 coefficient, common in medical imaging.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833" name="Shape 4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4" name="Google Shape;4834;g3f883da9c22_0_3880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SEGMENTATION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5" name="Google Shape;4835;g3f883da9c22_0_3880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The main semantic segmentation architectures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6" name="Google Shape;4836;g3f883da9c22_0_3880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7" name="Google Shape;4837;g3f883da9c22_0_3880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8" name="Google Shape;4838;g3f883da9c22_0_3880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9" name="Google Shape;4839;g3f883da9c22_0_3880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0" name="Google Shape;4840;g3f883da9c22_0_3880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1" name="Google Shape;4841;g3f883da9c22_0_3880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2" name="Google Shape;4842;g3f883da9c22_0_3880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3" name="Google Shape;4843;g3f883da9c22_0_3880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4" name="Google Shape;4844;g3f883da9c22_0_3880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5" name="Google Shape;4845;g3f883da9c22_0_3880"/>
          <p:cNvSpPr/>
          <p:nvPr/>
        </p:nvSpPr>
        <p:spPr>
          <a:xfrm>
            <a:off x="548640" y="1554480"/>
            <a:ext cx="3520500" cy="18744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6" name="Google Shape;4846;g3f883da9c22_0_3880"/>
          <p:cNvSpPr txBox="1"/>
          <p:nvPr/>
        </p:nvSpPr>
        <p:spPr>
          <a:xfrm>
            <a:off x="822960" y="1810512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FCN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7" name="Google Shape;4847;g3f883da9c22_0_3880"/>
          <p:cNvSpPr txBox="1"/>
          <p:nvPr/>
        </p:nvSpPr>
        <p:spPr>
          <a:xfrm>
            <a:off x="2926080" y="1883664"/>
            <a:ext cx="86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2015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8" name="Google Shape;4848;g3f883da9c22_0_3880"/>
          <p:cNvSpPr/>
          <p:nvPr/>
        </p:nvSpPr>
        <p:spPr>
          <a:xfrm>
            <a:off x="822960" y="2304288"/>
            <a:ext cx="502800" cy="45600"/>
          </a:xfrm>
          <a:prstGeom prst="rect">
            <a:avLst/>
          </a:prstGeom>
          <a:solidFill>
            <a:srgbClr val="7C7796"/>
          </a:solidFill>
          <a:ln cap="flat" cmpd="sng" w="12700">
            <a:solidFill>
              <a:srgbClr val="7C77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9" name="Google Shape;4849;g3f883da9c22_0_3880"/>
          <p:cNvSpPr txBox="1"/>
          <p:nvPr/>
        </p:nvSpPr>
        <p:spPr>
          <a:xfrm>
            <a:off x="822960" y="2487168"/>
            <a:ext cx="2971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first end-to-end per-pixel network. Dense layers become convolutions; coarse predictions are upsampled and fused with earlier layers.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0" name="Google Shape;4850;g3f883da9c22_0_3880"/>
          <p:cNvSpPr/>
          <p:nvPr/>
        </p:nvSpPr>
        <p:spPr>
          <a:xfrm>
            <a:off x="4343400" y="1554480"/>
            <a:ext cx="3520500" cy="18744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1" name="Google Shape;4851;g3f883da9c22_0_3880"/>
          <p:cNvSpPr txBox="1"/>
          <p:nvPr/>
        </p:nvSpPr>
        <p:spPr>
          <a:xfrm>
            <a:off x="4617720" y="1810512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U-Net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2" name="Google Shape;4852;g3f883da9c22_0_3880"/>
          <p:cNvSpPr txBox="1"/>
          <p:nvPr/>
        </p:nvSpPr>
        <p:spPr>
          <a:xfrm>
            <a:off x="6720840" y="1883664"/>
            <a:ext cx="86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2015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3" name="Google Shape;4853;g3f883da9c22_0_3880"/>
          <p:cNvSpPr/>
          <p:nvPr/>
        </p:nvSpPr>
        <p:spPr>
          <a:xfrm>
            <a:off x="4617720" y="2304288"/>
            <a:ext cx="502800" cy="45600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4" name="Google Shape;4854;g3f883da9c22_0_3880"/>
          <p:cNvSpPr txBox="1"/>
          <p:nvPr/>
        </p:nvSpPr>
        <p:spPr>
          <a:xfrm>
            <a:off x="4617720" y="2487168"/>
            <a:ext cx="2971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Symmetric encoder–decoder with dense skip connections. Designed for biomedical images and still the default whenever data is scarce.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5" name="Google Shape;4855;g3f883da9c22_0_3880"/>
          <p:cNvSpPr/>
          <p:nvPr/>
        </p:nvSpPr>
        <p:spPr>
          <a:xfrm>
            <a:off x="8138160" y="1554480"/>
            <a:ext cx="3520500" cy="18744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6" name="Google Shape;4856;g3f883da9c22_0_3880"/>
          <p:cNvSpPr txBox="1"/>
          <p:nvPr/>
        </p:nvSpPr>
        <p:spPr>
          <a:xfrm>
            <a:off x="8412480" y="1810512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SegNet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7" name="Google Shape;4857;g3f883da9c22_0_3880"/>
          <p:cNvSpPr txBox="1"/>
          <p:nvPr/>
        </p:nvSpPr>
        <p:spPr>
          <a:xfrm>
            <a:off x="10515600" y="1883664"/>
            <a:ext cx="86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2016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8" name="Google Shape;4858;g3f883da9c22_0_3880"/>
          <p:cNvSpPr/>
          <p:nvPr/>
        </p:nvSpPr>
        <p:spPr>
          <a:xfrm>
            <a:off x="8412480" y="2304288"/>
            <a:ext cx="502800" cy="45600"/>
          </a:xfrm>
          <a:prstGeom prst="rect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9" name="Google Shape;4859;g3f883da9c22_0_3880"/>
          <p:cNvSpPr txBox="1"/>
          <p:nvPr/>
        </p:nvSpPr>
        <p:spPr>
          <a:xfrm>
            <a:off x="8412480" y="2487168"/>
            <a:ext cx="2971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Decoder upsamples using the max-pooling indices recorded by the encoder — memory-efficient, no learned upsampling parameters.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0" name="Google Shape;4860;g3f883da9c22_0_3880"/>
          <p:cNvSpPr/>
          <p:nvPr/>
        </p:nvSpPr>
        <p:spPr>
          <a:xfrm>
            <a:off x="548640" y="3749040"/>
            <a:ext cx="3520500" cy="18744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1" name="Google Shape;4861;g3f883da9c22_0_3880"/>
          <p:cNvSpPr txBox="1"/>
          <p:nvPr/>
        </p:nvSpPr>
        <p:spPr>
          <a:xfrm>
            <a:off x="822960" y="4005072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DeepLab v3+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2" name="Google Shape;4862;g3f883da9c22_0_3880"/>
          <p:cNvSpPr txBox="1"/>
          <p:nvPr/>
        </p:nvSpPr>
        <p:spPr>
          <a:xfrm>
            <a:off x="2926080" y="4078224"/>
            <a:ext cx="86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930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930C"/>
                </a:solidFill>
                <a:latin typeface="Calibri"/>
                <a:ea typeface="Calibri"/>
                <a:cs typeface="Calibri"/>
                <a:sym typeface="Calibri"/>
              </a:rPr>
              <a:t>2018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3" name="Google Shape;4863;g3f883da9c22_0_3880"/>
          <p:cNvSpPr/>
          <p:nvPr/>
        </p:nvSpPr>
        <p:spPr>
          <a:xfrm>
            <a:off x="822960" y="4498848"/>
            <a:ext cx="502800" cy="45600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4" name="Google Shape;4864;g3f883da9c22_0_3880"/>
          <p:cNvSpPr txBox="1"/>
          <p:nvPr/>
        </p:nvSpPr>
        <p:spPr>
          <a:xfrm>
            <a:off x="822960" y="4681728"/>
            <a:ext cx="2971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Atrous (dilated) convolutions enlarge the receptive field without losing resolution; ASPP pools context at several dilation rates.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5" name="Google Shape;4865;g3f883da9c22_0_3880"/>
          <p:cNvSpPr/>
          <p:nvPr/>
        </p:nvSpPr>
        <p:spPr>
          <a:xfrm>
            <a:off x="4343400" y="3749040"/>
            <a:ext cx="3520500" cy="18744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6" name="Google Shape;4866;g3f883da9c22_0_3880"/>
          <p:cNvSpPr txBox="1"/>
          <p:nvPr/>
        </p:nvSpPr>
        <p:spPr>
          <a:xfrm>
            <a:off x="4617720" y="4005072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PSPNet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7" name="Google Shape;4867;g3f883da9c22_0_3880"/>
          <p:cNvSpPr txBox="1"/>
          <p:nvPr/>
        </p:nvSpPr>
        <p:spPr>
          <a:xfrm>
            <a:off x="6720840" y="4078224"/>
            <a:ext cx="86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4B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4BB8"/>
                </a:solidFill>
                <a:latin typeface="Calibri"/>
                <a:ea typeface="Calibri"/>
                <a:cs typeface="Calibri"/>
                <a:sym typeface="Calibri"/>
              </a:rPr>
              <a:t>2017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8" name="Google Shape;4868;g3f883da9c22_0_3880"/>
          <p:cNvSpPr/>
          <p:nvPr/>
        </p:nvSpPr>
        <p:spPr>
          <a:xfrm>
            <a:off x="4617720" y="4498848"/>
            <a:ext cx="502800" cy="45600"/>
          </a:xfrm>
          <a:prstGeom prst="rect">
            <a:avLst/>
          </a:prstGeom>
          <a:solidFill>
            <a:srgbClr val="6E4BB8"/>
          </a:solidFill>
          <a:ln cap="flat" cmpd="sng" w="12700">
            <a:solidFill>
              <a:srgbClr val="6E4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9" name="Google Shape;4869;g3f883da9c22_0_3880"/>
          <p:cNvSpPr txBox="1"/>
          <p:nvPr/>
        </p:nvSpPr>
        <p:spPr>
          <a:xfrm>
            <a:off x="4617720" y="4681728"/>
            <a:ext cx="2971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 pyramid pooling module aggregates global context at four scales before the final prediction.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0" name="Google Shape;4870;g3f883da9c22_0_3880"/>
          <p:cNvSpPr/>
          <p:nvPr/>
        </p:nvSpPr>
        <p:spPr>
          <a:xfrm>
            <a:off x="8138160" y="3749040"/>
            <a:ext cx="3520500" cy="18744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1" name="Google Shape;4871;g3f883da9c22_0_3880"/>
          <p:cNvSpPr txBox="1"/>
          <p:nvPr/>
        </p:nvSpPr>
        <p:spPr>
          <a:xfrm>
            <a:off x="8412480" y="4005072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SegFormer / ViT-based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2" name="Google Shape;4872;g3f883da9c22_0_3880"/>
          <p:cNvSpPr txBox="1"/>
          <p:nvPr/>
        </p:nvSpPr>
        <p:spPr>
          <a:xfrm>
            <a:off x="10515600" y="4078224"/>
            <a:ext cx="86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4C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24C86"/>
                </a:solidFill>
                <a:latin typeface="Calibri"/>
                <a:ea typeface="Calibri"/>
                <a:cs typeface="Calibri"/>
                <a:sym typeface="Calibri"/>
              </a:rPr>
              <a:t>2021 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3" name="Google Shape;4873;g3f883da9c22_0_3880"/>
          <p:cNvSpPr/>
          <p:nvPr/>
        </p:nvSpPr>
        <p:spPr>
          <a:xfrm>
            <a:off x="8412480" y="4498848"/>
            <a:ext cx="502800" cy="45600"/>
          </a:xfrm>
          <a:prstGeom prst="rect">
            <a:avLst/>
          </a:prstGeom>
          <a:solidFill>
            <a:srgbClr val="C24C86"/>
          </a:solidFill>
          <a:ln cap="flat" cmpd="sng" w="12700">
            <a:solidFill>
              <a:srgbClr val="C24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4" name="Google Shape;4874;g3f883da9c22_0_3880"/>
          <p:cNvSpPr txBox="1"/>
          <p:nvPr/>
        </p:nvSpPr>
        <p:spPr>
          <a:xfrm>
            <a:off x="8412480" y="4681728"/>
            <a:ext cx="2971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Transformer encoders with lightweight all-MLP decoders. Strong global context and excellent accuracy-per-FLOP.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5" name="Google Shape;4875;g3f883da9c22_0_3880"/>
          <p:cNvSpPr/>
          <p:nvPr/>
        </p:nvSpPr>
        <p:spPr>
          <a:xfrm>
            <a:off x="548640" y="5897880"/>
            <a:ext cx="11064300" cy="18300"/>
          </a:xfrm>
          <a:prstGeom prst="roundRect">
            <a:avLst>
              <a:gd fmla="val 300000" name="adj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880" name="Shape 4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1" name="Google Shape;4881;g3f883da9c22_0_3926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SEGMENTATION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2" name="Google Shape;4882;g3f883da9c22_0_3926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Instance segmentation: Mask R-CNN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3" name="Google Shape;4883;g3f883da9c22_0_3926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4" name="Google Shape;4884;g3f883da9c22_0_3926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5" name="Google Shape;4885;g3f883da9c22_0_3926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6" name="Google Shape;4886;g3f883da9c22_0_3926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7" name="Google Shape;4887;g3f883da9c22_0_3926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8" name="Google Shape;4888;g3f883da9c22_0_3926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9" name="Google Shape;4889;g3f883da9c22_0_3926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0" name="Google Shape;4890;g3f883da9c22_0_3926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1" name="Google Shape;4891;g3f883da9c22_0_3926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2" name="Google Shape;4892;g3f883da9c22_0_3926"/>
          <p:cNvSpPr txBox="1"/>
          <p:nvPr/>
        </p:nvSpPr>
        <p:spPr>
          <a:xfrm>
            <a:off x="548640" y="1444752"/>
            <a:ext cx="1106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Detect every object and produce a pixel mask for each one — so two overlapping dogs get two separate masks, not one merged region.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3" name="Google Shape;4893;g3f883da9c22_0_3926"/>
          <p:cNvSpPr/>
          <p:nvPr/>
        </p:nvSpPr>
        <p:spPr>
          <a:xfrm>
            <a:off x="548640" y="2011680"/>
            <a:ext cx="6766500" cy="265170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4" name="Google Shape;4894;g3f883da9c22_0_3926"/>
          <p:cNvSpPr txBox="1"/>
          <p:nvPr/>
        </p:nvSpPr>
        <p:spPr>
          <a:xfrm>
            <a:off x="822960" y="2212848"/>
            <a:ext cx="6217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Faster R-CNN, plus one extra branch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5" name="Google Shape;4895;g3f883da9c22_0_3926"/>
          <p:cNvSpPr/>
          <p:nvPr/>
        </p:nvSpPr>
        <p:spPr>
          <a:xfrm>
            <a:off x="868680" y="3063240"/>
            <a:ext cx="1463100" cy="777300"/>
          </a:xfrm>
          <a:prstGeom prst="roundRect">
            <a:avLst>
              <a:gd fmla="val 5882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FPN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6" name="Google Shape;4896;g3f883da9c22_0_3926"/>
          <p:cNvSpPr/>
          <p:nvPr/>
        </p:nvSpPr>
        <p:spPr>
          <a:xfrm>
            <a:off x="2377440" y="3364992"/>
            <a:ext cx="2013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7" name="Google Shape;4897;g3f883da9c22_0_3926"/>
          <p:cNvSpPr/>
          <p:nvPr/>
        </p:nvSpPr>
        <p:spPr>
          <a:xfrm>
            <a:off x="2560320" y="3063240"/>
            <a:ext cx="1463100" cy="777300"/>
          </a:xfrm>
          <a:prstGeom prst="roundRect">
            <a:avLst>
              <a:gd fmla="val 5882" name="adj"/>
            </a:avLst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Proposal Net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8" name="Google Shape;4898;g3f883da9c22_0_3926"/>
          <p:cNvSpPr/>
          <p:nvPr/>
        </p:nvSpPr>
        <p:spPr>
          <a:xfrm>
            <a:off x="4069080" y="3364992"/>
            <a:ext cx="2013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9" name="Google Shape;4899;g3f883da9c22_0_3926"/>
          <p:cNvSpPr/>
          <p:nvPr/>
        </p:nvSpPr>
        <p:spPr>
          <a:xfrm>
            <a:off x="4251960" y="3063240"/>
            <a:ext cx="1463100" cy="777300"/>
          </a:xfrm>
          <a:prstGeom prst="roundRect">
            <a:avLst>
              <a:gd fmla="val 5882" name="adj"/>
            </a:avLst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RoIAlign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0" name="Google Shape;4900;g3f883da9c22_0_3926"/>
          <p:cNvSpPr/>
          <p:nvPr/>
        </p:nvSpPr>
        <p:spPr>
          <a:xfrm>
            <a:off x="5760720" y="3364992"/>
            <a:ext cx="2013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DBF0"/>
          </a:solidFill>
          <a:ln cap="flat" cmpd="sng" w="12700">
            <a:solidFill>
              <a:srgbClr val="E0D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1" name="Google Shape;4901;g3f883da9c22_0_3926"/>
          <p:cNvSpPr/>
          <p:nvPr/>
        </p:nvSpPr>
        <p:spPr>
          <a:xfrm>
            <a:off x="5943600" y="2697480"/>
            <a:ext cx="1097400" cy="457200"/>
          </a:xfrm>
          <a:prstGeom prst="roundRect">
            <a:avLst>
              <a:gd fmla="val 10000" name="adj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2" name="Google Shape;4902;g3f883da9c22_0_3926"/>
          <p:cNvSpPr/>
          <p:nvPr/>
        </p:nvSpPr>
        <p:spPr>
          <a:xfrm>
            <a:off x="5943600" y="3264408"/>
            <a:ext cx="1097400" cy="457200"/>
          </a:xfrm>
          <a:prstGeom prst="roundRect">
            <a:avLst>
              <a:gd fmla="val 10000" name="adj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3" name="Google Shape;4903;g3f883da9c22_0_3926"/>
          <p:cNvSpPr/>
          <p:nvPr/>
        </p:nvSpPr>
        <p:spPr>
          <a:xfrm>
            <a:off x="5943600" y="3831336"/>
            <a:ext cx="1097400" cy="457200"/>
          </a:xfrm>
          <a:prstGeom prst="roundRect">
            <a:avLst>
              <a:gd fmla="val 10000" name="adj"/>
            </a:avLst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4" name="Google Shape;4904;g3f883da9c22_0_3926"/>
          <p:cNvSpPr txBox="1"/>
          <p:nvPr/>
        </p:nvSpPr>
        <p:spPr>
          <a:xfrm>
            <a:off x="5394960" y="4315968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three parallel output heads per region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5" name="Google Shape;4905;g3f883da9c22_0_3926"/>
          <p:cNvSpPr/>
          <p:nvPr/>
        </p:nvSpPr>
        <p:spPr>
          <a:xfrm>
            <a:off x="7589520" y="2011680"/>
            <a:ext cx="4023300" cy="2651700"/>
          </a:xfrm>
          <a:prstGeom prst="roundRect">
            <a:avLst>
              <a:gd fmla="val 2069" name="adj"/>
            </a:avLst>
          </a:prstGeom>
          <a:solidFill>
            <a:srgbClr val="1B1035"/>
          </a:solidFill>
          <a:ln cap="flat" cmpd="sng" w="12700">
            <a:solidFill>
              <a:srgbClr val="1B1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6" name="Google Shape;4906;g3f883da9c22_0_3926"/>
          <p:cNvSpPr txBox="1"/>
          <p:nvPr/>
        </p:nvSpPr>
        <p:spPr>
          <a:xfrm>
            <a:off x="7863840" y="2240280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Why RoIAlign matters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7" name="Google Shape;4907;g3f883da9c22_0_3926"/>
          <p:cNvSpPr txBox="1"/>
          <p:nvPr/>
        </p:nvSpPr>
        <p:spPr>
          <a:xfrm>
            <a:off x="7863840" y="2651760"/>
            <a:ext cx="3474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BEE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6BEE6"/>
                </a:solidFill>
                <a:latin typeface="Calibri"/>
                <a:ea typeface="Calibri"/>
                <a:cs typeface="Calibri"/>
                <a:sym typeface="Calibri"/>
              </a:rPr>
              <a:t>RoI pooling rounds region coordinates to the feature-map grid. That misalignment is invisible for a box, but ruins a pixel mask.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BEE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6BEE6"/>
                </a:solidFill>
                <a:latin typeface="Calibri"/>
                <a:ea typeface="Calibri"/>
                <a:cs typeface="Calibri"/>
                <a:sym typeface="Calibri"/>
              </a:rPr>
              <a:t>RoIAlign uses bilinear interpolation and no rounding, which alone gave a large jump in mask accuracy.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8" name="Google Shape;4908;g3f883da9c22_0_3926"/>
          <p:cNvSpPr txBox="1"/>
          <p:nvPr/>
        </p:nvSpPr>
        <p:spPr>
          <a:xfrm>
            <a:off x="548640" y="4937760"/>
            <a:ext cx="11064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The mask head is a small FCN applied to each region, predicting a binary mask per class — the classification and mask tasks are decoupled.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Swap the mask head for a keypoint head and the same architecture does human pose estimation.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3A3550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Still the standard baseline whenever accuracy matters more than speed.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913" name="Shape 4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4" name="Google Shape;4914;g3f883da9c22_0_3958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RECENT DIRECTIONS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5" name="Google Shape;4915;g3f883da9c22_0_3958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Where segmentation is heading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6" name="Google Shape;4916;g3f883da9c22_0_3958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7" name="Google Shape;4917;g3f883da9c22_0_3958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8" name="Google Shape;4918;g3f883da9c22_0_3958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9" name="Google Shape;4919;g3f883da9c22_0_3958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0" name="Google Shape;4920;g3f883da9c22_0_3958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1" name="Google Shape;4921;g3f883da9c22_0_3958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2" name="Google Shape;4922;g3f883da9c22_0_3958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3" name="Google Shape;4923;g3f883da9c22_0_3958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4" name="Google Shape;4924;g3f883da9c22_0_3958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5" name="Google Shape;4925;g3f883da9c22_0_3958"/>
          <p:cNvSpPr/>
          <p:nvPr/>
        </p:nvSpPr>
        <p:spPr>
          <a:xfrm>
            <a:off x="548640" y="1554480"/>
            <a:ext cx="5349300" cy="18744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6" name="Google Shape;4926;g3f883da9c22_0_3958"/>
          <p:cNvSpPr/>
          <p:nvPr/>
        </p:nvSpPr>
        <p:spPr>
          <a:xfrm>
            <a:off x="822960" y="1847088"/>
            <a:ext cx="292500" cy="292500"/>
          </a:xfrm>
          <a:prstGeom prst="ellipse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7" name="Google Shape;4927;g3f883da9c22_0_3958"/>
          <p:cNvSpPr txBox="1"/>
          <p:nvPr/>
        </p:nvSpPr>
        <p:spPr>
          <a:xfrm>
            <a:off x="1261872" y="1847088"/>
            <a:ext cx="4297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YOLACT / SOLO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8" name="Google Shape;4928;g3f883da9c22_0_3958"/>
          <p:cNvSpPr txBox="1"/>
          <p:nvPr/>
        </p:nvSpPr>
        <p:spPr>
          <a:xfrm>
            <a:off x="822960" y="237744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Real-time instance segmentation. YOLACT generates prototype masks and combines them with per-instance coefficients; SOLO predicts masks directly from location and size, with no detection step at all.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9" name="Google Shape;4929;g3f883da9c22_0_3958"/>
          <p:cNvSpPr/>
          <p:nvPr/>
        </p:nvSpPr>
        <p:spPr>
          <a:xfrm>
            <a:off x="6172200" y="1554480"/>
            <a:ext cx="5349300" cy="18744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0" name="Google Shape;4930;g3f883da9c22_0_3958"/>
          <p:cNvSpPr/>
          <p:nvPr/>
        </p:nvSpPr>
        <p:spPr>
          <a:xfrm>
            <a:off x="6446520" y="1847088"/>
            <a:ext cx="292500" cy="292500"/>
          </a:xfrm>
          <a:prstGeom prst="ellipse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1" name="Google Shape;4931;g3f883da9c22_0_3958"/>
          <p:cNvSpPr txBox="1"/>
          <p:nvPr/>
        </p:nvSpPr>
        <p:spPr>
          <a:xfrm>
            <a:off x="6885432" y="1847088"/>
            <a:ext cx="4297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Panoptic segmentation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2" name="Google Shape;4932;g3f883da9c22_0_3958"/>
          <p:cNvSpPr txBox="1"/>
          <p:nvPr/>
        </p:nvSpPr>
        <p:spPr>
          <a:xfrm>
            <a:off x="6446520" y="237744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Unifies the two views: every pixel gets a semantic label, and every countable object ('things') also gets an instance id, while amorphous regions ('stuff') do not.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3" name="Google Shape;4933;g3f883da9c22_0_3958"/>
          <p:cNvSpPr/>
          <p:nvPr/>
        </p:nvSpPr>
        <p:spPr>
          <a:xfrm>
            <a:off x="548640" y="3749040"/>
            <a:ext cx="5349300" cy="18744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4" name="Google Shape;4934;g3f883da9c22_0_3958"/>
          <p:cNvSpPr/>
          <p:nvPr/>
        </p:nvSpPr>
        <p:spPr>
          <a:xfrm>
            <a:off x="822960" y="4041648"/>
            <a:ext cx="292500" cy="292500"/>
          </a:xfrm>
          <a:prstGeom prst="ellipse">
            <a:avLst/>
          </a:prstGeom>
          <a:solidFill>
            <a:srgbClr val="6E4BB8"/>
          </a:solidFill>
          <a:ln cap="flat" cmpd="sng" w="12700">
            <a:solidFill>
              <a:srgbClr val="6E4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5" name="Google Shape;4935;g3f883da9c22_0_3958"/>
          <p:cNvSpPr txBox="1"/>
          <p:nvPr/>
        </p:nvSpPr>
        <p:spPr>
          <a:xfrm>
            <a:off x="1261872" y="4041648"/>
            <a:ext cx="4297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Mask2Former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6" name="Google Shape;4936;g3f883da9c22_0_3958"/>
          <p:cNvSpPr txBox="1"/>
          <p:nvPr/>
        </p:nvSpPr>
        <p:spPr>
          <a:xfrm>
            <a:off x="822960" y="457200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One architecture — masked attention over learned queries — that handles semantic, instance and panoptic segmentation with the same model and loss.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7" name="Google Shape;4937;g3f883da9c22_0_3958"/>
          <p:cNvSpPr/>
          <p:nvPr/>
        </p:nvSpPr>
        <p:spPr>
          <a:xfrm>
            <a:off x="6172200" y="3749040"/>
            <a:ext cx="5349300" cy="1874400"/>
          </a:xfrm>
          <a:prstGeom prst="roundRect">
            <a:avLst>
              <a:gd fmla="val 2927" name="adj"/>
            </a:avLst>
          </a:prstGeom>
          <a:solidFill>
            <a:srgbClr val="FFF1F0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8" name="Google Shape;4938;g3f883da9c22_0_3958"/>
          <p:cNvSpPr/>
          <p:nvPr/>
        </p:nvSpPr>
        <p:spPr>
          <a:xfrm>
            <a:off x="6446520" y="4041648"/>
            <a:ext cx="292500" cy="292500"/>
          </a:xfrm>
          <a:prstGeom prst="ellipse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9" name="Google Shape;4939;g3f883da9c22_0_3958"/>
          <p:cNvSpPr txBox="1"/>
          <p:nvPr/>
        </p:nvSpPr>
        <p:spPr>
          <a:xfrm>
            <a:off x="6885432" y="4041648"/>
            <a:ext cx="4297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Segment Anything (SAM)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0" name="Google Shape;4940;g3f883da9c22_0_3958"/>
          <p:cNvSpPr txBox="1"/>
          <p:nvPr/>
        </p:nvSpPr>
        <p:spPr>
          <a:xfrm>
            <a:off x="6446520" y="457200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 promptable foundation model trained on a billion masks. Click a point or drag a box and it segments the object, zero-shot, with no task-specific training.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B"/>
        </a:solidFill>
      </p:bgPr>
    </p:bg>
    <p:spTree>
      <p:nvGrpSpPr>
        <p:cNvPr id="4945" name="Shape 4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6" name="Google Shape;4946;g3f883da9c22_0_3989"/>
          <p:cNvSpPr txBox="1"/>
          <p:nvPr/>
        </p:nvSpPr>
        <p:spPr>
          <a:xfrm>
            <a:off x="548640" y="32918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7" name="Google Shape;4947;g3f883da9c22_0_3989"/>
          <p:cNvSpPr txBox="1"/>
          <p:nvPr/>
        </p:nvSpPr>
        <p:spPr>
          <a:xfrm>
            <a:off x="548640" y="594360"/>
            <a:ext cx="1042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B1035"/>
                </a:solidFill>
                <a:latin typeface="Cambria"/>
                <a:ea typeface="Cambria"/>
                <a:cs typeface="Cambria"/>
                <a:sym typeface="Cambria"/>
              </a:rPr>
              <a:t>One table to hold it all together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8" name="Google Shape;4948;g3f883da9c22_0_3989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9" name="Google Shape;4949;g3f883da9c22_0_3989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0" name="Google Shape;4950;g3f883da9c22_0_3989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1" name="Google Shape;4951;g3f883da9c22_0_3989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2" name="Google Shape;4952;g3f883da9c22_0_3989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3" name="Google Shape;4953;g3f883da9c22_0_3989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4" name="Google Shape;4954;g3f883da9c22_0_3989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5" name="Google Shape;4955;g3f883da9c22_0_3989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6" name="Google Shape;4956;g3f883da9c22_0_3989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D6CFEE"/>
          </a:solidFill>
          <a:ln cap="flat" cmpd="sng" w="9525">
            <a:solidFill>
              <a:srgbClr val="D6C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7" name="Google Shape;4957;g3f883da9c22_0_3989"/>
          <p:cNvSpPr txBox="1"/>
          <p:nvPr/>
        </p:nvSpPr>
        <p:spPr>
          <a:xfrm>
            <a:off x="548640" y="1481328"/>
            <a:ext cx="2103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8" name="Google Shape;4958;g3f883da9c22_0_3989"/>
          <p:cNvSpPr txBox="1"/>
          <p:nvPr/>
        </p:nvSpPr>
        <p:spPr>
          <a:xfrm>
            <a:off x="2743200" y="1481328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9" name="Google Shape;4959;g3f883da9c22_0_3989"/>
          <p:cNvSpPr txBox="1"/>
          <p:nvPr/>
        </p:nvSpPr>
        <p:spPr>
          <a:xfrm>
            <a:off x="5212080" y="1481328"/>
            <a:ext cx="4023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Representative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0" name="Google Shape;4960;g3f883da9c22_0_3989"/>
          <p:cNvSpPr txBox="1"/>
          <p:nvPr/>
        </p:nvSpPr>
        <p:spPr>
          <a:xfrm>
            <a:off x="9326880" y="1481328"/>
            <a:ext cx="228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1" name="Google Shape;4961;g3f883da9c22_0_3989"/>
          <p:cNvSpPr/>
          <p:nvPr/>
        </p:nvSpPr>
        <p:spPr>
          <a:xfrm>
            <a:off x="502920" y="1783080"/>
            <a:ext cx="11155800" cy="621900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2" name="Google Shape;4962;g3f883da9c22_0_3989"/>
          <p:cNvSpPr/>
          <p:nvPr/>
        </p:nvSpPr>
        <p:spPr>
          <a:xfrm>
            <a:off x="502920" y="1947672"/>
            <a:ext cx="50400" cy="2925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3" name="Google Shape;4963;g3f883da9c22_0_3989"/>
          <p:cNvSpPr txBox="1"/>
          <p:nvPr/>
        </p:nvSpPr>
        <p:spPr>
          <a:xfrm>
            <a:off x="713232" y="1892808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Image classification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4" name="Google Shape;4964;g3f883da9c22_0_3989"/>
          <p:cNvSpPr txBox="1"/>
          <p:nvPr/>
        </p:nvSpPr>
        <p:spPr>
          <a:xfrm>
            <a:off x="2743200" y="1892808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One class label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5" name="Google Shape;4965;g3f883da9c22_0_3989"/>
          <p:cNvSpPr txBox="1"/>
          <p:nvPr/>
        </p:nvSpPr>
        <p:spPr>
          <a:xfrm>
            <a:off x="5212080" y="1892808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AlexNet · VGG · ResNet · EfficientNet · ViT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6" name="Google Shape;4966;g3f883da9c22_0_3989"/>
          <p:cNvSpPr txBox="1"/>
          <p:nvPr/>
        </p:nvSpPr>
        <p:spPr>
          <a:xfrm>
            <a:off x="9326880" y="189280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1F5E"/>
                </a:solidFill>
                <a:latin typeface="Calibri"/>
                <a:ea typeface="Calibri"/>
                <a:cs typeface="Calibri"/>
                <a:sym typeface="Calibri"/>
              </a:rPr>
              <a:t>Top-1 / top-5 accuracy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7" name="Google Shape;4967;g3f883da9c22_0_3989"/>
          <p:cNvSpPr/>
          <p:nvPr/>
        </p:nvSpPr>
        <p:spPr>
          <a:xfrm>
            <a:off x="502920" y="2496312"/>
            <a:ext cx="11155800" cy="621900"/>
          </a:xfrm>
          <a:prstGeom prst="roundRect">
            <a:avLst>
              <a:gd fmla="val 8824" name="adj"/>
            </a:avLst>
          </a:prstGeom>
          <a:solidFill>
            <a:srgbClr val="F7F6FB"/>
          </a:solidFill>
          <a:ln cap="flat" cmpd="sng" w="12700">
            <a:solidFill>
              <a:srgbClr val="F7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8" name="Google Shape;4968;g3f883da9c22_0_3989"/>
          <p:cNvSpPr/>
          <p:nvPr/>
        </p:nvSpPr>
        <p:spPr>
          <a:xfrm>
            <a:off x="502920" y="2660904"/>
            <a:ext cx="50400" cy="292500"/>
          </a:xfrm>
          <a:prstGeom prst="rect">
            <a:avLst/>
          </a:prstGeom>
          <a:solidFill>
            <a:srgbClr val="2E1F5E"/>
          </a:solidFill>
          <a:ln cap="flat" cmpd="sng" w="12700">
            <a:solidFill>
              <a:srgbClr val="2E1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9" name="Google Shape;4969;g3f883da9c22_0_3989"/>
          <p:cNvSpPr txBox="1"/>
          <p:nvPr/>
        </p:nvSpPr>
        <p:spPr>
          <a:xfrm>
            <a:off x="713232" y="2606040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+ localisation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0" name="Google Shape;4970;g3f883da9c22_0_3989"/>
          <p:cNvSpPr txBox="1"/>
          <p:nvPr/>
        </p:nvSpPr>
        <p:spPr>
          <a:xfrm>
            <a:off x="2743200" y="260604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One label + one box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1" name="Google Shape;4971;g3f883da9c22_0_3989"/>
          <p:cNvSpPr txBox="1"/>
          <p:nvPr/>
        </p:nvSpPr>
        <p:spPr>
          <a:xfrm>
            <a:off x="5212080" y="2606040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ResNet backbone with a box-regression head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2" name="Google Shape;4972;g3f883da9c22_0_3989"/>
          <p:cNvSpPr txBox="1"/>
          <p:nvPr/>
        </p:nvSpPr>
        <p:spPr>
          <a:xfrm>
            <a:off x="9326880" y="26060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1F5E"/>
                </a:solidFill>
                <a:latin typeface="Calibri"/>
                <a:ea typeface="Calibri"/>
                <a:cs typeface="Calibri"/>
                <a:sym typeface="Calibri"/>
              </a:rPr>
              <a:t>Accuracy + IoU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3" name="Google Shape;4973;g3f883da9c22_0_3989"/>
          <p:cNvSpPr/>
          <p:nvPr/>
        </p:nvSpPr>
        <p:spPr>
          <a:xfrm>
            <a:off x="502920" y="3209544"/>
            <a:ext cx="11155800" cy="621900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4" name="Google Shape;4974;g3f883da9c22_0_3989"/>
          <p:cNvSpPr/>
          <p:nvPr/>
        </p:nvSpPr>
        <p:spPr>
          <a:xfrm>
            <a:off x="502920" y="3374136"/>
            <a:ext cx="50400" cy="292500"/>
          </a:xfrm>
          <a:prstGeom prst="rect">
            <a:avLst/>
          </a:prstGeom>
          <a:solidFill>
            <a:srgbClr val="FF5E5B"/>
          </a:solidFill>
          <a:ln cap="flat" cmpd="sng" w="12700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5" name="Google Shape;4975;g3f883da9c22_0_3989"/>
          <p:cNvSpPr txBox="1"/>
          <p:nvPr/>
        </p:nvSpPr>
        <p:spPr>
          <a:xfrm>
            <a:off x="713232" y="3319272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Object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6" name="Google Shape;4976;g3f883da9c22_0_3989"/>
          <p:cNvSpPr txBox="1"/>
          <p:nvPr/>
        </p:nvSpPr>
        <p:spPr>
          <a:xfrm>
            <a:off x="2743200" y="3319272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N boxes + labels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+ scores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7" name="Google Shape;4977;g3f883da9c22_0_3989"/>
          <p:cNvSpPr txBox="1"/>
          <p:nvPr/>
        </p:nvSpPr>
        <p:spPr>
          <a:xfrm>
            <a:off x="5212080" y="3319272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Faster R-CNN · YOLO (v3 → v12) · SSD · RetinaNet · DETR · RT-DETR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8" name="Google Shape;4978;g3f883da9c22_0_3989"/>
          <p:cNvSpPr txBox="1"/>
          <p:nvPr/>
        </p:nvSpPr>
        <p:spPr>
          <a:xfrm>
            <a:off x="9326880" y="331927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mAP@[.5:.95]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9" name="Google Shape;4979;g3f883da9c22_0_3989"/>
          <p:cNvSpPr/>
          <p:nvPr/>
        </p:nvSpPr>
        <p:spPr>
          <a:xfrm>
            <a:off x="502920" y="3922776"/>
            <a:ext cx="11155800" cy="621900"/>
          </a:xfrm>
          <a:prstGeom prst="roundRect">
            <a:avLst>
              <a:gd fmla="val 8824" name="adj"/>
            </a:avLst>
          </a:prstGeom>
          <a:solidFill>
            <a:srgbClr val="F7F6FB"/>
          </a:solidFill>
          <a:ln cap="flat" cmpd="sng" w="12700">
            <a:solidFill>
              <a:srgbClr val="F7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0" name="Google Shape;4980;g3f883da9c22_0_3989"/>
          <p:cNvSpPr/>
          <p:nvPr/>
        </p:nvSpPr>
        <p:spPr>
          <a:xfrm>
            <a:off x="502920" y="4087368"/>
            <a:ext cx="50400" cy="292500"/>
          </a:xfrm>
          <a:prstGeom prst="rect">
            <a:avLst/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1" name="Google Shape;4981;g3f883da9c22_0_3989"/>
          <p:cNvSpPr txBox="1"/>
          <p:nvPr/>
        </p:nvSpPr>
        <p:spPr>
          <a:xfrm>
            <a:off x="713232" y="4032504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Semantic segmentation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2" name="Google Shape;4982;g3f883da9c22_0_3989"/>
          <p:cNvSpPr txBox="1"/>
          <p:nvPr/>
        </p:nvSpPr>
        <p:spPr>
          <a:xfrm>
            <a:off x="2743200" y="4032504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Class label per pixel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3" name="Google Shape;4983;g3f883da9c22_0_3989"/>
          <p:cNvSpPr txBox="1"/>
          <p:nvPr/>
        </p:nvSpPr>
        <p:spPr>
          <a:xfrm>
            <a:off x="5212080" y="4032504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FCN · U-Net · SegNet · DeepLab v3+ · PSPNet · SegFormer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4" name="Google Shape;4984;g3f883da9c22_0_3989"/>
          <p:cNvSpPr txBox="1"/>
          <p:nvPr/>
        </p:nvSpPr>
        <p:spPr>
          <a:xfrm>
            <a:off x="9326880" y="4032504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Mean IoU · Dice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5" name="Google Shape;4985;g3f883da9c22_0_3989"/>
          <p:cNvSpPr/>
          <p:nvPr/>
        </p:nvSpPr>
        <p:spPr>
          <a:xfrm>
            <a:off x="502920" y="4636008"/>
            <a:ext cx="11155800" cy="621900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2700">
            <a:solidFill>
              <a:srgbClr val="E4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6" name="Google Shape;4986;g3f883da9c22_0_3989"/>
          <p:cNvSpPr/>
          <p:nvPr/>
        </p:nvSpPr>
        <p:spPr>
          <a:xfrm>
            <a:off x="502920" y="4800600"/>
            <a:ext cx="50400" cy="292500"/>
          </a:xfrm>
          <a:prstGeom prst="rect">
            <a:avLst/>
          </a:prstGeom>
          <a:solidFill>
            <a:srgbClr val="6E4BB8"/>
          </a:solidFill>
          <a:ln cap="flat" cmpd="sng" w="12700">
            <a:solidFill>
              <a:srgbClr val="6E4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7" name="Google Shape;4987;g3f883da9c22_0_3989"/>
          <p:cNvSpPr txBox="1"/>
          <p:nvPr/>
        </p:nvSpPr>
        <p:spPr>
          <a:xfrm>
            <a:off x="713232" y="4745736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Instance segmentation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8" name="Google Shape;4988;g3f883da9c22_0_3989"/>
          <p:cNvSpPr txBox="1"/>
          <p:nvPr/>
        </p:nvSpPr>
        <p:spPr>
          <a:xfrm>
            <a:off x="2743200" y="4745736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Mask + label per object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9" name="Google Shape;4989;g3f883da9c22_0_3989"/>
          <p:cNvSpPr txBox="1"/>
          <p:nvPr/>
        </p:nvSpPr>
        <p:spPr>
          <a:xfrm>
            <a:off x="5212080" y="4745736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Mask R-CNN · YOLACT · SOLOv2 · Mask2Former · SAM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0" name="Google Shape;4990;g3f883da9c22_0_3989"/>
          <p:cNvSpPr txBox="1"/>
          <p:nvPr/>
        </p:nvSpPr>
        <p:spPr>
          <a:xfrm>
            <a:off x="9326880" y="4745736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03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035"/>
                </a:solidFill>
                <a:latin typeface="Calibri"/>
                <a:ea typeface="Calibri"/>
                <a:cs typeface="Calibri"/>
                <a:sym typeface="Calibri"/>
              </a:rPr>
              <a:t>Mask mAP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1" name="Google Shape;4991;g3f883da9c22_0_3989"/>
          <p:cNvSpPr/>
          <p:nvPr/>
        </p:nvSpPr>
        <p:spPr>
          <a:xfrm>
            <a:off x="502920" y="5349240"/>
            <a:ext cx="11155800" cy="621900"/>
          </a:xfrm>
          <a:prstGeom prst="roundRect">
            <a:avLst>
              <a:gd fmla="val 8824" name="adj"/>
            </a:avLst>
          </a:prstGeom>
          <a:solidFill>
            <a:srgbClr val="F7F6FB"/>
          </a:solidFill>
          <a:ln cap="flat" cmpd="sng" w="12700">
            <a:solidFill>
              <a:srgbClr val="F7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2" name="Google Shape;4992;g3f883da9c22_0_3989"/>
          <p:cNvSpPr/>
          <p:nvPr/>
        </p:nvSpPr>
        <p:spPr>
          <a:xfrm>
            <a:off x="502920" y="5513832"/>
            <a:ext cx="50400" cy="292500"/>
          </a:xfrm>
          <a:prstGeom prst="rect">
            <a:avLst/>
          </a:prstGeom>
          <a:solidFill>
            <a:srgbClr val="E8930C"/>
          </a:solidFill>
          <a:ln cap="flat" cmpd="sng" w="12700">
            <a:solidFill>
              <a:srgbClr val="E893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3" name="Google Shape;4993;g3f883da9c22_0_3989"/>
          <p:cNvSpPr txBox="1"/>
          <p:nvPr/>
        </p:nvSpPr>
        <p:spPr>
          <a:xfrm>
            <a:off x="713232" y="5458968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Panoptic segmentation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4" name="Google Shape;4994;g3f883da9c22_0_3989"/>
          <p:cNvSpPr txBox="1"/>
          <p:nvPr/>
        </p:nvSpPr>
        <p:spPr>
          <a:xfrm>
            <a:off x="2743200" y="5458968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Semantic + instance,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every pixel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5" name="Google Shape;4995;g3f883da9c22_0_3989"/>
          <p:cNvSpPr txBox="1"/>
          <p:nvPr/>
        </p:nvSpPr>
        <p:spPr>
          <a:xfrm>
            <a:off x="5212080" y="5458968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5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A3550"/>
                </a:solidFill>
                <a:latin typeface="Calibri"/>
                <a:ea typeface="Calibri"/>
                <a:cs typeface="Calibri"/>
                <a:sym typeface="Calibri"/>
              </a:rPr>
              <a:t>Panoptic FPN · Mask2Former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6" name="Google Shape;4996;g3f883da9c22_0_3989"/>
          <p:cNvSpPr txBox="1"/>
          <p:nvPr/>
        </p:nvSpPr>
        <p:spPr>
          <a:xfrm>
            <a:off x="9326880" y="545896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8930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930C"/>
                </a:solidFill>
                <a:latin typeface="Calibri"/>
                <a:ea typeface="Calibri"/>
                <a:cs typeface="Calibri"/>
                <a:sym typeface="Calibri"/>
              </a:rPr>
              <a:t>Panoptic Quality (PQ)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7" name="Google Shape;4997;g3f883da9c22_0_3989"/>
          <p:cNvSpPr txBox="1"/>
          <p:nvPr/>
        </p:nvSpPr>
        <p:spPr>
          <a:xfrm>
            <a:off x="548640" y="6144768"/>
            <a:ext cx="11064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796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7C7796"/>
                </a:solidFill>
                <a:latin typeface="Calibri"/>
                <a:ea typeface="Calibri"/>
                <a:cs typeface="Calibri"/>
                <a:sym typeface="Calibri"/>
              </a:rPr>
              <a:t>All of them share the same convolutional (or transformer) backbone — only the head and the loss change.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035"/>
        </a:solidFill>
      </p:bgPr>
    </p:bg>
    <p:spTree>
      <p:nvGrpSpPr>
        <p:cNvPr id="5002" name="Shape 5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3" name="Google Shape;5003;g3f883da9c22_0_4045"/>
          <p:cNvSpPr txBox="1"/>
          <p:nvPr/>
        </p:nvSpPr>
        <p:spPr>
          <a:xfrm>
            <a:off x="822960" y="7772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E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E5B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4" name="Google Shape;5004;g3f883da9c22_0_4045"/>
          <p:cNvSpPr txBox="1"/>
          <p:nvPr/>
        </p:nvSpPr>
        <p:spPr>
          <a:xfrm>
            <a:off x="822960" y="114300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to remember from today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5" name="Google Shape;5005;g3f883da9c22_0_4045"/>
          <p:cNvSpPr txBox="1"/>
          <p:nvPr/>
        </p:nvSpPr>
        <p:spPr>
          <a:xfrm>
            <a:off x="822960" y="2057400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E1F5E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6" name="Google Shape;5006;g3f883da9c22_0_4045"/>
          <p:cNvSpPr txBox="1"/>
          <p:nvPr/>
        </p:nvSpPr>
        <p:spPr>
          <a:xfrm>
            <a:off x="1554480" y="2029968"/>
            <a:ext cx="4297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Convolution is a constrained matrix multiply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7" name="Google Shape;5007;g3f883da9c22_0_4045"/>
          <p:cNvSpPr txBox="1"/>
          <p:nvPr/>
        </p:nvSpPr>
        <p:spPr>
          <a:xfrm>
            <a:off x="6035040" y="2039112"/>
            <a:ext cx="5394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CD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79CD0"/>
                </a:solidFill>
                <a:latin typeface="Calibri"/>
                <a:ea typeface="Calibri"/>
                <a:cs typeface="Calibri"/>
                <a:sym typeface="Calibri"/>
              </a:rPr>
              <a:t>Sparse interactions, shared parameters and translation equivariance are the three constraints — and all three are assumptions about images, not tricks.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8" name="Google Shape;5008;g3f883da9c22_0_4045"/>
          <p:cNvSpPr txBox="1"/>
          <p:nvPr/>
        </p:nvSpPr>
        <p:spPr>
          <a:xfrm>
            <a:off x="822960" y="2898648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E1F5E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9" name="Google Shape;5009;g3f883da9c22_0_4045"/>
          <p:cNvSpPr txBox="1"/>
          <p:nvPr/>
        </p:nvSpPr>
        <p:spPr>
          <a:xfrm>
            <a:off x="1554480" y="2871216"/>
            <a:ext cx="4297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Shape arithmetic is the everyday skill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0" name="Google Shape;5010;g3f883da9c22_0_4045"/>
          <p:cNvSpPr txBox="1"/>
          <p:nvPr/>
        </p:nvSpPr>
        <p:spPr>
          <a:xfrm>
            <a:off x="6035040" y="2880360"/>
            <a:ext cx="5394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CD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79CD0"/>
                </a:solidFill>
                <a:latin typeface="Calibri"/>
                <a:ea typeface="Calibri"/>
                <a:cs typeface="Calibri"/>
                <a:sym typeface="Calibri"/>
              </a:rPr>
              <a:t>( N + 2P − K ) / S + 1 for the size, ( K × K × D + 1 ) × K_out for the parameters. Almost every debugging session comes back to these two.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1" name="Google Shape;5011;g3f883da9c22_0_4045"/>
          <p:cNvSpPr txBox="1"/>
          <p:nvPr/>
        </p:nvSpPr>
        <p:spPr>
          <a:xfrm>
            <a:off x="822960" y="3739896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E1F5E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2" name="Google Shape;5012;g3f883da9c22_0_4045"/>
          <p:cNvSpPr txBox="1"/>
          <p:nvPr/>
        </p:nvSpPr>
        <p:spPr>
          <a:xfrm>
            <a:off x="1554480" y="3712464"/>
            <a:ext cx="4297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Depth is the story of the architectures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3" name="Google Shape;5013;g3f883da9c22_0_4045"/>
          <p:cNvSpPr txBox="1"/>
          <p:nvPr/>
        </p:nvSpPr>
        <p:spPr>
          <a:xfrm>
            <a:off x="6035040" y="3721608"/>
            <a:ext cx="5394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CD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79CD0"/>
                </a:solidFill>
                <a:latin typeface="Calibri"/>
                <a:ea typeface="Calibri"/>
                <a:cs typeface="Calibri"/>
                <a:sym typeface="Calibri"/>
              </a:rPr>
              <a:t>8 → 19 → 22 → 152 layers. Small filters, 1 × 1 bottlenecks and residual connections were each invented to make more depth trainable.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4" name="Google Shape;5014;g3f883da9c22_0_4045"/>
          <p:cNvSpPr txBox="1"/>
          <p:nvPr/>
        </p:nvSpPr>
        <p:spPr>
          <a:xfrm>
            <a:off x="822960" y="4581144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E1F5E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5" name="Google Shape;5015;g3f883da9c22_0_4045"/>
          <p:cNvSpPr txBox="1"/>
          <p:nvPr/>
        </p:nvSpPr>
        <p:spPr>
          <a:xfrm>
            <a:off x="1554480" y="4553712"/>
            <a:ext cx="4297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Fully connected layers are where the weights hide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6" name="Google Shape;5016;g3f883da9c22_0_4045"/>
          <p:cNvSpPr txBox="1"/>
          <p:nvPr/>
        </p:nvSpPr>
        <p:spPr>
          <a:xfrm>
            <a:off x="6035040" y="4562856"/>
            <a:ext cx="5394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CD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79CD0"/>
                </a:solidFill>
                <a:latin typeface="Calibri"/>
                <a:ea typeface="Calibri"/>
                <a:cs typeface="Calibri"/>
                <a:sym typeface="Calibri"/>
              </a:rPr>
              <a:t>94 % of AlexNet and 90 % of VGG. Global average pooling removed them at no cost in accuracy.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7" name="Google Shape;5017;g3f883da9c22_0_4045"/>
          <p:cNvSpPr txBox="1"/>
          <p:nvPr/>
        </p:nvSpPr>
        <p:spPr>
          <a:xfrm>
            <a:off x="822960" y="5422392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1F5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E1F5E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8" name="Google Shape;5018;g3f883da9c22_0_4045"/>
          <p:cNvSpPr txBox="1"/>
          <p:nvPr/>
        </p:nvSpPr>
        <p:spPr>
          <a:xfrm>
            <a:off x="1554480" y="5394960"/>
            <a:ext cx="4297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Beyond classification, only the head changes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9" name="Google Shape;5019;g3f883da9c22_0_4045"/>
          <p:cNvSpPr txBox="1"/>
          <p:nvPr/>
        </p:nvSpPr>
        <p:spPr>
          <a:xfrm>
            <a:off x="6035040" y="5404104"/>
            <a:ext cx="5394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CD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79CD0"/>
                </a:solidFill>
                <a:latin typeface="Calibri"/>
                <a:ea typeface="Calibri"/>
                <a:cs typeface="Calibri"/>
                <a:sym typeface="Calibri"/>
              </a:rPr>
              <a:t>Detection, semantic and instance segmentation all reuse the same backbone. Choose the model by the output you need and the latency you can afford.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0" name="Google Shape;5020;g3f883da9c22_0_4045"/>
          <p:cNvSpPr/>
          <p:nvPr/>
        </p:nvSpPr>
        <p:spPr>
          <a:xfrm>
            <a:off x="11338560" y="384048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1" name="Google Shape;5021;g3f883da9c22_0_4045"/>
          <p:cNvSpPr/>
          <p:nvPr/>
        </p:nvSpPr>
        <p:spPr>
          <a:xfrm>
            <a:off x="11462004" y="384048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2" name="Google Shape;5022;g3f883da9c22_0_4045"/>
          <p:cNvSpPr/>
          <p:nvPr/>
        </p:nvSpPr>
        <p:spPr>
          <a:xfrm>
            <a:off x="11585448" y="384048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3" name="Google Shape;5023;g3f883da9c22_0_4045"/>
          <p:cNvSpPr/>
          <p:nvPr/>
        </p:nvSpPr>
        <p:spPr>
          <a:xfrm>
            <a:off x="11338560" y="507492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4" name="Google Shape;5024;g3f883da9c22_0_4045"/>
          <p:cNvSpPr/>
          <p:nvPr/>
        </p:nvSpPr>
        <p:spPr>
          <a:xfrm>
            <a:off x="11462004" y="507492"/>
            <a:ext cx="91500" cy="91500"/>
          </a:xfrm>
          <a:prstGeom prst="rect">
            <a:avLst/>
          </a:prstGeom>
          <a:solidFill>
            <a:srgbClr val="FF5E5B"/>
          </a:solidFill>
          <a:ln cap="flat" cmpd="sng" w="9525">
            <a:solidFill>
              <a:srgbClr val="FF5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5" name="Google Shape;5025;g3f883da9c22_0_4045"/>
          <p:cNvSpPr/>
          <p:nvPr/>
        </p:nvSpPr>
        <p:spPr>
          <a:xfrm>
            <a:off x="11585448" y="507492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6" name="Google Shape;5026;g3f883da9c22_0_4045"/>
          <p:cNvSpPr/>
          <p:nvPr/>
        </p:nvSpPr>
        <p:spPr>
          <a:xfrm>
            <a:off x="11338560" y="630936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7" name="Google Shape;5027;g3f883da9c22_0_4045"/>
          <p:cNvSpPr/>
          <p:nvPr/>
        </p:nvSpPr>
        <p:spPr>
          <a:xfrm>
            <a:off x="11462004" y="630936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8" name="Google Shape;5028;g3f883da9c22_0_4045"/>
          <p:cNvSpPr/>
          <p:nvPr/>
        </p:nvSpPr>
        <p:spPr>
          <a:xfrm>
            <a:off x="11585448" y="630936"/>
            <a:ext cx="91500" cy="91500"/>
          </a:xfrm>
          <a:prstGeom prst="rect">
            <a:avLst/>
          </a:prstGeom>
          <a:solidFill>
            <a:srgbClr val="4B3A86"/>
          </a:solidFill>
          <a:ln cap="flat" cmpd="sng" w="9525">
            <a:solidFill>
              <a:srgbClr val="4B3A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2026-08-27T14:08:27Z</dcterms:created>
  <dc:creator>Deep Learning Session</dc:creator>
</cp:coreProperties>
</file>